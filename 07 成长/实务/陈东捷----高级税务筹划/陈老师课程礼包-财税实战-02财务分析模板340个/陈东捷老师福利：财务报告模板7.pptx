
<file path=[Content_Types].xml><?xml version="1.0" encoding="utf-8"?>
<Types xmlns="http://schemas.openxmlformats.org/package/2006/content-types">
  <Default Extension="xml" ContentType="application/xml"/>
  <Default Extension="jpeg" ContentType="image/jpeg"/>
  <Default Extension="mp3" ContentType="audio/mpeg"/>
  <Default Extension="rels" ContentType="application/vnd.openxmlformats-package.relationships+xml"/>
  <Default Extension="wdp" ContentType="image/vnd.ms-photo"/>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1.xml" ContentType="application/vnd.openxmlformats-officedocument.presentationml.notesSlide+xml"/>
  <Override PartName="/ppt/tags/tag21.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9.xml" ContentType="application/vnd.openxmlformats-officedocument.presentationml.notesSlide+xml"/>
  <Override PartName="/ppt/tags/tag25.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61" r:id="rId2"/>
    <p:sldId id="262" r:id="rId3"/>
    <p:sldId id="257" r:id="rId4"/>
    <p:sldId id="280" r:id="rId5"/>
    <p:sldId id="273" r:id="rId6"/>
    <p:sldId id="274" r:id="rId7"/>
    <p:sldId id="275" r:id="rId8"/>
    <p:sldId id="326" r:id="rId9"/>
    <p:sldId id="281" r:id="rId10"/>
    <p:sldId id="282" r:id="rId11"/>
    <p:sldId id="283" r:id="rId12"/>
    <p:sldId id="284" r:id="rId13"/>
    <p:sldId id="285" r:id="rId14"/>
    <p:sldId id="287" r:id="rId15"/>
    <p:sldId id="288" r:id="rId16"/>
    <p:sldId id="289" r:id="rId17"/>
    <p:sldId id="290" r:id="rId18"/>
    <p:sldId id="291" r:id="rId19"/>
    <p:sldId id="292" r:id="rId20"/>
    <p:sldId id="293" r:id="rId21"/>
    <p:sldId id="294" r:id="rId22"/>
    <p:sldId id="295" r:id="rId23"/>
    <p:sldId id="327" r:id="rId24"/>
    <p:sldId id="296" r:id="rId25"/>
    <p:sldId id="297" r:id="rId26"/>
    <p:sldId id="260" r:id="rId27"/>
    <p:sldId id="298" r:id="rId28"/>
    <p:sldId id="299" r:id="rId29"/>
    <p:sldId id="300" r:id="rId30"/>
    <p:sldId id="328" r:id="rId31"/>
    <p:sldId id="301" r:id="rId32"/>
    <p:sldId id="302" r:id="rId33"/>
    <p:sldId id="303" r:id="rId34"/>
    <p:sldId id="304" r:id="rId35"/>
    <p:sldId id="305" r:id="rId36"/>
    <p:sldId id="306" r:id="rId37"/>
    <p:sldId id="315" r:id="rId38"/>
    <p:sldId id="329" r:id="rId39"/>
    <p:sldId id="307" r:id="rId40"/>
    <p:sldId id="366" r:id="rId41"/>
    <p:sldId id="308" r:id="rId42"/>
    <p:sldId id="310" r:id="rId43"/>
    <p:sldId id="311" r:id="rId44"/>
    <p:sldId id="312" r:id="rId45"/>
    <p:sldId id="313" r:id="rId46"/>
    <p:sldId id="314" r:id="rId47"/>
    <p:sldId id="279" r:id="rId48"/>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p15:clr>
            <a:srgbClr val="A4A3A4"/>
          </p15:clr>
        </p15:guide>
        <p15:guide id="2" pos="38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32E"/>
    <a:srgbClr val="383F4E"/>
    <a:srgbClr val="B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showGuides="1">
      <p:cViewPr varScale="1">
        <p:scale>
          <a:sx n="113" d="100"/>
          <a:sy n="113" d="100"/>
        </p:scale>
        <p:origin x="560" y="168"/>
      </p:cViewPr>
      <p:guideLst>
        <p:guide orient="horz" pos="2081"/>
        <p:guide pos="38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tags" Target="tags/tag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D:\0111\My%20Documents\2014&#24180;&#25991;&#26723;\2014&#24180;&#36130;&#21153;&#20998;&#26512;\2014&#24180;&#21508;&#22320;&#24066;&#25910;&#20837;&#23436;&#25104;&#23545;&#27604;&#22270;&#65288;PPT&#65289;.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E:\&#36130;&#21153;&#31649;&#29702;&#37096;\&#36130;&#21153;&#25910;&#20837;&#20998;&#26512;\&#24212;&#25910;&#36134;&#27454;\&#24212;&#25910;&#36134;&#27454;&#20998;&#26512;\2015&#24180;&#24212;&#25910;&#36134;&#27454;&#20998;&#26512;&#27719;&#24635;&#65288;&#23450;&#65289;.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
          <c:y val="0.0514005540974045"/>
          <c:w val="0.970509007467077"/>
          <c:h val="0.794544446917734"/>
        </c:manualLayout>
      </c:layout>
      <c:lineChart>
        <c:grouping val="standard"/>
        <c:varyColors val="0"/>
        <c:ser>
          <c:idx val="0"/>
          <c:order val="0"/>
          <c:tx>
            <c:strRef>
              <c:f>'PPT1'!$A$4</c:f>
              <c:strCache>
                <c:ptCount val="1"/>
                <c:pt idx="0">
                  <c:v>2014-账面口径</c:v>
                </c:pt>
              </c:strCache>
            </c:strRef>
          </c:tx>
          <c:marker>
            <c:symbol val="diamond"/>
            <c:size val="3"/>
          </c:marker>
          <c:dLbls>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'PPT1'!$B$4:$M$4</c:f>
              <c:numCache>
                <c:formatCode>0_ </c:formatCode>
                <c:ptCount val="12"/>
                <c:pt idx="0">
                  <c:v>7332.3706</c:v>
                </c:pt>
                <c:pt idx="1">
                  <c:v>7025.86082600001</c:v>
                </c:pt>
                <c:pt idx="2">
                  <c:v>7020.243037</c:v>
                </c:pt>
                <c:pt idx="3">
                  <c:v>6777.423874</c:v>
                </c:pt>
                <c:pt idx="4">
                  <c:v>6998.793215</c:v>
                </c:pt>
                <c:pt idx="5">
                  <c:v>6406.64125805661</c:v>
                </c:pt>
                <c:pt idx="6">
                  <c:v>6280.247047951299</c:v>
                </c:pt>
                <c:pt idx="7">
                  <c:v>6161.20288200906</c:v>
                </c:pt>
                <c:pt idx="8">
                  <c:v>6226.44086409434</c:v>
                </c:pt>
                <c:pt idx="9">
                  <c:v>5955.65223144075</c:v>
                </c:pt>
                <c:pt idx="10">
                  <c:v>5753.83596073585</c:v>
                </c:pt>
                <c:pt idx="11">
                  <c:v>5807.383491242138</c:v>
                </c:pt>
              </c:numCache>
            </c:numRef>
          </c:val>
          <c:smooth val="1"/>
        </c:ser>
        <c:ser>
          <c:idx val="1"/>
          <c:order val="1"/>
          <c:tx>
            <c:strRef>
              <c:f>'PPT1'!$A$5</c:f>
              <c:strCache>
                <c:ptCount val="1"/>
                <c:pt idx="0">
                  <c:v>2014-可比口径</c:v>
                </c:pt>
              </c:strCache>
            </c:strRef>
          </c:tx>
          <c:spPr>
            <a:ln w="19050" cap="rnd" cmpd="sng" algn="ctr">
              <a:solidFill>
                <a:srgbClr val="92D050"/>
              </a:solidFill>
              <a:prstDash val="solid"/>
              <a:round/>
            </a:ln>
          </c:spPr>
          <c:marker>
            <c:symbol val="square"/>
            <c:size val="3"/>
            <c:spPr>
              <a:solidFill>
                <a:srgbClr val="92D050"/>
              </a:solidFill>
              <a:ln w="6350" cap="flat" cmpd="sng" algn="ctr">
                <a:solidFill>
                  <a:srgbClr val="92D050"/>
                </a:solidFill>
                <a:prstDash val="solid"/>
                <a:round/>
              </a:ln>
            </c:spPr>
          </c:marker>
          <c:dLbls>
            <c:dLbl>
              <c:idx val="0"/>
              <c:layout>
                <c:manualLayout>
                  <c:x val="0.00192400192400194"/>
                  <c:y val="-0.0787037037037037"/>
                </c:manualLayout>
              </c:layout>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'PPT1'!$B$5:$M$5</c:f>
              <c:numCache>
                <c:formatCode>0_ </c:formatCode>
                <c:ptCount val="12"/>
                <c:pt idx="0">
                  <c:v>6825.42076750943</c:v>
                </c:pt>
                <c:pt idx="1">
                  <c:v>6536.13483458491</c:v>
                </c:pt>
                <c:pt idx="2">
                  <c:v>6533.186702</c:v>
                </c:pt>
                <c:pt idx="3">
                  <c:v>6309.401335132068</c:v>
                </c:pt>
                <c:pt idx="4">
                  <c:v>6512.24559403774</c:v>
                </c:pt>
                <c:pt idx="5">
                  <c:v>6406.64125805661</c:v>
                </c:pt>
                <c:pt idx="6">
                  <c:v>6280.247047951299</c:v>
                </c:pt>
                <c:pt idx="7">
                  <c:v>6161.20288200906</c:v>
                </c:pt>
                <c:pt idx="8">
                  <c:v>6226.44086409434</c:v>
                </c:pt>
                <c:pt idx="9">
                  <c:v>5955.65223144075</c:v>
                </c:pt>
                <c:pt idx="10">
                  <c:v>5753.83596073585</c:v>
                </c:pt>
                <c:pt idx="11">
                  <c:v>5807.383491242138</c:v>
                </c:pt>
              </c:numCache>
            </c:numRef>
          </c:val>
          <c:smooth val="1"/>
        </c:ser>
        <c:ser>
          <c:idx val="2"/>
          <c:order val="2"/>
          <c:tx>
            <c:strRef>
              <c:f>'PPT1'!$A$6</c:f>
              <c:strCache>
                <c:ptCount val="1"/>
                <c:pt idx="0">
                  <c:v>2015年</c:v>
                </c:pt>
              </c:strCache>
            </c:strRef>
          </c:tx>
          <c:spPr>
            <a:ln w="19050" cap="rnd" cmpd="sng" algn="ctr">
              <a:solidFill>
                <a:srgbClr val="C00000"/>
              </a:solidFill>
              <a:prstDash val="solid"/>
              <a:round/>
            </a:ln>
          </c:spPr>
          <c:marker>
            <c:symbol val="triangle"/>
            <c:size val="3"/>
            <c:spPr>
              <a:solidFill>
                <a:schemeClr val="accent2"/>
              </a:solidFill>
              <a:ln w="6350" cap="flat" cmpd="sng" algn="ctr">
                <a:solidFill>
                  <a:srgbClr val="C00000"/>
                </a:solidFill>
                <a:prstDash val="solid"/>
                <a:round/>
              </a:ln>
            </c:spPr>
          </c:marker>
          <c:dLbls>
            <c:dLbl>
              <c:idx val="0"/>
              <c:layout>
                <c:manualLayout>
                  <c:x val="-0.0288600288600289"/>
                  <c:y val="0.0509259259259259"/>
                </c:manualLayout>
              </c:layout>
              <c:dLblPos val="r"/>
              <c:showLegendKey val="0"/>
              <c:showVal val="1"/>
              <c:showCatName val="0"/>
              <c:showSerName val="0"/>
              <c:showPercent val="0"/>
              <c:showBubbleSize val="0"/>
              <c:extLst>
                <c:ext xmlns:c15="http://schemas.microsoft.com/office/drawing/2012/chart" uri="{CE6537A1-D6FC-4f65-9D91-7224C49458BB}"/>
              </c:extLst>
            </c:dLbl>
            <c:dLbl>
              <c:idx val="1"/>
              <c:layout>
                <c:manualLayout>
                  <c:x val="-0.0518366611546666"/>
                  <c:y val="-0.0370368711330104"/>
                </c:manualLayout>
              </c:layout>
              <c:dLblPos val="r"/>
              <c:showLegendKey val="0"/>
              <c:showVal val="1"/>
              <c:showCatName val="0"/>
              <c:showSerName val="0"/>
              <c:showPercent val="0"/>
              <c:showBubbleSize val="0"/>
              <c:extLst>
                <c:ext xmlns:c15="http://schemas.microsoft.com/office/drawing/2012/chart" uri="{CE6537A1-D6FC-4f65-9D91-7224C49458BB}"/>
              </c:extLst>
            </c:dLbl>
            <c:dLbl>
              <c:idx val="2"/>
              <c:layout>
                <c:manualLayout>
                  <c:x val="-0.0517619285438836"/>
                  <c:y val="0.0558890226490104"/>
                </c:manualLayout>
              </c:layout>
              <c:dLblPos val="r"/>
              <c:showLegendKey val="0"/>
              <c:showVal val="1"/>
              <c:showCatName val="0"/>
              <c:showSerName val="0"/>
              <c:showPercent val="0"/>
              <c:showBubbleSize val="0"/>
              <c:extLst>
                <c:ext xmlns:c15="http://schemas.microsoft.com/office/drawing/2012/chart" uri="{CE6537A1-D6FC-4f65-9D91-7224C49458BB}"/>
              </c:extLst>
            </c:dLbl>
            <c:dLbl>
              <c:idx val="3"/>
              <c:layout>
                <c:manualLayout>
                  <c:x val="-0.00962000962000967"/>
                  <c:y val="-0.00925962379702537"/>
                </c:manualLayout>
              </c:layout>
              <c:dLblPos val="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'PPT1'!$B$6:$M$6</c:f>
              <c:numCache>
                <c:formatCode>0_ </c:formatCode>
                <c:ptCount val="12"/>
                <c:pt idx="0">
                  <c:v>6668.8756481391</c:v>
                </c:pt>
                <c:pt idx="1">
                  <c:v>6701.4776208155</c:v>
                </c:pt>
                <c:pt idx="2">
                  <c:v>6902.419736122</c:v>
                </c:pt>
                <c:pt idx="3">
                  <c:v>6553.040125</c:v>
                </c:pt>
              </c:numCache>
            </c:numRef>
          </c:val>
          <c:smooth val="1"/>
        </c:ser>
        <c:dLbls>
          <c:showLegendKey val="0"/>
          <c:showVal val="0"/>
          <c:showCatName val="0"/>
          <c:showSerName val="0"/>
          <c:showPercent val="0"/>
          <c:showBubbleSize val="0"/>
        </c:dLbls>
        <c:marker val="1"/>
        <c:smooth val="0"/>
        <c:axId val="-2095611536"/>
        <c:axId val="-2095609216"/>
      </c:lineChart>
      <c:catAx>
        <c:axId val="-209561153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crossAx val="-2095609216"/>
        <c:crosses val="autoZero"/>
        <c:auto val="1"/>
        <c:lblAlgn val="ctr"/>
        <c:lblOffset val="100"/>
        <c:noMultiLvlLbl val="0"/>
      </c:catAx>
      <c:valAx>
        <c:axId val="-2095609216"/>
        <c:scaling>
          <c:orientation val="minMax"/>
          <c:max val="8000.0"/>
          <c:min val="5000.0"/>
        </c:scaling>
        <c:delete val="1"/>
        <c:axPos val="l"/>
        <c:numFmt formatCode="0_ " sourceLinked="1"/>
        <c:majorTickMark val="out"/>
        <c:minorTickMark val="none"/>
        <c:tickLblPos val="nextTo"/>
        <c:crossAx val="-2095611536"/>
        <c:crosses val="autoZero"/>
        <c:crossBetween val="between"/>
      </c:valAx>
    </c:plotArea>
    <c:legend>
      <c:legendPos val="r"/>
      <c:layout>
        <c:manualLayout>
          <c:xMode val="edge"/>
          <c:yMode val="edge"/>
          <c:x val="0.191265031265031"/>
          <c:y val="0.0457203266258385"/>
          <c:w val="0.765872139415675"/>
          <c:h val="0.121521945173521"/>
        </c:manualLayout>
      </c:layout>
      <c:overlay val="0"/>
      <c:txPr>
        <a:bodyPr rot="0" spcFirstLastPara="0" vertOverflow="ellipsis" vert="horz" wrap="square"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txPr>
    <a:bodyPr/>
    <a:lstStyle/>
    <a:p>
      <a:pPr>
        <a:defRPr lang="zh-CN" sz="12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0323352464030645"/>
          <c:y val="0.0590468600227134"/>
          <c:w val="1.0"/>
          <c:h val="0.762988920278098"/>
        </c:manualLayout>
      </c:layout>
      <c:barChart>
        <c:barDir val="col"/>
        <c:grouping val="stacked"/>
        <c:varyColors val="0"/>
        <c:ser>
          <c:idx val="0"/>
          <c:order val="0"/>
          <c:tx>
            <c:strRef>
              <c:f>'PPT1'!$E$51</c:f>
              <c:strCache>
                <c:ptCount val="1"/>
                <c:pt idx="0">
                  <c:v>A</c:v>
                </c:pt>
              </c:strCache>
            </c:strRef>
          </c:tx>
          <c:spPr>
            <a:solidFill>
              <a:schemeClr val="bg1"/>
            </a:solidFill>
          </c:spPr>
          <c:invertIfNegative val="0"/>
          <c:dPt>
            <c:idx val="0"/>
            <c:invertIfNegative val="0"/>
            <c:bubble3D val="0"/>
            <c:spPr>
              <a:solidFill>
                <a:srgbClr val="E8432E"/>
              </a:solidFill>
            </c:spPr>
          </c:dPt>
          <c:dPt>
            <c:idx val="1"/>
            <c:invertIfNegative val="0"/>
            <c:bubble3D val="0"/>
            <c:spPr>
              <a:solidFill>
                <a:srgbClr val="383F4E"/>
              </a:solidFill>
            </c:spPr>
          </c:dPt>
          <c:dPt>
            <c:idx val="2"/>
            <c:invertIfNegative val="0"/>
            <c:bubble3D val="0"/>
            <c:spPr>
              <a:solidFill>
                <a:srgbClr val="383F4E"/>
              </a:solidFill>
            </c:spPr>
          </c:dPt>
          <c:dPt>
            <c:idx val="3"/>
            <c:invertIfNegative val="0"/>
            <c:bubble3D val="0"/>
            <c:spPr>
              <a:solidFill>
                <a:srgbClr val="383F4E"/>
              </a:solidFill>
            </c:spPr>
          </c:dPt>
          <c:dPt>
            <c:idx val="4"/>
            <c:invertIfNegative val="0"/>
            <c:bubble3D val="0"/>
            <c:spPr>
              <a:solidFill>
                <a:srgbClr val="383F4E"/>
              </a:solidFill>
            </c:spPr>
          </c:dPt>
          <c:dPt>
            <c:idx val="5"/>
            <c:invertIfNegative val="0"/>
            <c:bubble3D val="0"/>
            <c:spPr>
              <a:solidFill>
                <a:srgbClr val="383F4E"/>
              </a:solidFill>
            </c:spPr>
          </c:dPt>
          <c:dPt>
            <c:idx val="6"/>
            <c:invertIfNegative val="0"/>
            <c:bubble3D val="0"/>
            <c:spPr>
              <a:solidFill>
                <a:srgbClr val="383F4E"/>
              </a:solidFill>
            </c:spPr>
          </c:dPt>
          <c:dPt>
            <c:idx val="7"/>
            <c:invertIfNegative val="0"/>
            <c:bubble3D val="0"/>
            <c:spPr>
              <a:solidFill>
                <a:srgbClr val="E8432E"/>
              </a:solidFill>
            </c:spPr>
          </c:dPt>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'PPT1'!$E$52:$E$59</c:f>
              <c:numCache>
                <c:formatCode>0.0_ </c:formatCode>
                <c:ptCount val="8"/>
                <c:pt idx="0">
                  <c:v>6902.419736122</c:v>
                </c:pt>
                <c:pt idx="1">
                  <c:v>6801.84566112201</c:v>
                </c:pt>
                <c:pt idx="2">
                  <c:v>6732.956572122</c:v>
                </c:pt>
                <c:pt idx="3">
                  <c:v>6669.379353121999</c:v>
                </c:pt>
                <c:pt idx="4">
                  <c:v>6612.476932122</c:v>
                </c:pt>
                <c:pt idx="5">
                  <c:v>6572.130300122</c:v>
                </c:pt>
                <c:pt idx="6">
                  <c:v>6553.040125</c:v>
                </c:pt>
                <c:pt idx="7">
                  <c:v>6553.040125</c:v>
                </c:pt>
              </c:numCache>
            </c:numRef>
          </c:val>
        </c:ser>
        <c:ser>
          <c:idx val="1"/>
          <c:order val="1"/>
          <c:tx>
            <c:strRef>
              <c:f>'PPT1'!$F$51</c:f>
              <c:strCache>
                <c:ptCount val="1"/>
                <c:pt idx="0">
                  <c:v>B</c:v>
                </c:pt>
              </c:strCache>
            </c:strRef>
          </c:tx>
          <c:spPr>
            <a:solidFill>
              <a:srgbClr val="E8432E"/>
            </a:solidFill>
          </c:spPr>
          <c:invertIfNegative val="0"/>
          <c:dLbls>
            <c:dLbl>
              <c:idx val="0"/>
              <c:layout>
                <c:manualLayout>
                  <c:x val="0.0"/>
                  <c:y val="-0.0370370370370371"/>
                </c:manualLayout>
              </c:layout>
              <c:tx>
                <c:rich>
                  <a:bodyPr/>
                  <a:lstStyle/>
                  <a:p>
                    <a:r>
                      <a:rPr lang="en-US" altLang="en-US"/>
                      <a:t>6902</a:t>
                    </a:r>
                  </a:p>
                </c:rich>
              </c:tx>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254452926208654"/>
                  <c:y val="-0.0837244464160298"/>
                </c:manualLayout>
              </c:layout>
              <c:tx>
                <c:rich>
                  <a:bodyPr/>
                  <a:lstStyle/>
                  <a:p>
                    <a:r>
                      <a:rPr lang="en-US" altLang="en-US"/>
                      <a:t>-100.6 </a:t>
                    </a:r>
                  </a:p>
                </c:rich>
              </c:tx>
              <c:dLblPos val="ctr"/>
              <c:showLegendKey val="0"/>
              <c:showVal val="1"/>
              <c:showCatName val="0"/>
              <c:showSerName val="0"/>
              <c:showPercent val="0"/>
              <c:showBubbleSize val="0"/>
              <c:extLst>
                <c:ext xmlns:c15="http://schemas.microsoft.com/office/drawing/2012/chart" uri="{CE6537A1-D6FC-4f65-9D91-7224C49458BB}"/>
              </c:extLst>
            </c:dLbl>
            <c:dLbl>
              <c:idx val="2"/>
              <c:layout>
                <c:manualLayout>
                  <c:x val="0.00295906713950832"/>
                  <c:y val="-0.0874281911944106"/>
                </c:manualLayout>
              </c:layout>
              <c:tx>
                <c:rich>
                  <a:bodyPr/>
                  <a:lstStyle/>
                  <a:p>
                    <a:r>
                      <a:rPr lang="en-US" altLang="en-US"/>
                      <a:t>-68.9 </a:t>
                    </a:r>
                  </a:p>
                </c:rich>
              </c:tx>
              <c:dLblPos val="ctr"/>
              <c:showLegendKey val="0"/>
              <c:showVal val="1"/>
              <c:showCatName val="0"/>
              <c:showSerName val="0"/>
              <c:showPercent val="0"/>
              <c:showBubbleSize val="0"/>
              <c:extLst>
                <c:ext xmlns:c15="http://schemas.microsoft.com/office/drawing/2012/chart" uri="{CE6537A1-D6FC-4f65-9D91-7224C49458BB}"/>
              </c:extLst>
            </c:dLbl>
            <c:dLbl>
              <c:idx val="3"/>
              <c:layout>
                <c:manualLayout>
                  <c:x val="-0.00212999138466471"/>
                  <c:y val="-0.094105208679901"/>
                </c:manualLayout>
              </c:layout>
              <c:tx>
                <c:rich>
                  <a:bodyPr/>
                  <a:lstStyle/>
                  <a:p>
                    <a:r>
                      <a:rPr lang="en-US" altLang="en-US"/>
                      <a:t>-63.6 </a:t>
                    </a:r>
                  </a:p>
                </c:rich>
              </c:tx>
              <c:dLblPos val="ctr"/>
              <c:showLegendKey val="0"/>
              <c:showVal val="1"/>
              <c:showCatName val="0"/>
              <c:showSerName val="0"/>
              <c:showPercent val="0"/>
              <c:showBubbleSize val="0"/>
              <c:extLst>
                <c:ext xmlns:c15="http://schemas.microsoft.com/office/drawing/2012/chart" uri="{CE6537A1-D6FC-4f65-9D91-7224C49458BB}"/>
              </c:extLst>
            </c:dLbl>
            <c:dLbl>
              <c:idx val="4"/>
              <c:layout>
                <c:manualLayout>
                  <c:x val="0.0"/>
                  <c:y val="-0.0592592592592593"/>
                </c:manualLayout>
              </c:layout>
              <c:tx>
                <c:rich>
                  <a:bodyPr/>
                  <a:lstStyle/>
                  <a:p>
                    <a:r>
                      <a:rPr lang="en-US" altLang="en-US"/>
                      <a:t>-56.9 </a:t>
                    </a:r>
                  </a:p>
                </c:rich>
              </c:tx>
              <c:dLblPos val="ctr"/>
              <c:showLegendKey val="0"/>
              <c:showVal val="1"/>
              <c:showCatName val="0"/>
              <c:showSerName val="0"/>
              <c:showPercent val="0"/>
              <c:showBubbleSize val="0"/>
              <c:extLst>
                <c:ext xmlns:c15="http://schemas.microsoft.com/office/drawing/2012/chart" uri="{CE6537A1-D6FC-4f65-9D91-7224C49458BB}"/>
              </c:extLst>
            </c:dLbl>
            <c:dLbl>
              <c:idx val="5"/>
              <c:layout>
                <c:manualLayout>
                  <c:x val="-0.002129925095398"/>
                  <c:y val="-0.0666666666666667"/>
                </c:manualLayout>
              </c:layout>
              <c:tx>
                <c:rich>
                  <a:bodyPr/>
                  <a:lstStyle/>
                  <a:p>
                    <a:r>
                      <a:rPr lang="en-US" altLang="en-US"/>
                      <a:t>-40.3 </a:t>
                    </a:r>
                  </a:p>
                </c:rich>
              </c:tx>
              <c:dLblPos val="ctr"/>
              <c:showLegendKey val="0"/>
              <c:showVal val="1"/>
              <c:showCatName val="0"/>
              <c:showSerName val="0"/>
              <c:showPercent val="0"/>
              <c:showBubbleSize val="0"/>
              <c:extLst>
                <c:ext xmlns:c15="http://schemas.microsoft.com/office/drawing/2012/chart" uri="{CE6537A1-D6FC-4f65-9D91-7224C49458BB}"/>
              </c:extLst>
            </c:dLbl>
            <c:dLbl>
              <c:idx val="6"/>
              <c:layout>
                <c:manualLayout>
                  <c:x val="0.00485028696045968"/>
                  <c:y val="-0.0605750538135004"/>
                </c:manualLayout>
              </c:layout>
              <c:tx>
                <c:rich>
                  <a:bodyPr/>
                  <a:lstStyle/>
                  <a:p>
                    <a:r>
                      <a:rPr lang="en-US" altLang="en-US"/>
                      <a:t>-19.1 </a:t>
                    </a:r>
                  </a:p>
                </c:rich>
              </c:tx>
              <c:dLblPos val="ctr"/>
              <c:showLegendKey val="0"/>
              <c:showVal val="1"/>
              <c:showCatName val="0"/>
              <c:showSerName val="0"/>
              <c:showPercent val="0"/>
              <c:showBubbleSize val="0"/>
              <c:extLst>
                <c:ext xmlns:c15="http://schemas.microsoft.com/office/drawing/2012/chart" uri="{CE6537A1-D6FC-4f65-9D91-7224C49458BB}"/>
              </c:extLst>
            </c:dLbl>
            <c:dLbl>
              <c:idx val="7"/>
              <c:layout>
                <c:manualLayout>
                  <c:x val="0.0"/>
                  <c:y val="-0.0328638497652584"/>
                </c:manualLayout>
              </c:layout>
              <c:tx>
                <c:rich>
                  <a:bodyPr/>
                  <a:lstStyle/>
                  <a:p>
                    <a:r>
                      <a:rPr lang="en-US" altLang="en-US"/>
                      <a:t>6553</a:t>
                    </a:r>
                  </a:p>
                </c:rich>
              </c:tx>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'PPT1'!$F$52:$F$59</c:f>
              <c:numCache>
                <c:formatCode>0.0_ </c:formatCode>
                <c:ptCount val="8"/>
                <c:pt idx="0">
                  <c:v>0.0</c:v>
                </c:pt>
                <c:pt idx="1">
                  <c:v>100.574075</c:v>
                </c:pt>
                <c:pt idx="2">
                  <c:v>68.8890890000002</c:v>
                </c:pt>
                <c:pt idx="3">
                  <c:v>63.577219</c:v>
                </c:pt>
                <c:pt idx="4">
                  <c:v>56.902421</c:v>
                </c:pt>
                <c:pt idx="5">
                  <c:v>40.346632</c:v>
                </c:pt>
                <c:pt idx="6">
                  <c:v>19.0901751219988</c:v>
                </c:pt>
                <c:pt idx="7">
                  <c:v>0.0</c:v>
                </c:pt>
              </c:numCache>
            </c:numRef>
          </c:val>
        </c:ser>
        <c:dLbls>
          <c:showLegendKey val="0"/>
          <c:showVal val="0"/>
          <c:showCatName val="0"/>
          <c:showSerName val="0"/>
          <c:showPercent val="0"/>
          <c:showBubbleSize val="0"/>
        </c:dLbls>
        <c:gapWidth val="150"/>
        <c:overlap val="100"/>
        <c:axId val="2070191872"/>
        <c:axId val="2070912976"/>
      </c:barChart>
      <c:catAx>
        <c:axId val="207019187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crossAx val="2070912976"/>
        <c:crosses val="autoZero"/>
        <c:auto val="1"/>
        <c:lblAlgn val="ctr"/>
        <c:lblOffset val="100"/>
        <c:noMultiLvlLbl val="0"/>
      </c:catAx>
      <c:valAx>
        <c:axId val="2070912976"/>
        <c:scaling>
          <c:orientation val="minMax"/>
          <c:max val="6950.0"/>
          <c:min val="6300.0"/>
        </c:scaling>
        <c:delete val="1"/>
        <c:axPos val="l"/>
        <c:numFmt formatCode="0.0_ " sourceLinked="1"/>
        <c:majorTickMark val="out"/>
        <c:minorTickMark val="none"/>
        <c:tickLblPos val="nextTo"/>
        <c:crossAx val="2070191872"/>
        <c:crosses val="autoZero"/>
        <c:crossBetween val="between"/>
      </c:valAx>
    </c:plotArea>
    <c:plotVisOnly val="1"/>
    <c:dispBlanksAs val="gap"/>
    <c:showDLblsOverMax val="0"/>
  </c:chart>
  <c:txPr>
    <a:bodyPr/>
    <a:lstStyle/>
    <a:p>
      <a:pPr>
        <a:defRPr lang="zh-CN" sz="12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0605144336287267"/>
          <c:y val="0.028368958061824"/>
          <c:w val="0.970754548297363"/>
          <c:h val="0.8211638487962"/>
        </c:manualLayout>
      </c:layout>
      <c:barChart>
        <c:barDir val="col"/>
        <c:grouping val="clustered"/>
        <c:varyColors val="0"/>
        <c:ser>
          <c:idx val="1"/>
          <c:order val="0"/>
          <c:tx>
            <c:strRef>
              <c:f>全业务!$A$2</c:f>
              <c:strCache>
                <c:ptCount val="1"/>
                <c:pt idx="0">
                  <c:v>完成率</c:v>
                </c:pt>
              </c:strCache>
            </c:strRef>
          </c:tx>
          <c:spPr>
            <a:solidFill>
              <a:sysClr val="windowText" lastClr="000000">
                <a:lumMod val="50000"/>
                <a:lumOff val="50000"/>
              </a:sysClr>
            </a:solidFill>
            <a:ln w="12700">
              <a:noFill/>
              <a:prstDash val="solid"/>
            </a:ln>
          </c:spPr>
          <c:invertIfNegative val="0"/>
          <c:dPt>
            <c:idx val="0"/>
            <c:invertIfNegative val="0"/>
            <c:bubble3D val="0"/>
            <c:spPr>
              <a:solidFill>
                <a:srgbClr val="383F4E"/>
              </a:solidFill>
              <a:ln w="12700">
                <a:noFill/>
                <a:prstDash val="solid"/>
              </a:ln>
            </c:spPr>
          </c:dPt>
          <c:dLbls>
            <c:dLbl>
              <c:idx val="0"/>
              <c:spPr>
                <a:noFill/>
                <a:ln w="25400">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bg1"/>
                      </a:solidFill>
                      <a:latin typeface="+mn-lt"/>
                      <a:ea typeface="楷体_GB2312"/>
                      <a:cs typeface="楷体_GB2312"/>
                    </a:defRPr>
                  </a:pPr>
                  <a:endParaRPr lang="zh-CN"/>
                </a:p>
              </c:txPr>
              <c:dLblPos val="ctr"/>
              <c:showLegendKey val="0"/>
              <c:showVal val="1"/>
              <c:showCatName val="0"/>
              <c:showSerName val="0"/>
              <c:showPercent val="0"/>
              <c:showBubbleSize val="0"/>
            </c:dLbl>
            <c:spPr>
              <a:noFill/>
              <a:ln w="25400">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000000"/>
                    </a:solidFill>
                    <a:latin typeface="+mn-lt"/>
                    <a:ea typeface="楷体_GB2312"/>
                    <a:cs typeface="楷体_GB231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全业务!$B$1:$J$1</c:f>
              <c:strCache>
                <c:ptCount val="9"/>
                <c:pt idx="0">
                  <c:v>南平</c:v>
                </c:pt>
                <c:pt idx="1">
                  <c:v>莆田</c:v>
                </c:pt>
                <c:pt idx="2">
                  <c:v>泉州</c:v>
                </c:pt>
                <c:pt idx="3">
                  <c:v>漳州</c:v>
                </c:pt>
                <c:pt idx="4">
                  <c:v>宁德</c:v>
                </c:pt>
                <c:pt idx="5">
                  <c:v>福州</c:v>
                </c:pt>
                <c:pt idx="6">
                  <c:v>厦门</c:v>
                </c:pt>
                <c:pt idx="7">
                  <c:v>龙岩</c:v>
                </c:pt>
                <c:pt idx="8">
                  <c:v>三明</c:v>
                </c:pt>
              </c:strCache>
            </c:strRef>
          </c:cat>
          <c:val>
            <c:numRef>
              <c:f>全业务!$B$2:$J$2</c:f>
              <c:numCache>
                <c:formatCode>0.00%</c:formatCode>
                <c:ptCount val="9"/>
                <c:pt idx="0">
                  <c:v>0.337247851227139</c:v>
                </c:pt>
                <c:pt idx="1">
                  <c:v>0.326428978961509</c:v>
                </c:pt>
                <c:pt idx="2">
                  <c:v>0.323773027196395</c:v>
                </c:pt>
                <c:pt idx="3">
                  <c:v>0.321998635484677</c:v>
                </c:pt>
                <c:pt idx="4">
                  <c:v>0.319247099508161</c:v>
                </c:pt>
                <c:pt idx="5">
                  <c:v>0.319045725139154</c:v>
                </c:pt>
                <c:pt idx="6">
                  <c:v>0.317560538487865</c:v>
                </c:pt>
                <c:pt idx="7">
                  <c:v>0.313768393843047</c:v>
                </c:pt>
                <c:pt idx="8">
                  <c:v>0.309375923495012</c:v>
                </c:pt>
              </c:numCache>
            </c:numRef>
          </c:val>
        </c:ser>
        <c:dLbls>
          <c:showLegendKey val="0"/>
          <c:showVal val="1"/>
          <c:showCatName val="0"/>
          <c:showSerName val="0"/>
          <c:showPercent val="0"/>
          <c:showBubbleSize val="0"/>
        </c:dLbls>
        <c:gapWidth val="150"/>
        <c:axId val="2070441344"/>
        <c:axId val="2070375744"/>
      </c:barChart>
      <c:lineChart>
        <c:grouping val="standard"/>
        <c:varyColors val="0"/>
        <c:ser>
          <c:idx val="0"/>
          <c:order val="1"/>
          <c:tx>
            <c:strRef>
              <c:f>全业务!$A$3</c:f>
              <c:strCache>
                <c:ptCount val="1"/>
                <c:pt idx="0">
                  <c:v>同比增幅</c:v>
                </c:pt>
              </c:strCache>
            </c:strRef>
          </c:tx>
          <c:spPr>
            <a:ln w="38100" cap="rnd" cmpd="sng" algn="ctr">
              <a:solidFill>
                <a:srgbClr val="FF0000"/>
              </a:solidFill>
              <a:prstDash val="solid"/>
              <a:round/>
            </a:ln>
          </c:spPr>
          <c:marker>
            <c:symbol val="diamond"/>
            <c:size val="9"/>
            <c:spPr>
              <a:solidFill>
                <a:srgbClr val="FF0000"/>
              </a:solidFill>
              <a:ln w="9525" cap="flat" cmpd="sng" algn="ctr">
                <a:solidFill>
                  <a:srgbClr val="FF0000"/>
                </a:solidFill>
                <a:prstDash val="solid"/>
                <a:round/>
              </a:ln>
            </c:spPr>
          </c:marker>
          <c:dLbls>
            <c:dLbl>
              <c:idx val="0"/>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bg1"/>
                      </a:solidFill>
                      <a:latin typeface="Arial" panose="020B0604020202020204"/>
                      <a:ea typeface="Arial" panose="020B0604020202020204"/>
                      <a:cs typeface="Arial" panose="020B0604020202020204"/>
                    </a:defRPr>
                  </a:pPr>
                  <a:endParaRPr lang="zh-CN"/>
                </a:p>
              </c:txPr>
              <c:dLblPos val="b"/>
              <c:showLegendKey val="0"/>
              <c:showVal val="1"/>
              <c:showCatName val="0"/>
              <c:showSerName val="0"/>
              <c:showPercent val="0"/>
              <c:showBubbleSize val="0"/>
            </c:dLbl>
            <c:dLbl>
              <c:idx val="6"/>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solidFill>
                      <a:latin typeface="Arial" panose="020B0604020202020204"/>
                      <a:ea typeface="Arial" panose="020B0604020202020204"/>
                      <a:cs typeface="Arial" panose="020B0604020202020204"/>
                    </a:defRPr>
                  </a:pPr>
                  <a:endParaRPr lang="zh-CN"/>
                </a:p>
              </c:txPr>
              <c:dLblPos val="b"/>
              <c:showLegendKey val="0"/>
              <c:showVal val="1"/>
              <c:showCatName val="0"/>
              <c:showSerName val="0"/>
              <c:showPercent val="0"/>
              <c:showBubbleSize val="0"/>
            </c:dLbl>
            <c:dLbl>
              <c:idx val="8"/>
              <c:tx>
                <c:rich>
                  <a:bodyPr rot="0" spcFirstLastPara="0" vertOverflow="ellipsis" vert="horz" wrap="square" lIns="38100" tIns="19050" rIns="38100" bIns="19050" anchor="ctr" anchorCtr="1"/>
                  <a:lstStyle/>
                  <a:p>
                    <a:pPr>
                      <a:defRPr lang="zh-CN" sz="1000" b="1" i="0" u="none" strike="noStrike" kern="1200" baseline="0">
                        <a:solidFill>
                          <a:srgbClr val="FF0000"/>
                        </a:solidFill>
                        <a:latin typeface="Arial" panose="020B0604020202020204"/>
                        <a:ea typeface="Arial" panose="020B0604020202020204"/>
                        <a:cs typeface="Arial" panose="020B0604020202020204"/>
                      </a:defRPr>
                    </a:pPr>
                    <a:r>
                      <a:rPr lang="en-US" altLang="en-US" baseline="0" dirty="0">
                        <a:solidFill>
                          <a:schemeClr val="tx1"/>
                        </a:solidFill>
                      </a:rPr>
                      <a:t>-1.34%</a:t>
                    </a:r>
                  </a:p>
                </c:rich>
              </c:tx>
              <c:spPr>
                <a:noFill/>
                <a:ln>
                  <a:noFill/>
                </a:ln>
                <a:effectLst/>
              </c:spPr>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000000"/>
                    </a:solidFill>
                    <a:latin typeface="Arial" panose="020B0604020202020204"/>
                    <a:ea typeface="Arial" panose="020B0604020202020204"/>
                    <a:cs typeface="Arial" panose="020B0604020202020204"/>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全业务!$B$1:$J$1</c:f>
              <c:strCache>
                <c:ptCount val="9"/>
                <c:pt idx="0">
                  <c:v>南平</c:v>
                </c:pt>
                <c:pt idx="1">
                  <c:v>莆田</c:v>
                </c:pt>
                <c:pt idx="2">
                  <c:v>泉州</c:v>
                </c:pt>
                <c:pt idx="3">
                  <c:v>漳州</c:v>
                </c:pt>
                <c:pt idx="4">
                  <c:v>宁德</c:v>
                </c:pt>
                <c:pt idx="5">
                  <c:v>福州</c:v>
                </c:pt>
                <c:pt idx="6">
                  <c:v>厦门</c:v>
                </c:pt>
                <c:pt idx="7">
                  <c:v>龙岩</c:v>
                </c:pt>
                <c:pt idx="8">
                  <c:v>三明</c:v>
                </c:pt>
              </c:strCache>
            </c:strRef>
          </c:cat>
          <c:val>
            <c:numRef>
              <c:f>全业务!$B$3:$J$3</c:f>
              <c:numCache>
                <c:formatCode>0.00%</c:formatCode>
                <c:ptCount val="9"/>
                <c:pt idx="0">
                  <c:v>0.0387395777685404</c:v>
                </c:pt>
                <c:pt idx="1">
                  <c:v>0.0234315095574613</c:v>
                </c:pt>
                <c:pt idx="2">
                  <c:v>-0.0124263402893378</c:v>
                </c:pt>
                <c:pt idx="3">
                  <c:v>-0.00216392374793716</c:v>
                </c:pt>
                <c:pt idx="4">
                  <c:v>-0.0214435933239028</c:v>
                </c:pt>
                <c:pt idx="5">
                  <c:v>-0.00804996967604383</c:v>
                </c:pt>
                <c:pt idx="6">
                  <c:v>-0.0178011563646132</c:v>
                </c:pt>
                <c:pt idx="7">
                  <c:v>-0.0261072718125509</c:v>
                </c:pt>
                <c:pt idx="8">
                  <c:v>-0.0305604211143761</c:v>
                </c:pt>
              </c:numCache>
            </c:numRef>
          </c:val>
          <c:smooth val="1"/>
        </c:ser>
        <c:dLbls>
          <c:showLegendKey val="0"/>
          <c:showVal val="1"/>
          <c:showCatName val="0"/>
          <c:showSerName val="0"/>
          <c:showPercent val="0"/>
          <c:showBubbleSize val="0"/>
        </c:dLbls>
        <c:marker val="1"/>
        <c:smooth val="0"/>
        <c:axId val="2070378032"/>
        <c:axId val="2070777040"/>
      </c:lineChart>
      <c:catAx>
        <c:axId val="2070441344"/>
        <c:scaling>
          <c:orientation val="minMax"/>
        </c:scaling>
        <c:delete val="0"/>
        <c:axPos val="b"/>
        <c:numFmt formatCode="General" sourceLinked="1"/>
        <c:majorTickMark val="in"/>
        <c:minorTickMark val="none"/>
        <c:tickLblPos val="nextTo"/>
        <c:spPr>
          <a:ln w="3175" cap="flat" cmpd="sng" algn="ctr">
            <a:solidFill>
              <a:srgbClr val="000000"/>
            </a:solidFill>
            <a:prstDash val="solid"/>
            <a:round/>
          </a:ln>
        </c:spPr>
        <c:txPr>
          <a:bodyPr rot="0" spcFirstLastPara="0" vertOverflow="ellipsis" vert="horz" wrap="square" anchor="ctr" anchorCtr="1"/>
          <a:lstStyle/>
          <a:p>
            <a:pPr>
              <a:defRPr lang="zh-CN" sz="1400" b="0" i="0" u="none" strike="noStrike" kern="1200" baseline="0">
                <a:solidFill>
                  <a:srgbClr val="000000"/>
                </a:solidFill>
                <a:latin typeface="微软雅黑" panose="020B0503020204020204" pitchFamily="34" charset="-122"/>
                <a:ea typeface="微软雅黑" panose="020B0503020204020204" pitchFamily="34" charset="-122"/>
                <a:cs typeface="宋体" panose="02010600030101010101" pitchFamily="2" charset="-122"/>
              </a:defRPr>
            </a:pPr>
            <a:endParaRPr lang="zh-CN"/>
          </a:p>
        </c:txPr>
        <c:crossAx val="2070375744"/>
        <c:crosses val="autoZero"/>
        <c:auto val="0"/>
        <c:lblAlgn val="ctr"/>
        <c:lblOffset val="100"/>
        <c:tickLblSkip val="1"/>
        <c:noMultiLvlLbl val="0"/>
      </c:catAx>
      <c:valAx>
        <c:axId val="2070375744"/>
        <c:scaling>
          <c:orientation val="minMax"/>
        </c:scaling>
        <c:delete val="0"/>
        <c:axPos val="l"/>
        <c:numFmt formatCode="0.00%" sourceLinked="1"/>
        <c:majorTickMark val="none"/>
        <c:minorTickMark val="none"/>
        <c:tickLblPos val="none"/>
        <c:spPr>
          <a:ln w="9525" cap="flat" cmpd="sng" algn="ctr">
            <a:no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2070441344"/>
        <c:crosses val="autoZero"/>
        <c:crossBetween val="between"/>
      </c:valAx>
      <c:catAx>
        <c:axId val="2070378032"/>
        <c:scaling>
          <c:orientation val="minMax"/>
        </c:scaling>
        <c:delete val="1"/>
        <c:axPos val="b"/>
        <c:numFmt formatCode="General" sourceLinked="1"/>
        <c:majorTickMark val="out"/>
        <c:minorTickMark val="none"/>
        <c:tickLblPos val="none"/>
        <c:crossAx val="2070777040"/>
        <c:crossesAt val="0.0"/>
        <c:auto val="0"/>
        <c:lblAlgn val="ctr"/>
        <c:lblOffset val="100"/>
        <c:noMultiLvlLbl val="0"/>
      </c:catAx>
      <c:valAx>
        <c:axId val="2070777040"/>
        <c:scaling>
          <c:orientation val="minMax"/>
          <c:max val="0.1"/>
          <c:min val="-0.2"/>
        </c:scaling>
        <c:delete val="0"/>
        <c:axPos val="r"/>
        <c:numFmt formatCode="0.00%" sourceLinked="1"/>
        <c:majorTickMark val="none"/>
        <c:minorTickMark val="none"/>
        <c:tickLblPos val="none"/>
        <c:spPr>
          <a:ln w="3175" cap="flat" cmpd="sng" algn="ctr">
            <a:solidFill>
              <a:srgbClr val="000000"/>
            </a:solid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2070378032"/>
        <c:crosses val="max"/>
        <c:crossBetween val="between"/>
        <c:majorUnit val="0.0400000000000001"/>
        <c:minorUnit val="0.0200000000000001"/>
      </c:valAx>
      <c:spPr>
        <a:noFill/>
        <a:ln w="25400">
          <a:noFill/>
        </a:ln>
      </c:spPr>
    </c:plotArea>
    <c:legend>
      <c:legendPos val="b"/>
      <c:layout>
        <c:manualLayout>
          <c:xMode val="edge"/>
          <c:yMode val="edge"/>
          <c:x val="0.617210473672021"/>
          <c:y val="0.00154870466189367"/>
          <c:w val="0.345598090143011"/>
          <c:h val="0.0902193637712558"/>
        </c:manualLayout>
      </c:layout>
      <c:overlay val="0"/>
      <c:spPr>
        <a:noFill/>
        <a:ln w="3175">
          <a:noFill/>
          <a:prstDash val="solid"/>
        </a:ln>
      </c:spPr>
      <c:txPr>
        <a:bodyPr rot="0" spcFirstLastPara="0" vertOverflow="ellipsis" vert="horz" wrap="square" anchor="ctr" anchorCtr="1"/>
        <a:lstStyle/>
        <a:p>
          <a:pPr>
            <a:defRPr lang="zh-CN" sz="1400" b="0" i="0" u="none" strike="noStrike" kern="1200" baseline="0">
              <a:solidFill>
                <a:srgbClr val="000000"/>
              </a:solidFill>
              <a:latin typeface="微软雅黑" panose="020B0503020204020204" pitchFamily="34" charset="-122"/>
              <a:ea typeface="微软雅黑" panose="020B0503020204020204" pitchFamily="34" charset="-122"/>
              <a:cs typeface="宋体" panose="02010600030101010101" pitchFamily="2" charset="-122"/>
            </a:defRPr>
          </a:pPr>
          <a:endParaRPr lang="zh-CN"/>
        </a:p>
      </c:txPr>
    </c:legend>
    <c:plotVisOnly val="1"/>
    <c:dispBlanksAs val="gap"/>
    <c:showDLblsOverMax val="0"/>
  </c:chart>
  <c:spPr>
    <a:noFill/>
    <a:ln w="9525">
      <a:noFill/>
    </a:ln>
  </c:spPr>
  <c:txPr>
    <a:bodyPr/>
    <a:lstStyle/>
    <a:p>
      <a:pPr>
        <a:defRPr lang="zh-CN" sz="1000" b="0" i="0" u="none" strike="noStrike" baseline="0">
          <a:solidFill>
            <a:srgbClr val="000000"/>
          </a:solidFill>
          <a:latin typeface="Arial" panose="020B0604020202020204"/>
          <a:ea typeface="Arial" panose="020B0604020202020204"/>
          <a:cs typeface="Arial" panose="020B0604020202020204"/>
        </a:defRPr>
      </a:pPr>
      <a:endParaRPr lang="zh-CN"/>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0.00982914915425342"/>
          <c:y val="0.0"/>
          <c:w val="0.990170850845747"/>
          <c:h val="0.809611144760751"/>
        </c:manualLayout>
      </c:layout>
      <c:barChart>
        <c:barDir val="col"/>
        <c:grouping val="clustered"/>
        <c:varyColors val="0"/>
        <c:ser>
          <c:idx val="0"/>
          <c:order val="0"/>
          <c:tx>
            <c:strRef>
              <c:f>'PPT2'!$D$15</c:f>
              <c:strCache>
                <c:ptCount val="1"/>
                <c:pt idx="0">
                  <c:v>应收账款余额</c:v>
                </c:pt>
              </c:strCache>
            </c:strRef>
          </c:tx>
          <c:spPr>
            <a:solidFill>
              <a:srgbClr val="E8432E"/>
            </a:solidFill>
            <a:effectLst/>
            <a:scene3d>
              <a:camera prst="orthographicFront"/>
              <a:lightRig rig="threePt" dir="t"/>
            </a:scene3d>
          </c:spPr>
          <c:invertIfNegative val="0"/>
          <c:dLbls>
            <c:dLbl>
              <c:idx val="1"/>
              <c:layout>
                <c:manualLayout>
                  <c:x val="0.00159299064049011"/>
                  <c:y val="-0.0103359173126614"/>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1"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'PPT2'!$C$16:$C$30</c:f>
              <c:strCache>
                <c:ptCount val="14"/>
                <c:pt idx="1">
                  <c:v>年初</c:v>
                </c:pt>
                <c:pt idx="2">
                  <c:v>1月</c:v>
                </c:pt>
                <c:pt idx="3">
                  <c:v>2月</c:v>
                </c:pt>
                <c:pt idx="4">
                  <c:v>3月</c:v>
                </c:pt>
                <c:pt idx="5">
                  <c:v>4月</c:v>
                </c:pt>
                <c:pt idx="6">
                  <c:v>5月</c:v>
                </c:pt>
                <c:pt idx="7">
                  <c:v>6月</c:v>
                </c:pt>
                <c:pt idx="8">
                  <c:v>7月</c:v>
                </c:pt>
                <c:pt idx="9">
                  <c:v>8月</c:v>
                </c:pt>
                <c:pt idx="10">
                  <c:v>9月</c:v>
                </c:pt>
                <c:pt idx="11">
                  <c:v>10月</c:v>
                </c:pt>
                <c:pt idx="12">
                  <c:v>11月</c:v>
                </c:pt>
                <c:pt idx="13">
                  <c:v>12月</c:v>
                </c:pt>
              </c:strCache>
            </c:strRef>
          </c:cat>
          <c:val>
            <c:numRef>
              <c:f>'PPT2'!$D$16:$D$30</c:f>
              <c:numCache>
                <c:formatCode>0_ </c:formatCode>
                <c:ptCount val="15"/>
                <c:pt idx="1">
                  <c:v>5510.932678</c:v>
                </c:pt>
                <c:pt idx="2">
                  <c:v>6107.236247</c:v>
                </c:pt>
                <c:pt idx="3">
                  <c:v>6436.049944</c:v>
                </c:pt>
                <c:pt idx="4">
                  <c:v>6423.485182</c:v>
                </c:pt>
                <c:pt idx="5">
                  <c:v>6471.924189</c:v>
                </c:pt>
              </c:numCache>
            </c:numRef>
          </c:val>
        </c:ser>
        <c:dLbls>
          <c:showLegendKey val="0"/>
          <c:showVal val="0"/>
          <c:showCatName val="0"/>
          <c:showSerName val="0"/>
          <c:showPercent val="0"/>
          <c:showBubbleSize val="0"/>
        </c:dLbls>
        <c:gapWidth val="150"/>
        <c:axId val="2070902096"/>
        <c:axId val="1995591872"/>
      </c:barChart>
      <c:lineChart>
        <c:grouping val="standard"/>
        <c:varyColors val="0"/>
        <c:ser>
          <c:idx val="1"/>
          <c:order val="1"/>
          <c:tx>
            <c:strRef>
              <c:f>'PPT2'!$E$15</c:f>
              <c:strCache>
                <c:ptCount val="1"/>
                <c:pt idx="0">
                  <c:v>占收比</c:v>
                </c:pt>
              </c:strCache>
            </c:strRef>
          </c:tx>
          <c:spPr>
            <a:ln w="50800" cap="rnd" cmpd="sng" algn="ctr">
              <a:solidFill>
                <a:srgbClr val="FFC000"/>
              </a:solidFill>
              <a:prstDash val="solid"/>
              <a:round/>
            </a:ln>
          </c:spPr>
          <c:marker>
            <c:symbol val="square"/>
            <c:size val="3"/>
            <c:spPr>
              <a:solidFill>
                <a:srgbClr val="FFC000"/>
              </a:solidFill>
              <a:ln w="6350" cap="flat" cmpd="sng" algn="ctr">
                <a:solidFill>
                  <a:srgbClr val="FFC000"/>
                </a:solidFill>
                <a:prstDash val="solid"/>
                <a:round/>
              </a:ln>
            </c:spPr>
          </c:marker>
          <c:dLbls>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'PPT2'!$C$18:$C$29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'PPT2'!$E$16:$E$30</c:f>
              <c:numCache>
                <c:formatCode>0.00%</c:formatCode>
                <c:ptCount val="15"/>
                <c:pt idx="1">
                  <c:v>0.0810138711038525</c:v>
                </c:pt>
                <c:pt idx="2">
                  <c:v>0.0846414504695198</c:v>
                </c:pt>
                <c:pt idx="3">
                  <c:v>0.082462933457135</c:v>
                </c:pt>
                <c:pt idx="4">
                  <c:v>0.086388047868528</c:v>
                </c:pt>
                <c:pt idx="5">
                  <c:v>0.0867664159507753</c:v>
                </c:pt>
              </c:numCache>
            </c:numRef>
          </c:val>
          <c:smooth val="1"/>
        </c:ser>
        <c:ser>
          <c:idx val="2"/>
          <c:order val="2"/>
          <c:tx>
            <c:strRef>
              <c:f>'PPT2'!$B$15</c:f>
              <c:strCache>
                <c:ptCount val="1"/>
                <c:pt idx="0">
                  <c:v>基准值</c:v>
                </c:pt>
              </c:strCache>
            </c:strRef>
          </c:tx>
          <c:spPr>
            <a:ln w="28575" cap="rnd" cmpd="sng" algn="ctr">
              <a:solidFill>
                <a:srgbClr val="FF0000"/>
              </a:solidFill>
              <a:prstDash val="sysDash"/>
              <a:round/>
            </a:ln>
          </c:spPr>
          <c:marker>
            <c:symbol val="none"/>
          </c:marker>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layout>
                <c:manualLayout>
                  <c:x val="0.215034624909174"/>
                  <c:y val="-0.0654609452888157"/>
                </c:manualLayout>
              </c:layout>
              <c:spPr>
                <a:noFill/>
                <a:ln>
                  <a:noFill/>
                </a:ln>
                <a:effectLst/>
              </c:spPr>
              <c:txPr>
                <a:bodyPr rot="0" spcFirstLastPara="0" vertOverflow="ellipsis" vert="horz" wrap="square" lIns="38100" tIns="19050" rIns="38100" bIns="19050" anchor="ctr" anchorCtr="1"/>
                <a:lstStyle/>
                <a:p>
                  <a:pPr>
                    <a:defRPr lang="zh-CN" sz="1400"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'PPT2'!$C$18:$C$29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'PPT2'!$B$16:$B$30</c:f>
              <c:numCache>
                <c:formatCode>0.00%</c:formatCode>
                <c:ptCount val="15"/>
                <c:pt idx="0">
                  <c:v>0.0806</c:v>
                </c:pt>
                <c:pt idx="1">
                  <c:v>0.0806</c:v>
                </c:pt>
                <c:pt idx="2">
                  <c:v>0.0806</c:v>
                </c:pt>
                <c:pt idx="3">
                  <c:v>0.0806</c:v>
                </c:pt>
                <c:pt idx="4">
                  <c:v>0.0806</c:v>
                </c:pt>
                <c:pt idx="5">
                  <c:v>0.0806</c:v>
                </c:pt>
                <c:pt idx="6">
                  <c:v>0.0806</c:v>
                </c:pt>
                <c:pt idx="7">
                  <c:v>0.0806</c:v>
                </c:pt>
                <c:pt idx="8">
                  <c:v>0.0806</c:v>
                </c:pt>
                <c:pt idx="9">
                  <c:v>0.0806</c:v>
                </c:pt>
                <c:pt idx="10">
                  <c:v>0.0806</c:v>
                </c:pt>
                <c:pt idx="11">
                  <c:v>0.0806</c:v>
                </c:pt>
                <c:pt idx="12">
                  <c:v>0.0806</c:v>
                </c:pt>
                <c:pt idx="13">
                  <c:v>0.0806</c:v>
                </c:pt>
                <c:pt idx="14">
                  <c:v>0.0806</c:v>
                </c:pt>
              </c:numCache>
            </c:numRef>
          </c:val>
          <c:smooth val="0"/>
        </c:ser>
        <c:ser>
          <c:idx val="3"/>
          <c:order val="3"/>
          <c:tx>
            <c:strRef>
              <c:f>'PPT2'!$F$15</c:f>
              <c:strCache>
                <c:ptCount val="1"/>
                <c:pt idx="0">
                  <c:v>上年同期</c:v>
                </c:pt>
              </c:strCache>
            </c:strRef>
          </c:tx>
          <c:spPr>
            <a:ln w="38100" cap="rnd" cmpd="sng" algn="ctr">
              <a:solidFill>
                <a:schemeClr val="tx1"/>
              </a:solidFill>
              <a:prstDash val="solid"/>
              <a:round/>
            </a:ln>
          </c:spPr>
          <c:marker>
            <c:symbol val="x"/>
            <c:size val="3"/>
            <c:spPr>
              <a:ln w="38100" cap="flat" cmpd="sng" algn="ctr">
                <a:solidFill>
                  <a:schemeClr val="tx1"/>
                </a:solidFill>
                <a:prstDash val="solid"/>
                <a:round/>
              </a:ln>
            </c:spPr>
          </c:marker>
          <c:dLbls>
            <c:dLbl>
              <c:idx val="3"/>
              <c:layout>
                <c:manualLayout>
                  <c:x val="0.00345197152422482"/>
                  <c:y val="0.0102560064607309"/>
                </c:manualLayout>
              </c:layout>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1" i="0" u="none" strike="noStrike" kern="1200" baseline="0">
                    <a:solidFill>
                      <a:schemeClr val="tx1"/>
                    </a:solidFill>
                    <a:latin typeface="+mn-lt"/>
                    <a:ea typeface="+mn-ea"/>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'PPT2'!$C$18:$C$29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'PPT2'!$F$16:$F$30</c:f>
              <c:numCache>
                <c:formatCode>General</c:formatCode>
                <c:ptCount val="15"/>
                <c:pt idx="2" formatCode="0.00%">
                  <c:v>0.0731724614834331</c:v>
                </c:pt>
                <c:pt idx="3" formatCode="0.00%">
                  <c:v>0.0796556191410179</c:v>
                </c:pt>
                <c:pt idx="4" formatCode="0.00%">
                  <c:v>0.0851128458784697</c:v>
                </c:pt>
                <c:pt idx="5" formatCode="0.00%">
                  <c:v>0.0836156713808737</c:v>
                </c:pt>
                <c:pt idx="6" formatCode="0.00%">
                  <c:v>0.08162190060379</c:v>
                </c:pt>
                <c:pt idx="7" formatCode="0.00%">
                  <c:v>0.0878196375214585</c:v>
                </c:pt>
                <c:pt idx="8" formatCode="0.00%">
                  <c:v>0.0897480823589149</c:v>
                </c:pt>
                <c:pt idx="9" formatCode="0.00%">
                  <c:v>0.0943704463662649</c:v>
                </c:pt>
                <c:pt idx="10" formatCode="0.00%">
                  <c:v>0.090461563967777</c:v>
                </c:pt>
                <c:pt idx="11" formatCode="0.00%">
                  <c:v>0.0873861924495695</c:v>
                </c:pt>
                <c:pt idx="12" formatCode="0.00%">
                  <c:v>0.0874603104669582</c:v>
                </c:pt>
                <c:pt idx="13" formatCode="0.00%">
                  <c:v>0.0810138711038525</c:v>
                </c:pt>
              </c:numCache>
            </c:numRef>
          </c:val>
          <c:smooth val="1"/>
        </c:ser>
        <c:dLbls>
          <c:showLegendKey val="0"/>
          <c:showVal val="0"/>
          <c:showCatName val="0"/>
          <c:showSerName val="0"/>
          <c:showPercent val="0"/>
          <c:showBubbleSize val="0"/>
        </c:dLbls>
        <c:marker val="1"/>
        <c:smooth val="0"/>
        <c:axId val="2070814464"/>
        <c:axId val="-2092974800"/>
      </c:lineChart>
      <c:catAx>
        <c:axId val="2070902096"/>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crossAx val="1995591872"/>
        <c:crosses val="autoZero"/>
        <c:auto val="1"/>
        <c:lblAlgn val="ctr"/>
        <c:lblOffset val="100"/>
        <c:noMultiLvlLbl val="0"/>
      </c:catAx>
      <c:valAx>
        <c:axId val="1995591872"/>
        <c:scaling>
          <c:orientation val="minMax"/>
          <c:max val="7500.0"/>
          <c:min val="4000.0"/>
        </c:scaling>
        <c:delete val="0"/>
        <c:axPos val="l"/>
        <c:numFmt formatCode="General" sourceLinked="1"/>
        <c:majorTickMark val="none"/>
        <c:minorTickMark val="none"/>
        <c:tickLblPos val="none"/>
        <c:spPr>
          <a:ln w="6350"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bg1"/>
                </a:solidFill>
                <a:latin typeface="+mn-lt"/>
                <a:ea typeface="+mn-ea"/>
                <a:cs typeface="+mn-cs"/>
              </a:defRPr>
            </a:pPr>
            <a:endParaRPr lang="zh-CN"/>
          </a:p>
        </c:txPr>
        <c:crossAx val="2070902096"/>
        <c:crosses val="autoZero"/>
        <c:crossBetween val="between"/>
      </c:valAx>
      <c:catAx>
        <c:axId val="2070814464"/>
        <c:scaling>
          <c:orientation val="minMax"/>
        </c:scaling>
        <c:delete val="1"/>
        <c:axPos val="b"/>
        <c:numFmt formatCode="General" sourceLinked="1"/>
        <c:majorTickMark val="out"/>
        <c:minorTickMark val="none"/>
        <c:tickLblPos val="nextTo"/>
        <c:crossAx val="-2092974800"/>
        <c:crosses val="autoZero"/>
        <c:auto val="1"/>
        <c:lblAlgn val="ctr"/>
        <c:lblOffset val="100"/>
        <c:noMultiLvlLbl val="0"/>
      </c:catAx>
      <c:valAx>
        <c:axId val="-2092974800"/>
        <c:scaling>
          <c:orientation val="minMax"/>
          <c:max val="0.12"/>
          <c:min val="0.07"/>
        </c:scaling>
        <c:delete val="0"/>
        <c:axPos val="r"/>
        <c:numFmt formatCode="General" sourceLinked="1"/>
        <c:majorTickMark val="none"/>
        <c:minorTickMark val="none"/>
        <c:tickLblPos val="none"/>
        <c:spPr>
          <a:ln w="6350"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2070814464"/>
        <c:crosses val="max"/>
        <c:crossBetween val="between"/>
      </c:valAx>
    </c:plotArea>
    <c:plotVisOnly val="1"/>
    <c:dispBlanksAs val="gap"/>
    <c:showDLblsOverMax val="0"/>
  </c:chart>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Tree>
  </p:cSld>
  <p:clrMapOvr>
    <a:masterClrMapping/>
  </p:clrMapOvr>
  <p:transition spd="slow" advClick="0" advTm="0">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187" name=" 187"/>
          <p:cNvSpPr/>
          <p:nvPr userDrawn="1"/>
        </p:nvSpPr>
        <p:spPr>
          <a:xfrm>
            <a:off x="238760" y="247015"/>
            <a:ext cx="11714480" cy="6363970"/>
          </a:xfrm>
          <a:prstGeom prst="roundRect">
            <a:avLst/>
          </a:prstGeom>
          <a:noFill/>
          <a:ln w="5397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 name="任意多边形: 形状 4"/>
          <p:cNvSpPr/>
          <p:nvPr userDrawn="1">
            <p:custDataLst>
              <p:tags r:id="rId1"/>
            </p:custDataLst>
          </p:nvPr>
        </p:nvSpPr>
        <p:spPr>
          <a:xfrm flipH="1">
            <a:off x="-1" y="424075"/>
            <a:ext cx="1501013" cy="568817"/>
          </a:xfrm>
          <a:custGeom>
            <a:avLst/>
            <a:gdLst>
              <a:gd name="connsiteX0" fmla="*/ 1623001 w 1623001"/>
              <a:gd name="connsiteY0" fmla="*/ 0 h 675970"/>
              <a:gd name="connsiteX1" fmla="*/ 309120 w 1623001"/>
              <a:gd name="connsiteY1" fmla="*/ 0 h 675970"/>
              <a:gd name="connsiteX2" fmla="*/ 270630 w 1623001"/>
              <a:gd name="connsiteY2" fmla="*/ 0 h 675970"/>
              <a:gd name="connsiteX3" fmla="*/ 270630 w 1623001"/>
              <a:gd name="connsiteY3" fmla="*/ 4243 h 675970"/>
              <a:gd name="connsiteX4" fmla="*/ 246822 w 1623001"/>
              <a:gd name="connsiteY4" fmla="*/ 6867 h 675970"/>
              <a:gd name="connsiteX5" fmla="*/ 0 w 1623001"/>
              <a:gd name="connsiteY5" fmla="*/ 337985 h 675970"/>
              <a:gd name="connsiteX6" fmla="*/ 246822 w 1623001"/>
              <a:gd name="connsiteY6" fmla="*/ 669103 h 675970"/>
              <a:gd name="connsiteX7" fmla="*/ 270630 w 1623001"/>
              <a:gd name="connsiteY7" fmla="*/ 671728 h 675970"/>
              <a:gd name="connsiteX8" fmla="*/ 270630 w 1623001"/>
              <a:gd name="connsiteY8" fmla="*/ 675969 h 675970"/>
              <a:gd name="connsiteX9" fmla="*/ 309111 w 1623001"/>
              <a:gd name="connsiteY9" fmla="*/ 675969 h 675970"/>
              <a:gd name="connsiteX10" fmla="*/ 309120 w 1623001"/>
              <a:gd name="connsiteY10" fmla="*/ 675970 h 675970"/>
              <a:gd name="connsiteX11" fmla="*/ 309129 w 1623001"/>
              <a:gd name="connsiteY11" fmla="*/ 675969 h 675970"/>
              <a:gd name="connsiteX12" fmla="*/ 1623001 w 1623001"/>
              <a:gd name="connsiteY12" fmla="*/ 675969 h 67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001" h="675970">
                <a:moveTo>
                  <a:pt x="1623001" y="0"/>
                </a:moveTo>
                <a:lnTo>
                  <a:pt x="309120" y="0"/>
                </a:lnTo>
                <a:lnTo>
                  <a:pt x="270630" y="0"/>
                </a:lnTo>
                <a:lnTo>
                  <a:pt x="270630" y="4243"/>
                </a:lnTo>
                <a:lnTo>
                  <a:pt x="246822" y="6867"/>
                </a:lnTo>
                <a:cubicBezTo>
                  <a:pt x="105961" y="38383"/>
                  <a:pt x="0" y="174654"/>
                  <a:pt x="0" y="337985"/>
                </a:cubicBezTo>
                <a:cubicBezTo>
                  <a:pt x="0" y="501316"/>
                  <a:pt x="105961" y="637588"/>
                  <a:pt x="246822" y="669103"/>
                </a:cubicBezTo>
                <a:lnTo>
                  <a:pt x="270630" y="671728"/>
                </a:lnTo>
                <a:lnTo>
                  <a:pt x="270630" y="675969"/>
                </a:lnTo>
                <a:lnTo>
                  <a:pt x="309111" y="675969"/>
                </a:lnTo>
                <a:lnTo>
                  <a:pt x="309120" y="675970"/>
                </a:lnTo>
                <a:lnTo>
                  <a:pt x="309129" y="675969"/>
                </a:lnTo>
                <a:lnTo>
                  <a:pt x="1623001" y="675969"/>
                </a:lnTo>
                <a:close/>
              </a:path>
            </a:pathLst>
          </a:custGeom>
          <a:solidFill>
            <a:srgbClr val="E8432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2" name="文本框 11"/>
          <p:cNvSpPr txBox="1"/>
          <p:nvPr userDrawn="1"/>
        </p:nvSpPr>
        <p:spPr>
          <a:xfrm>
            <a:off x="565724" y="469672"/>
            <a:ext cx="935289" cy="523220"/>
          </a:xfrm>
          <a:prstGeom prst="rect">
            <a:avLst/>
          </a:prstGeom>
          <a:noFill/>
        </p:spPr>
        <p:txBody>
          <a:bodyPr wrap="square" lIns="91440" tIns="45720" rIns="91440" bIns="45720" rtlCol="0">
            <a:spAutoFit/>
          </a:bodyPr>
          <a:lstStyle/>
          <a:p>
            <a:r>
              <a:rPr lang="en-US" altLang="zh-CN" sz="2800" b="1" dirty="0">
                <a:solidFill>
                  <a:prstClr val="white"/>
                </a:solidFill>
                <a:latin typeface="微软雅黑" panose="020B0503020204020204" pitchFamily="34" charset="-122"/>
                <a:ea typeface="微软雅黑" panose="020B0503020204020204" pitchFamily="34" charset="-122"/>
              </a:rPr>
              <a:t>01</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
        <p:nvSpPr>
          <p:cNvPr id="5" name="任意多边形: 形状 4"/>
          <p:cNvSpPr/>
          <p:nvPr userDrawn="1">
            <p:custDataLst>
              <p:tags r:id="rId1"/>
            </p:custDataLst>
          </p:nvPr>
        </p:nvSpPr>
        <p:spPr>
          <a:xfrm flipH="1">
            <a:off x="-1" y="424075"/>
            <a:ext cx="1501013" cy="568817"/>
          </a:xfrm>
          <a:custGeom>
            <a:avLst/>
            <a:gdLst>
              <a:gd name="connsiteX0" fmla="*/ 1623001 w 1623001"/>
              <a:gd name="connsiteY0" fmla="*/ 0 h 675970"/>
              <a:gd name="connsiteX1" fmla="*/ 309120 w 1623001"/>
              <a:gd name="connsiteY1" fmla="*/ 0 h 675970"/>
              <a:gd name="connsiteX2" fmla="*/ 270630 w 1623001"/>
              <a:gd name="connsiteY2" fmla="*/ 0 h 675970"/>
              <a:gd name="connsiteX3" fmla="*/ 270630 w 1623001"/>
              <a:gd name="connsiteY3" fmla="*/ 4243 h 675970"/>
              <a:gd name="connsiteX4" fmla="*/ 246822 w 1623001"/>
              <a:gd name="connsiteY4" fmla="*/ 6867 h 675970"/>
              <a:gd name="connsiteX5" fmla="*/ 0 w 1623001"/>
              <a:gd name="connsiteY5" fmla="*/ 337985 h 675970"/>
              <a:gd name="connsiteX6" fmla="*/ 246822 w 1623001"/>
              <a:gd name="connsiteY6" fmla="*/ 669103 h 675970"/>
              <a:gd name="connsiteX7" fmla="*/ 270630 w 1623001"/>
              <a:gd name="connsiteY7" fmla="*/ 671728 h 675970"/>
              <a:gd name="connsiteX8" fmla="*/ 270630 w 1623001"/>
              <a:gd name="connsiteY8" fmla="*/ 675969 h 675970"/>
              <a:gd name="connsiteX9" fmla="*/ 309111 w 1623001"/>
              <a:gd name="connsiteY9" fmla="*/ 675969 h 675970"/>
              <a:gd name="connsiteX10" fmla="*/ 309120 w 1623001"/>
              <a:gd name="connsiteY10" fmla="*/ 675970 h 675970"/>
              <a:gd name="connsiteX11" fmla="*/ 309129 w 1623001"/>
              <a:gd name="connsiteY11" fmla="*/ 675969 h 675970"/>
              <a:gd name="connsiteX12" fmla="*/ 1623001 w 1623001"/>
              <a:gd name="connsiteY12" fmla="*/ 675969 h 67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001" h="675970">
                <a:moveTo>
                  <a:pt x="1623001" y="0"/>
                </a:moveTo>
                <a:lnTo>
                  <a:pt x="309120" y="0"/>
                </a:lnTo>
                <a:lnTo>
                  <a:pt x="270630" y="0"/>
                </a:lnTo>
                <a:lnTo>
                  <a:pt x="270630" y="4243"/>
                </a:lnTo>
                <a:lnTo>
                  <a:pt x="246822" y="6867"/>
                </a:lnTo>
                <a:cubicBezTo>
                  <a:pt x="105961" y="38383"/>
                  <a:pt x="0" y="174654"/>
                  <a:pt x="0" y="337985"/>
                </a:cubicBezTo>
                <a:cubicBezTo>
                  <a:pt x="0" y="501316"/>
                  <a:pt x="105961" y="637588"/>
                  <a:pt x="246822" y="669103"/>
                </a:cubicBezTo>
                <a:lnTo>
                  <a:pt x="270630" y="671728"/>
                </a:lnTo>
                <a:lnTo>
                  <a:pt x="270630" y="675969"/>
                </a:lnTo>
                <a:lnTo>
                  <a:pt x="309111" y="675969"/>
                </a:lnTo>
                <a:lnTo>
                  <a:pt x="309120" y="675970"/>
                </a:lnTo>
                <a:lnTo>
                  <a:pt x="309129" y="675969"/>
                </a:lnTo>
                <a:lnTo>
                  <a:pt x="1623001" y="675969"/>
                </a:lnTo>
                <a:close/>
              </a:path>
            </a:pathLst>
          </a:custGeom>
          <a:solidFill>
            <a:srgbClr val="E8432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2" name="文本框 11"/>
          <p:cNvSpPr txBox="1"/>
          <p:nvPr userDrawn="1"/>
        </p:nvSpPr>
        <p:spPr>
          <a:xfrm>
            <a:off x="565724" y="469672"/>
            <a:ext cx="935289" cy="521970"/>
          </a:xfrm>
          <a:prstGeom prst="rect">
            <a:avLst/>
          </a:prstGeom>
          <a:noFill/>
        </p:spPr>
        <p:txBody>
          <a:bodyPr wrap="square" lIns="91440" tIns="45720" rIns="91440" bIns="45720" rtlCol="0">
            <a:spAutoFit/>
          </a:bodyPr>
          <a:lstStyle/>
          <a:p>
            <a:r>
              <a:rPr lang="en-US" altLang="zh-CN" sz="2800" b="1" dirty="0">
                <a:solidFill>
                  <a:prstClr val="white"/>
                </a:solidFill>
                <a:latin typeface="微软雅黑" panose="020B0503020204020204" pitchFamily="34" charset="-122"/>
                <a:ea typeface="微软雅黑" panose="020B0503020204020204" pitchFamily="34" charset="-122"/>
              </a:rPr>
              <a:t>02</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87" name=" 187"/>
          <p:cNvSpPr/>
          <p:nvPr userDrawn="1"/>
        </p:nvSpPr>
        <p:spPr>
          <a:xfrm>
            <a:off x="238760" y="247015"/>
            <a:ext cx="11714480" cy="6363970"/>
          </a:xfrm>
          <a:prstGeom prst="roundRect">
            <a:avLst/>
          </a:prstGeom>
          <a:noFill/>
          <a:ln w="5397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
        <p:nvSpPr>
          <p:cNvPr id="5" name="任意多边形: 形状 4"/>
          <p:cNvSpPr/>
          <p:nvPr userDrawn="1">
            <p:custDataLst>
              <p:tags r:id="rId1"/>
            </p:custDataLst>
          </p:nvPr>
        </p:nvSpPr>
        <p:spPr>
          <a:xfrm flipH="1">
            <a:off x="-1" y="424075"/>
            <a:ext cx="1501013" cy="568817"/>
          </a:xfrm>
          <a:custGeom>
            <a:avLst/>
            <a:gdLst>
              <a:gd name="connsiteX0" fmla="*/ 1623001 w 1623001"/>
              <a:gd name="connsiteY0" fmla="*/ 0 h 675970"/>
              <a:gd name="connsiteX1" fmla="*/ 309120 w 1623001"/>
              <a:gd name="connsiteY1" fmla="*/ 0 h 675970"/>
              <a:gd name="connsiteX2" fmla="*/ 270630 w 1623001"/>
              <a:gd name="connsiteY2" fmla="*/ 0 h 675970"/>
              <a:gd name="connsiteX3" fmla="*/ 270630 w 1623001"/>
              <a:gd name="connsiteY3" fmla="*/ 4243 h 675970"/>
              <a:gd name="connsiteX4" fmla="*/ 246822 w 1623001"/>
              <a:gd name="connsiteY4" fmla="*/ 6867 h 675970"/>
              <a:gd name="connsiteX5" fmla="*/ 0 w 1623001"/>
              <a:gd name="connsiteY5" fmla="*/ 337985 h 675970"/>
              <a:gd name="connsiteX6" fmla="*/ 246822 w 1623001"/>
              <a:gd name="connsiteY6" fmla="*/ 669103 h 675970"/>
              <a:gd name="connsiteX7" fmla="*/ 270630 w 1623001"/>
              <a:gd name="connsiteY7" fmla="*/ 671728 h 675970"/>
              <a:gd name="connsiteX8" fmla="*/ 270630 w 1623001"/>
              <a:gd name="connsiteY8" fmla="*/ 675969 h 675970"/>
              <a:gd name="connsiteX9" fmla="*/ 309111 w 1623001"/>
              <a:gd name="connsiteY9" fmla="*/ 675969 h 675970"/>
              <a:gd name="connsiteX10" fmla="*/ 309120 w 1623001"/>
              <a:gd name="connsiteY10" fmla="*/ 675970 h 675970"/>
              <a:gd name="connsiteX11" fmla="*/ 309129 w 1623001"/>
              <a:gd name="connsiteY11" fmla="*/ 675969 h 675970"/>
              <a:gd name="connsiteX12" fmla="*/ 1623001 w 1623001"/>
              <a:gd name="connsiteY12" fmla="*/ 675969 h 67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001" h="675970">
                <a:moveTo>
                  <a:pt x="1623001" y="0"/>
                </a:moveTo>
                <a:lnTo>
                  <a:pt x="309120" y="0"/>
                </a:lnTo>
                <a:lnTo>
                  <a:pt x="270630" y="0"/>
                </a:lnTo>
                <a:lnTo>
                  <a:pt x="270630" y="4243"/>
                </a:lnTo>
                <a:lnTo>
                  <a:pt x="246822" y="6867"/>
                </a:lnTo>
                <a:cubicBezTo>
                  <a:pt x="105961" y="38383"/>
                  <a:pt x="0" y="174654"/>
                  <a:pt x="0" y="337985"/>
                </a:cubicBezTo>
                <a:cubicBezTo>
                  <a:pt x="0" y="501316"/>
                  <a:pt x="105961" y="637588"/>
                  <a:pt x="246822" y="669103"/>
                </a:cubicBezTo>
                <a:lnTo>
                  <a:pt x="270630" y="671728"/>
                </a:lnTo>
                <a:lnTo>
                  <a:pt x="270630" y="675969"/>
                </a:lnTo>
                <a:lnTo>
                  <a:pt x="309111" y="675969"/>
                </a:lnTo>
                <a:lnTo>
                  <a:pt x="309120" y="675970"/>
                </a:lnTo>
                <a:lnTo>
                  <a:pt x="309129" y="675969"/>
                </a:lnTo>
                <a:lnTo>
                  <a:pt x="1623001" y="675969"/>
                </a:lnTo>
                <a:close/>
              </a:path>
            </a:pathLst>
          </a:custGeom>
          <a:solidFill>
            <a:srgbClr val="E8432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2" name="文本框 11"/>
          <p:cNvSpPr txBox="1"/>
          <p:nvPr userDrawn="1"/>
        </p:nvSpPr>
        <p:spPr>
          <a:xfrm>
            <a:off x="565724" y="469672"/>
            <a:ext cx="935289" cy="521970"/>
          </a:xfrm>
          <a:prstGeom prst="rect">
            <a:avLst/>
          </a:prstGeom>
          <a:noFill/>
        </p:spPr>
        <p:txBody>
          <a:bodyPr wrap="square" lIns="91440" tIns="45720" rIns="91440" bIns="45720" rtlCol="0">
            <a:spAutoFit/>
          </a:bodyPr>
          <a:lstStyle/>
          <a:p>
            <a:r>
              <a:rPr lang="en-US" altLang="zh-CN" sz="2800" b="1" dirty="0">
                <a:solidFill>
                  <a:prstClr val="white"/>
                </a:solidFill>
                <a:latin typeface="微软雅黑" panose="020B0503020204020204" pitchFamily="34" charset="-122"/>
                <a:ea typeface="微软雅黑" panose="020B0503020204020204" pitchFamily="34" charset="-122"/>
              </a:rPr>
              <a:t>03</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87" name=" 187"/>
          <p:cNvSpPr/>
          <p:nvPr userDrawn="1"/>
        </p:nvSpPr>
        <p:spPr>
          <a:xfrm>
            <a:off x="238760" y="247015"/>
            <a:ext cx="11714480" cy="6363970"/>
          </a:xfrm>
          <a:prstGeom prst="roundRect">
            <a:avLst/>
          </a:prstGeom>
          <a:noFill/>
          <a:ln w="5397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
        <p:nvSpPr>
          <p:cNvPr id="5" name="任意多边形: 形状 4"/>
          <p:cNvSpPr/>
          <p:nvPr userDrawn="1">
            <p:custDataLst>
              <p:tags r:id="rId1"/>
            </p:custDataLst>
          </p:nvPr>
        </p:nvSpPr>
        <p:spPr>
          <a:xfrm flipH="1">
            <a:off x="-1" y="424075"/>
            <a:ext cx="1501013" cy="568817"/>
          </a:xfrm>
          <a:custGeom>
            <a:avLst/>
            <a:gdLst>
              <a:gd name="connsiteX0" fmla="*/ 1623001 w 1623001"/>
              <a:gd name="connsiteY0" fmla="*/ 0 h 675970"/>
              <a:gd name="connsiteX1" fmla="*/ 309120 w 1623001"/>
              <a:gd name="connsiteY1" fmla="*/ 0 h 675970"/>
              <a:gd name="connsiteX2" fmla="*/ 270630 w 1623001"/>
              <a:gd name="connsiteY2" fmla="*/ 0 h 675970"/>
              <a:gd name="connsiteX3" fmla="*/ 270630 w 1623001"/>
              <a:gd name="connsiteY3" fmla="*/ 4243 h 675970"/>
              <a:gd name="connsiteX4" fmla="*/ 246822 w 1623001"/>
              <a:gd name="connsiteY4" fmla="*/ 6867 h 675970"/>
              <a:gd name="connsiteX5" fmla="*/ 0 w 1623001"/>
              <a:gd name="connsiteY5" fmla="*/ 337985 h 675970"/>
              <a:gd name="connsiteX6" fmla="*/ 246822 w 1623001"/>
              <a:gd name="connsiteY6" fmla="*/ 669103 h 675970"/>
              <a:gd name="connsiteX7" fmla="*/ 270630 w 1623001"/>
              <a:gd name="connsiteY7" fmla="*/ 671728 h 675970"/>
              <a:gd name="connsiteX8" fmla="*/ 270630 w 1623001"/>
              <a:gd name="connsiteY8" fmla="*/ 675969 h 675970"/>
              <a:gd name="connsiteX9" fmla="*/ 309111 w 1623001"/>
              <a:gd name="connsiteY9" fmla="*/ 675969 h 675970"/>
              <a:gd name="connsiteX10" fmla="*/ 309120 w 1623001"/>
              <a:gd name="connsiteY10" fmla="*/ 675970 h 675970"/>
              <a:gd name="connsiteX11" fmla="*/ 309129 w 1623001"/>
              <a:gd name="connsiteY11" fmla="*/ 675969 h 675970"/>
              <a:gd name="connsiteX12" fmla="*/ 1623001 w 1623001"/>
              <a:gd name="connsiteY12" fmla="*/ 675969 h 67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001" h="675970">
                <a:moveTo>
                  <a:pt x="1623001" y="0"/>
                </a:moveTo>
                <a:lnTo>
                  <a:pt x="309120" y="0"/>
                </a:lnTo>
                <a:lnTo>
                  <a:pt x="270630" y="0"/>
                </a:lnTo>
                <a:lnTo>
                  <a:pt x="270630" y="4243"/>
                </a:lnTo>
                <a:lnTo>
                  <a:pt x="246822" y="6867"/>
                </a:lnTo>
                <a:cubicBezTo>
                  <a:pt x="105961" y="38383"/>
                  <a:pt x="0" y="174654"/>
                  <a:pt x="0" y="337985"/>
                </a:cubicBezTo>
                <a:cubicBezTo>
                  <a:pt x="0" y="501316"/>
                  <a:pt x="105961" y="637588"/>
                  <a:pt x="246822" y="669103"/>
                </a:cubicBezTo>
                <a:lnTo>
                  <a:pt x="270630" y="671728"/>
                </a:lnTo>
                <a:lnTo>
                  <a:pt x="270630" y="675969"/>
                </a:lnTo>
                <a:lnTo>
                  <a:pt x="309111" y="675969"/>
                </a:lnTo>
                <a:lnTo>
                  <a:pt x="309120" y="675970"/>
                </a:lnTo>
                <a:lnTo>
                  <a:pt x="309129" y="675969"/>
                </a:lnTo>
                <a:lnTo>
                  <a:pt x="1623001" y="675969"/>
                </a:lnTo>
                <a:close/>
              </a:path>
            </a:pathLst>
          </a:custGeom>
          <a:solidFill>
            <a:srgbClr val="E8432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2" name="文本框 11"/>
          <p:cNvSpPr txBox="1"/>
          <p:nvPr userDrawn="1"/>
        </p:nvSpPr>
        <p:spPr>
          <a:xfrm>
            <a:off x="565724" y="469672"/>
            <a:ext cx="935289" cy="521970"/>
          </a:xfrm>
          <a:prstGeom prst="rect">
            <a:avLst/>
          </a:prstGeom>
          <a:noFill/>
        </p:spPr>
        <p:txBody>
          <a:bodyPr wrap="square" lIns="91440" tIns="45720" rIns="91440" bIns="45720" rtlCol="0">
            <a:spAutoFit/>
          </a:bodyPr>
          <a:lstStyle/>
          <a:p>
            <a:r>
              <a:rPr lang="en-US" altLang="zh-CN" sz="2800" b="1" dirty="0">
                <a:solidFill>
                  <a:prstClr val="white"/>
                </a:solidFill>
                <a:latin typeface="微软雅黑" panose="020B0503020204020204" pitchFamily="34" charset="-122"/>
                <a:ea typeface="微软雅黑" panose="020B0503020204020204" pitchFamily="34" charset="-122"/>
              </a:rPr>
              <a:t>04</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87" name=" 187"/>
          <p:cNvSpPr/>
          <p:nvPr userDrawn="1"/>
        </p:nvSpPr>
        <p:spPr>
          <a:xfrm>
            <a:off x="238760" y="247015"/>
            <a:ext cx="11714480" cy="6363970"/>
          </a:xfrm>
          <a:prstGeom prst="roundRect">
            <a:avLst/>
          </a:prstGeom>
          <a:noFill/>
          <a:ln w="5397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
        <p:nvSpPr>
          <p:cNvPr id="5" name="任意多边形: 形状 4"/>
          <p:cNvSpPr/>
          <p:nvPr userDrawn="1">
            <p:custDataLst>
              <p:tags r:id="rId1"/>
            </p:custDataLst>
          </p:nvPr>
        </p:nvSpPr>
        <p:spPr>
          <a:xfrm flipH="1">
            <a:off x="-1" y="424075"/>
            <a:ext cx="1501013" cy="568817"/>
          </a:xfrm>
          <a:custGeom>
            <a:avLst/>
            <a:gdLst>
              <a:gd name="connsiteX0" fmla="*/ 1623001 w 1623001"/>
              <a:gd name="connsiteY0" fmla="*/ 0 h 675970"/>
              <a:gd name="connsiteX1" fmla="*/ 309120 w 1623001"/>
              <a:gd name="connsiteY1" fmla="*/ 0 h 675970"/>
              <a:gd name="connsiteX2" fmla="*/ 270630 w 1623001"/>
              <a:gd name="connsiteY2" fmla="*/ 0 h 675970"/>
              <a:gd name="connsiteX3" fmla="*/ 270630 w 1623001"/>
              <a:gd name="connsiteY3" fmla="*/ 4243 h 675970"/>
              <a:gd name="connsiteX4" fmla="*/ 246822 w 1623001"/>
              <a:gd name="connsiteY4" fmla="*/ 6867 h 675970"/>
              <a:gd name="connsiteX5" fmla="*/ 0 w 1623001"/>
              <a:gd name="connsiteY5" fmla="*/ 337985 h 675970"/>
              <a:gd name="connsiteX6" fmla="*/ 246822 w 1623001"/>
              <a:gd name="connsiteY6" fmla="*/ 669103 h 675970"/>
              <a:gd name="connsiteX7" fmla="*/ 270630 w 1623001"/>
              <a:gd name="connsiteY7" fmla="*/ 671728 h 675970"/>
              <a:gd name="connsiteX8" fmla="*/ 270630 w 1623001"/>
              <a:gd name="connsiteY8" fmla="*/ 675969 h 675970"/>
              <a:gd name="connsiteX9" fmla="*/ 309111 w 1623001"/>
              <a:gd name="connsiteY9" fmla="*/ 675969 h 675970"/>
              <a:gd name="connsiteX10" fmla="*/ 309120 w 1623001"/>
              <a:gd name="connsiteY10" fmla="*/ 675970 h 675970"/>
              <a:gd name="connsiteX11" fmla="*/ 309129 w 1623001"/>
              <a:gd name="connsiteY11" fmla="*/ 675969 h 675970"/>
              <a:gd name="connsiteX12" fmla="*/ 1623001 w 1623001"/>
              <a:gd name="connsiteY12" fmla="*/ 675969 h 67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001" h="675970">
                <a:moveTo>
                  <a:pt x="1623001" y="0"/>
                </a:moveTo>
                <a:lnTo>
                  <a:pt x="309120" y="0"/>
                </a:lnTo>
                <a:lnTo>
                  <a:pt x="270630" y="0"/>
                </a:lnTo>
                <a:lnTo>
                  <a:pt x="270630" y="4243"/>
                </a:lnTo>
                <a:lnTo>
                  <a:pt x="246822" y="6867"/>
                </a:lnTo>
                <a:cubicBezTo>
                  <a:pt x="105961" y="38383"/>
                  <a:pt x="0" y="174654"/>
                  <a:pt x="0" y="337985"/>
                </a:cubicBezTo>
                <a:cubicBezTo>
                  <a:pt x="0" y="501316"/>
                  <a:pt x="105961" y="637588"/>
                  <a:pt x="246822" y="669103"/>
                </a:cubicBezTo>
                <a:lnTo>
                  <a:pt x="270630" y="671728"/>
                </a:lnTo>
                <a:lnTo>
                  <a:pt x="270630" y="675969"/>
                </a:lnTo>
                <a:lnTo>
                  <a:pt x="309111" y="675969"/>
                </a:lnTo>
                <a:lnTo>
                  <a:pt x="309120" y="675970"/>
                </a:lnTo>
                <a:lnTo>
                  <a:pt x="309129" y="675969"/>
                </a:lnTo>
                <a:lnTo>
                  <a:pt x="1623001" y="675969"/>
                </a:lnTo>
                <a:close/>
              </a:path>
            </a:pathLst>
          </a:custGeom>
          <a:solidFill>
            <a:srgbClr val="E8432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2" name="文本框 11"/>
          <p:cNvSpPr txBox="1"/>
          <p:nvPr userDrawn="1"/>
        </p:nvSpPr>
        <p:spPr>
          <a:xfrm>
            <a:off x="565724" y="469672"/>
            <a:ext cx="935289" cy="521970"/>
          </a:xfrm>
          <a:prstGeom prst="rect">
            <a:avLst/>
          </a:prstGeom>
          <a:noFill/>
        </p:spPr>
        <p:txBody>
          <a:bodyPr wrap="square" lIns="91440" tIns="45720" rIns="91440" bIns="45720" rtlCol="0">
            <a:spAutoFit/>
          </a:bodyPr>
          <a:lstStyle/>
          <a:p>
            <a:r>
              <a:rPr lang="en-US" altLang="zh-CN" sz="2800" b="1" dirty="0">
                <a:solidFill>
                  <a:prstClr val="white"/>
                </a:solidFill>
                <a:latin typeface="微软雅黑" panose="020B0503020204020204" pitchFamily="34" charset="-122"/>
                <a:ea typeface="微软雅黑" panose="020B0503020204020204" pitchFamily="34" charset="-122"/>
              </a:rPr>
              <a:t>05</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87" name=" 187"/>
          <p:cNvSpPr/>
          <p:nvPr userDrawn="1"/>
        </p:nvSpPr>
        <p:spPr>
          <a:xfrm>
            <a:off x="238760" y="247015"/>
            <a:ext cx="11714480" cy="6363970"/>
          </a:xfrm>
          <a:prstGeom prst="roundRect">
            <a:avLst/>
          </a:prstGeom>
          <a:noFill/>
          <a:ln w="5397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Sld>
  <p:clrMapOvr>
    <a:masterClrMapping/>
  </p:clrMapOvr>
  <p:transition spd="slow" advClick="0" advTm="0">
    <p:randomBar dir="vert"/>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2DD8D0E5-064D-4D5F-ABCC-0B5F5590CE5B}"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1D75073-55CE-481D-98B6-D7985193F478}" type="slidenum">
              <a:rPr lang="zh-CN" altLang="en-US" smtClean="0"/>
              <a:t>‹#›</a:t>
            </a:fld>
            <a:endParaRPr lang="zh-CN" altLang="en-US"/>
          </a:p>
        </p:txBody>
      </p:sp>
      <p:sp>
        <p:nvSpPr>
          <p:cNvPr id="5" name="任意多边形: 形状 4"/>
          <p:cNvSpPr/>
          <p:nvPr userDrawn="1">
            <p:custDataLst>
              <p:tags r:id="rId1"/>
            </p:custDataLst>
          </p:nvPr>
        </p:nvSpPr>
        <p:spPr>
          <a:xfrm flipH="1">
            <a:off x="-1" y="424075"/>
            <a:ext cx="1501013" cy="568817"/>
          </a:xfrm>
          <a:custGeom>
            <a:avLst/>
            <a:gdLst>
              <a:gd name="connsiteX0" fmla="*/ 1623001 w 1623001"/>
              <a:gd name="connsiteY0" fmla="*/ 0 h 675970"/>
              <a:gd name="connsiteX1" fmla="*/ 309120 w 1623001"/>
              <a:gd name="connsiteY1" fmla="*/ 0 h 675970"/>
              <a:gd name="connsiteX2" fmla="*/ 270630 w 1623001"/>
              <a:gd name="connsiteY2" fmla="*/ 0 h 675970"/>
              <a:gd name="connsiteX3" fmla="*/ 270630 w 1623001"/>
              <a:gd name="connsiteY3" fmla="*/ 4243 h 675970"/>
              <a:gd name="connsiteX4" fmla="*/ 246822 w 1623001"/>
              <a:gd name="connsiteY4" fmla="*/ 6867 h 675970"/>
              <a:gd name="connsiteX5" fmla="*/ 0 w 1623001"/>
              <a:gd name="connsiteY5" fmla="*/ 337985 h 675970"/>
              <a:gd name="connsiteX6" fmla="*/ 246822 w 1623001"/>
              <a:gd name="connsiteY6" fmla="*/ 669103 h 675970"/>
              <a:gd name="connsiteX7" fmla="*/ 270630 w 1623001"/>
              <a:gd name="connsiteY7" fmla="*/ 671728 h 675970"/>
              <a:gd name="connsiteX8" fmla="*/ 270630 w 1623001"/>
              <a:gd name="connsiteY8" fmla="*/ 675969 h 675970"/>
              <a:gd name="connsiteX9" fmla="*/ 309111 w 1623001"/>
              <a:gd name="connsiteY9" fmla="*/ 675969 h 675970"/>
              <a:gd name="connsiteX10" fmla="*/ 309120 w 1623001"/>
              <a:gd name="connsiteY10" fmla="*/ 675970 h 675970"/>
              <a:gd name="connsiteX11" fmla="*/ 309129 w 1623001"/>
              <a:gd name="connsiteY11" fmla="*/ 675969 h 675970"/>
              <a:gd name="connsiteX12" fmla="*/ 1623001 w 1623001"/>
              <a:gd name="connsiteY12" fmla="*/ 675969 h 67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001" h="675970">
                <a:moveTo>
                  <a:pt x="1623001" y="0"/>
                </a:moveTo>
                <a:lnTo>
                  <a:pt x="309120" y="0"/>
                </a:lnTo>
                <a:lnTo>
                  <a:pt x="270630" y="0"/>
                </a:lnTo>
                <a:lnTo>
                  <a:pt x="270630" y="4243"/>
                </a:lnTo>
                <a:lnTo>
                  <a:pt x="246822" y="6867"/>
                </a:lnTo>
                <a:cubicBezTo>
                  <a:pt x="105961" y="38383"/>
                  <a:pt x="0" y="174654"/>
                  <a:pt x="0" y="337985"/>
                </a:cubicBezTo>
                <a:cubicBezTo>
                  <a:pt x="0" y="501316"/>
                  <a:pt x="105961" y="637588"/>
                  <a:pt x="246822" y="669103"/>
                </a:cubicBezTo>
                <a:lnTo>
                  <a:pt x="270630" y="671728"/>
                </a:lnTo>
                <a:lnTo>
                  <a:pt x="270630" y="675969"/>
                </a:lnTo>
                <a:lnTo>
                  <a:pt x="309111" y="675969"/>
                </a:lnTo>
                <a:lnTo>
                  <a:pt x="309120" y="675970"/>
                </a:lnTo>
                <a:lnTo>
                  <a:pt x="309129" y="675969"/>
                </a:lnTo>
                <a:lnTo>
                  <a:pt x="1623001" y="675969"/>
                </a:lnTo>
                <a:close/>
              </a:path>
            </a:pathLst>
          </a:custGeom>
          <a:solidFill>
            <a:srgbClr val="E8432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2" name="文本框 11"/>
          <p:cNvSpPr txBox="1"/>
          <p:nvPr userDrawn="1"/>
        </p:nvSpPr>
        <p:spPr>
          <a:xfrm>
            <a:off x="565724" y="469672"/>
            <a:ext cx="935289" cy="521970"/>
          </a:xfrm>
          <a:prstGeom prst="rect">
            <a:avLst/>
          </a:prstGeom>
          <a:noFill/>
        </p:spPr>
        <p:txBody>
          <a:bodyPr wrap="square" lIns="91440" tIns="45720" rIns="91440" bIns="45720" rtlCol="0">
            <a:spAutoFit/>
          </a:bodyPr>
          <a:lstStyle/>
          <a:p>
            <a:r>
              <a:rPr lang="en-US" altLang="zh-CN" sz="2800" b="1" dirty="0">
                <a:solidFill>
                  <a:prstClr val="white"/>
                </a:solidFill>
                <a:latin typeface="微软雅黑" panose="020B0503020204020204" pitchFamily="34" charset="-122"/>
                <a:ea typeface="微软雅黑" panose="020B0503020204020204" pitchFamily="34" charset="-122"/>
              </a:rPr>
              <a:t>06</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87" name=" 187"/>
          <p:cNvSpPr/>
          <p:nvPr userDrawn="1"/>
        </p:nvSpPr>
        <p:spPr>
          <a:xfrm>
            <a:off x="238760" y="247015"/>
            <a:ext cx="11714480" cy="6363970"/>
          </a:xfrm>
          <a:prstGeom prst="roundRect">
            <a:avLst/>
          </a:prstGeom>
          <a:noFill/>
          <a:ln w="5397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Sld>
  <p:clrMapOvr>
    <a:masterClrMapping/>
  </p:clrMapOvr>
  <p:transition spd="slow" advClick="0" advTm="0">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11" cstate="print">
            <a:extLst>
              <a:ext uri="{28A0092B-C50C-407E-A947-70E740481C1C}">
                <a14:useLocalDpi xmlns:a14="http://schemas.microsoft.com/office/drawing/2010/main"/>
              </a:ext>
            </a:extLst>
          </a:blip>
          <a:srcRect r="26692" b="34023"/>
          <a:stretch>
            <a:fillRect/>
          </a:stretch>
        </p:blipFill>
        <p:spPr>
          <a:xfrm>
            <a:off x="0" y="-1"/>
            <a:ext cx="12192000" cy="685800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Click="0" advTm="0">
    <p:randomBar dir="ver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2.png"/><Relationship Id="rId6" Type="http://schemas.openxmlformats.org/officeDocument/2006/relationships/image" Target="../media/image3.png"/><Relationship Id="rId1" Type="http://schemas.microsoft.com/office/2007/relationships/media" Target="../media/media1.mp3"/><Relationship Id="rId2" Type="http://schemas.openxmlformats.org/officeDocument/2006/relationships/audio" Target="../media/media1.mp3"/></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microsoft.com/office/2007/relationships/hdphoto" Target="../media/hdphoto1.wdp"/><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GIF"/><Relationship Id="rId4" Type="http://schemas.openxmlformats.org/officeDocument/2006/relationships/image" Target="../media/image15.GIF"/><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jpeg"/></Relationships>
</file>

<file path=ppt/slides/_rels/slide31.xml.rels><?xml version="1.0" encoding="UTF-8" standalone="yes"?>
<Relationships xmlns="http://schemas.openxmlformats.org/package/2006/relationships"><Relationship Id="rId11" Type="http://schemas.openxmlformats.org/officeDocument/2006/relationships/tags" Target="../tags/tag18.xml"/><Relationship Id="rId12" Type="http://schemas.openxmlformats.org/officeDocument/2006/relationships/tags" Target="../tags/tag19.xml"/><Relationship Id="rId13" Type="http://schemas.openxmlformats.org/officeDocument/2006/relationships/tags" Target="../tags/tag20.xml"/><Relationship Id="rId14" Type="http://schemas.openxmlformats.org/officeDocument/2006/relationships/slideLayout" Target="../slideLayouts/slideLayout7.xml"/><Relationship Id="rId15" Type="http://schemas.openxmlformats.org/officeDocument/2006/relationships/notesSlide" Target="../notesSlides/notesSlide31.xml"/><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tags" Target="../tags/tag11.xml"/><Relationship Id="rId5" Type="http://schemas.openxmlformats.org/officeDocument/2006/relationships/tags" Target="../tags/tag12.xml"/><Relationship Id="rId6" Type="http://schemas.openxmlformats.org/officeDocument/2006/relationships/tags" Target="../tags/tag13.xml"/><Relationship Id="rId7" Type="http://schemas.openxmlformats.org/officeDocument/2006/relationships/tags" Target="../tags/tag14.xml"/><Relationship Id="rId8" Type="http://schemas.openxmlformats.org/officeDocument/2006/relationships/tags" Target="../tags/tag15.xml"/><Relationship Id="rId9" Type="http://schemas.openxmlformats.org/officeDocument/2006/relationships/tags" Target="../tags/tag16.xml"/><Relationship Id="rId10" Type="http://schemas.openxmlformats.org/officeDocument/2006/relationships/tags" Target="../tags/tag17.xml"/></Relationships>
</file>

<file path=ppt/slides/_rels/slide3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7.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4" Type="http://schemas.openxmlformats.org/officeDocument/2006/relationships/image" Target="../media/image19.jpeg"/><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jpeg"/></Relationships>
</file>

<file path=ppt/slides/_rels/slide39.xml.rels><?xml version="1.0" encoding="UTF-8" standalone="yes"?>
<Relationships xmlns="http://schemas.openxmlformats.org/package/2006/relationships"><Relationship Id="rId3" Type="http://schemas.openxmlformats.org/officeDocument/2006/relationships/tags" Target="../tags/tag24.xml"/><Relationship Id="rId4" Type="http://schemas.openxmlformats.org/officeDocument/2006/relationships/slideLayout" Target="../slideLayouts/slideLayout8.xml"/><Relationship Id="rId5" Type="http://schemas.openxmlformats.org/officeDocument/2006/relationships/notesSlide" Target="../notesSlides/notesSlide39.xml"/><Relationship Id="rId6" Type="http://schemas.openxmlformats.org/officeDocument/2006/relationships/image" Target="../media/image21.jpeg"/><Relationship Id="rId7" Type="http://schemas.microsoft.com/office/2007/relationships/hdphoto" Target="../media/hdphoto2.wdp"/><Relationship Id="rId8" Type="http://schemas.openxmlformats.org/officeDocument/2006/relationships/image" Target="../media/image22.png"/><Relationship Id="rId9" Type="http://schemas.microsoft.com/office/2007/relationships/hdphoto" Target="../media/hdphoto3.wdp"/><Relationship Id="rId10" Type="http://schemas.openxmlformats.org/officeDocument/2006/relationships/image" Target="../media/image23.jpeg"/><Relationship Id="rId1" Type="http://schemas.openxmlformats.org/officeDocument/2006/relationships/tags" Target="../tags/tag22.xml"/><Relationship Id="rId2" Type="http://schemas.openxmlformats.org/officeDocument/2006/relationships/tags" Target="../tags/tag2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4" Type="http://schemas.openxmlformats.org/officeDocument/2006/relationships/image" Target="../media/image24.jpeg"/><Relationship Id="rId1" Type="http://schemas.openxmlformats.org/officeDocument/2006/relationships/tags" Target="../tags/tag25.xml"/><Relationship Id="rId2"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25.GIF"/><Relationship Id="rId4" Type="http://schemas.openxmlformats.org/officeDocument/2006/relationships/image" Target="../media/image26.jpeg"/><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1" Type="http://schemas.openxmlformats.org/officeDocument/2006/relationships/slideLayout" Target="../slideLayouts/slideLayout9.xml"/><Relationship Id="rId12" Type="http://schemas.openxmlformats.org/officeDocument/2006/relationships/notesSlide" Target="../notesSlides/notesSlide42.xml"/><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tags" Target="../tags/tag28.xml"/><Relationship Id="rId4" Type="http://schemas.openxmlformats.org/officeDocument/2006/relationships/tags" Target="../tags/tag29.xml"/><Relationship Id="rId5" Type="http://schemas.openxmlformats.org/officeDocument/2006/relationships/tags" Target="../tags/tag30.xml"/><Relationship Id="rId6" Type="http://schemas.openxmlformats.org/officeDocument/2006/relationships/tags" Target="../tags/tag31.xml"/><Relationship Id="rId7" Type="http://schemas.openxmlformats.org/officeDocument/2006/relationships/tags" Target="../tags/tag32.xml"/><Relationship Id="rId8" Type="http://schemas.openxmlformats.org/officeDocument/2006/relationships/tags" Target="../tags/tag33.xml"/><Relationship Id="rId9" Type="http://schemas.openxmlformats.org/officeDocument/2006/relationships/tags" Target="../tags/tag34.xml"/><Relationship Id="rId10" Type="http://schemas.openxmlformats.org/officeDocument/2006/relationships/tags" Target="../tags/tag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27.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4" Type="http://schemas.openxmlformats.org/officeDocument/2006/relationships/image" Target="../media/image29.jpeg"/><Relationship Id="rId1" Type="http://schemas.openxmlformats.org/officeDocument/2006/relationships/slideLayout" Target="../slideLayouts/slideLayout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5"/>
          <p:cNvSpPr/>
          <p:nvPr/>
        </p:nvSpPr>
        <p:spPr bwMode="auto">
          <a:xfrm>
            <a:off x="2494915" y="4076065"/>
            <a:ext cx="8314055" cy="539115"/>
          </a:xfrm>
          <a:custGeom>
            <a:avLst/>
            <a:gdLst>
              <a:gd name="connsiteX0" fmla="*/ 447 w 13093"/>
              <a:gd name="connsiteY0" fmla="*/ 115 h 849"/>
              <a:gd name="connsiteX1" fmla="*/ 0 w 13093"/>
              <a:gd name="connsiteY1" fmla="*/ 849 h 849"/>
              <a:gd name="connsiteX2" fmla="*/ 12730 w 13093"/>
              <a:gd name="connsiteY2" fmla="*/ 823 h 849"/>
              <a:gd name="connsiteX3" fmla="*/ 13093 w 13093"/>
              <a:gd name="connsiteY3" fmla="*/ 0 h 849"/>
              <a:gd name="connsiteX4" fmla="*/ 447 w 13093"/>
              <a:gd name="connsiteY4" fmla="*/ 115 h 849"/>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3093" h="849">
                <a:moveTo>
                  <a:pt x="447" y="115"/>
                </a:moveTo>
                <a:lnTo>
                  <a:pt x="0" y="849"/>
                </a:lnTo>
                <a:lnTo>
                  <a:pt x="12730" y="823"/>
                </a:lnTo>
                <a:lnTo>
                  <a:pt x="13093" y="0"/>
                </a:lnTo>
                <a:lnTo>
                  <a:pt x="447" y="115"/>
                </a:lnTo>
                <a:close/>
              </a:path>
            </a:pathLst>
          </a:custGeom>
          <a:solidFill>
            <a:srgbClr val="E8432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文本框 7"/>
          <p:cNvSpPr txBox="1"/>
          <p:nvPr/>
        </p:nvSpPr>
        <p:spPr>
          <a:xfrm>
            <a:off x="2525827" y="984990"/>
            <a:ext cx="2167581" cy="584775"/>
          </a:xfrm>
          <a:prstGeom prst="rect">
            <a:avLst/>
          </a:prstGeom>
          <a:noFill/>
        </p:spPr>
        <p:txBody>
          <a:bodyPr wrap="none" rtlCol="0">
            <a:spAutoFit/>
          </a:bodyPr>
          <a:lstStyle/>
          <a:p>
            <a:pPr algn="ctr"/>
            <a:r>
              <a:rPr lang="en-US" altLang="zh-CN" sz="3200" b="1" dirty="0" smtClean="0">
                <a:solidFill>
                  <a:schemeClr val="tx2"/>
                </a:solidFill>
                <a:latin typeface="方正正大黑简体" panose="02000000000000000000" pitchFamily="2" charset="-122"/>
                <a:ea typeface="方正正大黑简体" panose="02000000000000000000" pitchFamily="2" charset="-122"/>
              </a:rPr>
              <a:t>2019 </a:t>
            </a:r>
            <a:r>
              <a:rPr lang="en-US" altLang="zh-CN" sz="3200" b="1" dirty="0">
                <a:solidFill>
                  <a:schemeClr val="tx2"/>
                </a:solidFill>
                <a:latin typeface="方正正大黑简体" panose="02000000000000000000" pitchFamily="2" charset="-122"/>
                <a:ea typeface="方正正大黑简体" panose="02000000000000000000" pitchFamily="2" charset="-122"/>
              </a:rPr>
              <a:t>- </a:t>
            </a:r>
            <a:r>
              <a:rPr lang="en-US" altLang="zh-CN" sz="3200" b="1" dirty="0" smtClean="0">
                <a:solidFill>
                  <a:schemeClr val="tx2"/>
                </a:solidFill>
                <a:latin typeface="方正正大黑简体" panose="02000000000000000000" pitchFamily="2" charset="-122"/>
                <a:ea typeface="方正正大黑简体" panose="02000000000000000000" pitchFamily="2" charset="-122"/>
              </a:rPr>
              <a:t>2020</a:t>
            </a:r>
            <a:endParaRPr lang="en-US" altLang="zh-CN" sz="3200" b="1" dirty="0">
              <a:solidFill>
                <a:schemeClr val="tx2"/>
              </a:solidFill>
              <a:latin typeface="方正正大黑简体" panose="02000000000000000000" pitchFamily="2" charset="-122"/>
              <a:ea typeface="方正正大黑简体" panose="02000000000000000000" pitchFamily="2" charset="-122"/>
            </a:endParaRPr>
          </a:p>
        </p:txBody>
      </p:sp>
      <p:sp>
        <p:nvSpPr>
          <p:cNvPr id="2" name="文本框 1"/>
          <p:cNvSpPr txBox="1"/>
          <p:nvPr/>
        </p:nvSpPr>
        <p:spPr>
          <a:xfrm>
            <a:off x="2390272" y="4983136"/>
            <a:ext cx="1939315" cy="307779"/>
          </a:xfrm>
          <a:prstGeom prst="roundRect">
            <a:avLst>
              <a:gd name="adj" fmla="val 50000"/>
            </a:avLst>
          </a:prstGeom>
          <a:noFill/>
          <a:ln w="28575" cmpd="sng">
            <a:solidFill>
              <a:srgbClr val="383F4E"/>
            </a:solidFill>
            <a:prstDash val="solid"/>
          </a:ln>
        </p:spPr>
        <p:txBody>
          <a:bodyPr wrap="none" rtlCol="0" anchor="ctr">
            <a:noAutofit/>
          </a:bodyPr>
          <a:lstStyle/>
          <a:p>
            <a:pPr algn="ctr"/>
            <a:r>
              <a:rPr lang="zh-CN" altLang="en-US" dirty="0">
                <a:solidFill>
                  <a:schemeClr val="tx2"/>
                </a:solidFill>
                <a:latin typeface="微软雅黑" panose="020B0503020204020204" pitchFamily="34" charset="-122"/>
                <a:ea typeface="微软雅黑" panose="020B0503020204020204" pitchFamily="34" charset="-122"/>
              </a:rPr>
              <a:t>汇报人： 财务部</a:t>
            </a:r>
          </a:p>
        </p:txBody>
      </p:sp>
      <p:sp>
        <p:nvSpPr>
          <p:cNvPr id="9" name="矩形 8"/>
          <p:cNvSpPr/>
          <p:nvPr/>
        </p:nvSpPr>
        <p:spPr>
          <a:xfrm>
            <a:off x="3491423" y="3344519"/>
            <a:ext cx="7983390" cy="771160"/>
          </a:xfrm>
          <a:prstGeom prst="rect">
            <a:avLst/>
          </a:prstGeom>
          <a:noFill/>
        </p:spPr>
        <p:txBody>
          <a:bodyPr wrap="none" anchor="ctr">
            <a:noAutofit/>
          </a:bodyPr>
          <a:lstStyle/>
          <a:p>
            <a:pPr lvl="0" algn="ctr"/>
            <a:r>
              <a:rPr lang="zh-CN" altLang="en-US" dirty="0">
                <a:solidFill>
                  <a:schemeClr val="tx2"/>
                </a:solidFill>
                <a:latin typeface="方正正大黑简体" panose="02000000000000000000" pitchFamily="2" charset="-122"/>
                <a:ea typeface="方正正大黑简体" panose="02000000000000000000" pitchFamily="2" charset="-122"/>
                <a:sym typeface="+mn-ea"/>
              </a:rPr>
              <a:t>Financial budget and business analysis report</a:t>
            </a:r>
          </a:p>
        </p:txBody>
      </p:sp>
      <p:sp>
        <p:nvSpPr>
          <p:cNvPr id="6" name="矩形 5"/>
          <p:cNvSpPr/>
          <p:nvPr/>
        </p:nvSpPr>
        <p:spPr>
          <a:xfrm>
            <a:off x="4829135" y="2089507"/>
            <a:ext cx="7802137" cy="830694"/>
          </a:xfrm>
          <a:prstGeom prst="rect">
            <a:avLst/>
          </a:prstGeom>
          <a:noFill/>
        </p:spPr>
        <p:txBody>
          <a:bodyPr wrap="none" anchor="ctr">
            <a:noAutofit/>
          </a:bodyPr>
          <a:lstStyle/>
          <a:p>
            <a:pPr algn="l"/>
            <a:r>
              <a:rPr lang="zh-CN" altLang="en-US" sz="7200" b="1" i="1" dirty="0">
                <a:solidFill>
                  <a:schemeClr val="tx2"/>
                </a:solidFill>
                <a:latin typeface="微软雅黑" panose="020B0503020204020204" pitchFamily="34" charset="-122"/>
                <a:ea typeface="微软雅黑" panose="020B0503020204020204" pitchFamily="34" charset="-122"/>
              </a:rPr>
              <a:t>财务预算及</a:t>
            </a:r>
          </a:p>
          <a:p>
            <a:pPr algn="l"/>
            <a:r>
              <a:rPr lang="zh-CN" altLang="en-US" sz="7200" b="1" i="1" dirty="0">
                <a:solidFill>
                  <a:schemeClr val="tx2"/>
                </a:solidFill>
                <a:latin typeface="微软雅黑" panose="020B0503020204020204" pitchFamily="34" charset="-122"/>
                <a:ea typeface="微软雅黑" panose="020B0503020204020204" pitchFamily="34" charset="-122"/>
              </a:rPr>
              <a:t>经营分析报告</a:t>
            </a:r>
          </a:p>
        </p:txBody>
      </p:sp>
      <p:sp>
        <p:nvSpPr>
          <p:cNvPr id="19" name="矩形 18"/>
          <p:cNvSpPr/>
          <p:nvPr/>
        </p:nvSpPr>
        <p:spPr>
          <a:xfrm>
            <a:off x="4532129" y="4225896"/>
            <a:ext cx="5086649" cy="261610"/>
          </a:xfrm>
          <a:prstGeom prst="rect">
            <a:avLst/>
          </a:prstGeom>
        </p:spPr>
        <p:txBody>
          <a:bodyPr wrap="none">
            <a:spAutoFit/>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适 用 于 互 联 网 </a:t>
            </a:r>
            <a:r>
              <a:rPr lang="en-US" altLang="zh-CN" sz="1100" dirty="0">
                <a:solidFill>
                  <a:schemeClr val="bg1"/>
                </a:solidFill>
                <a:latin typeface="微软雅黑" panose="020B0503020204020204" pitchFamily="34" charset="-122"/>
                <a:ea typeface="微软雅黑" panose="020B0503020204020204" pitchFamily="34" charset="-122"/>
              </a:rPr>
              <a:t>/ </a:t>
            </a:r>
            <a:r>
              <a:rPr lang="zh-CN" altLang="en-US" sz="1100" dirty="0">
                <a:solidFill>
                  <a:schemeClr val="bg1"/>
                </a:solidFill>
                <a:latin typeface="微软雅黑" panose="020B0503020204020204" pitchFamily="34" charset="-122"/>
                <a:ea typeface="微软雅黑" panose="020B0503020204020204" pitchFamily="34" charset="-122"/>
              </a:rPr>
              <a:t>科 技 </a:t>
            </a:r>
            <a:r>
              <a:rPr lang="en-US" altLang="zh-CN" sz="1100" dirty="0">
                <a:solidFill>
                  <a:schemeClr val="bg1"/>
                </a:solidFill>
                <a:latin typeface="微软雅黑" panose="020B0503020204020204" pitchFamily="34" charset="-122"/>
                <a:ea typeface="微软雅黑" panose="020B0503020204020204" pitchFamily="34" charset="-122"/>
              </a:rPr>
              <a:t>/ I T / </a:t>
            </a:r>
            <a:r>
              <a:rPr lang="zh-CN" altLang="en-US" sz="1100" dirty="0">
                <a:solidFill>
                  <a:schemeClr val="bg1"/>
                </a:solidFill>
                <a:latin typeface="微软雅黑" panose="020B0503020204020204" pitchFamily="34" charset="-122"/>
                <a:ea typeface="微软雅黑" panose="020B0503020204020204" pitchFamily="34" charset="-122"/>
              </a:rPr>
              <a:t>通 信 </a:t>
            </a:r>
            <a:r>
              <a:rPr lang="en-US" altLang="zh-CN" sz="1100" dirty="0">
                <a:solidFill>
                  <a:schemeClr val="bg1"/>
                </a:solidFill>
                <a:latin typeface="微软雅黑" panose="020B0503020204020204" pitchFamily="34" charset="-122"/>
                <a:ea typeface="微软雅黑" panose="020B0503020204020204" pitchFamily="34" charset="-122"/>
              </a:rPr>
              <a:t>/ </a:t>
            </a:r>
            <a:r>
              <a:rPr lang="zh-CN" altLang="en-US" sz="1100" dirty="0">
                <a:solidFill>
                  <a:schemeClr val="bg1"/>
                </a:solidFill>
                <a:latin typeface="微软雅黑" panose="020B0503020204020204" pitchFamily="34" charset="-122"/>
                <a:ea typeface="微软雅黑" panose="020B0503020204020204" pitchFamily="34" charset="-122"/>
              </a:rPr>
              <a:t>金 融 </a:t>
            </a:r>
            <a:r>
              <a:rPr lang="en-US" altLang="zh-CN" sz="1100" dirty="0">
                <a:solidFill>
                  <a:schemeClr val="bg1"/>
                </a:solidFill>
                <a:latin typeface="微软雅黑" panose="020B0503020204020204" pitchFamily="34" charset="-122"/>
                <a:ea typeface="微软雅黑" panose="020B0503020204020204" pitchFamily="34" charset="-122"/>
              </a:rPr>
              <a:t>/ </a:t>
            </a:r>
            <a:r>
              <a:rPr lang="zh-CN" altLang="en-US" sz="1100" dirty="0">
                <a:solidFill>
                  <a:schemeClr val="bg1"/>
                </a:solidFill>
                <a:latin typeface="微软雅黑" panose="020B0503020204020204" pitchFamily="34" charset="-122"/>
                <a:ea typeface="微软雅黑" panose="020B0503020204020204" pitchFamily="34" charset="-122"/>
              </a:rPr>
              <a:t>房 地 产 </a:t>
            </a:r>
            <a:r>
              <a:rPr lang="en-US" altLang="zh-CN" sz="1100" dirty="0">
                <a:solidFill>
                  <a:schemeClr val="bg1"/>
                </a:solidFill>
                <a:latin typeface="微软雅黑" panose="020B0503020204020204" pitchFamily="34" charset="-122"/>
                <a:ea typeface="微软雅黑" panose="020B0503020204020204" pitchFamily="34" charset="-122"/>
              </a:rPr>
              <a:t>/ </a:t>
            </a:r>
            <a:r>
              <a:rPr lang="zh-CN" altLang="en-US" sz="1100" dirty="0">
                <a:solidFill>
                  <a:schemeClr val="bg1"/>
                </a:solidFill>
                <a:latin typeface="微软雅黑" panose="020B0503020204020204" pitchFamily="34" charset="-122"/>
                <a:ea typeface="微软雅黑" panose="020B0503020204020204" pitchFamily="34" charset="-122"/>
              </a:rPr>
              <a:t>汽 车 </a:t>
            </a:r>
            <a:r>
              <a:rPr lang="en-US" altLang="zh-CN" sz="1100" dirty="0">
                <a:solidFill>
                  <a:schemeClr val="bg1"/>
                </a:solidFill>
                <a:latin typeface="微软雅黑" panose="020B0503020204020204" pitchFamily="34" charset="-122"/>
                <a:ea typeface="微软雅黑" panose="020B0503020204020204" pitchFamily="34" charset="-122"/>
              </a:rPr>
              <a:t>/ </a:t>
            </a:r>
            <a:r>
              <a:rPr lang="zh-CN" altLang="en-US" sz="1100" dirty="0">
                <a:solidFill>
                  <a:schemeClr val="bg1"/>
                </a:solidFill>
                <a:latin typeface="微软雅黑" panose="020B0503020204020204" pitchFamily="34" charset="-122"/>
                <a:ea typeface="微软雅黑" panose="020B0503020204020204" pitchFamily="34" charset="-122"/>
              </a:rPr>
              <a:t>电 子 等 公 司</a:t>
            </a:r>
          </a:p>
        </p:txBody>
      </p:sp>
      <p:sp>
        <p:nvSpPr>
          <p:cNvPr id="20" name="文本框 19"/>
          <p:cNvSpPr txBox="1"/>
          <p:nvPr/>
        </p:nvSpPr>
        <p:spPr>
          <a:xfrm>
            <a:off x="10250905" y="7347284"/>
            <a:ext cx="242374" cy="369332"/>
          </a:xfrm>
          <a:prstGeom prst="rect">
            <a:avLst/>
          </a:prstGeom>
          <a:noFill/>
        </p:spPr>
        <p:txBody>
          <a:bodyPr wrap="none" rtlCol="0">
            <a:spAutoFit/>
          </a:bodyPr>
          <a:lstStyle/>
          <a:p>
            <a:r>
              <a:rPr lang="en-US" altLang="zh-CN" dirty="0"/>
              <a:t>.</a:t>
            </a:r>
            <a:endParaRPr lang="zh-CN" altLang="en-US" dirty="0"/>
          </a:p>
        </p:txBody>
      </p:sp>
      <p:pic>
        <p:nvPicPr>
          <p:cNvPr id="21" name="Kenny G-Heart and Soul">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919537" y="7143269"/>
            <a:ext cx="609600" cy="609600"/>
          </a:xfrm>
          <a:prstGeom prst="rect">
            <a:avLst/>
          </a:prstGeom>
        </p:spPr>
      </p:pic>
      <p:sp>
        <p:nvSpPr>
          <p:cNvPr id="24" name="Freeform 6"/>
          <p:cNvSpPr/>
          <p:nvPr/>
        </p:nvSpPr>
        <p:spPr bwMode="auto">
          <a:xfrm>
            <a:off x="-587403" y="1229151"/>
            <a:ext cx="2734045" cy="762384"/>
          </a:xfrm>
          <a:custGeom>
            <a:avLst/>
            <a:gdLst>
              <a:gd name="T0" fmla="*/ 171 w 1806"/>
              <a:gd name="T1" fmla="*/ 0 h 410"/>
              <a:gd name="T2" fmla="*/ 0 w 1806"/>
              <a:gd name="T3" fmla="*/ 410 h 410"/>
              <a:gd name="T4" fmla="*/ 1650 w 1806"/>
              <a:gd name="T5" fmla="*/ 410 h 410"/>
              <a:gd name="T6" fmla="*/ 1806 w 1806"/>
              <a:gd name="T7" fmla="*/ 0 h 410"/>
              <a:gd name="T8" fmla="*/ 171 w 1806"/>
              <a:gd name="T9" fmla="*/ 0 h 410"/>
            </a:gdLst>
            <a:ahLst/>
            <a:cxnLst>
              <a:cxn ang="0">
                <a:pos x="T0" y="T1"/>
              </a:cxn>
              <a:cxn ang="0">
                <a:pos x="T2" y="T3"/>
              </a:cxn>
              <a:cxn ang="0">
                <a:pos x="T4" y="T5"/>
              </a:cxn>
              <a:cxn ang="0">
                <a:pos x="T6" y="T7"/>
              </a:cxn>
              <a:cxn ang="0">
                <a:pos x="T8" y="T9"/>
              </a:cxn>
            </a:cxnLst>
            <a:rect l="0" t="0" r="r" b="b"/>
            <a:pathLst>
              <a:path w="1806" h="410">
                <a:moveTo>
                  <a:pt x="171" y="0"/>
                </a:moveTo>
                <a:lnTo>
                  <a:pt x="0" y="410"/>
                </a:lnTo>
                <a:lnTo>
                  <a:pt x="1650" y="410"/>
                </a:lnTo>
                <a:lnTo>
                  <a:pt x="1806" y="0"/>
                </a:lnTo>
                <a:lnTo>
                  <a:pt x="171" y="0"/>
                </a:lnTo>
                <a:close/>
              </a:path>
            </a:pathLst>
          </a:custGeom>
          <a:solidFill>
            <a:srgbClr val="E8432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5" name="Freeform 7"/>
          <p:cNvSpPr/>
          <p:nvPr/>
        </p:nvSpPr>
        <p:spPr bwMode="auto">
          <a:xfrm>
            <a:off x="-1008789" y="1568198"/>
            <a:ext cx="5850884" cy="3152649"/>
          </a:xfrm>
          <a:custGeom>
            <a:avLst/>
            <a:gdLst>
              <a:gd name="T0" fmla="*/ 436 w 2585"/>
              <a:gd name="T1" fmla="*/ 0 h 1134"/>
              <a:gd name="T2" fmla="*/ 0 w 2585"/>
              <a:gd name="T3" fmla="*/ 1134 h 1134"/>
              <a:gd name="T4" fmla="*/ 2149 w 2585"/>
              <a:gd name="T5" fmla="*/ 1134 h 1134"/>
              <a:gd name="T6" fmla="*/ 2585 w 2585"/>
              <a:gd name="T7" fmla="*/ 0 h 1134"/>
              <a:gd name="T8" fmla="*/ 436 w 2585"/>
              <a:gd name="T9" fmla="*/ 0 h 1134"/>
            </a:gdLst>
            <a:ahLst/>
            <a:cxnLst>
              <a:cxn ang="0">
                <a:pos x="T0" y="T1"/>
              </a:cxn>
              <a:cxn ang="0">
                <a:pos x="T2" y="T3"/>
              </a:cxn>
              <a:cxn ang="0">
                <a:pos x="T4" y="T5"/>
              </a:cxn>
              <a:cxn ang="0">
                <a:pos x="T6" y="T7"/>
              </a:cxn>
              <a:cxn ang="0">
                <a:pos x="T8" y="T9"/>
              </a:cxn>
            </a:cxnLst>
            <a:rect l="0" t="0" r="r" b="b"/>
            <a:pathLst>
              <a:path w="2585" h="1134">
                <a:moveTo>
                  <a:pt x="436" y="0"/>
                </a:moveTo>
                <a:lnTo>
                  <a:pt x="0" y="1134"/>
                </a:lnTo>
                <a:lnTo>
                  <a:pt x="2149" y="1134"/>
                </a:lnTo>
                <a:lnTo>
                  <a:pt x="2585" y="0"/>
                </a:lnTo>
                <a:lnTo>
                  <a:pt x="436" y="0"/>
                </a:lnTo>
                <a:close/>
              </a:path>
            </a:pathLst>
          </a:custGeom>
          <a:blipFill dpi="0" rotWithShape="1">
            <a:blip r:embed="rId6" cstate="print">
              <a:extLst>
                <a:ext uri="{28A0092B-C50C-407E-A947-70E740481C1C}">
                  <a14:useLocalDpi xmlns:a14="http://schemas.microsoft.com/office/drawing/2010/main"/>
                </a:ext>
              </a:extLst>
            </a:blip>
            <a:srcRect/>
            <a:stretch>
              <a:fillRect/>
            </a:stretch>
          </a:blip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6" name="Freeform 8"/>
          <p:cNvSpPr/>
          <p:nvPr/>
        </p:nvSpPr>
        <p:spPr bwMode="auto">
          <a:xfrm>
            <a:off x="-830622" y="4270458"/>
            <a:ext cx="3220596" cy="1265697"/>
          </a:xfrm>
          <a:custGeom>
            <a:avLst/>
            <a:gdLst>
              <a:gd name="T0" fmla="*/ 233 w 1869"/>
              <a:gd name="T1" fmla="*/ 0 h 598"/>
              <a:gd name="T2" fmla="*/ 0 w 1869"/>
              <a:gd name="T3" fmla="*/ 598 h 598"/>
              <a:gd name="T4" fmla="*/ 1635 w 1869"/>
              <a:gd name="T5" fmla="*/ 598 h 598"/>
              <a:gd name="T6" fmla="*/ 1869 w 1869"/>
              <a:gd name="T7" fmla="*/ 0 h 598"/>
              <a:gd name="T8" fmla="*/ 233 w 1869"/>
              <a:gd name="T9" fmla="*/ 0 h 598"/>
            </a:gdLst>
            <a:ahLst/>
            <a:cxnLst>
              <a:cxn ang="0">
                <a:pos x="T0" y="T1"/>
              </a:cxn>
              <a:cxn ang="0">
                <a:pos x="T2" y="T3"/>
              </a:cxn>
              <a:cxn ang="0">
                <a:pos x="T4" y="T5"/>
              </a:cxn>
              <a:cxn ang="0">
                <a:pos x="T6" y="T7"/>
              </a:cxn>
              <a:cxn ang="0">
                <a:pos x="T8" y="T9"/>
              </a:cxn>
            </a:cxnLst>
            <a:rect l="0" t="0" r="r" b="b"/>
            <a:pathLst>
              <a:path w="1869" h="598">
                <a:moveTo>
                  <a:pt x="233" y="0"/>
                </a:moveTo>
                <a:lnTo>
                  <a:pt x="0" y="598"/>
                </a:lnTo>
                <a:lnTo>
                  <a:pt x="1635" y="598"/>
                </a:lnTo>
                <a:lnTo>
                  <a:pt x="1869" y="0"/>
                </a:lnTo>
                <a:lnTo>
                  <a:pt x="233" y="0"/>
                </a:lnTo>
                <a:close/>
              </a:path>
            </a:pathLst>
          </a:custGeom>
          <a:solidFill>
            <a:srgbClr val="383F4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1"/>
                                        </p:tgtEl>
                                      </p:cBhvr>
                                    </p:cmd>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4000"/>
                                  </p:stCondLst>
                                  <p:childTnLst>
                                    <p:animEffect transition="out" filter="fade">
                                      <p:cBhvr>
                                        <p:cTn id="10" dur="500"/>
                                        <p:tgtEl>
                                          <p:spTgt spid="20"/>
                                        </p:tgtEl>
                                      </p:cBhvr>
                                    </p:animEffect>
                                    <p:set>
                                      <p:cBhvr>
                                        <p:cTn id="11" dur="1" fill="hold">
                                          <p:stCondLst>
                                            <p:cond delay="499"/>
                                          </p:stCondLst>
                                        </p:cTn>
                                        <p:tgtEl>
                                          <p:spTgt spid="20"/>
                                        </p:tgtEl>
                                        <p:attrNameLst>
                                          <p:attrName>style.visibility</p:attrName>
                                        </p:attrNameLst>
                                      </p:cBhvr>
                                      <p:to>
                                        <p:strVal val="hidden"/>
                                      </p:to>
                                    </p:set>
                                  </p:childTnLst>
                                </p:cTn>
                              </p:par>
                            </p:childTnLst>
                          </p:cTn>
                        </p:par>
                        <p:par>
                          <p:cTn id="12" fill="hold">
                            <p:stCondLst>
                              <p:cond delay="4500"/>
                            </p:stCondLst>
                            <p:childTnLst>
                              <p:par>
                                <p:cTn id="13" presetID="2" presetClass="entr" presetSubtype="8" accel="4000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1250" fill="hold"/>
                                        <p:tgtEl>
                                          <p:spTgt spid="23"/>
                                        </p:tgtEl>
                                        <p:attrNameLst>
                                          <p:attrName>ppt_x</p:attrName>
                                        </p:attrNameLst>
                                      </p:cBhvr>
                                      <p:tavLst>
                                        <p:tav tm="0">
                                          <p:val>
                                            <p:strVal val="0-#ppt_w/2"/>
                                          </p:val>
                                        </p:tav>
                                        <p:tav tm="100000">
                                          <p:val>
                                            <p:strVal val="#ppt_x"/>
                                          </p:val>
                                        </p:tav>
                                      </p:tavLst>
                                    </p:anim>
                                    <p:anim calcmode="lin" valueType="num">
                                      <p:cBhvr additive="base">
                                        <p:cTn id="16" dur="1250" fill="hold"/>
                                        <p:tgtEl>
                                          <p:spTgt spid="23"/>
                                        </p:tgtEl>
                                        <p:attrNameLst>
                                          <p:attrName>ppt_y</p:attrName>
                                        </p:attrNameLst>
                                      </p:cBhvr>
                                      <p:tavLst>
                                        <p:tav tm="0">
                                          <p:val>
                                            <p:strVal val="#ppt_y"/>
                                          </p:val>
                                        </p:tav>
                                        <p:tav tm="100000">
                                          <p:val>
                                            <p:strVal val="#ppt_y"/>
                                          </p:val>
                                        </p:tav>
                                      </p:tavLst>
                                    </p:anim>
                                  </p:childTnLst>
                                </p:cTn>
                              </p:par>
                            </p:childTnLst>
                          </p:cTn>
                        </p:par>
                        <p:par>
                          <p:cTn id="17" fill="hold">
                            <p:stCondLst>
                              <p:cond delay="6000"/>
                            </p:stCondLst>
                            <p:childTnLst>
                              <p:par>
                                <p:cTn id="18" presetID="2" presetClass="entr" presetSubtype="8" accel="4000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1250" fill="hold"/>
                                        <p:tgtEl>
                                          <p:spTgt spid="24"/>
                                        </p:tgtEl>
                                        <p:attrNameLst>
                                          <p:attrName>ppt_x</p:attrName>
                                        </p:attrNameLst>
                                      </p:cBhvr>
                                      <p:tavLst>
                                        <p:tav tm="0">
                                          <p:val>
                                            <p:strVal val="0-#ppt_w/2"/>
                                          </p:val>
                                        </p:tav>
                                        <p:tav tm="100000">
                                          <p:val>
                                            <p:strVal val="#ppt_x"/>
                                          </p:val>
                                        </p:tav>
                                      </p:tavLst>
                                    </p:anim>
                                    <p:anim calcmode="lin" valueType="num">
                                      <p:cBhvr additive="base">
                                        <p:cTn id="21" dur="1250" fill="hold"/>
                                        <p:tgtEl>
                                          <p:spTgt spid="24"/>
                                        </p:tgtEl>
                                        <p:attrNameLst>
                                          <p:attrName>ppt_y</p:attrName>
                                        </p:attrNameLst>
                                      </p:cBhvr>
                                      <p:tavLst>
                                        <p:tav tm="0">
                                          <p:val>
                                            <p:strVal val="#ppt_y"/>
                                          </p:val>
                                        </p:tav>
                                        <p:tav tm="100000">
                                          <p:val>
                                            <p:strVal val="#ppt_y"/>
                                          </p:val>
                                        </p:tav>
                                      </p:tavLst>
                                    </p:anim>
                                  </p:childTnLst>
                                </p:cTn>
                              </p:par>
                            </p:childTnLst>
                          </p:cTn>
                        </p:par>
                        <p:par>
                          <p:cTn id="22" fill="hold">
                            <p:stCondLst>
                              <p:cond delay="7500"/>
                            </p:stCondLst>
                            <p:childTnLst>
                              <p:par>
                                <p:cTn id="23" presetID="2" presetClass="entr" presetSubtype="8" accel="4000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1250" fill="hold"/>
                                        <p:tgtEl>
                                          <p:spTgt spid="25"/>
                                        </p:tgtEl>
                                        <p:attrNameLst>
                                          <p:attrName>ppt_x</p:attrName>
                                        </p:attrNameLst>
                                      </p:cBhvr>
                                      <p:tavLst>
                                        <p:tav tm="0">
                                          <p:val>
                                            <p:strVal val="0-#ppt_w/2"/>
                                          </p:val>
                                        </p:tav>
                                        <p:tav tm="100000">
                                          <p:val>
                                            <p:strVal val="#ppt_x"/>
                                          </p:val>
                                        </p:tav>
                                      </p:tavLst>
                                    </p:anim>
                                    <p:anim calcmode="lin" valueType="num">
                                      <p:cBhvr additive="base">
                                        <p:cTn id="26" dur="1250" fill="hold"/>
                                        <p:tgtEl>
                                          <p:spTgt spid="25"/>
                                        </p:tgtEl>
                                        <p:attrNameLst>
                                          <p:attrName>ppt_y</p:attrName>
                                        </p:attrNameLst>
                                      </p:cBhvr>
                                      <p:tavLst>
                                        <p:tav tm="0">
                                          <p:val>
                                            <p:strVal val="#ppt_y"/>
                                          </p:val>
                                        </p:tav>
                                        <p:tav tm="100000">
                                          <p:val>
                                            <p:strVal val="#ppt_y"/>
                                          </p:val>
                                        </p:tav>
                                      </p:tavLst>
                                    </p:anim>
                                  </p:childTnLst>
                                </p:cTn>
                              </p:par>
                            </p:childTnLst>
                          </p:cTn>
                        </p:par>
                        <p:par>
                          <p:cTn id="27" fill="hold">
                            <p:stCondLst>
                              <p:cond delay="9000"/>
                            </p:stCondLst>
                            <p:childTnLst>
                              <p:par>
                                <p:cTn id="28" presetID="2" presetClass="entr" presetSubtype="8" accel="4000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1250" fill="hold"/>
                                        <p:tgtEl>
                                          <p:spTgt spid="26"/>
                                        </p:tgtEl>
                                        <p:attrNameLst>
                                          <p:attrName>ppt_x</p:attrName>
                                        </p:attrNameLst>
                                      </p:cBhvr>
                                      <p:tavLst>
                                        <p:tav tm="0">
                                          <p:val>
                                            <p:strVal val="0-#ppt_w/2"/>
                                          </p:val>
                                        </p:tav>
                                        <p:tav tm="100000">
                                          <p:val>
                                            <p:strVal val="#ppt_x"/>
                                          </p:val>
                                        </p:tav>
                                      </p:tavLst>
                                    </p:anim>
                                    <p:anim calcmode="lin" valueType="num">
                                      <p:cBhvr additive="base">
                                        <p:cTn id="31" dur="1250" fill="hold"/>
                                        <p:tgtEl>
                                          <p:spTgt spid="26"/>
                                        </p:tgtEl>
                                        <p:attrNameLst>
                                          <p:attrName>ppt_y</p:attrName>
                                        </p:attrNameLst>
                                      </p:cBhvr>
                                      <p:tavLst>
                                        <p:tav tm="0">
                                          <p:val>
                                            <p:strVal val="#ppt_y"/>
                                          </p:val>
                                        </p:tav>
                                        <p:tav tm="100000">
                                          <p:val>
                                            <p:strVal val="#ppt_y"/>
                                          </p:val>
                                        </p:tav>
                                      </p:tavLst>
                                    </p:anim>
                                  </p:childTnLst>
                                </p:cTn>
                              </p:par>
                              <p:par>
                                <p:cTn id="32" presetID="53" presetClass="entr" presetSubtype="16"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animEffect transition="in" filter="fade">
                                      <p:cBhvr>
                                        <p:cTn id="41" dur="500"/>
                                        <p:tgtEl>
                                          <p:spTgt spid="2"/>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500" fill="hold"/>
                                        <p:tgtEl>
                                          <p:spTgt spid="9"/>
                                        </p:tgtEl>
                                        <p:attrNameLst>
                                          <p:attrName>ppt_w</p:attrName>
                                        </p:attrNameLst>
                                      </p:cBhvr>
                                      <p:tavLst>
                                        <p:tav tm="0">
                                          <p:val>
                                            <p:fltVal val="0"/>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animEffect transition="in" filter="fade">
                                      <p:cBhvr>
                                        <p:cTn id="46" dur="500"/>
                                        <p:tgtEl>
                                          <p:spTgt spid="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p:cTn id="49" dur="500" fill="hold"/>
                                        <p:tgtEl>
                                          <p:spTgt spid="6"/>
                                        </p:tgtEl>
                                        <p:attrNameLst>
                                          <p:attrName>ppt_w</p:attrName>
                                        </p:attrNameLst>
                                      </p:cBhvr>
                                      <p:tavLst>
                                        <p:tav tm="0">
                                          <p:val>
                                            <p:fltVal val="0"/>
                                          </p:val>
                                        </p:tav>
                                        <p:tav tm="100000">
                                          <p:val>
                                            <p:strVal val="#ppt_w"/>
                                          </p:val>
                                        </p:tav>
                                      </p:tavLst>
                                    </p:anim>
                                    <p:anim calcmode="lin" valueType="num">
                                      <p:cBhvr>
                                        <p:cTn id="50" dur="500" fill="hold"/>
                                        <p:tgtEl>
                                          <p:spTgt spid="6"/>
                                        </p:tgtEl>
                                        <p:attrNameLst>
                                          <p:attrName>ppt_h</p:attrName>
                                        </p:attrNameLst>
                                      </p:cBhvr>
                                      <p:tavLst>
                                        <p:tav tm="0">
                                          <p:val>
                                            <p:fltVal val="0"/>
                                          </p:val>
                                        </p:tav>
                                        <p:tav tm="100000">
                                          <p:val>
                                            <p:strVal val="#ppt_h"/>
                                          </p:val>
                                        </p:tav>
                                      </p:tavLst>
                                    </p:anim>
                                    <p:animEffect transition="in" filter="fade">
                                      <p:cBhvr>
                                        <p:cTn id="51" dur="500"/>
                                        <p:tgtEl>
                                          <p:spTgt spid="6"/>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
                <p:cTn id="57" repeatCount="3000" fill="hold" display="0">
                  <p:stCondLst>
                    <p:cond delay="indefinite"/>
                  </p:stCondLst>
                  <p:endCondLst>
                    <p:cond evt="onStopAudio" delay="0">
                      <p:tgtEl>
                        <p:sldTgt/>
                      </p:tgtEl>
                    </p:cond>
                  </p:endCondLst>
                </p:cTn>
                <p:tgtEl>
                  <p:spTgt spid="21"/>
                </p:tgtEl>
              </p:cMediaNode>
            </p:audio>
          </p:childTnLst>
        </p:cTn>
      </p:par>
    </p:tnLst>
    <p:bldLst>
      <p:bldP spid="23" grpId="0" bldLvl="0" animBg="1"/>
      <p:bldP spid="8" grpId="0"/>
      <p:bldP spid="2" grpId="0" bldLvl="0" animBg="1"/>
      <p:bldP spid="9" grpId="0"/>
      <p:bldP spid="6" grpId="0"/>
      <p:bldP spid="19" grpId="0"/>
      <p:bldP spid="20" grpId="0"/>
      <p:bldP spid="24" grpId="0" bldLvl="0" animBg="1"/>
      <p:bldP spid="25" grpId="0" bldLvl="0" animBg="1"/>
      <p:bldP spid="2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p:cNvGrpSpPr/>
          <p:nvPr/>
        </p:nvGrpSpPr>
        <p:grpSpPr>
          <a:xfrm>
            <a:off x="6035702" y="1812150"/>
            <a:ext cx="5281399" cy="953520"/>
            <a:chOff x="5821579" y="2497661"/>
            <a:chExt cx="5281399" cy="953520"/>
          </a:xfrm>
        </p:grpSpPr>
        <p:sp>
          <p:nvSpPr>
            <p:cNvPr id="15" name="圆角矩形 14"/>
            <p:cNvSpPr/>
            <p:nvPr/>
          </p:nvSpPr>
          <p:spPr>
            <a:xfrm>
              <a:off x="5821579" y="2590976"/>
              <a:ext cx="1337119" cy="860205"/>
            </a:xfrm>
            <a:prstGeom prst="roundRect">
              <a:avLst>
                <a:gd name="adj" fmla="val 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5912457" y="2539689"/>
              <a:ext cx="748923" cy="769441"/>
            </a:xfrm>
            <a:prstGeom prst="rect">
              <a:avLst/>
            </a:prstGeom>
            <a:noFill/>
          </p:spPr>
          <p:txBody>
            <a:bodyPr wrap="none" rtlCol="0">
              <a:spAutoFit/>
            </a:bodyPr>
            <a:lstStyle/>
            <a:p>
              <a:r>
                <a:rPr lang="en-US" altLang="zh-CN"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rPr>
                <a:t>02</a:t>
              </a:r>
              <a:endParaRPr lang="zh-CN" altLang="en-US"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14" name="等腰三角形 13"/>
            <p:cNvSpPr/>
            <p:nvPr/>
          </p:nvSpPr>
          <p:spPr>
            <a:xfrm>
              <a:off x="6507901" y="2497661"/>
              <a:ext cx="1215906" cy="95352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a:off x="6589299" y="2903981"/>
              <a:ext cx="1283183" cy="547200"/>
            </a:xfrm>
            <a:prstGeom prst="parallelogram">
              <a:avLst>
                <a:gd name="adj" fmla="val 6108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30" name="圆角矩形 29"/>
            <p:cNvSpPr/>
            <p:nvPr/>
          </p:nvSpPr>
          <p:spPr>
            <a:xfrm>
              <a:off x="7104730" y="2905547"/>
              <a:ext cx="3998248" cy="545634"/>
            </a:xfrm>
            <a:prstGeom prst="roundRect">
              <a:avLst>
                <a:gd name="adj" fmla="val 0"/>
              </a:avLst>
            </a:prstGeom>
            <a:solidFill>
              <a:schemeClr val="bg1"/>
            </a:solidFill>
            <a:ln>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31" name="矩形 30"/>
            <p:cNvSpPr/>
            <p:nvPr/>
          </p:nvSpPr>
          <p:spPr>
            <a:xfrm>
              <a:off x="7375530" y="2971919"/>
              <a:ext cx="2636735" cy="400110"/>
            </a:xfrm>
            <a:prstGeom prst="rect">
              <a:avLst/>
            </a:prstGeom>
          </p:spPr>
          <p:txBody>
            <a:bodyPr wrap="square">
              <a:spAutoFit/>
            </a:bodyPr>
            <a:lstStyle/>
            <a:p>
              <a:pPr fontAlgn="auto">
                <a:spcBef>
                  <a:spcPts val="0"/>
                </a:spcBef>
                <a:spcAft>
                  <a:spcPts val="0"/>
                </a:spcAft>
                <a:defRPr/>
              </a:pPr>
              <a:r>
                <a:rPr lang="zh-CN" altLang="en-US" sz="2000" b="1" dirty="0">
                  <a:latin typeface="微软雅黑" panose="020B0503020204020204" pitchFamily="34" charset="-122"/>
                  <a:ea typeface="微软雅黑" panose="020B0503020204020204" pitchFamily="34" charset="-122"/>
                </a:rPr>
                <a:t>收入完成状况分析</a:t>
              </a:r>
            </a:p>
          </p:txBody>
        </p:sp>
        <p:sp>
          <p:nvSpPr>
            <p:cNvPr id="45" name="圆角矩形 44"/>
            <p:cNvSpPr/>
            <p:nvPr/>
          </p:nvSpPr>
          <p:spPr>
            <a:xfrm>
              <a:off x="10893057" y="2955974"/>
              <a:ext cx="91557" cy="432000"/>
            </a:xfrm>
            <a:prstGeom prst="roundRect">
              <a:avLst>
                <a:gd name="adj" fmla="val 50000"/>
              </a:avLst>
            </a:prstGeom>
            <a:solidFill>
              <a:srgbClr val="E8432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a:off x="-263885" y="1348043"/>
            <a:ext cx="2478157" cy="4272567"/>
            <a:chOff x="1537252" y="1285195"/>
            <a:chExt cx="2478157" cy="4272567"/>
          </a:xfrm>
        </p:grpSpPr>
        <p:sp>
          <p:nvSpPr>
            <p:cNvPr id="51" name="圆角矩形 50"/>
            <p:cNvSpPr/>
            <p:nvPr/>
          </p:nvSpPr>
          <p:spPr>
            <a:xfrm>
              <a:off x="1537252" y="1285195"/>
              <a:ext cx="2478157" cy="4272567"/>
            </a:xfrm>
            <a:prstGeom prst="roundRect">
              <a:avLst>
                <a:gd name="adj" fmla="val 0"/>
              </a:avLst>
            </a:prstGeom>
            <a:solidFill>
              <a:srgbClr val="E8432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p:nvGrpSpPr>
          <p:grpSpPr>
            <a:xfrm>
              <a:off x="1718188" y="2607513"/>
              <a:ext cx="2116285" cy="1113874"/>
              <a:chOff x="1656521" y="2607513"/>
              <a:chExt cx="2116285" cy="1113874"/>
            </a:xfrm>
          </p:grpSpPr>
          <p:sp>
            <p:nvSpPr>
              <p:cNvPr id="48" name="文本框 47"/>
              <p:cNvSpPr txBox="1"/>
              <p:nvPr/>
            </p:nvSpPr>
            <p:spPr>
              <a:xfrm>
                <a:off x="1656521" y="3136612"/>
                <a:ext cx="2116285" cy="584775"/>
              </a:xfrm>
              <a:prstGeom prst="rect">
                <a:avLst/>
              </a:prstGeom>
              <a:noFill/>
            </p:spPr>
            <p:txBody>
              <a:bodyPr wrap="none" rtlCol="0">
                <a:spAutoFit/>
              </a:bodyPr>
              <a:lstStyle/>
              <a:p>
                <a:pPr algn="ctr"/>
                <a:r>
                  <a:rPr lang="en-US" altLang="zh-CN" sz="3200" dirty="0">
                    <a:solidFill>
                      <a:schemeClr val="bg1"/>
                    </a:solidFill>
                    <a:latin typeface="Exotc350 DmBd BT" panose="04030705050B02020A03" pitchFamily="82" charset="0"/>
                  </a:rPr>
                  <a:t>CONTENTS</a:t>
                </a:r>
                <a:endParaRPr lang="zh-CN" altLang="en-US" sz="3200" dirty="0">
                  <a:solidFill>
                    <a:schemeClr val="bg1"/>
                  </a:solidFill>
                  <a:latin typeface="Exotc350 DmBd BT" panose="04030705050B02020A03" pitchFamily="82" charset="0"/>
                </a:endParaRPr>
              </a:p>
            </p:txBody>
          </p:sp>
          <p:sp>
            <p:nvSpPr>
              <p:cNvPr id="49" name="文本框 48"/>
              <p:cNvSpPr txBox="1"/>
              <p:nvPr/>
            </p:nvSpPr>
            <p:spPr>
              <a:xfrm>
                <a:off x="2092538" y="2607513"/>
                <a:ext cx="1244251" cy="646331"/>
              </a:xfrm>
              <a:prstGeom prst="rect">
                <a:avLst/>
              </a:prstGeom>
              <a:noFill/>
            </p:spPr>
            <p:txBody>
              <a:bodyPr wrap="none" rtlCol="0">
                <a:sp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目 录</a:t>
                </a:r>
              </a:p>
            </p:txBody>
          </p:sp>
        </p:grpSp>
      </p:grpSp>
      <p:grpSp>
        <p:nvGrpSpPr>
          <p:cNvPr id="63" name="组合 62"/>
          <p:cNvGrpSpPr/>
          <p:nvPr/>
        </p:nvGrpSpPr>
        <p:grpSpPr>
          <a:xfrm>
            <a:off x="6035702" y="2777023"/>
            <a:ext cx="5247111" cy="954647"/>
            <a:chOff x="5834277" y="3626240"/>
            <a:chExt cx="5247111" cy="954647"/>
          </a:xfrm>
        </p:grpSpPr>
        <p:sp>
          <p:nvSpPr>
            <p:cNvPr id="10" name="圆角矩形 9"/>
            <p:cNvSpPr/>
            <p:nvPr/>
          </p:nvSpPr>
          <p:spPr>
            <a:xfrm>
              <a:off x="5834277" y="3719665"/>
              <a:ext cx="1337672" cy="861222"/>
            </a:xfrm>
            <a:prstGeom prst="roundRect">
              <a:avLst>
                <a:gd name="adj" fmla="val 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12510" y="3662187"/>
              <a:ext cx="748923" cy="769441"/>
            </a:xfrm>
            <a:prstGeom prst="rect">
              <a:avLst/>
            </a:prstGeom>
            <a:noFill/>
          </p:spPr>
          <p:txBody>
            <a:bodyPr wrap="none" rtlCol="0">
              <a:spAutoFit/>
            </a:bodyPr>
            <a:lstStyle/>
            <a:p>
              <a:r>
                <a:rPr lang="en-US" altLang="zh-CN"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rPr>
                <a:t>03</a:t>
              </a:r>
              <a:endParaRPr lang="zh-CN" altLang="en-US"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9" name="等腰三角形 8"/>
            <p:cNvSpPr/>
            <p:nvPr/>
          </p:nvSpPr>
          <p:spPr>
            <a:xfrm>
              <a:off x="6510448" y="3626240"/>
              <a:ext cx="1217348" cy="95464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nvSpPr>
          <p:spPr>
            <a:xfrm>
              <a:off x="6602114" y="4033687"/>
              <a:ext cx="1284705" cy="547200"/>
            </a:xfrm>
            <a:prstGeom prst="parallelogram">
              <a:avLst>
                <a:gd name="adj" fmla="val 6108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35" name="圆角矩形 34"/>
            <p:cNvSpPr/>
            <p:nvPr/>
          </p:nvSpPr>
          <p:spPr>
            <a:xfrm>
              <a:off x="7078395" y="4034609"/>
              <a:ext cx="4002993" cy="546278"/>
            </a:xfrm>
            <a:prstGeom prst="roundRect">
              <a:avLst>
                <a:gd name="adj" fmla="val 0"/>
              </a:avLst>
            </a:prstGeom>
            <a:solidFill>
              <a:schemeClr val="bg1"/>
            </a:solidFill>
            <a:ln>
              <a:solidFill>
                <a:srgbClr val="38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36" name="矩形 35"/>
            <p:cNvSpPr/>
            <p:nvPr/>
          </p:nvSpPr>
          <p:spPr>
            <a:xfrm>
              <a:off x="7375530" y="4104440"/>
              <a:ext cx="2523212" cy="400110"/>
            </a:xfrm>
            <a:prstGeom prst="rect">
              <a:avLst/>
            </a:prstGeom>
          </p:spPr>
          <p:txBody>
            <a:bodyPr wrap="square">
              <a:spAutoFit/>
            </a:bodyPr>
            <a:lstStyle/>
            <a:p>
              <a:pPr fontAlgn="auto">
                <a:spcBef>
                  <a:spcPts val="0"/>
                </a:spcBef>
                <a:spcAft>
                  <a:spcPts val="0"/>
                </a:spcAft>
                <a:defRPr/>
              </a:pPr>
              <a:r>
                <a:rPr lang="zh-CN" altLang="en-US" sz="2000" b="1" dirty="0">
                  <a:latin typeface="微软雅黑" panose="020B0503020204020204" pitchFamily="34" charset="-122"/>
                  <a:ea typeface="微软雅黑" panose="020B0503020204020204" pitchFamily="34" charset="-122"/>
                </a:rPr>
                <a:t>成本费用完成情况</a:t>
              </a:r>
            </a:p>
          </p:txBody>
        </p:sp>
        <p:sp>
          <p:nvSpPr>
            <p:cNvPr id="58" name="圆角矩形 57"/>
            <p:cNvSpPr/>
            <p:nvPr/>
          </p:nvSpPr>
          <p:spPr>
            <a:xfrm>
              <a:off x="10893057" y="4088495"/>
              <a:ext cx="91557" cy="432000"/>
            </a:xfrm>
            <a:prstGeom prst="roundRect">
              <a:avLst>
                <a:gd name="adj" fmla="val 50000"/>
              </a:avLst>
            </a:prstGeom>
            <a:solidFill>
              <a:srgbClr val="383F4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4" name="组合 63"/>
          <p:cNvGrpSpPr/>
          <p:nvPr/>
        </p:nvGrpSpPr>
        <p:grpSpPr>
          <a:xfrm>
            <a:off x="6035702" y="3743023"/>
            <a:ext cx="5262747" cy="957600"/>
            <a:chOff x="5840231" y="4789007"/>
            <a:chExt cx="5262747" cy="957600"/>
          </a:xfrm>
        </p:grpSpPr>
        <p:sp>
          <p:nvSpPr>
            <p:cNvPr id="5" name="圆角矩形 4"/>
            <p:cNvSpPr/>
            <p:nvPr/>
          </p:nvSpPr>
          <p:spPr>
            <a:xfrm>
              <a:off x="5840231" y="4882721"/>
              <a:ext cx="1318468" cy="863886"/>
            </a:xfrm>
            <a:prstGeom prst="roundRect">
              <a:avLst>
                <a:gd name="adj" fmla="val 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906027" y="4818823"/>
              <a:ext cx="748923" cy="769441"/>
            </a:xfrm>
            <a:prstGeom prst="rect">
              <a:avLst/>
            </a:prstGeom>
            <a:noFill/>
          </p:spPr>
          <p:txBody>
            <a:bodyPr wrap="none" rtlCol="0">
              <a:spAutoFit/>
            </a:bodyPr>
            <a:lstStyle/>
            <a:p>
              <a:r>
                <a:rPr lang="en-US" altLang="zh-CN"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rPr>
                <a:t>04</a:t>
              </a:r>
              <a:endParaRPr lang="zh-CN" altLang="en-US"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4" name="等腰三角形 3"/>
            <p:cNvSpPr/>
            <p:nvPr/>
          </p:nvSpPr>
          <p:spPr>
            <a:xfrm>
              <a:off x="6513336" y="4789007"/>
              <a:ext cx="1221114" cy="95760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平行四边形 37"/>
            <p:cNvSpPr/>
            <p:nvPr/>
          </p:nvSpPr>
          <p:spPr>
            <a:xfrm>
              <a:off x="6616287" y="5199407"/>
              <a:ext cx="1288679" cy="547200"/>
            </a:xfrm>
            <a:prstGeom prst="parallelogram">
              <a:avLst>
                <a:gd name="adj" fmla="val 6108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40" name="圆角矩形 39"/>
            <p:cNvSpPr/>
            <p:nvPr/>
          </p:nvSpPr>
          <p:spPr>
            <a:xfrm>
              <a:off x="7087604" y="5198639"/>
              <a:ext cx="4015374" cy="547968"/>
            </a:xfrm>
            <a:prstGeom prst="roundRect">
              <a:avLst>
                <a:gd name="adj" fmla="val 0"/>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41" name="矩形 40"/>
            <p:cNvSpPr/>
            <p:nvPr/>
          </p:nvSpPr>
          <p:spPr>
            <a:xfrm>
              <a:off x="7375530" y="5272568"/>
              <a:ext cx="2208317" cy="400110"/>
            </a:xfrm>
            <a:prstGeom prst="rect">
              <a:avLst/>
            </a:prstGeom>
          </p:spPr>
          <p:txBody>
            <a:bodyPr wrap="square">
              <a:spAutoFit/>
            </a:bodyPr>
            <a:lstStyle/>
            <a:p>
              <a:pPr fontAlgn="auto">
                <a:spcBef>
                  <a:spcPts val="0"/>
                </a:spcBef>
                <a:spcAft>
                  <a:spcPts val="0"/>
                </a:spcAft>
                <a:defRPr/>
              </a:pPr>
              <a:r>
                <a:rPr lang="zh-CN" altLang="en-US" sz="2000" b="1" dirty="0">
                  <a:latin typeface="微软雅黑" panose="020B0503020204020204" pitchFamily="34" charset="-122"/>
                  <a:ea typeface="微软雅黑" panose="020B0503020204020204" pitchFamily="34" charset="-122"/>
                </a:rPr>
                <a:t>财务专题分析</a:t>
              </a:r>
            </a:p>
          </p:txBody>
        </p:sp>
        <p:sp>
          <p:nvSpPr>
            <p:cNvPr id="59" name="圆角矩形 58"/>
            <p:cNvSpPr/>
            <p:nvPr/>
          </p:nvSpPr>
          <p:spPr>
            <a:xfrm>
              <a:off x="10893057" y="5256623"/>
              <a:ext cx="91557" cy="432000"/>
            </a:xfrm>
            <a:prstGeom prst="roundRect">
              <a:avLst>
                <a:gd name="adj" fmla="val 50000"/>
              </a:avLst>
            </a:prstGeom>
            <a:solidFill>
              <a:srgbClr val="E8432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6035702" y="843960"/>
            <a:ext cx="5255998" cy="956837"/>
            <a:chOff x="5846980" y="1380399"/>
            <a:chExt cx="5255998" cy="956837"/>
          </a:xfrm>
        </p:grpSpPr>
        <p:sp>
          <p:nvSpPr>
            <p:cNvPr id="20" name="圆角矩形 19"/>
            <p:cNvSpPr/>
            <p:nvPr/>
          </p:nvSpPr>
          <p:spPr>
            <a:xfrm>
              <a:off x="5846980" y="1474039"/>
              <a:ext cx="1338224" cy="863197"/>
            </a:xfrm>
            <a:prstGeom prst="roundRect">
              <a:avLst>
                <a:gd name="adj" fmla="val 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5938175" y="1427416"/>
              <a:ext cx="748923" cy="769441"/>
            </a:xfrm>
            <a:prstGeom prst="rect">
              <a:avLst/>
            </a:prstGeom>
            <a:noFill/>
          </p:spPr>
          <p:txBody>
            <a:bodyPr wrap="none" rtlCol="0">
              <a:spAutoFit/>
            </a:bodyPr>
            <a:lstStyle/>
            <a:p>
              <a:r>
                <a:rPr lang="en-US" altLang="zh-CN"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rPr>
                <a:t>01</a:t>
              </a:r>
              <a:endParaRPr lang="zh-CN" altLang="en-US"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19" name="等腰三角形 18"/>
            <p:cNvSpPr/>
            <p:nvPr/>
          </p:nvSpPr>
          <p:spPr>
            <a:xfrm>
              <a:off x="6524700" y="1380399"/>
              <a:ext cx="1220141" cy="95683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a:off x="6656143" y="1790036"/>
              <a:ext cx="4354494" cy="547200"/>
            </a:xfrm>
            <a:prstGeom prst="parallelogram">
              <a:avLst>
                <a:gd name="adj" fmla="val 6108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25" name="圆角矩形 24"/>
            <p:cNvSpPr/>
            <p:nvPr/>
          </p:nvSpPr>
          <p:spPr>
            <a:xfrm>
              <a:off x="7090801" y="1789704"/>
              <a:ext cx="4012177" cy="547532"/>
            </a:xfrm>
            <a:prstGeom prst="roundRect">
              <a:avLst>
                <a:gd name="adj" fmla="val 0"/>
              </a:avLst>
            </a:prstGeom>
            <a:solidFill>
              <a:schemeClr val="bg1"/>
            </a:solidFill>
            <a:ln>
              <a:solidFill>
                <a:srgbClr val="38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26" name="矩形 25"/>
            <p:cNvSpPr/>
            <p:nvPr/>
          </p:nvSpPr>
          <p:spPr>
            <a:xfrm>
              <a:off x="7375530" y="1890317"/>
              <a:ext cx="2527929" cy="400110"/>
            </a:xfrm>
            <a:prstGeom prst="rect">
              <a:avLst/>
            </a:prstGeom>
          </p:spPr>
          <p:txBody>
            <a:bodyPr wrap="square">
              <a:spAutoFit/>
            </a:bodyPr>
            <a:lstStyle/>
            <a:p>
              <a:pPr fontAlgn="auto">
                <a:spcBef>
                  <a:spcPts val="0"/>
                </a:spcBef>
                <a:spcAft>
                  <a:spcPts val="0"/>
                </a:spcAft>
                <a:defRPr/>
              </a:pPr>
              <a:r>
                <a:rPr lang="zh-CN" altLang="en-US" sz="2000" b="1" dirty="0">
                  <a:latin typeface="微软雅黑" panose="020B0503020204020204" pitchFamily="34" charset="-122"/>
                  <a:ea typeface="微软雅黑" panose="020B0503020204020204" pitchFamily="34" charset="-122"/>
                </a:rPr>
                <a:t>主要指标完成情况</a:t>
              </a:r>
            </a:p>
          </p:txBody>
        </p:sp>
        <p:sp>
          <p:nvSpPr>
            <p:cNvPr id="60" name="圆角矩形 59"/>
            <p:cNvSpPr/>
            <p:nvPr/>
          </p:nvSpPr>
          <p:spPr>
            <a:xfrm>
              <a:off x="10893057" y="1865480"/>
              <a:ext cx="91557" cy="432000"/>
            </a:xfrm>
            <a:prstGeom prst="roundRect">
              <a:avLst>
                <a:gd name="adj" fmla="val 50000"/>
              </a:avLst>
            </a:prstGeom>
            <a:solidFill>
              <a:srgbClr val="383F4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a:off x="10250905" y="7347284"/>
            <a:ext cx="242374" cy="369332"/>
          </a:xfrm>
          <a:prstGeom prst="rect">
            <a:avLst/>
          </a:prstGeom>
          <a:noFill/>
        </p:spPr>
        <p:txBody>
          <a:bodyPr wrap="none" rtlCol="0">
            <a:spAutoFit/>
          </a:bodyPr>
          <a:lstStyle/>
          <a:p>
            <a:r>
              <a:rPr lang="en-US" altLang="zh-CN" dirty="0"/>
              <a:t>.</a:t>
            </a:r>
            <a:endParaRPr lang="zh-CN" altLang="en-US" dirty="0"/>
          </a:p>
        </p:txBody>
      </p:sp>
      <p:grpSp>
        <p:nvGrpSpPr>
          <p:cNvPr id="42" name="组合 41"/>
          <p:cNvGrpSpPr/>
          <p:nvPr/>
        </p:nvGrpSpPr>
        <p:grpSpPr>
          <a:xfrm>
            <a:off x="6029352" y="4764047"/>
            <a:ext cx="5262747" cy="957600"/>
            <a:chOff x="5840231" y="4789007"/>
            <a:chExt cx="5262747" cy="957600"/>
          </a:xfrm>
        </p:grpSpPr>
        <p:sp>
          <p:nvSpPr>
            <p:cNvPr id="43" name="圆角矩形 42"/>
            <p:cNvSpPr/>
            <p:nvPr/>
          </p:nvSpPr>
          <p:spPr>
            <a:xfrm>
              <a:off x="5840231" y="4882721"/>
              <a:ext cx="1318468" cy="863886"/>
            </a:xfrm>
            <a:prstGeom prst="roundRect">
              <a:avLst>
                <a:gd name="adj" fmla="val 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5906027" y="4818823"/>
              <a:ext cx="748923" cy="769441"/>
            </a:xfrm>
            <a:prstGeom prst="rect">
              <a:avLst/>
            </a:prstGeom>
            <a:noFill/>
          </p:spPr>
          <p:txBody>
            <a:bodyPr wrap="none" rtlCol="0">
              <a:spAutoFit/>
            </a:bodyPr>
            <a:lstStyle/>
            <a:p>
              <a:r>
                <a:rPr lang="en-US" altLang="zh-CN"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rPr>
                <a:t>05</a:t>
              </a:r>
              <a:endParaRPr lang="zh-CN" altLang="en-US" sz="4400" dirty="0">
                <a:solidFill>
                  <a:schemeClr val="bg1"/>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53" name="等腰三角形 52"/>
            <p:cNvSpPr/>
            <p:nvPr/>
          </p:nvSpPr>
          <p:spPr>
            <a:xfrm>
              <a:off x="6513336" y="4789007"/>
              <a:ext cx="1221114" cy="95760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平行四边形 53"/>
            <p:cNvSpPr/>
            <p:nvPr/>
          </p:nvSpPr>
          <p:spPr>
            <a:xfrm>
              <a:off x="6616287" y="5199407"/>
              <a:ext cx="1288679" cy="547200"/>
            </a:xfrm>
            <a:prstGeom prst="parallelogram">
              <a:avLst>
                <a:gd name="adj" fmla="val 6108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55" name="圆角矩形 54"/>
            <p:cNvSpPr/>
            <p:nvPr/>
          </p:nvSpPr>
          <p:spPr>
            <a:xfrm>
              <a:off x="7087604" y="5198639"/>
              <a:ext cx="4015374" cy="547968"/>
            </a:xfrm>
            <a:prstGeom prst="roundRect">
              <a:avLst>
                <a:gd name="adj" fmla="val 0"/>
              </a:avLst>
            </a:prstGeom>
            <a:solidFill>
              <a:schemeClr val="bg1"/>
            </a:solidFill>
            <a:ln>
              <a:solidFill>
                <a:srgbClr val="38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56" name="矩形 55"/>
            <p:cNvSpPr/>
            <p:nvPr/>
          </p:nvSpPr>
          <p:spPr>
            <a:xfrm>
              <a:off x="7375530" y="5272568"/>
              <a:ext cx="2784068" cy="400110"/>
            </a:xfrm>
            <a:prstGeom prst="rect">
              <a:avLst/>
            </a:prstGeom>
          </p:spPr>
          <p:txBody>
            <a:bodyPr wrap="square">
              <a:spAutoFit/>
            </a:bodyPr>
            <a:lstStyle/>
            <a:p>
              <a:pPr fontAlgn="auto">
                <a:spcBef>
                  <a:spcPts val="0"/>
                </a:spcBef>
                <a:spcAft>
                  <a:spcPts val="0"/>
                </a:spcAft>
                <a:defRPr/>
              </a:pPr>
              <a:r>
                <a:rPr lang="zh-CN" altLang="en-US" sz="2000" b="1" dirty="0">
                  <a:latin typeface="微软雅黑" panose="020B0503020204020204" pitchFamily="34" charset="-122"/>
                  <a:ea typeface="微软雅黑" panose="020B0503020204020204" pitchFamily="34" charset="-122"/>
                </a:rPr>
                <a:t>年度财务预算分析</a:t>
              </a:r>
            </a:p>
          </p:txBody>
        </p:sp>
        <p:sp>
          <p:nvSpPr>
            <p:cNvPr id="57" name="圆角矩形 56"/>
            <p:cNvSpPr/>
            <p:nvPr/>
          </p:nvSpPr>
          <p:spPr>
            <a:xfrm>
              <a:off x="10893057" y="5256623"/>
              <a:ext cx="91557" cy="432000"/>
            </a:xfrm>
            <a:prstGeom prst="roundRect">
              <a:avLst>
                <a:gd name="adj" fmla="val 50000"/>
              </a:avLst>
            </a:prstGeom>
            <a:solidFill>
              <a:srgbClr val="383F4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2553970" y="2175510"/>
            <a:ext cx="3129280" cy="2634615"/>
            <a:chOff x="5959" y="3017"/>
            <a:chExt cx="7222" cy="6080"/>
          </a:xfrm>
        </p:grpSpPr>
        <p:pic>
          <p:nvPicPr>
            <p:cNvPr id="3" name="图片占位符 1"/>
            <p:cNvPicPr>
              <a:picLocks noGrp="1"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7995" y="3236"/>
              <a:ext cx="3182" cy="5640"/>
            </a:xfrm>
            <a:prstGeom prst="rect">
              <a:avLst/>
            </a:prstGeom>
          </p:spPr>
        </p:pic>
        <p:pic>
          <p:nvPicPr>
            <p:cNvPr id="7" name="图片占位符 8"/>
            <p:cNvPicPr>
              <a:picLocks noGrp="1"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11340" y="4080"/>
              <a:ext cx="1591" cy="3960"/>
            </a:xfrm>
            <a:prstGeom prst="rect">
              <a:avLst/>
            </a:prstGeom>
          </p:spPr>
        </p:pic>
        <p:pic>
          <p:nvPicPr>
            <p:cNvPr id="8" name="图片占位符 15"/>
            <p:cNvPicPr>
              <a:picLocks noGrp="1"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209" y="4080"/>
              <a:ext cx="1591" cy="3960"/>
            </a:xfrm>
            <a:prstGeom prst="rect">
              <a:avLst/>
            </a:prstGeom>
          </p:spPr>
        </p:pic>
        <p:sp>
          <p:nvSpPr>
            <p:cNvPr id="29" name="自由: 形状 28"/>
            <p:cNvSpPr/>
            <p:nvPr/>
          </p:nvSpPr>
          <p:spPr>
            <a:xfrm>
              <a:off x="5959" y="3017"/>
              <a:ext cx="7223" cy="6080"/>
            </a:xfrm>
            <a:custGeom>
              <a:avLst/>
              <a:gdLst>
                <a:gd name="connsiteX0" fmla="*/ 1169389 w 4586385"/>
                <a:gd name="connsiteY0" fmla="*/ 0 h 3860800"/>
                <a:gd name="connsiteX1" fmla="*/ 3416996 w 4586385"/>
                <a:gd name="connsiteY1" fmla="*/ 0 h 3860800"/>
                <a:gd name="connsiteX2" fmla="*/ 3416996 w 4586385"/>
                <a:gd name="connsiteY2" fmla="*/ 521686 h 3860800"/>
                <a:gd name="connsiteX3" fmla="*/ 4586385 w 4586385"/>
                <a:gd name="connsiteY3" fmla="*/ 521686 h 3860800"/>
                <a:gd name="connsiteX4" fmla="*/ 4586385 w 4586385"/>
                <a:gd name="connsiteY4" fmla="*/ 3337458 h 3860800"/>
                <a:gd name="connsiteX5" fmla="*/ 3416996 w 4586385"/>
                <a:gd name="connsiteY5" fmla="*/ 3337458 h 3860800"/>
                <a:gd name="connsiteX6" fmla="*/ 3416996 w 4586385"/>
                <a:gd name="connsiteY6" fmla="*/ 3860800 h 3860800"/>
                <a:gd name="connsiteX7" fmla="*/ 1169389 w 4586385"/>
                <a:gd name="connsiteY7" fmla="*/ 3860800 h 3860800"/>
                <a:gd name="connsiteX8" fmla="*/ 1169389 w 4586385"/>
                <a:gd name="connsiteY8" fmla="*/ 3337458 h 3860800"/>
                <a:gd name="connsiteX9" fmla="*/ 0 w 4586385"/>
                <a:gd name="connsiteY9" fmla="*/ 3337458 h 3860800"/>
                <a:gd name="connsiteX10" fmla="*/ 0 w 4586385"/>
                <a:gd name="connsiteY10" fmla="*/ 521686 h 3860800"/>
                <a:gd name="connsiteX11" fmla="*/ 1169389 w 4586385"/>
                <a:gd name="connsiteY11" fmla="*/ 521686 h 386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6385" h="3860800">
                  <a:moveTo>
                    <a:pt x="1169389" y="0"/>
                  </a:moveTo>
                  <a:lnTo>
                    <a:pt x="3416996" y="0"/>
                  </a:lnTo>
                  <a:lnTo>
                    <a:pt x="3416996" y="521686"/>
                  </a:lnTo>
                  <a:lnTo>
                    <a:pt x="4586385" y="521686"/>
                  </a:lnTo>
                  <a:lnTo>
                    <a:pt x="4586385" y="3337458"/>
                  </a:lnTo>
                  <a:lnTo>
                    <a:pt x="3416996" y="3337458"/>
                  </a:lnTo>
                  <a:lnTo>
                    <a:pt x="3416996" y="3860800"/>
                  </a:lnTo>
                  <a:lnTo>
                    <a:pt x="1169389" y="3860800"/>
                  </a:lnTo>
                  <a:lnTo>
                    <a:pt x="1169389" y="3337458"/>
                  </a:lnTo>
                  <a:lnTo>
                    <a:pt x="0" y="3337458"/>
                  </a:lnTo>
                  <a:lnTo>
                    <a:pt x="0" y="521686"/>
                  </a:lnTo>
                  <a:lnTo>
                    <a:pt x="1169389" y="521686"/>
                  </a:lnTo>
                  <a:close/>
                </a:path>
              </a:pathLst>
            </a:custGeom>
            <a:noFill/>
            <a:ln w="38100">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0-#ppt_w/2"/>
                                          </p:val>
                                        </p:tav>
                                        <p:tav tm="100000">
                                          <p:val>
                                            <p:strVal val="#ppt_x"/>
                                          </p:val>
                                        </p:tav>
                                      </p:tavLst>
                                    </p:anim>
                                    <p:anim calcmode="lin" valueType="num">
                                      <p:cBhvr additive="base">
                                        <p:cTn id="8"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additive="base">
                                        <p:cTn id="19" dur="500" fill="hold"/>
                                        <p:tgtEl>
                                          <p:spTgt spid="61"/>
                                        </p:tgtEl>
                                        <p:attrNameLst>
                                          <p:attrName>ppt_x</p:attrName>
                                        </p:attrNameLst>
                                      </p:cBhvr>
                                      <p:tavLst>
                                        <p:tav tm="0">
                                          <p:val>
                                            <p:strVal val="1+#ppt_w/2"/>
                                          </p:val>
                                        </p:tav>
                                        <p:tav tm="100000">
                                          <p:val>
                                            <p:strVal val="#ppt_x"/>
                                          </p:val>
                                        </p:tav>
                                      </p:tavLst>
                                    </p:anim>
                                    <p:anim calcmode="lin" valueType="num">
                                      <p:cBhvr additive="base">
                                        <p:cTn id="20"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2"/>
                                        </p:tgtEl>
                                        <p:attrNameLst>
                                          <p:attrName>style.visibility</p:attrName>
                                        </p:attrNameLst>
                                      </p:cBhvr>
                                      <p:to>
                                        <p:strVal val="visible"/>
                                      </p:to>
                                    </p:set>
                                    <p:anim calcmode="lin" valueType="num">
                                      <p:cBhvr additive="base">
                                        <p:cTn id="25" dur="500" fill="hold"/>
                                        <p:tgtEl>
                                          <p:spTgt spid="62"/>
                                        </p:tgtEl>
                                        <p:attrNameLst>
                                          <p:attrName>ppt_x</p:attrName>
                                        </p:attrNameLst>
                                      </p:cBhvr>
                                      <p:tavLst>
                                        <p:tav tm="0">
                                          <p:val>
                                            <p:strVal val="1+#ppt_w/2"/>
                                          </p:val>
                                        </p:tav>
                                        <p:tav tm="100000">
                                          <p:val>
                                            <p:strVal val="#ppt_x"/>
                                          </p:val>
                                        </p:tav>
                                      </p:tavLst>
                                    </p:anim>
                                    <p:anim calcmode="lin" valueType="num">
                                      <p:cBhvr additive="base">
                                        <p:cTn id="26"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additive="base">
                                        <p:cTn id="31" dur="500" fill="hold"/>
                                        <p:tgtEl>
                                          <p:spTgt spid="63"/>
                                        </p:tgtEl>
                                        <p:attrNameLst>
                                          <p:attrName>ppt_x</p:attrName>
                                        </p:attrNameLst>
                                      </p:cBhvr>
                                      <p:tavLst>
                                        <p:tav tm="0">
                                          <p:val>
                                            <p:strVal val="1+#ppt_w/2"/>
                                          </p:val>
                                        </p:tav>
                                        <p:tav tm="100000">
                                          <p:val>
                                            <p:strVal val="#ppt_x"/>
                                          </p:val>
                                        </p:tav>
                                      </p:tavLst>
                                    </p:anim>
                                    <p:anim calcmode="lin" valueType="num">
                                      <p:cBhvr additive="base">
                                        <p:cTn id="32"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 calcmode="lin" valueType="num">
                                      <p:cBhvr additive="base">
                                        <p:cTn id="37" dur="500" fill="hold"/>
                                        <p:tgtEl>
                                          <p:spTgt spid="64"/>
                                        </p:tgtEl>
                                        <p:attrNameLst>
                                          <p:attrName>ppt_x</p:attrName>
                                        </p:attrNameLst>
                                      </p:cBhvr>
                                      <p:tavLst>
                                        <p:tav tm="0">
                                          <p:val>
                                            <p:strVal val="1+#ppt_w/2"/>
                                          </p:val>
                                        </p:tav>
                                        <p:tav tm="100000">
                                          <p:val>
                                            <p:strVal val="#ppt_x"/>
                                          </p:val>
                                        </p:tav>
                                      </p:tavLst>
                                    </p:anim>
                                    <p:anim calcmode="lin" valueType="num">
                                      <p:cBhvr additive="base">
                                        <p:cTn id="38"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1+#ppt_w/2"/>
                                          </p:val>
                                        </p:tav>
                                        <p:tav tm="100000">
                                          <p:val>
                                            <p:strVal val="#ppt_x"/>
                                          </p:val>
                                        </p:tav>
                                      </p:tavLst>
                                    </p:anim>
                                    <p:anim calcmode="lin" valueType="num">
                                      <p:cBhvr additive="base">
                                        <p:cTn id="44"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1500"/>
                                  </p:stCondLst>
                                  <p:childTnLst>
                                    <p:animEffect transition="out" filter="fade">
                                      <p:cBhvr>
                                        <p:cTn id="48" dur="500"/>
                                        <p:tgtEl>
                                          <p:spTgt spid="2"/>
                                        </p:tgtEl>
                                      </p:cBhvr>
                                    </p:animEffect>
                                    <p:set>
                                      <p:cBhvr>
                                        <p:cTn id="49"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905" y="-6985"/>
            <a:ext cx="12195810" cy="6918960"/>
            <a:chOff x="-3" y="-11"/>
            <a:chExt cx="19206" cy="10807"/>
          </a:xfrm>
        </p:grpSpPr>
        <p:pic>
          <p:nvPicPr>
            <p:cNvPr id="2" name="图片占位符 16"/>
            <p:cNvPicPr>
              <a:picLocks noGrp="1"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3" y="-11"/>
              <a:ext cx="19206" cy="10807"/>
            </a:xfrm>
            <a:prstGeom prst="rect">
              <a:avLst/>
            </a:prstGeom>
          </p:spPr>
        </p:pic>
        <p:sp>
          <p:nvSpPr>
            <p:cNvPr id="7" name="矩形 6"/>
            <p:cNvSpPr/>
            <p:nvPr/>
          </p:nvSpPr>
          <p:spPr>
            <a:xfrm>
              <a:off x="3" y="-11"/>
              <a:ext cx="19200" cy="10800"/>
            </a:xfrm>
            <a:prstGeom prst="rect">
              <a:avLst/>
            </a:prstGeom>
            <a:solidFill>
              <a:srgbClr val="383F4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mn-ea"/>
                <a:sym typeface="+mn-lt"/>
              </a:endParaRPr>
            </a:p>
          </p:txBody>
        </p:sp>
      </p:grpSp>
      <p:sp>
        <p:nvSpPr>
          <p:cNvPr id="14" name="矩形 13"/>
          <p:cNvSpPr/>
          <p:nvPr/>
        </p:nvSpPr>
        <p:spPr>
          <a:xfrm>
            <a:off x="610235" y="3808095"/>
            <a:ext cx="5239385" cy="922020"/>
          </a:xfrm>
          <a:prstGeom prst="rect">
            <a:avLst/>
          </a:prstGeom>
          <a:ln w="25400">
            <a:solidFill>
              <a:schemeClr val="bg1"/>
            </a:solidFill>
          </a:ln>
        </p:spPr>
        <p:txBody>
          <a:bodyPr wrap="square">
            <a:spAutoFit/>
          </a:bodyPr>
          <a:lstStyle/>
          <a:p>
            <a:pPr algn="ct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p>
        </p:txBody>
      </p:sp>
      <p:sp>
        <p:nvSpPr>
          <p:cNvPr id="15" name="文本框 14"/>
          <p:cNvSpPr txBox="1"/>
          <p:nvPr/>
        </p:nvSpPr>
        <p:spPr>
          <a:xfrm>
            <a:off x="12769516" y="6373505"/>
            <a:ext cx="415498" cy="369332"/>
          </a:xfrm>
          <a:prstGeom prst="rect">
            <a:avLst/>
          </a:prstGeom>
          <a:noFill/>
        </p:spPr>
        <p:txBody>
          <a:bodyPr wrap="none" rtlCol="0">
            <a:spAutoFit/>
          </a:bodyPr>
          <a:lstStyle/>
          <a:p>
            <a:r>
              <a:rPr lang="zh-CN" altLang="en-US" dirty="0"/>
              <a:t>。</a:t>
            </a:r>
          </a:p>
        </p:txBody>
      </p:sp>
      <p:sp>
        <p:nvSpPr>
          <p:cNvPr id="16" name="Rectangle 6"/>
          <p:cNvSpPr>
            <a:spLocks noChangeArrowheads="1"/>
          </p:cNvSpPr>
          <p:nvPr/>
        </p:nvSpPr>
        <p:spPr bwMode="auto">
          <a:xfrm>
            <a:off x="-1779" y="1858608"/>
            <a:ext cx="12195564" cy="1731433"/>
          </a:xfrm>
          <a:prstGeom prst="rect">
            <a:avLst/>
          </a:prstGeom>
          <a:solidFill>
            <a:srgbClr val="E8432E"/>
          </a:solidFill>
          <a:ln w="0">
            <a:noFill/>
            <a:prstDash val="solid"/>
            <a:miter lim="800000"/>
          </a:ln>
        </p:spPr>
        <p:txBody>
          <a:bodyPr vert="horz" wrap="square" lIns="121911" tIns="60956" rIns="121911" bIns="60956"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7" name="Freeform 7"/>
          <p:cNvSpPr/>
          <p:nvPr/>
        </p:nvSpPr>
        <p:spPr bwMode="auto">
          <a:xfrm>
            <a:off x="610345" y="1858607"/>
            <a:ext cx="3376283" cy="1731435"/>
          </a:xfrm>
          <a:custGeom>
            <a:avLst/>
            <a:gdLst>
              <a:gd name="T0" fmla="*/ 579 w 1583"/>
              <a:gd name="T1" fmla="*/ 0 h 1325"/>
              <a:gd name="T2" fmla="*/ 1583 w 1583"/>
              <a:gd name="T3" fmla="*/ 0 h 1325"/>
              <a:gd name="T4" fmla="*/ 1004 w 1583"/>
              <a:gd name="T5" fmla="*/ 1325 h 1325"/>
              <a:gd name="T6" fmla="*/ 0 w 1583"/>
              <a:gd name="T7" fmla="*/ 1325 h 1325"/>
              <a:gd name="T8" fmla="*/ 579 w 1583"/>
              <a:gd name="T9" fmla="*/ 0 h 1325"/>
            </a:gdLst>
            <a:ahLst/>
            <a:cxnLst>
              <a:cxn ang="0">
                <a:pos x="T0" y="T1"/>
              </a:cxn>
              <a:cxn ang="0">
                <a:pos x="T2" y="T3"/>
              </a:cxn>
              <a:cxn ang="0">
                <a:pos x="T4" y="T5"/>
              </a:cxn>
              <a:cxn ang="0">
                <a:pos x="T6" y="T7"/>
              </a:cxn>
              <a:cxn ang="0">
                <a:pos x="T8" y="T9"/>
              </a:cxn>
            </a:cxnLst>
            <a:rect l="0" t="0" r="r" b="b"/>
            <a:pathLst>
              <a:path w="1583" h="1325">
                <a:moveTo>
                  <a:pt x="579" y="0"/>
                </a:moveTo>
                <a:lnTo>
                  <a:pt x="1583" y="0"/>
                </a:lnTo>
                <a:lnTo>
                  <a:pt x="1004" y="1325"/>
                </a:lnTo>
                <a:lnTo>
                  <a:pt x="0" y="1325"/>
                </a:lnTo>
                <a:lnTo>
                  <a:pt x="579" y="0"/>
                </a:lnTo>
                <a:close/>
              </a:path>
            </a:pathLst>
          </a:custGeom>
          <a:solidFill>
            <a:srgbClr val="383F4E"/>
          </a:solidFill>
          <a:ln w="0">
            <a:noFill/>
            <a:prstDash val="solid"/>
            <a:round/>
          </a:ln>
        </p:spPr>
        <p:txBody>
          <a:bodyPr vert="horz" wrap="square" lIns="121911" tIns="60956" rIns="121911" bIns="60956" numCol="1" anchor="ctr" anchorCtr="1" compatLnSpc="1"/>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rPr>
              <a:t>01</a:t>
            </a:r>
            <a:endParaRPr kumimoji="0" lang="zh-CN" altLang="en-US"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endParaRPr>
          </a:p>
        </p:txBody>
      </p:sp>
      <p:sp>
        <p:nvSpPr>
          <p:cNvPr id="18" name="TextBox 48"/>
          <p:cNvSpPr txBox="1"/>
          <p:nvPr/>
        </p:nvSpPr>
        <p:spPr>
          <a:xfrm>
            <a:off x="3986629" y="2114465"/>
            <a:ext cx="6733508" cy="828675"/>
          </a:xfrm>
          <a:prstGeom prst="rect">
            <a:avLst/>
          </a:prstGeom>
          <a:noFill/>
        </p:spPr>
        <p:txBody>
          <a:bodyPr wrap="square" lIns="91439" tIns="45719" rIns="91439" bIns="45719"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主要指标完成情况</a:t>
            </a:r>
          </a:p>
        </p:txBody>
      </p:sp>
      <p:sp>
        <p:nvSpPr>
          <p:cNvPr id="19" name="TextBox 49"/>
          <p:cNvSpPr txBox="1"/>
          <p:nvPr/>
        </p:nvSpPr>
        <p:spPr>
          <a:xfrm>
            <a:off x="3986629" y="2983011"/>
            <a:ext cx="4100719" cy="420562"/>
          </a:xfrm>
          <a:prstGeom prst="rect">
            <a:avLst/>
          </a:prstGeom>
          <a:noFill/>
        </p:spPr>
        <p:txBody>
          <a:bodyPr wrap="square" lIns="91439" tIns="45719" rIns="91439" bIns="45719" rtlCol="0">
            <a:spAutoFit/>
          </a:bodyPr>
          <a:lstStyle/>
          <a:p>
            <a:pPr marL="0" marR="0" lvl="0" indent="0" algn="l" defTabSz="1218565" rtl="0" eaLnBrk="0" fontAlgn="auto" latinLnBrk="0" hangingPunct="0">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点击此处添加副标题文本内容</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200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0-#ppt_w/2"/>
                                          </p:val>
                                        </p:tav>
                                        <p:tav tm="100000">
                                          <p:val>
                                            <p:strVal val="#ppt_x"/>
                                          </p:val>
                                        </p:tav>
                                      </p:tavLst>
                                    </p:anim>
                                    <p:anim calcmode="lin" valueType="num">
                                      <p:cBhvr additive="base">
                                        <p:cTn id="17"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par>
                          <p:cTn id="23" fill="hold">
                            <p:stCondLst>
                              <p:cond delay="500"/>
                            </p:stCondLst>
                            <p:childTnLst>
                              <p:par>
                                <p:cTn id="24" presetID="22" presetClass="entr" presetSubtype="8" fill="hold" grpId="0" nodeType="afterEffect">
                                  <p:stCondLst>
                                    <p:cond delay="0"/>
                                  </p:stCondLst>
                                  <p:iterate type="lt">
                                    <p:tmPct val="30000"/>
                                  </p:iterate>
                                  <p:childTnLst>
                                    <p:set>
                                      <p:cBhvr>
                                        <p:cTn id="25" dur="1" fill="hold">
                                          <p:stCondLst>
                                            <p:cond delay="0"/>
                                          </p:stCondLst>
                                        </p:cTn>
                                        <p:tgtEl>
                                          <p:spTgt spid="18"/>
                                        </p:tgtEl>
                                        <p:attrNameLst>
                                          <p:attrName>style.visibility</p:attrName>
                                        </p:attrNameLst>
                                      </p:cBhvr>
                                      <p:to>
                                        <p:strVal val="visible"/>
                                      </p:to>
                                    </p:set>
                                    <p:animEffect transition="in" filter="wipe(left)">
                                      <p:cBhvr>
                                        <p:cTn id="26" dur="200"/>
                                        <p:tgtEl>
                                          <p:spTgt spid="18"/>
                                        </p:tgtEl>
                                      </p:cBhvr>
                                    </p:animEffect>
                                  </p:childTnLst>
                                </p:cTn>
                              </p:par>
                              <p:par>
                                <p:cTn id="27" presetID="36" presetClass="emph" presetSubtype="0" fill="hold" grpId="1" nodeType="withEffect">
                                  <p:stCondLst>
                                    <p:cond delay="0"/>
                                  </p:stCondLst>
                                  <p:iterate type="lt">
                                    <p:tmPct val="30000"/>
                                  </p:iterate>
                                  <p:childTnLst>
                                    <p:animScale>
                                      <p:cBhvr>
                                        <p:cTn id="28" dur="50" autoRev="1" fill="hold">
                                          <p:stCondLst>
                                            <p:cond delay="0"/>
                                          </p:stCondLst>
                                        </p:cTn>
                                        <p:tgtEl>
                                          <p:spTgt spid="18"/>
                                        </p:tgtEl>
                                      </p:cBhvr>
                                      <p:to x="80000" y="100000"/>
                                    </p:animScale>
                                    <p:anim by="(#ppt_w*0.10)" calcmode="lin" valueType="num">
                                      <p:cBhvr>
                                        <p:cTn id="29" dur="50" autoRev="1" fill="hold">
                                          <p:stCondLst>
                                            <p:cond delay="0"/>
                                          </p:stCondLst>
                                        </p:cTn>
                                        <p:tgtEl>
                                          <p:spTgt spid="18"/>
                                        </p:tgtEl>
                                        <p:attrNameLst>
                                          <p:attrName>ppt_x</p:attrName>
                                        </p:attrNameLst>
                                      </p:cBhvr>
                                    </p:anim>
                                    <p:anim by="(-#ppt_w*0.10)" calcmode="lin" valueType="num">
                                      <p:cBhvr>
                                        <p:cTn id="30" dur="50" autoRev="1" fill="hold">
                                          <p:stCondLst>
                                            <p:cond delay="0"/>
                                          </p:stCondLst>
                                        </p:cTn>
                                        <p:tgtEl>
                                          <p:spTgt spid="18"/>
                                        </p:tgtEl>
                                        <p:attrNameLst>
                                          <p:attrName>ppt_y</p:attrName>
                                        </p:attrNameLst>
                                      </p:cBhvr>
                                    </p:anim>
                                    <p:animRot by="-480000">
                                      <p:cBhvr>
                                        <p:cTn id="31" dur="50" autoRev="1" fill="hold">
                                          <p:stCondLst>
                                            <p:cond delay="0"/>
                                          </p:stCondLst>
                                        </p:cTn>
                                        <p:tgtEl>
                                          <p:spTgt spid="18"/>
                                        </p:tgtEl>
                                        <p:attrNameLst>
                                          <p:attrName>r</p:attrName>
                                        </p:attrNameLst>
                                      </p:cBhvr>
                                    </p:animRot>
                                  </p:childTnLst>
                                </p:cTn>
                              </p:par>
                            </p:childTnLst>
                          </p:cTn>
                        </p:par>
                        <p:par>
                          <p:cTn id="32" fill="hold">
                            <p:stCondLst>
                              <p:cond delay="1120"/>
                            </p:stCondLst>
                            <p:childTnLst>
                              <p:par>
                                <p:cTn id="33" presetID="22" presetClass="entr" presetSubtype="8" fill="hold" grpId="0" nodeType="afterEffect">
                                  <p:stCondLst>
                                    <p:cond delay="0"/>
                                  </p:stCondLst>
                                  <p:iterate type="lt">
                                    <p:tmPct val="30000"/>
                                  </p:iterate>
                                  <p:childTnLst>
                                    <p:set>
                                      <p:cBhvr>
                                        <p:cTn id="34" dur="1" fill="hold">
                                          <p:stCondLst>
                                            <p:cond delay="0"/>
                                          </p:stCondLst>
                                        </p:cTn>
                                        <p:tgtEl>
                                          <p:spTgt spid="19"/>
                                        </p:tgtEl>
                                        <p:attrNameLst>
                                          <p:attrName>style.visibility</p:attrName>
                                        </p:attrNameLst>
                                      </p:cBhvr>
                                      <p:to>
                                        <p:strVal val="visible"/>
                                      </p:to>
                                    </p:set>
                                    <p:animEffect transition="in" filter="wipe(left)">
                                      <p:cBhvr>
                                        <p:cTn id="35" dur="200"/>
                                        <p:tgtEl>
                                          <p:spTgt spid="19"/>
                                        </p:tgtEl>
                                      </p:cBhvr>
                                    </p:animEffect>
                                  </p:childTnLst>
                                </p:cTn>
                              </p:par>
                              <p:par>
                                <p:cTn id="36" presetID="36" presetClass="emph" presetSubtype="0" fill="hold" grpId="1" nodeType="withEffect">
                                  <p:stCondLst>
                                    <p:cond delay="0"/>
                                  </p:stCondLst>
                                  <p:iterate type="lt">
                                    <p:tmPct val="30000"/>
                                  </p:iterate>
                                  <p:childTnLst>
                                    <p:animScale>
                                      <p:cBhvr>
                                        <p:cTn id="37" dur="50" autoRev="1" fill="hold">
                                          <p:stCondLst>
                                            <p:cond delay="0"/>
                                          </p:stCondLst>
                                        </p:cTn>
                                        <p:tgtEl>
                                          <p:spTgt spid="19"/>
                                        </p:tgtEl>
                                      </p:cBhvr>
                                      <p:to x="80000" y="100000"/>
                                    </p:animScale>
                                    <p:anim by="(#ppt_w*0.10)" calcmode="lin" valueType="num">
                                      <p:cBhvr>
                                        <p:cTn id="38" dur="50" autoRev="1" fill="hold">
                                          <p:stCondLst>
                                            <p:cond delay="0"/>
                                          </p:stCondLst>
                                        </p:cTn>
                                        <p:tgtEl>
                                          <p:spTgt spid="19"/>
                                        </p:tgtEl>
                                        <p:attrNameLst>
                                          <p:attrName>ppt_x</p:attrName>
                                        </p:attrNameLst>
                                      </p:cBhvr>
                                    </p:anim>
                                    <p:anim by="(-#ppt_w*0.10)" calcmode="lin" valueType="num">
                                      <p:cBhvr>
                                        <p:cTn id="39" dur="50" autoRev="1" fill="hold">
                                          <p:stCondLst>
                                            <p:cond delay="0"/>
                                          </p:stCondLst>
                                        </p:cTn>
                                        <p:tgtEl>
                                          <p:spTgt spid="19"/>
                                        </p:tgtEl>
                                        <p:attrNameLst>
                                          <p:attrName>ppt_y</p:attrName>
                                        </p:attrNameLst>
                                      </p:cBhvr>
                                    </p:anim>
                                    <p:animRot by="-480000">
                                      <p:cBhvr>
                                        <p:cTn id="40" dur="50" autoRev="1" fill="hold">
                                          <p:stCondLst>
                                            <p:cond delay="0"/>
                                          </p:stCondLst>
                                        </p:cTn>
                                        <p:tgtEl>
                                          <p:spTgt spid="19"/>
                                        </p:tgtEl>
                                        <p:attrNameLst>
                                          <p:attrName>r</p:attrName>
                                        </p:attrNameLst>
                                      </p:cBhvr>
                                    </p:animRot>
                                  </p:childTnLst>
                                </p:cTn>
                              </p:par>
                              <p:par>
                                <p:cTn id="41" presetID="2" presetClass="entr" presetSubtype="8"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0-#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P spid="16" grpId="0" bldLvl="0" animBg="1"/>
      <p:bldP spid="17" grpId="0" bldLvl="0" animBg="1"/>
      <p:bldP spid="18" grpId="0"/>
      <p:bldP spid="18" grpId="1"/>
      <p:bldP spid="19" grpId="0"/>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756167" y="2407462"/>
            <a:ext cx="4750930" cy="1116965"/>
          </a:xfrm>
          <a:prstGeom prst="rect">
            <a:avLst/>
          </a:prstGeom>
        </p:spPr>
        <p:txBody>
          <a:bodyPr wrap="square">
            <a:spAutoFit/>
          </a:bodyPr>
          <a:lstStyle/>
          <a:p>
            <a:pPr>
              <a:lnSpc>
                <a:spcPts val="2000"/>
              </a:lnSpc>
            </a:pPr>
            <a:r>
              <a:rPr lang="zh-CN" altLang="en-US" sz="1400" dirty="0">
                <a:latin typeface="微软雅黑" panose="020B0503020204020204" pitchFamily="34" charset="-122"/>
                <a:ea typeface="微软雅黑" panose="020B0503020204020204" pitchFamily="34" charset="-122"/>
              </a:rPr>
              <a:t>财务报表包括资产负债表、损益表、现金流量表或财务状况变动表、附表和</a:t>
            </a:r>
            <a:r>
              <a:rPr lang="zh-CN" altLang="en-US" sz="1400" u="sng" dirty="0">
                <a:latin typeface="微软雅黑" panose="020B0503020204020204" pitchFamily="34" charset="-122"/>
                <a:ea typeface="微软雅黑" panose="020B0503020204020204" pitchFamily="34" charset="-122"/>
              </a:rPr>
              <a:t>附注</a:t>
            </a:r>
            <a:r>
              <a:rPr lang="zh-CN" altLang="en-US" sz="1400" dirty="0">
                <a:latin typeface="微软雅黑" panose="020B0503020204020204" pitchFamily="34" charset="-122"/>
                <a:ea typeface="微软雅黑" panose="020B0503020204020204" pitchFamily="34" charset="-122"/>
              </a:rPr>
              <a:t>。财务报表是财务报告的主要部分，不包括董事报告、管理分析及财务情况说明书等列入财务报告或年度报告的资料。</a:t>
            </a:r>
          </a:p>
        </p:txBody>
      </p:sp>
      <p:grpSp>
        <p:nvGrpSpPr>
          <p:cNvPr id="14" name="组合 13"/>
          <p:cNvGrpSpPr/>
          <p:nvPr/>
        </p:nvGrpSpPr>
        <p:grpSpPr>
          <a:xfrm>
            <a:off x="5591037" y="2232932"/>
            <a:ext cx="1080000" cy="1080000"/>
            <a:chOff x="4890204" y="1978059"/>
            <a:chExt cx="1080000" cy="1080000"/>
          </a:xfrm>
        </p:grpSpPr>
        <p:sp>
          <p:nvSpPr>
            <p:cNvPr id="13" name="椭圆 12"/>
            <p:cNvSpPr/>
            <p:nvPr/>
          </p:nvSpPr>
          <p:spPr>
            <a:xfrm>
              <a:off x="4890204" y="1978059"/>
              <a:ext cx="1080000" cy="1080000"/>
            </a:xfrm>
            <a:prstGeom prst="ellipse">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Group 127"/>
            <p:cNvGrpSpPr/>
            <p:nvPr/>
          </p:nvGrpSpPr>
          <p:grpSpPr>
            <a:xfrm>
              <a:off x="5086610" y="2217732"/>
              <a:ext cx="657499" cy="433947"/>
              <a:chOff x="2141517" y="2373325"/>
              <a:chExt cx="476251" cy="314325"/>
            </a:xfrm>
            <a:solidFill>
              <a:schemeClr val="bg1"/>
            </a:solidFill>
          </p:grpSpPr>
          <p:sp>
            <p:nvSpPr>
              <p:cNvPr id="27" name="Rectangle 22"/>
              <p:cNvSpPr>
                <a:spLocks noChangeArrowheads="1"/>
              </p:cNvSpPr>
              <p:nvPr/>
            </p:nvSpPr>
            <p:spPr bwMode="auto">
              <a:xfrm>
                <a:off x="2200255" y="2678125"/>
                <a:ext cx="387350" cy="9525"/>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28" name="Rectangle 23"/>
              <p:cNvSpPr>
                <a:spLocks noChangeArrowheads="1"/>
              </p:cNvSpPr>
              <p:nvPr/>
            </p:nvSpPr>
            <p:spPr bwMode="auto">
              <a:xfrm>
                <a:off x="2517755" y="2468575"/>
                <a:ext cx="69850" cy="209550"/>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29" name="Rectangle 24"/>
              <p:cNvSpPr>
                <a:spLocks noChangeArrowheads="1"/>
              </p:cNvSpPr>
              <p:nvPr/>
            </p:nvSpPr>
            <p:spPr bwMode="auto">
              <a:xfrm>
                <a:off x="2438380" y="2547950"/>
                <a:ext cx="69850" cy="130175"/>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30" name="Rectangle 25"/>
              <p:cNvSpPr>
                <a:spLocks noChangeArrowheads="1"/>
              </p:cNvSpPr>
              <p:nvPr/>
            </p:nvSpPr>
            <p:spPr bwMode="auto">
              <a:xfrm>
                <a:off x="2359005" y="2592400"/>
                <a:ext cx="69850" cy="85725"/>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31" name="Rectangle 26"/>
              <p:cNvSpPr>
                <a:spLocks noChangeArrowheads="1"/>
              </p:cNvSpPr>
              <p:nvPr/>
            </p:nvSpPr>
            <p:spPr bwMode="auto">
              <a:xfrm>
                <a:off x="2279630" y="2551125"/>
                <a:ext cx="69850" cy="127000"/>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32" name="Rectangle 27"/>
              <p:cNvSpPr>
                <a:spLocks noChangeArrowheads="1"/>
              </p:cNvSpPr>
              <p:nvPr/>
            </p:nvSpPr>
            <p:spPr bwMode="auto">
              <a:xfrm>
                <a:off x="2200255" y="2587637"/>
                <a:ext cx="68263" cy="90488"/>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33" name="Freeform 28"/>
              <p:cNvSpPr/>
              <p:nvPr/>
            </p:nvSpPr>
            <p:spPr bwMode="auto">
              <a:xfrm>
                <a:off x="2141517" y="2559062"/>
                <a:ext cx="36513" cy="38100"/>
              </a:xfrm>
              <a:custGeom>
                <a:avLst/>
                <a:gdLst/>
                <a:ahLst/>
                <a:cxnLst>
                  <a:cxn ang="0">
                    <a:pos x="22" y="0"/>
                  </a:cxn>
                  <a:cxn ang="0">
                    <a:pos x="22" y="0"/>
                  </a:cxn>
                  <a:cxn ang="0">
                    <a:pos x="27" y="0"/>
                  </a:cxn>
                  <a:cxn ang="0">
                    <a:pos x="32" y="1"/>
                  </a:cxn>
                  <a:cxn ang="0">
                    <a:pos x="36" y="3"/>
                  </a:cxn>
                  <a:cxn ang="0">
                    <a:pos x="40" y="7"/>
                  </a:cxn>
                  <a:cxn ang="0">
                    <a:pos x="42" y="10"/>
                  </a:cxn>
                  <a:cxn ang="0">
                    <a:pos x="45" y="15"/>
                  </a:cxn>
                  <a:cxn ang="0">
                    <a:pos x="46" y="18"/>
                  </a:cxn>
                  <a:cxn ang="0">
                    <a:pos x="46" y="23"/>
                  </a:cxn>
                  <a:cxn ang="0">
                    <a:pos x="46" y="23"/>
                  </a:cxn>
                  <a:cxn ang="0">
                    <a:pos x="46" y="28"/>
                  </a:cxn>
                  <a:cxn ang="0">
                    <a:pos x="45" y="32"/>
                  </a:cxn>
                  <a:cxn ang="0">
                    <a:pos x="42" y="36"/>
                  </a:cxn>
                  <a:cxn ang="0">
                    <a:pos x="40" y="39"/>
                  </a:cxn>
                  <a:cxn ang="0">
                    <a:pos x="36" y="43"/>
                  </a:cxn>
                  <a:cxn ang="0">
                    <a:pos x="32" y="44"/>
                  </a:cxn>
                  <a:cxn ang="0">
                    <a:pos x="27" y="45"/>
                  </a:cxn>
                  <a:cxn ang="0">
                    <a:pos x="22" y="47"/>
                  </a:cxn>
                  <a:cxn ang="0">
                    <a:pos x="22" y="47"/>
                  </a:cxn>
                  <a:cxn ang="0">
                    <a:pos x="19" y="45"/>
                  </a:cxn>
                  <a:cxn ang="0">
                    <a:pos x="14" y="44"/>
                  </a:cxn>
                  <a:cxn ang="0">
                    <a:pos x="10" y="43"/>
                  </a:cxn>
                  <a:cxn ang="0">
                    <a:pos x="6" y="39"/>
                  </a:cxn>
                  <a:cxn ang="0">
                    <a:pos x="4" y="36"/>
                  </a:cxn>
                  <a:cxn ang="0">
                    <a:pos x="1" y="32"/>
                  </a:cxn>
                  <a:cxn ang="0">
                    <a:pos x="0" y="28"/>
                  </a:cxn>
                  <a:cxn ang="0">
                    <a:pos x="0" y="23"/>
                  </a:cxn>
                  <a:cxn ang="0">
                    <a:pos x="0" y="23"/>
                  </a:cxn>
                  <a:cxn ang="0">
                    <a:pos x="0" y="18"/>
                  </a:cxn>
                  <a:cxn ang="0">
                    <a:pos x="1" y="15"/>
                  </a:cxn>
                  <a:cxn ang="0">
                    <a:pos x="4" y="10"/>
                  </a:cxn>
                  <a:cxn ang="0">
                    <a:pos x="6" y="7"/>
                  </a:cxn>
                  <a:cxn ang="0">
                    <a:pos x="10" y="3"/>
                  </a:cxn>
                  <a:cxn ang="0">
                    <a:pos x="14" y="1"/>
                  </a:cxn>
                  <a:cxn ang="0">
                    <a:pos x="19" y="0"/>
                  </a:cxn>
                  <a:cxn ang="0">
                    <a:pos x="22" y="0"/>
                  </a:cxn>
                  <a:cxn ang="0">
                    <a:pos x="22" y="0"/>
                  </a:cxn>
                </a:cxnLst>
                <a:rect l="0" t="0" r="r" b="b"/>
                <a:pathLst>
                  <a:path w="46" h="47">
                    <a:moveTo>
                      <a:pt x="22" y="0"/>
                    </a:moveTo>
                    <a:lnTo>
                      <a:pt x="22" y="0"/>
                    </a:lnTo>
                    <a:lnTo>
                      <a:pt x="27" y="0"/>
                    </a:lnTo>
                    <a:lnTo>
                      <a:pt x="32" y="1"/>
                    </a:lnTo>
                    <a:lnTo>
                      <a:pt x="36" y="3"/>
                    </a:lnTo>
                    <a:lnTo>
                      <a:pt x="40" y="7"/>
                    </a:lnTo>
                    <a:lnTo>
                      <a:pt x="42" y="10"/>
                    </a:lnTo>
                    <a:lnTo>
                      <a:pt x="45" y="15"/>
                    </a:lnTo>
                    <a:lnTo>
                      <a:pt x="46" y="18"/>
                    </a:lnTo>
                    <a:lnTo>
                      <a:pt x="46" y="23"/>
                    </a:lnTo>
                    <a:lnTo>
                      <a:pt x="46" y="23"/>
                    </a:lnTo>
                    <a:lnTo>
                      <a:pt x="46" y="28"/>
                    </a:lnTo>
                    <a:lnTo>
                      <a:pt x="45" y="32"/>
                    </a:lnTo>
                    <a:lnTo>
                      <a:pt x="42" y="36"/>
                    </a:lnTo>
                    <a:lnTo>
                      <a:pt x="40" y="39"/>
                    </a:lnTo>
                    <a:lnTo>
                      <a:pt x="36" y="43"/>
                    </a:lnTo>
                    <a:lnTo>
                      <a:pt x="32" y="44"/>
                    </a:lnTo>
                    <a:lnTo>
                      <a:pt x="27" y="45"/>
                    </a:lnTo>
                    <a:lnTo>
                      <a:pt x="22" y="47"/>
                    </a:lnTo>
                    <a:lnTo>
                      <a:pt x="22" y="47"/>
                    </a:lnTo>
                    <a:lnTo>
                      <a:pt x="19" y="45"/>
                    </a:lnTo>
                    <a:lnTo>
                      <a:pt x="14" y="44"/>
                    </a:lnTo>
                    <a:lnTo>
                      <a:pt x="10" y="43"/>
                    </a:lnTo>
                    <a:lnTo>
                      <a:pt x="6" y="39"/>
                    </a:lnTo>
                    <a:lnTo>
                      <a:pt x="4" y="36"/>
                    </a:lnTo>
                    <a:lnTo>
                      <a:pt x="1" y="32"/>
                    </a:lnTo>
                    <a:lnTo>
                      <a:pt x="0" y="28"/>
                    </a:lnTo>
                    <a:lnTo>
                      <a:pt x="0" y="23"/>
                    </a:lnTo>
                    <a:lnTo>
                      <a:pt x="0" y="23"/>
                    </a:lnTo>
                    <a:lnTo>
                      <a:pt x="0" y="18"/>
                    </a:lnTo>
                    <a:lnTo>
                      <a:pt x="1" y="15"/>
                    </a:lnTo>
                    <a:lnTo>
                      <a:pt x="4" y="10"/>
                    </a:lnTo>
                    <a:lnTo>
                      <a:pt x="6" y="7"/>
                    </a:lnTo>
                    <a:lnTo>
                      <a:pt x="10" y="3"/>
                    </a:lnTo>
                    <a:lnTo>
                      <a:pt x="14" y="1"/>
                    </a:lnTo>
                    <a:lnTo>
                      <a:pt x="19" y="0"/>
                    </a:lnTo>
                    <a:lnTo>
                      <a:pt x="22" y="0"/>
                    </a:lnTo>
                    <a:lnTo>
                      <a:pt x="22"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34" name="Freeform 29"/>
              <p:cNvSpPr/>
              <p:nvPr/>
            </p:nvSpPr>
            <p:spPr bwMode="auto">
              <a:xfrm>
                <a:off x="2568555" y="2373325"/>
                <a:ext cx="49213" cy="47625"/>
              </a:xfrm>
              <a:custGeom>
                <a:avLst/>
                <a:gdLst/>
                <a:ahLst/>
                <a:cxnLst>
                  <a:cxn ang="0">
                    <a:pos x="62" y="0"/>
                  </a:cxn>
                  <a:cxn ang="0">
                    <a:pos x="0" y="1"/>
                  </a:cxn>
                  <a:cxn ang="0">
                    <a:pos x="22" y="29"/>
                  </a:cxn>
                  <a:cxn ang="0">
                    <a:pos x="43" y="59"/>
                  </a:cxn>
                  <a:cxn ang="0">
                    <a:pos x="62" y="0"/>
                  </a:cxn>
                </a:cxnLst>
                <a:rect l="0" t="0" r="r" b="b"/>
                <a:pathLst>
                  <a:path w="62" h="59">
                    <a:moveTo>
                      <a:pt x="62" y="0"/>
                    </a:moveTo>
                    <a:lnTo>
                      <a:pt x="0" y="1"/>
                    </a:lnTo>
                    <a:lnTo>
                      <a:pt x="22" y="29"/>
                    </a:lnTo>
                    <a:lnTo>
                      <a:pt x="43" y="59"/>
                    </a:lnTo>
                    <a:lnTo>
                      <a:pt x="62"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35" name="Freeform 30"/>
              <p:cNvSpPr/>
              <p:nvPr/>
            </p:nvSpPr>
            <p:spPr bwMode="auto">
              <a:xfrm>
                <a:off x="2176442" y="2397137"/>
                <a:ext cx="404813" cy="169863"/>
              </a:xfrm>
              <a:custGeom>
                <a:avLst/>
                <a:gdLst/>
                <a:ahLst/>
                <a:cxnLst>
                  <a:cxn ang="0">
                    <a:pos x="0" y="204"/>
                  </a:cxn>
                  <a:cxn ang="0">
                    <a:pos x="176" y="73"/>
                  </a:cxn>
                  <a:cxn ang="0">
                    <a:pos x="182" y="70"/>
                  </a:cxn>
                  <a:cxn ang="0">
                    <a:pos x="186" y="75"/>
                  </a:cxn>
                  <a:cxn ang="0">
                    <a:pos x="270" y="174"/>
                  </a:cxn>
                  <a:cxn ang="0">
                    <a:pos x="502" y="0"/>
                  </a:cxn>
                  <a:cxn ang="0">
                    <a:pos x="507" y="7"/>
                  </a:cxn>
                  <a:cxn ang="0">
                    <a:pos x="511" y="12"/>
                  </a:cxn>
                  <a:cxn ang="0">
                    <a:pos x="274" y="190"/>
                  </a:cxn>
                  <a:cxn ang="0">
                    <a:pos x="268" y="193"/>
                  </a:cxn>
                  <a:cxn ang="0">
                    <a:pos x="263" y="188"/>
                  </a:cxn>
                  <a:cxn ang="0">
                    <a:pos x="180" y="89"/>
                  </a:cxn>
                  <a:cxn ang="0">
                    <a:pos x="9" y="216"/>
                  </a:cxn>
                  <a:cxn ang="0">
                    <a:pos x="9" y="216"/>
                  </a:cxn>
                  <a:cxn ang="0">
                    <a:pos x="5" y="209"/>
                  </a:cxn>
                  <a:cxn ang="0">
                    <a:pos x="0" y="204"/>
                  </a:cxn>
                  <a:cxn ang="0">
                    <a:pos x="0" y="204"/>
                  </a:cxn>
                </a:cxnLst>
                <a:rect l="0" t="0" r="r" b="b"/>
                <a:pathLst>
                  <a:path w="511" h="216">
                    <a:moveTo>
                      <a:pt x="0" y="204"/>
                    </a:moveTo>
                    <a:lnTo>
                      <a:pt x="176" y="73"/>
                    </a:lnTo>
                    <a:lnTo>
                      <a:pt x="182" y="70"/>
                    </a:lnTo>
                    <a:lnTo>
                      <a:pt x="186" y="75"/>
                    </a:lnTo>
                    <a:lnTo>
                      <a:pt x="270" y="174"/>
                    </a:lnTo>
                    <a:lnTo>
                      <a:pt x="502" y="0"/>
                    </a:lnTo>
                    <a:lnTo>
                      <a:pt x="507" y="7"/>
                    </a:lnTo>
                    <a:lnTo>
                      <a:pt x="511" y="12"/>
                    </a:lnTo>
                    <a:lnTo>
                      <a:pt x="274" y="190"/>
                    </a:lnTo>
                    <a:lnTo>
                      <a:pt x="268" y="193"/>
                    </a:lnTo>
                    <a:lnTo>
                      <a:pt x="263" y="188"/>
                    </a:lnTo>
                    <a:lnTo>
                      <a:pt x="180" y="89"/>
                    </a:lnTo>
                    <a:lnTo>
                      <a:pt x="9" y="216"/>
                    </a:lnTo>
                    <a:lnTo>
                      <a:pt x="9" y="216"/>
                    </a:lnTo>
                    <a:lnTo>
                      <a:pt x="5" y="209"/>
                    </a:lnTo>
                    <a:lnTo>
                      <a:pt x="0" y="204"/>
                    </a:lnTo>
                    <a:lnTo>
                      <a:pt x="0" y="204"/>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grpSp>
      </p:grpSp>
      <p:sp>
        <p:nvSpPr>
          <p:cNvPr id="15" name="矩形 14"/>
          <p:cNvSpPr/>
          <p:nvPr/>
        </p:nvSpPr>
        <p:spPr>
          <a:xfrm>
            <a:off x="2808831" y="1926547"/>
            <a:ext cx="2621280" cy="1691640"/>
          </a:xfrm>
          <a:prstGeom prst="rect">
            <a:avLst/>
          </a:prstGeom>
        </p:spPr>
        <p:txBody>
          <a:bodyPr wrap="none">
            <a:spAutoFit/>
          </a:bodyPr>
          <a:lstStyle/>
          <a:p>
            <a:r>
              <a:rPr lang="en-US" altLang="zh-CN" sz="7200" b="1" dirty="0">
                <a:latin typeface="Impact" panose="020B0806030902050204" pitchFamily="34" charset="0"/>
                <a:ea typeface="微软雅黑" panose="020B0503020204020204" pitchFamily="34" charset="-122"/>
              </a:rPr>
              <a:t>2018</a:t>
            </a:r>
          </a:p>
          <a:p>
            <a:r>
              <a:rPr lang="zh-CN" altLang="en-US" sz="3200" b="1" dirty="0">
                <a:latin typeface="微软雅黑" panose="020B0503020204020204" pitchFamily="34" charset="-122"/>
                <a:ea typeface="微软雅黑" panose="020B0503020204020204" pitchFamily="34" charset="-122"/>
              </a:rPr>
              <a:t>年度财务报告</a:t>
            </a:r>
            <a:endParaRPr lang="zh-CN" altLang="en-US" sz="3200" b="1" dirty="0"/>
          </a:p>
        </p:txBody>
      </p:sp>
      <p:grpSp>
        <p:nvGrpSpPr>
          <p:cNvPr id="36" name="组合 35"/>
          <p:cNvGrpSpPr/>
          <p:nvPr/>
        </p:nvGrpSpPr>
        <p:grpSpPr>
          <a:xfrm>
            <a:off x="689212" y="2090446"/>
            <a:ext cx="1921566" cy="1364973"/>
            <a:chOff x="689212" y="1742453"/>
            <a:chExt cx="1921566" cy="1364973"/>
          </a:xfrm>
        </p:grpSpPr>
        <p:sp>
          <p:nvSpPr>
            <p:cNvPr id="38" name="圆角矩形 37"/>
            <p:cNvSpPr/>
            <p:nvPr/>
          </p:nvSpPr>
          <p:spPr>
            <a:xfrm>
              <a:off x="689212" y="1742453"/>
              <a:ext cx="1921566" cy="1364973"/>
            </a:xfrm>
            <a:prstGeom prst="roundRect">
              <a:avLst>
                <a:gd name="adj" fmla="val 0"/>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KSO_Shape"/>
            <p:cNvSpPr/>
            <p:nvPr/>
          </p:nvSpPr>
          <p:spPr bwMode="auto">
            <a:xfrm>
              <a:off x="930279" y="2114802"/>
              <a:ext cx="1449596" cy="707886"/>
            </a:xfrm>
            <a:custGeom>
              <a:avLst/>
              <a:gdLst>
                <a:gd name="T0" fmla="*/ 1064190 w 4529137"/>
                <a:gd name="T1" fmla="*/ 757398 h 2211388"/>
                <a:gd name="T2" fmla="*/ 1187209 w 4529137"/>
                <a:gd name="T3" fmla="*/ 776390 h 2211388"/>
                <a:gd name="T4" fmla="*/ 765205 w 4529137"/>
                <a:gd name="T5" fmla="*/ 645019 h 2211388"/>
                <a:gd name="T6" fmla="*/ 846226 w 4529137"/>
                <a:gd name="T7" fmla="*/ 630930 h 2211388"/>
                <a:gd name="T8" fmla="*/ 387846 w 4529137"/>
                <a:gd name="T9" fmla="*/ 603839 h 2211388"/>
                <a:gd name="T10" fmla="*/ 382406 w 4529137"/>
                <a:gd name="T11" fmla="*/ 667180 h 2211388"/>
                <a:gd name="T12" fmla="*/ 881438 w 4529137"/>
                <a:gd name="T13" fmla="*/ 621868 h 2211388"/>
                <a:gd name="T14" fmla="*/ 1532434 w 4529137"/>
                <a:gd name="T15" fmla="*/ 564369 h 2211388"/>
                <a:gd name="T16" fmla="*/ 1644899 w 4529137"/>
                <a:gd name="T17" fmla="*/ 617514 h 2211388"/>
                <a:gd name="T18" fmla="*/ 325527 w 4529137"/>
                <a:gd name="T19" fmla="*/ 469049 h 2211388"/>
                <a:gd name="T20" fmla="*/ 1244776 w 4529137"/>
                <a:gd name="T21" fmla="*/ 814170 h 2211388"/>
                <a:gd name="T22" fmla="*/ 1365484 w 4529137"/>
                <a:gd name="T23" fmla="*/ 855916 h 2211388"/>
                <a:gd name="T24" fmla="*/ 1388802 w 4529137"/>
                <a:gd name="T25" fmla="*/ 514277 h 2211388"/>
                <a:gd name="T26" fmla="*/ 1151764 w 4529137"/>
                <a:gd name="T27" fmla="*/ 319165 h 2211388"/>
                <a:gd name="T28" fmla="*/ 230379 w 4529137"/>
                <a:gd name="T29" fmla="*/ 121531 h 2211388"/>
                <a:gd name="T30" fmla="*/ 367041 w 4529137"/>
                <a:gd name="T31" fmla="*/ 120005 h 2211388"/>
                <a:gd name="T32" fmla="*/ 307681 w 4529137"/>
                <a:gd name="T33" fmla="*/ 196224 h 2211388"/>
                <a:gd name="T34" fmla="*/ 590835 w 4529137"/>
                <a:gd name="T35" fmla="*/ 219119 h 2211388"/>
                <a:gd name="T36" fmla="*/ 744597 w 4529137"/>
                <a:gd name="T37" fmla="*/ 110468 h 2211388"/>
                <a:gd name="T38" fmla="*/ 854718 w 4529137"/>
                <a:gd name="T39" fmla="*/ 45410 h 2211388"/>
                <a:gd name="T40" fmla="*/ 864547 w 4529137"/>
                <a:gd name="T41" fmla="*/ 162743 h 2211388"/>
                <a:gd name="T42" fmla="*/ 819506 w 4529137"/>
                <a:gd name="T43" fmla="*/ 296293 h 2211388"/>
                <a:gd name="T44" fmla="*/ 957126 w 4529137"/>
                <a:gd name="T45" fmla="*/ 262494 h 2211388"/>
                <a:gd name="T46" fmla="*/ 1072739 w 4529137"/>
                <a:gd name="T47" fmla="*/ 45506 h 2211388"/>
                <a:gd name="T48" fmla="*/ 1121920 w 4529137"/>
                <a:gd name="T49" fmla="*/ 183711 h 2211388"/>
                <a:gd name="T50" fmla="*/ 1461047 w 4529137"/>
                <a:gd name="T51" fmla="*/ 304654 h 2211388"/>
                <a:gd name="T52" fmla="*/ 1490593 w 4529137"/>
                <a:gd name="T53" fmla="*/ 143215 h 2211388"/>
                <a:gd name="T54" fmla="*/ 1494024 w 4529137"/>
                <a:gd name="T55" fmla="*/ 29482 h 2211388"/>
                <a:gd name="T56" fmla="*/ 1684644 w 4529137"/>
                <a:gd name="T57" fmla="*/ 141879 h 2211388"/>
                <a:gd name="T58" fmla="*/ 1883841 w 4529137"/>
                <a:gd name="T59" fmla="*/ 298643 h 2211388"/>
                <a:gd name="T60" fmla="*/ 1760510 w 4529137"/>
                <a:gd name="T61" fmla="*/ 582497 h 2211388"/>
                <a:gd name="T62" fmla="*/ 1856868 w 4529137"/>
                <a:gd name="T63" fmla="*/ 814543 h 2211388"/>
                <a:gd name="T64" fmla="*/ 1823605 w 4529137"/>
                <a:gd name="T65" fmla="*/ 844025 h 2211388"/>
                <a:gd name="T66" fmla="*/ 1767468 w 4529137"/>
                <a:gd name="T67" fmla="*/ 853662 h 2211388"/>
                <a:gd name="T68" fmla="*/ 1718860 w 4529137"/>
                <a:gd name="T69" fmla="*/ 807196 h 2211388"/>
                <a:gd name="T70" fmla="*/ 1653763 w 4529137"/>
                <a:gd name="T71" fmla="*/ 769030 h 2211388"/>
                <a:gd name="T72" fmla="*/ 1523379 w 4529137"/>
                <a:gd name="T73" fmla="*/ 884671 h 2211388"/>
                <a:gd name="T74" fmla="*/ 1341340 w 4529137"/>
                <a:gd name="T75" fmla="*/ 900420 h 2211388"/>
                <a:gd name="T76" fmla="*/ 1225396 w 4529137"/>
                <a:gd name="T77" fmla="*/ 877803 h 2211388"/>
                <a:gd name="T78" fmla="*/ 1165636 w 4529137"/>
                <a:gd name="T79" fmla="*/ 824440 h 2211388"/>
                <a:gd name="T80" fmla="*/ 1119000 w 4529137"/>
                <a:gd name="T81" fmla="*/ 868727 h 2211388"/>
                <a:gd name="T82" fmla="*/ 1053055 w 4529137"/>
                <a:gd name="T83" fmla="*/ 778539 h 2211388"/>
                <a:gd name="T84" fmla="*/ 971434 w 4529137"/>
                <a:gd name="T85" fmla="*/ 798599 h 2211388"/>
                <a:gd name="T86" fmla="*/ 942891 w 4529137"/>
                <a:gd name="T87" fmla="*/ 822182 h 2211388"/>
                <a:gd name="T88" fmla="*/ 934399 w 4529137"/>
                <a:gd name="T89" fmla="*/ 893355 h 2211388"/>
                <a:gd name="T90" fmla="*/ 863020 w 4529137"/>
                <a:gd name="T91" fmla="*/ 879714 h 2211388"/>
                <a:gd name="T92" fmla="*/ 821987 w 4529137"/>
                <a:gd name="T93" fmla="*/ 833830 h 2211388"/>
                <a:gd name="T94" fmla="*/ 649743 w 4529137"/>
                <a:gd name="T95" fmla="*/ 865214 h 2211388"/>
                <a:gd name="T96" fmla="*/ 658618 w 4529137"/>
                <a:gd name="T97" fmla="*/ 834212 h 2211388"/>
                <a:gd name="T98" fmla="*/ 610428 w 4529137"/>
                <a:gd name="T99" fmla="*/ 861589 h 2211388"/>
                <a:gd name="T100" fmla="*/ 608329 w 4529137"/>
                <a:gd name="T101" fmla="*/ 585046 h 2211388"/>
                <a:gd name="T102" fmla="*/ 514143 w 4529137"/>
                <a:gd name="T103" fmla="*/ 436138 h 2211388"/>
                <a:gd name="T104" fmla="*/ 393668 w 4529137"/>
                <a:gd name="T105" fmla="*/ 501005 h 2211388"/>
                <a:gd name="T106" fmla="*/ 431937 w 4529137"/>
                <a:gd name="T107" fmla="*/ 829635 h 2211388"/>
                <a:gd name="T108" fmla="*/ 369141 w 4529137"/>
                <a:gd name="T109" fmla="*/ 921594 h 2211388"/>
                <a:gd name="T110" fmla="*/ 304150 w 4529137"/>
                <a:gd name="T111" fmla="*/ 839652 h 2211388"/>
                <a:gd name="T112" fmla="*/ 147351 w 4529137"/>
                <a:gd name="T113" fmla="*/ 897841 h 2211388"/>
                <a:gd name="T114" fmla="*/ 205280 w 4529137"/>
                <a:gd name="T115" fmla="*/ 817043 h 2211388"/>
                <a:gd name="T116" fmla="*/ 98870 w 4529137"/>
                <a:gd name="T117" fmla="*/ 887253 h 2211388"/>
                <a:gd name="T118" fmla="*/ 88850 w 4529137"/>
                <a:gd name="T119" fmla="*/ 567876 h 2211388"/>
                <a:gd name="T120" fmla="*/ 157849 w 4529137"/>
                <a:gd name="T121" fmla="*/ 320140 h 2211388"/>
                <a:gd name="T122" fmla="*/ 161475 w 4529137"/>
                <a:gd name="T123" fmla="*/ 264621 h 2211388"/>
                <a:gd name="T124" fmla="*/ 218736 w 4529137"/>
                <a:gd name="T125" fmla="*/ 98541 h 22113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529137" h="2211388">
                  <a:moveTo>
                    <a:pt x="738772" y="1925441"/>
                  </a:moveTo>
                  <a:lnTo>
                    <a:pt x="736503" y="1925667"/>
                  </a:lnTo>
                  <a:lnTo>
                    <a:pt x="734688" y="1926121"/>
                  </a:lnTo>
                  <a:lnTo>
                    <a:pt x="733100" y="1926801"/>
                  </a:lnTo>
                  <a:lnTo>
                    <a:pt x="732192" y="1927482"/>
                  </a:lnTo>
                  <a:lnTo>
                    <a:pt x="731512" y="1928162"/>
                  </a:lnTo>
                  <a:lnTo>
                    <a:pt x="731285" y="1928842"/>
                  </a:lnTo>
                  <a:lnTo>
                    <a:pt x="731285" y="1929749"/>
                  </a:lnTo>
                  <a:lnTo>
                    <a:pt x="731512" y="1930656"/>
                  </a:lnTo>
                  <a:lnTo>
                    <a:pt x="731965" y="1932017"/>
                  </a:lnTo>
                  <a:lnTo>
                    <a:pt x="732873" y="1932924"/>
                  </a:lnTo>
                  <a:lnTo>
                    <a:pt x="734234" y="1934058"/>
                  </a:lnTo>
                  <a:lnTo>
                    <a:pt x="739226" y="1937686"/>
                  </a:lnTo>
                  <a:lnTo>
                    <a:pt x="736276" y="1938139"/>
                  </a:lnTo>
                  <a:lnTo>
                    <a:pt x="734008" y="1938593"/>
                  </a:lnTo>
                  <a:lnTo>
                    <a:pt x="732192" y="1939500"/>
                  </a:lnTo>
                  <a:lnTo>
                    <a:pt x="731739" y="1940180"/>
                  </a:lnTo>
                  <a:lnTo>
                    <a:pt x="731512" y="1940634"/>
                  </a:lnTo>
                  <a:lnTo>
                    <a:pt x="731285" y="1941087"/>
                  </a:lnTo>
                  <a:lnTo>
                    <a:pt x="731285" y="1941768"/>
                  </a:lnTo>
                  <a:lnTo>
                    <a:pt x="731512" y="1943355"/>
                  </a:lnTo>
                  <a:lnTo>
                    <a:pt x="732419" y="1944715"/>
                  </a:lnTo>
                  <a:lnTo>
                    <a:pt x="734234" y="1946303"/>
                  </a:lnTo>
                  <a:lnTo>
                    <a:pt x="746260" y="1955147"/>
                  </a:lnTo>
                  <a:lnTo>
                    <a:pt x="767588" y="1971020"/>
                  </a:lnTo>
                  <a:lnTo>
                    <a:pt x="779840" y="1980544"/>
                  </a:lnTo>
                  <a:lnTo>
                    <a:pt x="792547" y="1990748"/>
                  </a:lnTo>
                  <a:lnTo>
                    <a:pt x="804572" y="2000953"/>
                  </a:lnTo>
                  <a:lnTo>
                    <a:pt x="810698" y="2006168"/>
                  </a:lnTo>
                  <a:lnTo>
                    <a:pt x="815917" y="2010930"/>
                  </a:lnTo>
                  <a:lnTo>
                    <a:pt x="821135" y="2015919"/>
                  </a:lnTo>
                  <a:lnTo>
                    <a:pt x="825446" y="2020908"/>
                  </a:lnTo>
                  <a:lnTo>
                    <a:pt x="829984" y="2025670"/>
                  </a:lnTo>
                  <a:lnTo>
                    <a:pt x="833842" y="2030658"/>
                  </a:lnTo>
                  <a:lnTo>
                    <a:pt x="837472" y="2035420"/>
                  </a:lnTo>
                  <a:lnTo>
                    <a:pt x="840875" y="2039956"/>
                  </a:lnTo>
                  <a:lnTo>
                    <a:pt x="846321" y="2048573"/>
                  </a:lnTo>
                  <a:lnTo>
                    <a:pt x="850632" y="2055602"/>
                  </a:lnTo>
                  <a:lnTo>
                    <a:pt x="853582" y="2061271"/>
                  </a:lnTo>
                  <a:lnTo>
                    <a:pt x="856077" y="2066260"/>
                  </a:lnTo>
                  <a:lnTo>
                    <a:pt x="856758" y="2054922"/>
                  </a:lnTo>
                  <a:lnTo>
                    <a:pt x="857212" y="2045398"/>
                  </a:lnTo>
                  <a:lnTo>
                    <a:pt x="857439" y="2038595"/>
                  </a:lnTo>
                  <a:lnTo>
                    <a:pt x="857439" y="2035874"/>
                  </a:lnTo>
                  <a:lnTo>
                    <a:pt x="857212" y="2032019"/>
                  </a:lnTo>
                  <a:lnTo>
                    <a:pt x="857439" y="2026350"/>
                  </a:lnTo>
                  <a:lnTo>
                    <a:pt x="857439" y="2020227"/>
                  </a:lnTo>
                  <a:lnTo>
                    <a:pt x="856985" y="2016372"/>
                  </a:lnTo>
                  <a:lnTo>
                    <a:pt x="856304" y="2012291"/>
                  </a:lnTo>
                  <a:lnTo>
                    <a:pt x="855170" y="2007755"/>
                  </a:lnTo>
                  <a:lnTo>
                    <a:pt x="854489" y="2005488"/>
                  </a:lnTo>
                  <a:lnTo>
                    <a:pt x="853582" y="2003674"/>
                  </a:lnTo>
                  <a:lnTo>
                    <a:pt x="852447" y="2001406"/>
                  </a:lnTo>
                  <a:lnTo>
                    <a:pt x="851313" y="1999365"/>
                  </a:lnTo>
                  <a:lnTo>
                    <a:pt x="849724" y="1997324"/>
                  </a:lnTo>
                  <a:lnTo>
                    <a:pt x="848363" y="1995737"/>
                  </a:lnTo>
                  <a:lnTo>
                    <a:pt x="846548" y="1993696"/>
                  </a:lnTo>
                  <a:lnTo>
                    <a:pt x="845186" y="1991429"/>
                  </a:lnTo>
                  <a:lnTo>
                    <a:pt x="843598" y="1988934"/>
                  </a:lnTo>
                  <a:lnTo>
                    <a:pt x="842010" y="1986213"/>
                  </a:lnTo>
                  <a:lnTo>
                    <a:pt x="840875" y="1983265"/>
                  </a:lnTo>
                  <a:lnTo>
                    <a:pt x="839741" y="1980317"/>
                  </a:lnTo>
                  <a:lnTo>
                    <a:pt x="837699" y="1973741"/>
                  </a:lnTo>
                  <a:lnTo>
                    <a:pt x="835884" y="1967392"/>
                  </a:lnTo>
                  <a:lnTo>
                    <a:pt x="834749" y="1961269"/>
                  </a:lnTo>
                  <a:lnTo>
                    <a:pt x="833615" y="1955373"/>
                  </a:lnTo>
                  <a:lnTo>
                    <a:pt x="832934" y="1951065"/>
                  </a:lnTo>
                  <a:lnTo>
                    <a:pt x="832253" y="1947210"/>
                  </a:lnTo>
                  <a:lnTo>
                    <a:pt x="831800" y="1944715"/>
                  </a:lnTo>
                  <a:lnTo>
                    <a:pt x="830665" y="1942675"/>
                  </a:lnTo>
                  <a:lnTo>
                    <a:pt x="829531" y="1941087"/>
                  </a:lnTo>
                  <a:lnTo>
                    <a:pt x="827942" y="1940180"/>
                  </a:lnTo>
                  <a:lnTo>
                    <a:pt x="826354" y="1939046"/>
                  </a:lnTo>
                  <a:lnTo>
                    <a:pt x="820455" y="1937232"/>
                  </a:lnTo>
                  <a:lnTo>
                    <a:pt x="815917" y="1935872"/>
                  </a:lnTo>
                  <a:lnTo>
                    <a:pt x="809337" y="1934738"/>
                  </a:lnTo>
                  <a:lnTo>
                    <a:pt x="792093" y="1931563"/>
                  </a:lnTo>
                  <a:lnTo>
                    <a:pt x="772353" y="1928842"/>
                  </a:lnTo>
                  <a:lnTo>
                    <a:pt x="754201" y="1926121"/>
                  </a:lnTo>
                  <a:lnTo>
                    <a:pt x="746941" y="1925441"/>
                  </a:lnTo>
                  <a:lnTo>
                    <a:pt x="740814" y="1925441"/>
                  </a:lnTo>
                  <a:lnTo>
                    <a:pt x="738772" y="1925441"/>
                  </a:lnTo>
                  <a:close/>
                  <a:moveTo>
                    <a:pt x="2528301" y="1786853"/>
                  </a:moveTo>
                  <a:lnTo>
                    <a:pt x="2526491" y="1787306"/>
                  </a:lnTo>
                  <a:lnTo>
                    <a:pt x="2524907" y="1787532"/>
                  </a:lnTo>
                  <a:lnTo>
                    <a:pt x="2523776" y="1787985"/>
                  </a:lnTo>
                  <a:lnTo>
                    <a:pt x="2522871" y="1788890"/>
                  </a:lnTo>
                  <a:lnTo>
                    <a:pt x="2522192" y="1789570"/>
                  </a:lnTo>
                  <a:lnTo>
                    <a:pt x="2521966" y="1790022"/>
                  </a:lnTo>
                  <a:lnTo>
                    <a:pt x="2521966" y="1790701"/>
                  </a:lnTo>
                  <a:lnTo>
                    <a:pt x="2521966" y="1792060"/>
                  </a:lnTo>
                  <a:lnTo>
                    <a:pt x="2522418" y="1792965"/>
                  </a:lnTo>
                  <a:lnTo>
                    <a:pt x="2522645" y="1793418"/>
                  </a:lnTo>
                  <a:lnTo>
                    <a:pt x="2530111" y="1800436"/>
                  </a:lnTo>
                  <a:lnTo>
                    <a:pt x="2542329" y="1811528"/>
                  </a:lnTo>
                  <a:lnTo>
                    <a:pt x="2562239" y="1829864"/>
                  </a:lnTo>
                  <a:lnTo>
                    <a:pt x="2565181" y="1832581"/>
                  </a:lnTo>
                  <a:lnTo>
                    <a:pt x="2568122" y="1835524"/>
                  </a:lnTo>
                  <a:lnTo>
                    <a:pt x="2573778" y="1842089"/>
                  </a:lnTo>
                  <a:lnTo>
                    <a:pt x="2579661" y="1848653"/>
                  </a:lnTo>
                  <a:lnTo>
                    <a:pt x="2584865" y="1855897"/>
                  </a:lnTo>
                  <a:lnTo>
                    <a:pt x="2589616" y="1863368"/>
                  </a:lnTo>
                  <a:lnTo>
                    <a:pt x="2594368" y="1870838"/>
                  </a:lnTo>
                  <a:lnTo>
                    <a:pt x="2598893" y="1878082"/>
                  </a:lnTo>
                  <a:lnTo>
                    <a:pt x="2602739" y="1885553"/>
                  </a:lnTo>
                  <a:lnTo>
                    <a:pt x="2606585" y="1892797"/>
                  </a:lnTo>
                  <a:lnTo>
                    <a:pt x="2609850" y="1899547"/>
                  </a:lnTo>
                  <a:lnTo>
                    <a:pt x="2610304" y="1897617"/>
                  </a:lnTo>
                  <a:lnTo>
                    <a:pt x="2613025" y="1888313"/>
                  </a:lnTo>
                  <a:lnTo>
                    <a:pt x="2616427" y="1877648"/>
                  </a:lnTo>
                  <a:lnTo>
                    <a:pt x="2620282" y="1866757"/>
                  </a:lnTo>
                  <a:lnTo>
                    <a:pt x="2623457" y="1856092"/>
                  </a:lnTo>
                  <a:lnTo>
                    <a:pt x="2624818" y="1851100"/>
                  </a:lnTo>
                  <a:lnTo>
                    <a:pt x="2626179" y="1846334"/>
                  </a:lnTo>
                  <a:lnTo>
                    <a:pt x="2627086" y="1842023"/>
                  </a:lnTo>
                  <a:lnTo>
                    <a:pt x="2627539" y="1837939"/>
                  </a:lnTo>
                  <a:lnTo>
                    <a:pt x="2627993" y="1833854"/>
                  </a:lnTo>
                  <a:lnTo>
                    <a:pt x="2627993" y="1828635"/>
                  </a:lnTo>
                  <a:lnTo>
                    <a:pt x="2627539" y="1822282"/>
                  </a:lnTo>
                  <a:lnTo>
                    <a:pt x="2627086" y="1815474"/>
                  </a:lnTo>
                  <a:lnTo>
                    <a:pt x="2626449" y="1806813"/>
                  </a:lnTo>
                  <a:lnTo>
                    <a:pt x="2619482" y="1804737"/>
                  </a:lnTo>
                  <a:lnTo>
                    <a:pt x="2608848" y="1802020"/>
                  </a:lnTo>
                  <a:lnTo>
                    <a:pt x="2598440" y="1799304"/>
                  </a:lnTo>
                  <a:lnTo>
                    <a:pt x="2588485" y="1796814"/>
                  </a:lnTo>
                  <a:lnTo>
                    <a:pt x="2578756" y="1794550"/>
                  </a:lnTo>
                  <a:lnTo>
                    <a:pt x="2561334" y="1791154"/>
                  </a:lnTo>
                  <a:lnTo>
                    <a:pt x="2547080" y="1788664"/>
                  </a:lnTo>
                  <a:lnTo>
                    <a:pt x="2537351" y="1787079"/>
                  </a:lnTo>
                  <a:lnTo>
                    <a:pt x="2533505" y="1786853"/>
                  </a:lnTo>
                  <a:lnTo>
                    <a:pt x="2530790" y="1786853"/>
                  </a:lnTo>
                  <a:lnTo>
                    <a:pt x="2528301" y="1786853"/>
                  </a:lnTo>
                  <a:close/>
                  <a:moveTo>
                    <a:pt x="3577420" y="1765942"/>
                  </a:moveTo>
                  <a:lnTo>
                    <a:pt x="3577420" y="1850996"/>
                  </a:lnTo>
                  <a:lnTo>
                    <a:pt x="3622513" y="1808583"/>
                  </a:lnTo>
                  <a:lnTo>
                    <a:pt x="3622513" y="1765942"/>
                  </a:lnTo>
                  <a:lnTo>
                    <a:pt x="3577420" y="1765942"/>
                  </a:lnTo>
                  <a:close/>
                  <a:moveTo>
                    <a:pt x="2758391" y="1666549"/>
                  </a:moveTo>
                  <a:lnTo>
                    <a:pt x="2757714" y="1671384"/>
                  </a:lnTo>
                  <a:lnTo>
                    <a:pt x="2756807" y="1681595"/>
                  </a:lnTo>
                  <a:lnTo>
                    <a:pt x="2756127" y="1689764"/>
                  </a:lnTo>
                  <a:lnTo>
                    <a:pt x="2755673" y="1700883"/>
                  </a:lnTo>
                  <a:lnTo>
                    <a:pt x="2755446" y="1705421"/>
                  </a:lnTo>
                  <a:lnTo>
                    <a:pt x="2754766" y="1709505"/>
                  </a:lnTo>
                  <a:lnTo>
                    <a:pt x="2754312" y="1712682"/>
                  </a:lnTo>
                  <a:lnTo>
                    <a:pt x="2753632" y="1715178"/>
                  </a:lnTo>
                  <a:lnTo>
                    <a:pt x="2752725" y="1717447"/>
                  </a:lnTo>
                  <a:lnTo>
                    <a:pt x="2751364" y="1719036"/>
                  </a:lnTo>
                  <a:lnTo>
                    <a:pt x="2749777" y="1720170"/>
                  </a:lnTo>
                  <a:lnTo>
                    <a:pt x="2747962" y="1721078"/>
                  </a:lnTo>
                  <a:lnTo>
                    <a:pt x="2745695" y="1721532"/>
                  </a:lnTo>
                  <a:lnTo>
                    <a:pt x="2743200" y="1721532"/>
                  </a:lnTo>
                  <a:lnTo>
                    <a:pt x="2740025" y="1721532"/>
                  </a:lnTo>
                  <a:lnTo>
                    <a:pt x="2736170" y="1721305"/>
                  </a:lnTo>
                  <a:lnTo>
                    <a:pt x="2727325" y="1720397"/>
                  </a:lnTo>
                  <a:lnTo>
                    <a:pt x="2723016" y="1720170"/>
                  </a:lnTo>
                  <a:lnTo>
                    <a:pt x="2721429" y="1720397"/>
                  </a:lnTo>
                  <a:lnTo>
                    <a:pt x="2719614" y="1720624"/>
                  </a:lnTo>
                  <a:lnTo>
                    <a:pt x="2718480" y="1721078"/>
                  </a:lnTo>
                  <a:lnTo>
                    <a:pt x="2716893" y="1721759"/>
                  </a:lnTo>
                  <a:lnTo>
                    <a:pt x="2715986" y="1722893"/>
                  </a:lnTo>
                  <a:lnTo>
                    <a:pt x="2714852" y="1724028"/>
                  </a:lnTo>
                  <a:lnTo>
                    <a:pt x="2714171" y="1725616"/>
                  </a:lnTo>
                  <a:lnTo>
                    <a:pt x="2713718" y="1727432"/>
                  </a:lnTo>
                  <a:lnTo>
                    <a:pt x="2713264" y="1729474"/>
                  </a:lnTo>
                  <a:lnTo>
                    <a:pt x="2712584" y="1732197"/>
                  </a:lnTo>
                  <a:lnTo>
                    <a:pt x="2712584" y="1735147"/>
                  </a:lnTo>
                  <a:lnTo>
                    <a:pt x="2712357" y="1738550"/>
                  </a:lnTo>
                  <a:lnTo>
                    <a:pt x="2713038" y="1746719"/>
                  </a:lnTo>
                  <a:lnTo>
                    <a:pt x="2713491" y="1752619"/>
                  </a:lnTo>
                  <a:lnTo>
                    <a:pt x="2714398" y="1761242"/>
                  </a:lnTo>
                  <a:lnTo>
                    <a:pt x="2717800" y="1785522"/>
                  </a:lnTo>
                  <a:lnTo>
                    <a:pt x="2721847" y="1810371"/>
                  </a:lnTo>
                  <a:lnTo>
                    <a:pt x="2724239" y="1811528"/>
                  </a:lnTo>
                  <a:lnTo>
                    <a:pt x="2737361" y="1818319"/>
                  </a:lnTo>
                  <a:lnTo>
                    <a:pt x="2750032" y="1825110"/>
                  </a:lnTo>
                  <a:lnTo>
                    <a:pt x="2761797" y="1832128"/>
                  </a:lnTo>
                  <a:lnTo>
                    <a:pt x="2773110" y="1838919"/>
                  </a:lnTo>
                  <a:lnTo>
                    <a:pt x="2783518" y="1845258"/>
                  </a:lnTo>
                  <a:lnTo>
                    <a:pt x="2801166" y="1856803"/>
                  </a:lnTo>
                  <a:lnTo>
                    <a:pt x="2822434" y="1871291"/>
                  </a:lnTo>
                  <a:lnTo>
                    <a:pt x="2823191" y="1871781"/>
                  </a:lnTo>
                  <a:lnTo>
                    <a:pt x="2823497" y="1868261"/>
                  </a:lnTo>
                  <a:lnTo>
                    <a:pt x="2823724" y="1863499"/>
                  </a:lnTo>
                  <a:lnTo>
                    <a:pt x="2823951" y="1858963"/>
                  </a:lnTo>
                  <a:lnTo>
                    <a:pt x="2823951" y="1854881"/>
                  </a:lnTo>
                  <a:lnTo>
                    <a:pt x="2823497" y="1850799"/>
                  </a:lnTo>
                  <a:lnTo>
                    <a:pt x="2822589" y="1845583"/>
                  </a:lnTo>
                  <a:lnTo>
                    <a:pt x="2821000" y="1839686"/>
                  </a:lnTo>
                  <a:lnTo>
                    <a:pt x="2819638" y="1832883"/>
                  </a:lnTo>
                  <a:lnTo>
                    <a:pt x="2815553" y="1817915"/>
                  </a:lnTo>
                  <a:lnTo>
                    <a:pt x="2811240" y="1802493"/>
                  </a:lnTo>
                  <a:lnTo>
                    <a:pt x="2802388" y="1773918"/>
                  </a:lnTo>
                  <a:lnTo>
                    <a:pt x="2799438" y="1763486"/>
                  </a:lnTo>
                  <a:lnTo>
                    <a:pt x="2798076" y="1757817"/>
                  </a:lnTo>
                  <a:lnTo>
                    <a:pt x="2796941" y="1752147"/>
                  </a:lnTo>
                  <a:lnTo>
                    <a:pt x="2796487" y="1749426"/>
                  </a:lnTo>
                  <a:lnTo>
                    <a:pt x="2796033" y="1747158"/>
                  </a:lnTo>
                  <a:lnTo>
                    <a:pt x="2795125" y="1745343"/>
                  </a:lnTo>
                  <a:lnTo>
                    <a:pt x="2794444" y="1744436"/>
                  </a:lnTo>
                  <a:lnTo>
                    <a:pt x="2793763" y="1743756"/>
                  </a:lnTo>
                  <a:lnTo>
                    <a:pt x="2793082" y="1743076"/>
                  </a:lnTo>
                  <a:lnTo>
                    <a:pt x="2791948" y="1742622"/>
                  </a:lnTo>
                  <a:lnTo>
                    <a:pt x="2790813" y="1742168"/>
                  </a:lnTo>
                  <a:lnTo>
                    <a:pt x="2789678" y="1741942"/>
                  </a:lnTo>
                  <a:lnTo>
                    <a:pt x="2788770" y="1741715"/>
                  </a:lnTo>
                  <a:lnTo>
                    <a:pt x="2787862" y="1740808"/>
                  </a:lnTo>
                  <a:lnTo>
                    <a:pt x="2786727" y="1739674"/>
                  </a:lnTo>
                  <a:lnTo>
                    <a:pt x="2785819" y="1738086"/>
                  </a:lnTo>
                  <a:lnTo>
                    <a:pt x="2783549" y="1734231"/>
                  </a:lnTo>
                  <a:lnTo>
                    <a:pt x="2781053" y="1729015"/>
                  </a:lnTo>
                  <a:lnTo>
                    <a:pt x="2778329" y="1723118"/>
                  </a:lnTo>
                  <a:lnTo>
                    <a:pt x="2775378" y="1716315"/>
                  </a:lnTo>
                  <a:lnTo>
                    <a:pt x="2769704" y="1700893"/>
                  </a:lnTo>
                  <a:lnTo>
                    <a:pt x="2764257" y="1685018"/>
                  </a:lnTo>
                  <a:lnTo>
                    <a:pt x="2759263" y="1669597"/>
                  </a:lnTo>
                  <a:lnTo>
                    <a:pt x="2758391" y="1666549"/>
                  </a:lnTo>
                  <a:close/>
                  <a:moveTo>
                    <a:pt x="1839474" y="1648604"/>
                  </a:moveTo>
                  <a:lnTo>
                    <a:pt x="1837888" y="1850604"/>
                  </a:lnTo>
                  <a:lnTo>
                    <a:pt x="1871011" y="1853779"/>
                  </a:lnTo>
                  <a:lnTo>
                    <a:pt x="1899144" y="1856273"/>
                  </a:lnTo>
                  <a:lnTo>
                    <a:pt x="1922966" y="1858314"/>
                  </a:lnTo>
                  <a:lnTo>
                    <a:pt x="1931814" y="1859221"/>
                  </a:lnTo>
                  <a:lnTo>
                    <a:pt x="1942250" y="1860809"/>
                  </a:lnTo>
                  <a:lnTo>
                    <a:pt x="1955311" y="1862576"/>
                  </a:lnTo>
                  <a:lnTo>
                    <a:pt x="1941771" y="1860557"/>
                  </a:lnTo>
                  <a:lnTo>
                    <a:pt x="1931827" y="1859199"/>
                  </a:lnTo>
                  <a:lnTo>
                    <a:pt x="1923239" y="1858294"/>
                  </a:lnTo>
                  <a:lnTo>
                    <a:pt x="1899508" y="1856257"/>
                  </a:lnTo>
                  <a:lnTo>
                    <a:pt x="1871483" y="1853767"/>
                  </a:lnTo>
                  <a:lnTo>
                    <a:pt x="1838486" y="1850599"/>
                  </a:lnTo>
                  <a:lnTo>
                    <a:pt x="1840068" y="1648721"/>
                  </a:lnTo>
                  <a:lnTo>
                    <a:pt x="1839474" y="1648604"/>
                  </a:lnTo>
                  <a:close/>
                  <a:moveTo>
                    <a:pt x="2063841" y="1455563"/>
                  </a:moveTo>
                  <a:lnTo>
                    <a:pt x="2062721" y="1458761"/>
                  </a:lnTo>
                  <a:lnTo>
                    <a:pt x="2057276" y="1473501"/>
                  </a:lnTo>
                  <a:lnTo>
                    <a:pt x="2054100" y="1480984"/>
                  </a:lnTo>
                  <a:lnTo>
                    <a:pt x="2051150" y="1487787"/>
                  </a:lnTo>
                  <a:lnTo>
                    <a:pt x="2047974" y="1494590"/>
                  </a:lnTo>
                  <a:lnTo>
                    <a:pt x="2044571" y="1500485"/>
                  </a:lnTo>
                  <a:lnTo>
                    <a:pt x="2041395" y="1505701"/>
                  </a:lnTo>
                  <a:lnTo>
                    <a:pt x="2038218" y="1510236"/>
                  </a:lnTo>
                  <a:lnTo>
                    <a:pt x="2035269" y="1514091"/>
                  </a:lnTo>
                  <a:lnTo>
                    <a:pt x="2032093" y="1518399"/>
                  </a:lnTo>
                  <a:lnTo>
                    <a:pt x="2025967" y="1526563"/>
                  </a:lnTo>
                  <a:lnTo>
                    <a:pt x="2022791" y="1530418"/>
                  </a:lnTo>
                  <a:lnTo>
                    <a:pt x="2019388" y="1534500"/>
                  </a:lnTo>
                  <a:lnTo>
                    <a:pt x="2015531" y="1537901"/>
                  </a:lnTo>
                  <a:lnTo>
                    <a:pt x="2011674" y="1541302"/>
                  </a:lnTo>
                  <a:lnTo>
                    <a:pt x="2007136" y="1544477"/>
                  </a:lnTo>
                  <a:lnTo>
                    <a:pt x="2004868" y="1545611"/>
                  </a:lnTo>
                  <a:lnTo>
                    <a:pt x="2002599" y="1546745"/>
                  </a:lnTo>
                  <a:lnTo>
                    <a:pt x="1999650" y="1548105"/>
                  </a:lnTo>
                  <a:lnTo>
                    <a:pt x="1996927" y="1549012"/>
                  </a:lnTo>
                  <a:lnTo>
                    <a:pt x="1994204" y="1549919"/>
                  </a:lnTo>
                  <a:lnTo>
                    <a:pt x="1991255" y="1550600"/>
                  </a:lnTo>
                  <a:lnTo>
                    <a:pt x="1988079" y="1551053"/>
                  </a:lnTo>
                  <a:lnTo>
                    <a:pt x="1984676" y="1551280"/>
                  </a:lnTo>
                  <a:lnTo>
                    <a:pt x="1981046" y="1551507"/>
                  </a:lnTo>
                  <a:lnTo>
                    <a:pt x="1977416" y="1551507"/>
                  </a:lnTo>
                  <a:lnTo>
                    <a:pt x="1973786" y="1551507"/>
                  </a:lnTo>
                  <a:lnTo>
                    <a:pt x="1969475" y="1551053"/>
                  </a:lnTo>
                  <a:lnTo>
                    <a:pt x="1965391" y="1550600"/>
                  </a:lnTo>
                  <a:lnTo>
                    <a:pt x="1960854" y="1549919"/>
                  </a:lnTo>
                  <a:lnTo>
                    <a:pt x="1924100" y="1543116"/>
                  </a:lnTo>
                  <a:lnTo>
                    <a:pt x="1891203" y="1537447"/>
                  </a:lnTo>
                  <a:lnTo>
                    <a:pt x="1858533" y="1532232"/>
                  </a:lnTo>
                  <a:lnTo>
                    <a:pt x="1857399" y="1533139"/>
                  </a:lnTo>
                  <a:lnTo>
                    <a:pt x="1855811" y="1534046"/>
                  </a:lnTo>
                  <a:lnTo>
                    <a:pt x="1853996" y="1535180"/>
                  </a:lnTo>
                  <a:lnTo>
                    <a:pt x="1850819" y="1535860"/>
                  </a:lnTo>
                  <a:lnTo>
                    <a:pt x="1847189" y="1536767"/>
                  </a:lnTo>
                  <a:lnTo>
                    <a:pt x="1842879" y="1536994"/>
                  </a:lnTo>
                  <a:lnTo>
                    <a:pt x="1840610" y="1536994"/>
                  </a:lnTo>
                  <a:lnTo>
                    <a:pt x="1837888" y="1536767"/>
                  </a:lnTo>
                  <a:lnTo>
                    <a:pt x="1828359" y="1535180"/>
                  </a:lnTo>
                  <a:lnTo>
                    <a:pt x="1822687" y="1534046"/>
                  </a:lnTo>
                  <a:lnTo>
                    <a:pt x="1819737" y="1533139"/>
                  </a:lnTo>
                  <a:lnTo>
                    <a:pt x="1818603" y="1532685"/>
                  </a:lnTo>
                  <a:lnTo>
                    <a:pt x="1818603" y="1644252"/>
                  </a:lnTo>
                  <a:lnTo>
                    <a:pt x="1819275" y="1644383"/>
                  </a:lnTo>
                  <a:lnTo>
                    <a:pt x="1819275" y="1533297"/>
                  </a:lnTo>
                  <a:lnTo>
                    <a:pt x="1820405" y="1533750"/>
                  </a:lnTo>
                  <a:lnTo>
                    <a:pt x="1823343" y="1534655"/>
                  </a:lnTo>
                  <a:lnTo>
                    <a:pt x="1828993" y="1535787"/>
                  </a:lnTo>
                  <a:lnTo>
                    <a:pt x="1838486" y="1537371"/>
                  </a:lnTo>
                  <a:lnTo>
                    <a:pt x="1841198" y="1537597"/>
                  </a:lnTo>
                  <a:lnTo>
                    <a:pt x="1843458" y="1537597"/>
                  </a:lnTo>
                  <a:lnTo>
                    <a:pt x="1847752" y="1537371"/>
                  </a:lnTo>
                  <a:lnTo>
                    <a:pt x="1851368" y="1536466"/>
                  </a:lnTo>
                  <a:lnTo>
                    <a:pt x="1854532" y="1535787"/>
                  </a:lnTo>
                  <a:lnTo>
                    <a:pt x="1856340" y="1534655"/>
                  </a:lnTo>
                  <a:lnTo>
                    <a:pt x="1857922" y="1533750"/>
                  </a:lnTo>
                  <a:lnTo>
                    <a:pt x="1859052" y="1532845"/>
                  </a:lnTo>
                  <a:lnTo>
                    <a:pt x="1891597" y="1538050"/>
                  </a:lnTo>
                  <a:lnTo>
                    <a:pt x="1924369" y="1543708"/>
                  </a:lnTo>
                  <a:lnTo>
                    <a:pt x="1960982" y="1550498"/>
                  </a:lnTo>
                  <a:lnTo>
                    <a:pt x="1965502" y="1551177"/>
                  </a:lnTo>
                  <a:lnTo>
                    <a:pt x="1969570" y="1551629"/>
                  </a:lnTo>
                  <a:lnTo>
                    <a:pt x="1973864" y="1552082"/>
                  </a:lnTo>
                  <a:lnTo>
                    <a:pt x="1977480" y="1552082"/>
                  </a:lnTo>
                  <a:lnTo>
                    <a:pt x="1981097" y="1552082"/>
                  </a:lnTo>
                  <a:lnTo>
                    <a:pt x="1984713" y="1551856"/>
                  </a:lnTo>
                  <a:lnTo>
                    <a:pt x="1988103" y="1551629"/>
                  </a:lnTo>
                  <a:lnTo>
                    <a:pt x="1991267" y="1551177"/>
                  </a:lnTo>
                  <a:lnTo>
                    <a:pt x="1994205" y="1550498"/>
                  </a:lnTo>
                  <a:lnTo>
                    <a:pt x="1996917" y="1549592"/>
                  </a:lnTo>
                  <a:lnTo>
                    <a:pt x="1999629" y="1548687"/>
                  </a:lnTo>
                  <a:lnTo>
                    <a:pt x="2002567" y="1547329"/>
                  </a:lnTo>
                  <a:lnTo>
                    <a:pt x="2004827" y="1546198"/>
                  </a:lnTo>
                  <a:lnTo>
                    <a:pt x="2007087" y="1545066"/>
                  </a:lnTo>
                  <a:lnTo>
                    <a:pt x="2011608" y="1541897"/>
                  </a:lnTo>
                  <a:lnTo>
                    <a:pt x="2015450" y="1538503"/>
                  </a:lnTo>
                  <a:lnTo>
                    <a:pt x="2019292" y="1535108"/>
                  </a:lnTo>
                  <a:lnTo>
                    <a:pt x="2022682" y="1531034"/>
                  </a:lnTo>
                  <a:lnTo>
                    <a:pt x="2025846" y="1527187"/>
                  </a:lnTo>
                  <a:lnTo>
                    <a:pt x="2031948" y="1519039"/>
                  </a:lnTo>
                  <a:lnTo>
                    <a:pt x="2035112" y="1514739"/>
                  </a:lnTo>
                  <a:lnTo>
                    <a:pt x="2038050" y="1510892"/>
                  </a:lnTo>
                  <a:lnTo>
                    <a:pt x="2041215" y="1506365"/>
                  </a:lnTo>
                  <a:lnTo>
                    <a:pt x="2044379" y="1501160"/>
                  </a:lnTo>
                  <a:lnTo>
                    <a:pt x="2047769" y="1495275"/>
                  </a:lnTo>
                  <a:lnTo>
                    <a:pt x="2050933" y="1488486"/>
                  </a:lnTo>
                  <a:lnTo>
                    <a:pt x="2053871" y="1481696"/>
                  </a:lnTo>
                  <a:lnTo>
                    <a:pt x="2057035" y="1474228"/>
                  </a:lnTo>
                  <a:lnTo>
                    <a:pt x="2062459" y="1459517"/>
                  </a:lnTo>
                  <a:lnTo>
                    <a:pt x="2063841" y="1455563"/>
                  </a:lnTo>
                  <a:close/>
                  <a:moveTo>
                    <a:pt x="886028" y="1447652"/>
                  </a:moveTo>
                  <a:lnTo>
                    <a:pt x="662308" y="1505476"/>
                  </a:lnTo>
                  <a:lnTo>
                    <a:pt x="716537" y="1515227"/>
                  </a:lnTo>
                  <a:lnTo>
                    <a:pt x="760100" y="1523164"/>
                  </a:lnTo>
                  <a:lnTo>
                    <a:pt x="778706" y="1527019"/>
                  </a:lnTo>
                  <a:lnTo>
                    <a:pt x="792093" y="1529740"/>
                  </a:lnTo>
                  <a:lnTo>
                    <a:pt x="797311" y="1530647"/>
                  </a:lnTo>
                  <a:lnTo>
                    <a:pt x="802530" y="1531327"/>
                  </a:lnTo>
                  <a:lnTo>
                    <a:pt x="807749" y="1532008"/>
                  </a:lnTo>
                  <a:lnTo>
                    <a:pt x="812740" y="1532234"/>
                  </a:lnTo>
                  <a:lnTo>
                    <a:pt x="817732" y="1532234"/>
                  </a:lnTo>
                  <a:lnTo>
                    <a:pt x="822497" y="1532008"/>
                  </a:lnTo>
                  <a:lnTo>
                    <a:pt x="827262" y="1531327"/>
                  </a:lnTo>
                  <a:lnTo>
                    <a:pt x="831800" y="1530420"/>
                  </a:lnTo>
                  <a:lnTo>
                    <a:pt x="836111" y="1529513"/>
                  </a:lnTo>
                  <a:lnTo>
                    <a:pt x="840195" y="1527926"/>
                  </a:lnTo>
                  <a:lnTo>
                    <a:pt x="843825" y="1526565"/>
                  </a:lnTo>
                  <a:lnTo>
                    <a:pt x="847682" y="1524525"/>
                  </a:lnTo>
                  <a:lnTo>
                    <a:pt x="850632" y="1522030"/>
                  </a:lnTo>
                  <a:lnTo>
                    <a:pt x="853582" y="1519536"/>
                  </a:lnTo>
                  <a:lnTo>
                    <a:pt x="856077" y="1516588"/>
                  </a:lnTo>
                  <a:lnTo>
                    <a:pt x="857893" y="1513640"/>
                  </a:lnTo>
                  <a:lnTo>
                    <a:pt x="862204" y="1505476"/>
                  </a:lnTo>
                  <a:lnTo>
                    <a:pt x="866741" y="1495499"/>
                  </a:lnTo>
                  <a:lnTo>
                    <a:pt x="871279" y="1484841"/>
                  </a:lnTo>
                  <a:lnTo>
                    <a:pt x="875817" y="1473730"/>
                  </a:lnTo>
                  <a:lnTo>
                    <a:pt x="883078" y="1455362"/>
                  </a:lnTo>
                  <a:lnTo>
                    <a:pt x="886028" y="1447652"/>
                  </a:lnTo>
                  <a:close/>
                  <a:moveTo>
                    <a:pt x="2040260" y="1434271"/>
                  </a:moveTo>
                  <a:lnTo>
                    <a:pt x="1828359" y="1489374"/>
                  </a:lnTo>
                  <a:lnTo>
                    <a:pt x="1879859" y="1498445"/>
                  </a:lnTo>
                  <a:lnTo>
                    <a:pt x="1920924" y="1506154"/>
                  </a:lnTo>
                  <a:lnTo>
                    <a:pt x="1938393" y="1509329"/>
                  </a:lnTo>
                  <a:lnTo>
                    <a:pt x="1951325" y="1512050"/>
                  </a:lnTo>
                  <a:lnTo>
                    <a:pt x="1956316" y="1513184"/>
                  </a:lnTo>
                  <a:lnTo>
                    <a:pt x="1961081" y="1513638"/>
                  </a:lnTo>
                  <a:lnTo>
                    <a:pt x="1966072" y="1514091"/>
                  </a:lnTo>
                  <a:lnTo>
                    <a:pt x="1971063" y="1514318"/>
                  </a:lnTo>
                  <a:lnTo>
                    <a:pt x="1975601" y="1514318"/>
                  </a:lnTo>
                  <a:lnTo>
                    <a:pt x="1980138" y="1514091"/>
                  </a:lnTo>
                  <a:lnTo>
                    <a:pt x="1984676" y="1513638"/>
                  </a:lnTo>
                  <a:lnTo>
                    <a:pt x="1988760" y="1512957"/>
                  </a:lnTo>
                  <a:lnTo>
                    <a:pt x="1993070" y="1511823"/>
                  </a:lnTo>
                  <a:lnTo>
                    <a:pt x="1996700" y="1510690"/>
                  </a:lnTo>
                  <a:lnTo>
                    <a:pt x="2000557" y="1508876"/>
                  </a:lnTo>
                  <a:lnTo>
                    <a:pt x="2003733" y="1507061"/>
                  </a:lnTo>
                  <a:lnTo>
                    <a:pt x="2006683" y="1505021"/>
                  </a:lnTo>
                  <a:lnTo>
                    <a:pt x="2009405" y="1502526"/>
                  </a:lnTo>
                  <a:lnTo>
                    <a:pt x="2011901" y="1499805"/>
                  </a:lnTo>
                  <a:lnTo>
                    <a:pt x="2013943" y="1496857"/>
                  </a:lnTo>
                  <a:lnTo>
                    <a:pt x="2017573" y="1489374"/>
                  </a:lnTo>
                  <a:lnTo>
                    <a:pt x="2021883" y="1479850"/>
                  </a:lnTo>
                  <a:lnTo>
                    <a:pt x="2026194" y="1469419"/>
                  </a:lnTo>
                  <a:lnTo>
                    <a:pt x="2030505" y="1458988"/>
                  </a:lnTo>
                  <a:lnTo>
                    <a:pt x="2037538" y="1441754"/>
                  </a:lnTo>
                  <a:lnTo>
                    <a:pt x="2040260" y="1434271"/>
                  </a:lnTo>
                  <a:close/>
                  <a:moveTo>
                    <a:pt x="2534153" y="1431724"/>
                  </a:moveTo>
                  <a:lnTo>
                    <a:pt x="2534029" y="1431900"/>
                  </a:lnTo>
                  <a:lnTo>
                    <a:pt x="2532660" y="1434172"/>
                  </a:lnTo>
                  <a:lnTo>
                    <a:pt x="2530834" y="1435990"/>
                  </a:lnTo>
                  <a:lnTo>
                    <a:pt x="2528781" y="1437808"/>
                  </a:lnTo>
                  <a:lnTo>
                    <a:pt x="2526955" y="1439626"/>
                  </a:lnTo>
                  <a:lnTo>
                    <a:pt x="2524674" y="1440989"/>
                  </a:lnTo>
                  <a:lnTo>
                    <a:pt x="2522164" y="1442126"/>
                  </a:lnTo>
                  <a:lnTo>
                    <a:pt x="2519654" y="1443035"/>
                  </a:lnTo>
                  <a:lnTo>
                    <a:pt x="2517144" y="1443716"/>
                  </a:lnTo>
                  <a:lnTo>
                    <a:pt x="2514406" y="1444398"/>
                  </a:lnTo>
                  <a:lnTo>
                    <a:pt x="2511668" y="1444625"/>
                  </a:lnTo>
                  <a:lnTo>
                    <a:pt x="2508930" y="1444625"/>
                  </a:lnTo>
                  <a:lnTo>
                    <a:pt x="2506192" y="1443944"/>
                  </a:lnTo>
                  <a:lnTo>
                    <a:pt x="2473956" y="1438409"/>
                  </a:lnTo>
                  <a:lnTo>
                    <a:pt x="2472416" y="1565911"/>
                  </a:lnTo>
                  <a:lnTo>
                    <a:pt x="2483955" y="1565911"/>
                  </a:lnTo>
                  <a:lnTo>
                    <a:pt x="2482824" y="1738861"/>
                  </a:lnTo>
                  <a:lnTo>
                    <a:pt x="2483050" y="1742483"/>
                  </a:lnTo>
                  <a:lnTo>
                    <a:pt x="2483276" y="1745426"/>
                  </a:lnTo>
                  <a:lnTo>
                    <a:pt x="2483502" y="1747690"/>
                  </a:lnTo>
                  <a:lnTo>
                    <a:pt x="2483955" y="1749275"/>
                  </a:lnTo>
                  <a:lnTo>
                    <a:pt x="2484634" y="1750633"/>
                  </a:lnTo>
                  <a:lnTo>
                    <a:pt x="2484860" y="1750859"/>
                  </a:lnTo>
                  <a:lnTo>
                    <a:pt x="2491421" y="1751765"/>
                  </a:lnTo>
                  <a:lnTo>
                    <a:pt x="2509295" y="1753802"/>
                  </a:lnTo>
                  <a:lnTo>
                    <a:pt x="2516988" y="1754934"/>
                  </a:lnTo>
                  <a:lnTo>
                    <a:pt x="2527848" y="1756292"/>
                  </a:lnTo>
                  <a:lnTo>
                    <a:pt x="2541876" y="1758782"/>
                  </a:lnTo>
                  <a:lnTo>
                    <a:pt x="2559072" y="1761725"/>
                  </a:lnTo>
                  <a:lnTo>
                    <a:pt x="2578982" y="1765800"/>
                  </a:lnTo>
                  <a:lnTo>
                    <a:pt x="2601834" y="1770780"/>
                  </a:lnTo>
                  <a:lnTo>
                    <a:pt x="2623204" y="1775834"/>
                  </a:lnTo>
                  <a:lnTo>
                    <a:pt x="2620736" y="1754434"/>
                  </a:lnTo>
                  <a:lnTo>
                    <a:pt x="2619375" y="1743769"/>
                  </a:lnTo>
                  <a:lnTo>
                    <a:pt x="2618921" y="1737643"/>
                  </a:lnTo>
                  <a:lnTo>
                    <a:pt x="2618921" y="1731743"/>
                  </a:lnTo>
                  <a:lnTo>
                    <a:pt x="2618921" y="1729247"/>
                  </a:lnTo>
                  <a:lnTo>
                    <a:pt x="2618921" y="1726751"/>
                  </a:lnTo>
                  <a:lnTo>
                    <a:pt x="2618468" y="1724709"/>
                  </a:lnTo>
                  <a:lnTo>
                    <a:pt x="2618014" y="1724028"/>
                  </a:lnTo>
                  <a:lnTo>
                    <a:pt x="2617561" y="1723120"/>
                  </a:lnTo>
                  <a:lnTo>
                    <a:pt x="2616654" y="1722440"/>
                  </a:lnTo>
                  <a:lnTo>
                    <a:pt x="2615746" y="1721532"/>
                  </a:lnTo>
                  <a:lnTo>
                    <a:pt x="2614839" y="1721078"/>
                  </a:lnTo>
                  <a:lnTo>
                    <a:pt x="2613479" y="1720624"/>
                  </a:lnTo>
                  <a:lnTo>
                    <a:pt x="2612798" y="1720170"/>
                  </a:lnTo>
                  <a:lnTo>
                    <a:pt x="2612118" y="1719036"/>
                  </a:lnTo>
                  <a:lnTo>
                    <a:pt x="2611211" y="1717901"/>
                  </a:lnTo>
                  <a:lnTo>
                    <a:pt x="2610530" y="1716086"/>
                  </a:lnTo>
                  <a:lnTo>
                    <a:pt x="2608716" y="1712002"/>
                  </a:lnTo>
                  <a:lnTo>
                    <a:pt x="2607355" y="1706556"/>
                  </a:lnTo>
                  <a:lnTo>
                    <a:pt x="2605541" y="1699975"/>
                  </a:lnTo>
                  <a:lnTo>
                    <a:pt x="2604180" y="1692714"/>
                  </a:lnTo>
                  <a:lnTo>
                    <a:pt x="2601005" y="1676830"/>
                  </a:lnTo>
                  <a:lnTo>
                    <a:pt x="2598284" y="1660038"/>
                  </a:lnTo>
                  <a:lnTo>
                    <a:pt x="2596243" y="1644154"/>
                  </a:lnTo>
                  <a:lnTo>
                    <a:pt x="2594655" y="1630766"/>
                  </a:lnTo>
                  <a:lnTo>
                    <a:pt x="2594429" y="1625547"/>
                  </a:lnTo>
                  <a:lnTo>
                    <a:pt x="2594202" y="1621236"/>
                  </a:lnTo>
                  <a:lnTo>
                    <a:pt x="2593975" y="1608756"/>
                  </a:lnTo>
                  <a:lnTo>
                    <a:pt x="2593748" y="1603310"/>
                  </a:lnTo>
                  <a:lnTo>
                    <a:pt x="2593068" y="1598545"/>
                  </a:lnTo>
                  <a:lnTo>
                    <a:pt x="2592614" y="1594233"/>
                  </a:lnTo>
                  <a:lnTo>
                    <a:pt x="2591707" y="1590830"/>
                  </a:lnTo>
                  <a:lnTo>
                    <a:pt x="2590120" y="1587880"/>
                  </a:lnTo>
                  <a:lnTo>
                    <a:pt x="2589439" y="1586745"/>
                  </a:lnTo>
                  <a:lnTo>
                    <a:pt x="2588759" y="1585611"/>
                  </a:lnTo>
                  <a:lnTo>
                    <a:pt x="2588305" y="1584930"/>
                  </a:lnTo>
                  <a:lnTo>
                    <a:pt x="2587398" y="1583115"/>
                  </a:lnTo>
                  <a:lnTo>
                    <a:pt x="2585584" y="1577896"/>
                  </a:lnTo>
                  <a:lnTo>
                    <a:pt x="2583089" y="1570407"/>
                  </a:lnTo>
                  <a:lnTo>
                    <a:pt x="2580141" y="1560877"/>
                  </a:lnTo>
                  <a:lnTo>
                    <a:pt x="2573338" y="1537505"/>
                  </a:lnTo>
                  <a:lnTo>
                    <a:pt x="2565400" y="1510956"/>
                  </a:lnTo>
                  <a:lnTo>
                    <a:pt x="2557689" y="1484180"/>
                  </a:lnTo>
                  <a:lnTo>
                    <a:pt x="2550432" y="1460354"/>
                  </a:lnTo>
                  <a:lnTo>
                    <a:pt x="2547257" y="1450370"/>
                  </a:lnTo>
                  <a:lnTo>
                    <a:pt x="2544536" y="1442428"/>
                  </a:lnTo>
                  <a:lnTo>
                    <a:pt x="2542268" y="1436982"/>
                  </a:lnTo>
                  <a:lnTo>
                    <a:pt x="2541361" y="1435167"/>
                  </a:lnTo>
                  <a:lnTo>
                    <a:pt x="2540680" y="1434032"/>
                  </a:lnTo>
                  <a:lnTo>
                    <a:pt x="2539093" y="1433352"/>
                  </a:lnTo>
                  <a:lnTo>
                    <a:pt x="2536371" y="1432217"/>
                  </a:lnTo>
                  <a:lnTo>
                    <a:pt x="2534153" y="1431724"/>
                  </a:lnTo>
                  <a:close/>
                  <a:moveTo>
                    <a:pt x="975878" y="1425656"/>
                  </a:moveTo>
                  <a:lnTo>
                    <a:pt x="922104" y="1435407"/>
                  </a:lnTo>
                  <a:lnTo>
                    <a:pt x="918474" y="1446972"/>
                  </a:lnTo>
                  <a:lnTo>
                    <a:pt x="914843" y="1458990"/>
                  </a:lnTo>
                  <a:lnTo>
                    <a:pt x="909625" y="1473503"/>
                  </a:lnTo>
                  <a:lnTo>
                    <a:pt x="903952" y="1488696"/>
                  </a:lnTo>
                  <a:lnTo>
                    <a:pt x="900776" y="1496406"/>
                  </a:lnTo>
                  <a:lnTo>
                    <a:pt x="897372" y="1503889"/>
                  </a:lnTo>
                  <a:lnTo>
                    <a:pt x="894196" y="1511146"/>
                  </a:lnTo>
                  <a:lnTo>
                    <a:pt x="890792" y="1517268"/>
                  </a:lnTo>
                  <a:lnTo>
                    <a:pt x="887162" y="1522937"/>
                  </a:lnTo>
                  <a:lnTo>
                    <a:pt x="885574" y="1525432"/>
                  </a:lnTo>
                  <a:lnTo>
                    <a:pt x="883986" y="1527699"/>
                  </a:lnTo>
                  <a:lnTo>
                    <a:pt x="880582" y="1532008"/>
                  </a:lnTo>
                  <a:lnTo>
                    <a:pt x="877406" y="1536089"/>
                  </a:lnTo>
                  <a:lnTo>
                    <a:pt x="870826" y="1544933"/>
                  </a:lnTo>
                  <a:lnTo>
                    <a:pt x="867422" y="1549015"/>
                  </a:lnTo>
                  <a:lnTo>
                    <a:pt x="864019" y="1553097"/>
                  </a:lnTo>
                  <a:lnTo>
                    <a:pt x="859935" y="1556952"/>
                  </a:lnTo>
                  <a:lnTo>
                    <a:pt x="855850" y="1560353"/>
                  </a:lnTo>
                  <a:lnTo>
                    <a:pt x="853582" y="1562167"/>
                  </a:lnTo>
                  <a:lnTo>
                    <a:pt x="851313" y="1563754"/>
                  </a:lnTo>
                  <a:lnTo>
                    <a:pt x="848817" y="1565115"/>
                  </a:lnTo>
                  <a:lnTo>
                    <a:pt x="846094" y="1566476"/>
                  </a:lnTo>
                  <a:lnTo>
                    <a:pt x="843371" y="1567609"/>
                  </a:lnTo>
                  <a:lnTo>
                    <a:pt x="840422" y="1568743"/>
                  </a:lnTo>
                  <a:lnTo>
                    <a:pt x="837472" y="1569424"/>
                  </a:lnTo>
                  <a:lnTo>
                    <a:pt x="834068" y="1570104"/>
                  </a:lnTo>
                  <a:lnTo>
                    <a:pt x="830892" y="1570784"/>
                  </a:lnTo>
                  <a:lnTo>
                    <a:pt x="827488" y="1571011"/>
                  </a:lnTo>
                  <a:lnTo>
                    <a:pt x="823858" y="1571464"/>
                  </a:lnTo>
                  <a:lnTo>
                    <a:pt x="819774" y="1571464"/>
                  </a:lnTo>
                  <a:lnTo>
                    <a:pt x="815463" y="1571011"/>
                  </a:lnTo>
                  <a:lnTo>
                    <a:pt x="811379" y="1570784"/>
                  </a:lnTo>
                  <a:lnTo>
                    <a:pt x="806841" y="1570331"/>
                  </a:lnTo>
                  <a:lnTo>
                    <a:pt x="802076" y="1569424"/>
                  </a:lnTo>
                  <a:lnTo>
                    <a:pt x="782563" y="1565795"/>
                  </a:lnTo>
                  <a:lnTo>
                    <a:pt x="763277" y="1562394"/>
                  </a:lnTo>
                  <a:lnTo>
                    <a:pt x="728789" y="1556498"/>
                  </a:lnTo>
                  <a:lnTo>
                    <a:pt x="694301" y="1550829"/>
                  </a:lnTo>
                  <a:lnTo>
                    <a:pt x="692939" y="1551736"/>
                  </a:lnTo>
                  <a:lnTo>
                    <a:pt x="691578" y="1552870"/>
                  </a:lnTo>
                  <a:lnTo>
                    <a:pt x="689309" y="1554004"/>
                  </a:lnTo>
                  <a:lnTo>
                    <a:pt x="686132" y="1554911"/>
                  </a:lnTo>
                  <a:lnTo>
                    <a:pt x="682275" y="1555818"/>
                  </a:lnTo>
                  <a:lnTo>
                    <a:pt x="680233" y="1555818"/>
                  </a:lnTo>
                  <a:lnTo>
                    <a:pt x="677737" y="1556045"/>
                  </a:lnTo>
                  <a:lnTo>
                    <a:pt x="675015" y="1555818"/>
                  </a:lnTo>
                  <a:lnTo>
                    <a:pt x="672292" y="1555591"/>
                  </a:lnTo>
                  <a:lnTo>
                    <a:pt x="662308" y="1554004"/>
                  </a:lnTo>
                  <a:lnTo>
                    <a:pt x="656409" y="1552870"/>
                  </a:lnTo>
                  <a:lnTo>
                    <a:pt x="653006" y="1551736"/>
                  </a:lnTo>
                  <a:lnTo>
                    <a:pt x="652325" y="1551509"/>
                  </a:lnTo>
                  <a:lnTo>
                    <a:pt x="652325" y="1669199"/>
                  </a:lnTo>
                  <a:lnTo>
                    <a:pt x="674107" y="1673508"/>
                  </a:lnTo>
                  <a:lnTo>
                    <a:pt x="672292" y="1887118"/>
                  </a:lnTo>
                  <a:lnTo>
                    <a:pt x="707234" y="1890292"/>
                  </a:lnTo>
                  <a:lnTo>
                    <a:pt x="736957" y="1893014"/>
                  </a:lnTo>
                  <a:lnTo>
                    <a:pt x="761916" y="1895281"/>
                  </a:lnTo>
                  <a:lnTo>
                    <a:pt x="772580" y="1896188"/>
                  </a:lnTo>
                  <a:lnTo>
                    <a:pt x="784832" y="1897549"/>
                  </a:lnTo>
                  <a:lnTo>
                    <a:pt x="809791" y="1900950"/>
                  </a:lnTo>
                  <a:lnTo>
                    <a:pt x="829758" y="1903898"/>
                  </a:lnTo>
                  <a:lnTo>
                    <a:pt x="837926" y="1905032"/>
                  </a:lnTo>
                  <a:lnTo>
                    <a:pt x="842690" y="1900497"/>
                  </a:lnTo>
                  <a:lnTo>
                    <a:pt x="847682" y="1895054"/>
                  </a:lnTo>
                  <a:lnTo>
                    <a:pt x="853808" y="1888252"/>
                  </a:lnTo>
                  <a:lnTo>
                    <a:pt x="860388" y="1880542"/>
                  </a:lnTo>
                  <a:lnTo>
                    <a:pt x="867422" y="1872151"/>
                  </a:lnTo>
                  <a:lnTo>
                    <a:pt x="874229" y="1863534"/>
                  </a:lnTo>
                  <a:lnTo>
                    <a:pt x="877179" y="1859226"/>
                  </a:lnTo>
                  <a:lnTo>
                    <a:pt x="880128" y="1855144"/>
                  </a:lnTo>
                  <a:lnTo>
                    <a:pt x="882624" y="1850609"/>
                  </a:lnTo>
                  <a:lnTo>
                    <a:pt x="885347" y="1845393"/>
                  </a:lnTo>
                  <a:lnTo>
                    <a:pt x="888070" y="1839724"/>
                  </a:lnTo>
                  <a:lnTo>
                    <a:pt x="890566" y="1833375"/>
                  </a:lnTo>
                  <a:lnTo>
                    <a:pt x="893061" y="1827026"/>
                  </a:lnTo>
                  <a:lnTo>
                    <a:pt x="895557" y="1819769"/>
                  </a:lnTo>
                  <a:lnTo>
                    <a:pt x="897826" y="1812740"/>
                  </a:lnTo>
                  <a:lnTo>
                    <a:pt x="900095" y="1805257"/>
                  </a:lnTo>
                  <a:lnTo>
                    <a:pt x="902137" y="1797773"/>
                  </a:lnTo>
                  <a:lnTo>
                    <a:pt x="904179" y="1790290"/>
                  </a:lnTo>
                  <a:lnTo>
                    <a:pt x="905541" y="1782807"/>
                  </a:lnTo>
                  <a:lnTo>
                    <a:pt x="907129" y="1775551"/>
                  </a:lnTo>
                  <a:lnTo>
                    <a:pt x="908263" y="1768294"/>
                  </a:lnTo>
                  <a:lnTo>
                    <a:pt x="909171" y="1761491"/>
                  </a:lnTo>
                  <a:lnTo>
                    <a:pt x="909625" y="1755142"/>
                  </a:lnTo>
                  <a:lnTo>
                    <a:pt x="909852" y="1749473"/>
                  </a:lnTo>
                  <a:lnTo>
                    <a:pt x="909625" y="1734507"/>
                  </a:lnTo>
                  <a:lnTo>
                    <a:pt x="909398" y="1714098"/>
                  </a:lnTo>
                  <a:lnTo>
                    <a:pt x="908263" y="1664437"/>
                  </a:lnTo>
                  <a:lnTo>
                    <a:pt x="908036" y="1638359"/>
                  </a:lnTo>
                  <a:lnTo>
                    <a:pt x="908036" y="1614322"/>
                  </a:lnTo>
                  <a:lnTo>
                    <a:pt x="908263" y="1603665"/>
                  </a:lnTo>
                  <a:lnTo>
                    <a:pt x="908490" y="1593914"/>
                  </a:lnTo>
                  <a:lnTo>
                    <a:pt x="909171" y="1585977"/>
                  </a:lnTo>
                  <a:lnTo>
                    <a:pt x="909852" y="1579401"/>
                  </a:lnTo>
                  <a:lnTo>
                    <a:pt x="911894" y="1566702"/>
                  </a:lnTo>
                  <a:lnTo>
                    <a:pt x="914616" y="1551736"/>
                  </a:lnTo>
                  <a:lnTo>
                    <a:pt x="917793" y="1535409"/>
                  </a:lnTo>
                  <a:lnTo>
                    <a:pt x="919835" y="1527019"/>
                  </a:lnTo>
                  <a:lnTo>
                    <a:pt x="922104" y="1518629"/>
                  </a:lnTo>
                  <a:lnTo>
                    <a:pt x="924146" y="1510465"/>
                  </a:lnTo>
                  <a:lnTo>
                    <a:pt x="926869" y="1502075"/>
                  </a:lnTo>
                  <a:lnTo>
                    <a:pt x="929592" y="1494138"/>
                  </a:lnTo>
                  <a:lnTo>
                    <a:pt x="932314" y="1486882"/>
                  </a:lnTo>
                  <a:lnTo>
                    <a:pt x="935718" y="1480079"/>
                  </a:lnTo>
                  <a:lnTo>
                    <a:pt x="938894" y="1473957"/>
                  </a:lnTo>
                  <a:lnTo>
                    <a:pt x="940709" y="1471009"/>
                  </a:lnTo>
                  <a:lnTo>
                    <a:pt x="942298" y="1468287"/>
                  </a:lnTo>
                  <a:lnTo>
                    <a:pt x="944113" y="1466020"/>
                  </a:lnTo>
                  <a:lnTo>
                    <a:pt x="945701" y="1463752"/>
                  </a:lnTo>
                  <a:lnTo>
                    <a:pt x="952962" y="1455816"/>
                  </a:lnTo>
                  <a:lnTo>
                    <a:pt x="958861" y="1448332"/>
                  </a:lnTo>
                  <a:lnTo>
                    <a:pt x="964080" y="1441983"/>
                  </a:lnTo>
                  <a:lnTo>
                    <a:pt x="968391" y="1436541"/>
                  </a:lnTo>
                  <a:lnTo>
                    <a:pt x="973836" y="1428604"/>
                  </a:lnTo>
                  <a:lnTo>
                    <a:pt x="975878" y="1425656"/>
                  </a:lnTo>
                  <a:close/>
                  <a:moveTo>
                    <a:pt x="2083140" y="1421573"/>
                  </a:moveTo>
                  <a:lnTo>
                    <a:pt x="2074518" y="1423160"/>
                  </a:lnTo>
                  <a:lnTo>
                    <a:pt x="2074258" y="1423976"/>
                  </a:lnTo>
                  <a:lnTo>
                    <a:pt x="2082800" y="1422400"/>
                  </a:lnTo>
                  <a:lnTo>
                    <a:pt x="1963044" y="1863623"/>
                  </a:lnTo>
                  <a:lnTo>
                    <a:pt x="1964030" y="1863756"/>
                  </a:lnTo>
                  <a:lnTo>
                    <a:pt x="1964257" y="1861035"/>
                  </a:lnTo>
                  <a:lnTo>
                    <a:pt x="1964484" y="1859901"/>
                  </a:lnTo>
                  <a:lnTo>
                    <a:pt x="1964938" y="1858541"/>
                  </a:lnTo>
                  <a:lnTo>
                    <a:pt x="1966526" y="1856047"/>
                  </a:lnTo>
                  <a:lnTo>
                    <a:pt x="1968794" y="1853099"/>
                  </a:lnTo>
                  <a:lnTo>
                    <a:pt x="1971290" y="1850151"/>
                  </a:lnTo>
                  <a:lnTo>
                    <a:pt x="1974466" y="1847203"/>
                  </a:lnTo>
                  <a:lnTo>
                    <a:pt x="1977870" y="1844255"/>
                  </a:lnTo>
                  <a:lnTo>
                    <a:pt x="1982180" y="1840854"/>
                  </a:lnTo>
                  <a:lnTo>
                    <a:pt x="1986264" y="1837679"/>
                  </a:lnTo>
                  <a:lnTo>
                    <a:pt x="1995793" y="1831556"/>
                  </a:lnTo>
                  <a:lnTo>
                    <a:pt x="2005775" y="1825434"/>
                  </a:lnTo>
                  <a:lnTo>
                    <a:pt x="2015984" y="1819538"/>
                  </a:lnTo>
                  <a:lnTo>
                    <a:pt x="2025740" y="1814323"/>
                  </a:lnTo>
                  <a:lnTo>
                    <a:pt x="2028236" y="1813189"/>
                  </a:lnTo>
                  <a:lnTo>
                    <a:pt x="2030505" y="1811601"/>
                  </a:lnTo>
                  <a:lnTo>
                    <a:pt x="2032773" y="1810241"/>
                  </a:lnTo>
                  <a:lnTo>
                    <a:pt x="2034815" y="1808427"/>
                  </a:lnTo>
                  <a:lnTo>
                    <a:pt x="2038672" y="1804799"/>
                  </a:lnTo>
                  <a:lnTo>
                    <a:pt x="2042529" y="1800490"/>
                  </a:lnTo>
                  <a:lnTo>
                    <a:pt x="2045705" y="1795955"/>
                  </a:lnTo>
                  <a:lnTo>
                    <a:pt x="2048655" y="1791420"/>
                  </a:lnTo>
                  <a:lnTo>
                    <a:pt x="2051604" y="1786431"/>
                  </a:lnTo>
                  <a:lnTo>
                    <a:pt x="2054100" y="1781442"/>
                  </a:lnTo>
                  <a:lnTo>
                    <a:pt x="2056368" y="1776453"/>
                  </a:lnTo>
                  <a:lnTo>
                    <a:pt x="2058410" y="1771691"/>
                  </a:lnTo>
                  <a:lnTo>
                    <a:pt x="2061813" y="1762621"/>
                  </a:lnTo>
                  <a:lnTo>
                    <a:pt x="2064309" y="1754684"/>
                  </a:lnTo>
                  <a:lnTo>
                    <a:pt x="2066124" y="1748789"/>
                  </a:lnTo>
                  <a:lnTo>
                    <a:pt x="2067031" y="1746067"/>
                  </a:lnTo>
                  <a:lnTo>
                    <a:pt x="2067485" y="1743346"/>
                  </a:lnTo>
                  <a:lnTo>
                    <a:pt x="2068393" y="1736544"/>
                  </a:lnTo>
                  <a:lnTo>
                    <a:pt x="2069300" y="1729287"/>
                  </a:lnTo>
                  <a:lnTo>
                    <a:pt x="2070208" y="1722258"/>
                  </a:lnTo>
                  <a:lnTo>
                    <a:pt x="2071342" y="1715228"/>
                  </a:lnTo>
                  <a:lnTo>
                    <a:pt x="2072250" y="1712053"/>
                  </a:lnTo>
                  <a:lnTo>
                    <a:pt x="2072930" y="1709332"/>
                  </a:lnTo>
                  <a:lnTo>
                    <a:pt x="2074065" y="1706838"/>
                  </a:lnTo>
                  <a:lnTo>
                    <a:pt x="2075426" y="1704570"/>
                  </a:lnTo>
                  <a:lnTo>
                    <a:pt x="2077241" y="1702983"/>
                  </a:lnTo>
                  <a:lnTo>
                    <a:pt x="2077921" y="1702303"/>
                  </a:lnTo>
                  <a:lnTo>
                    <a:pt x="2078829" y="1702076"/>
                  </a:lnTo>
                  <a:lnTo>
                    <a:pt x="2079963" y="1701396"/>
                  </a:lnTo>
                  <a:lnTo>
                    <a:pt x="2080871" y="1699808"/>
                  </a:lnTo>
                  <a:lnTo>
                    <a:pt x="2081778" y="1697767"/>
                  </a:lnTo>
                  <a:lnTo>
                    <a:pt x="2082686" y="1695500"/>
                  </a:lnTo>
                  <a:lnTo>
                    <a:pt x="2083593" y="1692325"/>
                  </a:lnTo>
                  <a:lnTo>
                    <a:pt x="2084274" y="1689150"/>
                  </a:lnTo>
                  <a:lnTo>
                    <a:pt x="2086089" y="1680987"/>
                  </a:lnTo>
                  <a:lnTo>
                    <a:pt x="2087677" y="1671236"/>
                  </a:lnTo>
                  <a:lnTo>
                    <a:pt x="2088812" y="1660579"/>
                  </a:lnTo>
                  <a:lnTo>
                    <a:pt x="2089946" y="1649014"/>
                  </a:lnTo>
                  <a:lnTo>
                    <a:pt x="2091080" y="1636769"/>
                  </a:lnTo>
                  <a:lnTo>
                    <a:pt x="2091988" y="1624750"/>
                  </a:lnTo>
                  <a:lnTo>
                    <a:pt x="2092668" y="1612505"/>
                  </a:lnTo>
                  <a:lnTo>
                    <a:pt x="2093803" y="1589602"/>
                  </a:lnTo>
                  <a:lnTo>
                    <a:pt x="2094030" y="1579398"/>
                  </a:lnTo>
                  <a:lnTo>
                    <a:pt x="2094256" y="1570328"/>
                  </a:lnTo>
                  <a:lnTo>
                    <a:pt x="2094030" y="1563298"/>
                  </a:lnTo>
                  <a:lnTo>
                    <a:pt x="2093803" y="1557856"/>
                  </a:lnTo>
                  <a:lnTo>
                    <a:pt x="2093576" y="1552867"/>
                  </a:lnTo>
                  <a:lnTo>
                    <a:pt x="2093576" y="1547198"/>
                  </a:lnTo>
                  <a:lnTo>
                    <a:pt x="2093803" y="1533366"/>
                  </a:lnTo>
                  <a:lnTo>
                    <a:pt x="2094937" y="1501392"/>
                  </a:lnTo>
                  <a:lnTo>
                    <a:pt x="2095618" y="1485519"/>
                  </a:lnTo>
                  <a:lnTo>
                    <a:pt x="2095618" y="1478263"/>
                  </a:lnTo>
                  <a:lnTo>
                    <a:pt x="2095164" y="1471233"/>
                  </a:lnTo>
                  <a:lnTo>
                    <a:pt x="2094710" y="1465111"/>
                  </a:lnTo>
                  <a:lnTo>
                    <a:pt x="2094030" y="1459668"/>
                  </a:lnTo>
                  <a:lnTo>
                    <a:pt x="2093122" y="1455133"/>
                  </a:lnTo>
                  <a:lnTo>
                    <a:pt x="2092442" y="1453092"/>
                  </a:lnTo>
                  <a:lnTo>
                    <a:pt x="2091761" y="1451732"/>
                  </a:lnTo>
                  <a:lnTo>
                    <a:pt x="2089719" y="1447877"/>
                  </a:lnTo>
                  <a:lnTo>
                    <a:pt x="2088131" y="1444249"/>
                  </a:lnTo>
                  <a:lnTo>
                    <a:pt x="2086543" y="1440167"/>
                  </a:lnTo>
                  <a:lnTo>
                    <a:pt x="2085408" y="1436539"/>
                  </a:lnTo>
                  <a:lnTo>
                    <a:pt x="2084501" y="1432457"/>
                  </a:lnTo>
                  <a:lnTo>
                    <a:pt x="2083820" y="1428829"/>
                  </a:lnTo>
                  <a:lnTo>
                    <a:pt x="2083366" y="1425201"/>
                  </a:lnTo>
                  <a:lnTo>
                    <a:pt x="2083140" y="1421573"/>
                  </a:lnTo>
                  <a:close/>
                  <a:moveTo>
                    <a:pt x="2323009" y="1398465"/>
                  </a:moveTo>
                  <a:lnTo>
                    <a:pt x="2324989" y="1469192"/>
                  </a:lnTo>
                  <a:lnTo>
                    <a:pt x="2327030" y="1550146"/>
                  </a:lnTo>
                  <a:lnTo>
                    <a:pt x="2328619" y="1623617"/>
                  </a:lnTo>
                  <a:lnTo>
                    <a:pt x="2329072" y="1655817"/>
                  </a:lnTo>
                  <a:lnTo>
                    <a:pt x="2329526" y="1683255"/>
                  </a:lnTo>
                  <a:lnTo>
                    <a:pt x="2329753" y="1705251"/>
                  </a:lnTo>
                  <a:lnTo>
                    <a:pt x="2329526" y="1721124"/>
                  </a:lnTo>
                  <a:lnTo>
                    <a:pt x="2328619" y="1744027"/>
                  </a:lnTo>
                  <a:lnTo>
                    <a:pt x="2328573" y="1748038"/>
                  </a:lnTo>
                  <a:lnTo>
                    <a:pt x="2331006" y="1747690"/>
                  </a:lnTo>
                  <a:lnTo>
                    <a:pt x="2343676" y="1746332"/>
                  </a:lnTo>
                  <a:lnTo>
                    <a:pt x="2355668" y="1744974"/>
                  </a:lnTo>
                  <a:lnTo>
                    <a:pt x="2361324" y="1744747"/>
                  </a:lnTo>
                  <a:lnTo>
                    <a:pt x="2366754" y="1744521"/>
                  </a:lnTo>
                  <a:lnTo>
                    <a:pt x="2371732" y="1744521"/>
                  </a:lnTo>
                  <a:lnTo>
                    <a:pt x="2376257" y="1744974"/>
                  </a:lnTo>
                  <a:lnTo>
                    <a:pt x="2384402" y="1745426"/>
                  </a:lnTo>
                  <a:lnTo>
                    <a:pt x="2392321" y="1745879"/>
                  </a:lnTo>
                  <a:lnTo>
                    <a:pt x="2405897" y="1746785"/>
                  </a:lnTo>
                  <a:lnTo>
                    <a:pt x="2415399" y="1747011"/>
                  </a:lnTo>
                  <a:lnTo>
                    <a:pt x="2418793" y="1747011"/>
                  </a:lnTo>
                  <a:lnTo>
                    <a:pt x="2418793" y="1562289"/>
                  </a:lnTo>
                  <a:lnTo>
                    <a:pt x="2439156" y="1562289"/>
                  </a:lnTo>
                  <a:lnTo>
                    <a:pt x="2440560" y="1432674"/>
                  </a:lnTo>
                  <a:lnTo>
                    <a:pt x="2420170" y="1429173"/>
                  </a:lnTo>
                  <a:lnTo>
                    <a:pt x="2417432" y="1428491"/>
                  </a:lnTo>
                  <a:lnTo>
                    <a:pt x="2414694" y="1427355"/>
                  </a:lnTo>
                  <a:lnTo>
                    <a:pt x="2412184" y="1426446"/>
                  </a:lnTo>
                  <a:lnTo>
                    <a:pt x="2409903" y="1424856"/>
                  </a:lnTo>
                  <a:lnTo>
                    <a:pt x="2407621" y="1423492"/>
                  </a:lnTo>
                  <a:lnTo>
                    <a:pt x="2405567" y="1421674"/>
                  </a:lnTo>
                  <a:lnTo>
                    <a:pt x="2403970" y="1419629"/>
                  </a:lnTo>
                  <a:lnTo>
                    <a:pt x="2402145" y="1417811"/>
                  </a:lnTo>
                  <a:lnTo>
                    <a:pt x="2401004" y="1415539"/>
                  </a:lnTo>
                  <a:lnTo>
                    <a:pt x="2399635" y="1413039"/>
                  </a:lnTo>
                  <a:lnTo>
                    <a:pt x="2398722" y="1410540"/>
                  </a:lnTo>
                  <a:lnTo>
                    <a:pt x="2398206" y="1409126"/>
                  </a:lnTo>
                  <a:lnTo>
                    <a:pt x="2353582" y="1402718"/>
                  </a:lnTo>
                  <a:lnTo>
                    <a:pt x="2323009" y="1398465"/>
                  </a:lnTo>
                  <a:close/>
                  <a:moveTo>
                    <a:pt x="3879477" y="1361086"/>
                  </a:moveTo>
                  <a:lnTo>
                    <a:pt x="3879704" y="1361313"/>
                  </a:lnTo>
                  <a:lnTo>
                    <a:pt x="3880157" y="1361993"/>
                  </a:lnTo>
                  <a:lnTo>
                    <a:pt x="3881516" y="1363127"/>
                  </a:lnTo>
                  <a:lnTo>
                    <a:pt x="3882876" y="1365396"/>
                  </a:lnTo>
                  <a:lnTo>
                    <a:pt x="3885142" y="1369251"/>
                  </a:lnTo>
                  <a:lnTo>
                    <a:pt x="3887635" y="1375375"/>
                  </a:lnTo>
                  <a:lnTo>
                    <a:pt x="3890580" y="1383314"/>
                  </a:lnTo>
                  <a:lnTo>
                    <a:pt x="3894432" y="1393974"/>
                  </a:lnTo>
                  <a:lnTo>
                    <a:pt x="3898058" y="1404861"/>
                  </a:lnTo>
                  <a:lnTo>
                    <a:pt x="3899644" y="1409624"/>
                  </a:lnTo>
                  <a:lnTo>
                    <a:pt x="3901230" y="1413479"/>
                  </a:lnTo>
                  <a:lnTo>
                    <a:pt x="3903043" y="1416881"/>
                  </a:lnTo>
                  <a:lnTo>
                    <a:pt x="3904403" y="1419830"/>
                  </a:lnTo>
                  <a:lnTo>
                    <a:pt x="3906216" y="1422098"/>
                  </a:lnTo>
                  <a:lnTo>
                    <a:pt x="3908028" y="1424139"/>
                  </a:lnTo>
                  <a:lnTo>
                    <a:pt x="3909615" y="1425500"/>
                  </a:lnTo>
                  <a:lnTo>
                    <a:pt x="3911654" y="1425954"/>
                  </a:lnTo>
                  <a:lnTo>
                    <a:pt x="3913693" y="1426181"/>
                  </a:lnTo>
                  <a:lnTo>
                    <a:pt x="3915959" y="1425727"/>
                  </a:lnTo>
                  <a:lnTo>
                    <a:pt x="3918452" y="1424820"/>
                  </a:lnTo>
                  <a:lnTo>
                    <a:pt x="3920945" y="1423459"/>
                  </a:lnTo>
                  <a:lnTo>
                    <a:pt x="3923890" y="1421418"/>
                  </a:lnTo>
                  <a:lnTo>
                    <a:pt x="3926836" y="1418696"/>
                  </a:lnTo>
                  <a:lnTo>
                    <a:pt x="3933408" y="1412799"/>
                  </a:lnTo>
                  <a:lnTo>
                    <a:pt x="3940206" y="1406221"/>
                  </a:lnTo>
                  <a:lnTo>
                    <a:pt x="3946324" y="1399644"/>
                  </a:lnTo>
                  <a:lnTo>
                    <a:pt x="3951989" y="1393293"/>
                  </a:lnTo>
                  <a:lnTo>
                    <a:pt x="3960826" y="1383314"/>
                  </a:lnTo>
                  <a:lnTo>
                    <a:pt x="3964225" y="1379004"/>
                  </a:lnTo>
                  <a:lnTo>
                    <a:pt x="3879477" y="1361086"/>
                  </a:lnTo>
                  <a:close/>
                  <a:moveTo>
                    <a:pt x="3657636" y="1336364"/>
                  </a:moveTo>
                  <a:lnTo>
                    <a:pt x="3653558" y="1336591"/>
                  </a:lnTo>
                  <a:lnTo>
                    <a:pt x="3649705" y="1337044"/>
                  </a:lnTo>
                  <a:lnTo>
                    <a:pt x="3648346" y="1337498"/>
                  </a:lnTo>
                  <a:lnTo>
                    <a:pt x="3646986" y="1338178"/>
                  </a:lnTo>
                  <a:lnTo>
                    <a:pt x="3645853" y="1338859"/>
                  </a:lnTo>
                  <a:lnTo>
                    <a:pt x="3644947" y="1339539"/>
                  </a:lnTo>
                  <a:lnTo>
                    <a:pt x="3644040" y="1340673"/>
                  </a:lnTo>
                  <a:lnTo>
                    <a:pt x="3643361" y="1341581"/>
                  </a:lnTo>
                  <a:lnTo>
                    <a:pt x="3642907" y="1342715"/>
                  </a:lnTo>
                  <a:lnTo>
                    <a:pt x="3642454" y="1344075"/>
                  </a:lnTo>
                  <a:lnTo>
                    <a:pt x="3642228" y="1345436"/>
                  </a:lnTo>
                  <a:lnTo>
                    <a:pt x="3642228" y="1347251"/>
                  </a:lnTo>
                  <a:lnTo>
                    <a:pt x="3642228" y="1351333"/>
                  </a:lnTo>
                  <a:lnTo>
                    <a:pt x="3642907" y="1355870"/>
                  </a:lnTo>
                  <a:lnTo>
                    <a:pt x="3644040" y="1361540"/>
                  </a:lnTo>
                  <a:lnTo>
                    <a:pt x="3645627" y="1368117"/>
                  </a:lnTo>
                  <a:lnTo>
                    <a:pt x="3646986" y="1375602"/>
                  </a:lnTo>
                  <a:lnTo>
                    <a:pt x="3648572" y="1383314"/>
                  </a:lnTo>
                  <a:lnTo>
                    <a:pt x="3649705" y="1391706"/>
                  </a:lnTo>
                  <a:lnTo>
                    <a:pt x="3650838" y="1400324"/>
                  </a:lnTo>
                  <a:lnTo>
                    <a:pt x="3652878" y="1418469"/>
                  </a:lnTo>
                  <a:lnTo>
                    <a:pt x="3654691" y="1437294"/>
                  </a:lnTo>
                  <a:lnTo>
                    <a:pt x="3656050" y="1447047"/>
                  </a:lnTo>
                  <a:lnTo>
                    <a:pt x="3657183" y="1456346"/>
                  </a:lnTo>
                  <a:lnTo>
                    <a:pt x="3658769" y="1465872"/>
                  </a:lnTo>
                  <a:lnTo>
                    <a:pt x="3660582" y="1474945"/>
                  </a:lnTo>
                  <a:lnTo>
                    <a:pt x="3662622" y="1484017"/>
                  </a:lnTo>
                  <a:lnTo>
                    <a:pt x="3665114" y="1492636"/>
                  </a:lnTo>
                  <a:lnTo>
                    <a:pt x="3667833" y="1500801"/>
                  </a:lnTo>
                  <a:lnTo>
                    <a:pt x="3669419" y="1504430"/>
                  </a:lnTo>
                  <a:lnTo>
                    <a:pt x="3671232" y="1508513"/>
                  </a:lnTo>
                  <a:lnTo>
                    <a:pt x="3674631" y="1516451"/>
                  </a:lnTo>
                  <a:lnTo>
                    <a:pt x="3678257" y="1525070"/>
                  </a:lnTo>
                  <a:lnTo>
                    <a:pt x="3681882" y="1534823"/>
                  </a:lnTo>
                  <a:lnTo>
                    <a:pt x="3685055" y="1545256"/>
                  </a:lnTo>
                  <a:lnTo>
                    <a:pt x="3688454" y="1555916"/>
                  </a:lnTo>
                  <a:lnTo>
                    <a:pt x="3691626" y="1567030"/>
                  </a:lnTo>
                  <a:lnTo>
                    <a:pt x="3698198" y="1590164"/>
                  </a:lnTo>
                  <a:lnTo>
                    <a:pt x="3704089" y="1613072"/>
                  </a:lnTo>
                  <a:lnTo>
                    <a:pt x="3709301" y="1635300"/>
                  </a:lnTo>
                  <a:lnTo>
                    <a:pt x="3717912" y="1672043"/>
                  </a:lnTo>
                  <a:lnTo>
                    <a:pt x="3721084" y="1687012"/>
                  </a:lnTo>
                  <a:lnTo>
                    <a:pt x="3724256" y="1702662"/>
                  </a:lnTo>
                  <a:lnTo>
                    <a:pt x="3727202" y="1718312"/>
                  </a:lnTo>
                  <a:lnTo>
                    <a:pt x="3730148" y="1733282"/>
                  </a:lnTo>
                  <a:lnTo>
                    <a:pt x="3731508" y="1740313"/>
                  </a:lnTo>
                  <a:lnTo>
                    <a:pt x="3733320" y="1747117"/>
                  </a:lnTo>
                  <a:lnTo>
                    <a:pt x="3735133" y="1753241"/>
                  </a:lnTo>
                  <a:lnTo>
                    <a:pt x="3736719" y="1759138"/>
                  </a:lnTo>
                  <a:lnTo>
                    <a:pt x="3738759" y="1764808"/>
                  </a:lnTo>
                  <a:lnTo>
                    <a:pt x="3741025" y="1769344"/>
                  </a:lnTo>
                  <a:lnTo>
                    <a:pt x="3743291" y="1773654"/>
                  </a:lnTo>
                  <a:lnTo>
                    <a:pt x="3744424" y="1775468"/>
                  </a:lnTo>
                  <a:lnTo>
                    <a:pt x="3746010" y="1777056"/>
                  </a:lnTo>
                  <a:lnTo>
                    <a:pt x="3750542" y="1782499"/>
                  </a:lnTo>
                  <a:lnTo>
                    <a:pt x="3754847" y="1786809"/>
                  </a:lnTo>
                  <a:lnTo>
                    <a:pt x="3756660" y="1788397"/>
                  </a:lnTo>
                  <a:lnTo>
                    <a:pt x="3758473" y="1789757"/>
                  </a:lnTo>
                  <a:lnTo>
                    <a:pt x="3760286" y="1790891"/>
                  </a:lnTo>
                  <a:lnTo>
                    <a:pt x="3762325" y="1791799"/>
                  </a:lnTo>
                  <a:lnTo>
                    <a:pt x="3764365" y="1792479"/>
                  </a:lnTo>
                  <a:lnTo>
                    <a:pt x="3766404" y="1792933"/>
                  </a:lnTo>
                  <a:lnTo>
                    <a:pt x="3768897" y="1792933"/>
                  </a:lnTo>
                  <a:lnTo>
                    <a:pt x="3771389" y="1792933"/>
                  </a:lnTo>
                  <a:lnTo>
                    <a:pt x="3774335" y="1792706"/>
                  </a:lnTo>
                  <a:lnTo>
                    <a:pt x="3777960" y="1792479"/>
                  </a:lnTo>
                  <a:lnTo>
                    <a:pt x="3785665" y="1790891"/>
                  </a:lnTo>
                  <a:lnTo>
                    <a:pt x="3795635" y="1789077"/>
                  </a:lnTo>
                  <a:lnTo>
                    <a:pt x="3807872" y="1786809"/>
                  </a:lnTo>
                  <a:lnTo>
                    <a:pt x="3821468" y="1784541"/>
                  </a:lnTo>
                  <a:lnTo>
                    <a:pt x="3835970" y="1782499"/>
                  </a:lnTo>
                  <a:lnTo>
                    <a:pt x="3850472" y="1780912"/>
                  </a:lnTo>
                  <a:lnTo>
                    <a:pt x="3864521" y="1779551"/>
                  </a:lnTo>
                  <a:lnTo>
                    <a:pt x="3871319" y="1779097"/>
                  </a:lnTo>
                  <a:lnTo>
                    <a:pt x="3877438" y="1779097"/>
                  </a:lnTo>
                  <a:lnTo>
                    <a:pt x="3883103" y="1779097"/>
                  </a:lnTo>
                  <a:lnTo>
                    <a:pt x="3888088" y="1779324"/>
                  </a:lnTo>
                  <a:lnTo>
                    <a:pt x="3897832" y="1780005"/>
                  </a:lnTo>
                  <a:lnTo>
                    <a:pt x="3906669" y="1780458"/>
                  </a:lnTo>
                  <a:lnTo>
                    <a:pt x="3922304" y="1781365"/>
                  </a:lnTo>
                  <a:lnTo>
                    <a:pt x="3933181" y="1781592"/>
                  </a:lnTo>
                  <a:lnTo>
                    <a:pt x="3937260" y="1781592"/>
                  </a:lnTo>
                  <a:lnTo>
                    <a:pt x="3937260" y="1569071"/>
                  </a:lnTo>
                  <a:lnTo>
                    <a:pt x="3960600" y="1569071"/>
                  </a:lnTo>
                  <a:lnTo>
                    <a:pt x="3962866" y="1447728"/>
                  </a:lnTo>
                  <a:lnTo>
                    <a:pt x="3962412" y="1447274"/>
                  </a:lnTo>
                  <a:lnTo>
                    <a:pt x="3961279" y="1446140"/>
                  </a:lnTo>
                  <a:lnTo>
                    <a:pt x="3959013" y="1445233"/>
                  </a:lnTo>
                  <a:lnTo>
                    <a:pt x="3957880" y="1444779"/>
                  </a:lnTo>
                  <a:lnTo>
                    <a:pt x="3956294" y="1444552"/>
                  </a:lnTo>
                  <a:lnTo>
                    <a:pt x="3954481" y="1444326"/>
                  </a:lnTo>
                  <a:lnTo>
                    <a:pt x="3952668" y="1444099"/>
                  </a:lnTo>
                  <a:lnTo>
                    <a:pt x="3950629" y="1444326"/>
                  </a:lnTo>
                  <a:lnTo>
                    <a:pt x="3948137" y="1444779"/>
                  </a:lnTo>
                  <a:lnTo>
                    <a:pt x="3945644" y="1445460"/>
                  </a:lnTo>
                  <a:lnTo>
                    <a:pt x="3943151" y="1446367"/>
                  </a:lnTo>
                  <a:lnTo>
                    <a:pt x="3940206" y="1447954"/>
                  </a:lnTo>
                  <a:lnTo>
                    <a:pt x="3937260" y="1449996"/>
                  </a:lnTo>
                  <a:lnTo>
                    <a:pt x="3924344" y="1459295"/>
                  </a:lnTo>
                  <a:lnTo>
                    <a:pt x="3917546" y="1463831"/>
                  </a:lnTo>
                  <a:lnTo>
                    <a:pt x="3914147" y="1466099"/>
                  </a:lnTo>
                  <a:lnTo>
                    <a:pt x="3910748" y="1467914"/>
                  </a:lnTo>
                  <a:lnTo>
                    <a:pt x="3907122" y="1469275"/>
                  </a:lnTo>
                  <a:lnTo>
                    <a:pt x="3903950" y="1470182"/>
                  </a:lnTo>
                  <a:lnTo>
                    <a:pt x="3900777" y="1471089"/>
                  </a:lnTo>
                  <a:lnTo>
                    <a:pt x="3897605" y="1471316"/>
                  </a:lnTo>
                  <a:lnTo>
                    <a:pt x="3894432" y="1471089"/>
                  </a:lnTo>
                  <a:lnTo>
                    <a:pt x="3892846" y="1470635"/>
                  </a:lnTo>
                  <a:lnTo>
                    <a:pt x="3891487" y="1469955"/>
                  </a:lnTo>
                  <a:lnTo>
                    <a:pt x="3890127" y="1469275"/>
                  </a:lnTo>
                  <a:lnTo>
                    <a:pt x="3888541" y="1468594"/>
                  </a:lnTo>
                  <a:lnTo>
                    <a:pt x="3887181" y="1467460"/>
                  </a:lnTo>
                  <a:lnTo>
                    <a:pt x="3885822" y="1466326"/>
                  </a:lnTo>
                  <a:lnTo>
                    <a:pt x="3884462" y="1464512"/>
                  </a:lnTo>
                  <a:lnTo>
                    <a:pt x="3882876" y="1462697"/>
                  </a:lnTo>
                  <a:lnTo>
                    <a:pt x="3879704" y="1457481"/>
                  </a:lnTo>
                  <a:lnTo>
                    <a:pt x="3876305" y="1450449"/>
                  </a:lnTo>
                  <a:lnTo>
                    <a:pt x="3872226" y="1442511"/>
                  </a:lnTo>
                  <a:lnTo>
                    <a:pt x="3868374" y="1433665"/>
                  </a:lnTo>
                  <a:lnTo>
                    <a:pt x="3864295" y="1423913"/>
                  </a:lnTo>
                  <a:lnTo>
                    <a:pt x="3856137" y="1403726"/>
                  </a:lnTo>
                  <a:lnTo>
                    <a:pt x="3848660" y="1384221"/>
                  </a:lnTo>
                  <a:lnTo>
                    <a:pt x="3842541" y="1367664"/>
                  </a:lnTo>
                  <a:lnTo>
                    <a:pt x="3837103" y="1351787"/>
                  </a:lnTo>
                  <a:lnTo>
                    <a:pt x="3821241" y="1349746"/>
                  </a:lnTo>
                  <a:lnTo>
                    <a:pt x="3783172" y="1345436"/>
                  </a:lnTo>
                  <a:lnTo>
                    <a:pt x="3759606" y="1343395"/>
                  </a:lnTo>
                  <a:lnTo>
                    <a:pt x="3735586" y="1340900"/>
                  </a:lnTo>
                  <a:lnTo>
                    <a:pt x="3712473" y="1339086"/>
                  </a:lnTo>
                  <a:lnTo>
                    <a:pt x="3692079" y="1337952"/>
                  </a:lnTo>
                  <a:lnTo>
                    <a:pt x="3675764" y="1336818"/>
                  </a:lnTo>
                  <a:lnTo>
                    <a:pt x="3662848" y="1336364"/>
                  </a:lnTo>
                  <a:lnTo>
                    <a:pt x="3657636" y="1336364"/>
                  </a:lnTo>
                  <a:close/>
                  <a:moveTo>
                    <a:pt x="740134" y="1112044"/>
                  </a:moveTo>
                  <a:lnTo>
                    <a:pt x="736957" y="1112270"/>
                  </a:lnTo>
                  <a:lnTo>
                    <a:pt x="734234" y="1112497"/>
                  </a:lnTo>
                  <a:lnTo>
                    <a:pt x="731965" y="1113177"/>
                  </a:lnTo>
                  <a:lnTo>
                    <a:pt x="729923" y="1114084"/>
                  </a:lnTo>
                  <a:lnTo>
                    <a:pt x="728562" y="1114991"/>
                  </a:lnTo>
                  <a:lnTo>
                    <a:pt x="727201" y="1116579"/>
                  </a:lnTo>
                  <a:lnTo>
                    <a:pt x="726293" y="1118166"/>
                  </a:lnTo>
                  <a:lnTo>
                    <a:pt x="725612" y="1119980"/>
                  </a:lnTo>
                  <a:lnTo>
                    <a:pt x="724705" y="1122248"/>
                  </a:lnTo>
                  <a:lnTo>
                    <a:pt x="724478" y="1124742"/>
                  </a:lnTo>
                  <a:lnTo>
                    <a:pt x="724024" y="1130638"/>
                  </a:lnTo>
                  <a:lnTo>
                    <a:pt x="724024" y="1137668"/>
                  </a:lnTo>
                  <a:lnTo>
                    <a:pt x="724251" y="1146058"/>
                  </a:lnTo>
                  <a:lnTo>
                    <a:pt x="724251" y="1155355"/>
                  </a:lnTo>
                  <a:lnTo>
                    <a:pt x="724251" y="1165106"/>
                  </a:lnTo>
                  <a:lnTo>
                    <a:pt x="724705" y="1175084"/>
                  </a:lnTo>
                  <a:lnTo>
                    <a:pt x="725839" y="1184608"/>
                  </a:lnTo>
                  <a:lnTo>
                    <a:pt x="726293" y="1188689"/>
                  </a:lnTo>
                  <a:lnTo>
                    <a:pt x="726974" y="1192998"/>
                  </a:lnTo>
                  <a:lnTo>
                    <a:pt x="728108" y="1196626"/>
                  </a:lnTo>
                  <a:lnTo>
                    <a:pt x="729243" y="1199801"/>
                  </a:lnTo>
                  <a:lnTo>
                    <a:pt x="730377" y="1202975"/>
                  </a:lnTo>
                  <a:lnTo>
                    <a:pt x="732192" y="1205016"/>
                  </a:lnTo>
                  <a:lnTo>
                    <a:pt x="732873" y="1206150"/>
                  </a:lnTo>
                  <a:lnTo>
                    <a:pt x="734008" y="1206830"/>
                  </a:lnTo>
                  <a:lnTo>
                    <a:pt x="734915" y="1207511"/>
                  </a:lnTo>
                  <a:lnTo>
                    <a:pt x="736276" y="1207737"/>
                  </a:lnTo>
                  <a:lnTo>
                    <a:pt x="737638" y="1208418"/>
                  </a:lnTo>
                  <a:lnTo>
                    <a:pt x="739907" y="1208644"/>
                  </a:lnTo>
                  <a:lnTo>
                    <a:pt x="746714" y="1209325"/>
                  </a:lnTo>
                  <a:lnTo>
                    <a:pt x="755563" y="1209778"/>
                  </a:lnTo>
                  <a:lnTo>
                    <a:pt x="766680" y="1210232"/>
                  </a:lnTo>
                  <a:lnTo>
                    <a:pt x="793227" y="1211139"/>
                  </a:lnTo>
                  <a:lnTo>
                    <a:pt x="822497" y="1211366"/>
                  </a:lnTo>
                  <a:lnTo>
                    <a:pt x="876044" y="1211819"/>
                  </a:lnTo>
                  <a:lnTo>
                    <a:pt x="899868" y="1211819"/>
                  </a:lnTo>
                  <a:lnTo>
                    <a:pt x="899414" y="1210005"/>
                  </a:lnTo>
                  <a:lnTo>
                    <a:pt x="897826" y="1205016"/>
                  </a:lnTo>
                  <a:lnTo>
                    <a:pt x="896692" y="1201615"/>
                  </a:lnTo>
                  <a:lnTo>
                    <a:pt x="894876" y="1197760"/>
                  </a:lnTo>
                  <a:lnTo>
                    <a:pt x="893061" y="1192998"/>
                  </a:lnTo>
                  <a:lnTo>
                    <a:pt x="890566" y="1188009"/>
                  </a:lnTo>
                  <a:lnTo>
                    <a:pt x="887162" y="1182567"/>
                  </a:lnTo>
                  <a:lnTo>
                    <a:pt x="883759" y="1176898"/>
                  </a:lnTo>
                  <a:lnTo>
                    <a:pt x="879674" y="1170775"/>
                  </a:lnTo>
                  <a:lnTo>
                    <a:pt x="874683" y="1164652"/>
                  </a:lnTo>
                  <a:lnTo>
                    <a:pt x="869237" y="1158530"/>
                  </a:lnTo>
                  <a:lnTo>
                    <a:pt x="862884" y="1152181"/>
                  </a:lnTo>
                  <a:lnTo>
                    <a:pt x="856077" y="1146058"/>
                  </a:lnTo>
                  <a:lnTo>
                    <a:pt x="851993" y="1143110"/>
                  </a:lnTo>
                  <a:lnTo>
                    <a:pt x="848136" y="1139935"/>
                  </a:lnTo>
                  <a:lnTo>
                    <a:pt x="845186" y="1137894"/>
                  </a:lnTo>
                  <a:lnTo>
                    <a:pt x="841783" y="1135854"/>
                  </a:lnTo>
                  <a:lnTo>
                    <a:pt x="835430" y="1132225"/>
                  </a:lnTo>
                  <a:lnTo>
                    <a:pt x="828169" y="1129051"/>
                  </a:lnTo>
                  <a:lnTo>
                    <a:pt x="820682" y="1126103"/>
                  </a:lnTo>
                  <a:lnTo>
                    <a:pt x="812740" y="1123608"/>
                  </a:lnTo>
                  <a:lnTo>
                    <a:pt x="805253" y="1121341"/>
                  </a:lnTo>
                  <a:lnTo>
                    <a:pt x="797311" y="1119300"/>
                  </a:lnTo>
                  <a:lnTo>
                    <a:pt x="789370" y="1117486"/>
                  </a:lnTo>
                  <a:lnTo>
                    <a:pt x="781656" y="1116125"/>
                  </a:lnTo>
                  <a:lnTo>
                    <a:pt x="773941" y="1114991"/>
                  </a:lnTo>
                  <a:lnTo>
                    <a:pt x="766907" y="1114084"/>
                  </a:lnTo>
                  <a:lnTo>
                    <a:pt x="760327" y="1113404"/>
                  </a:lnTo>
                  <a:lnTo>
                    <a:pt x="748529" y="1112270"/>
                  </a:lnTo>
                  <a:lnTo>
                    <a:pt x="740134" y="1112044"/>
                  </a:lnTo>
                  <a:close/>
                  <a:moveTo>
                    <a:pt x="1305638" y="1054673"/>
                  </a:moveTo>
                  <a:lnTo>
                    <a:pt x="1304925" y="1054679"/>
                  </a:lnTo>
                  <a:lnTo>
                    <a:pt x="1304925" y="1962890"/>
                  </a:lnTo>
                  <a:lnTo>
                    <a:pt x="1355725" y="1947343"/>
                  </a:lnTo>
                  <a:lnTo>
                    <a:pt x="1355725" y="1201521"/>
                  </a:lnTo>
                  <a:lnTo>
                    <a:pt x="1345341" y="1171682"/>
                  </a:lnTo>
                  <a:lnTo>
                    <a:pt x="1317663" y="1090048"/>
                  </a:lnTo>
                  <a:lnTo>
                    <a:pt x="1305638" y="1054673"/>
                  </a:lnTo>
                  <a:close/>
                  <a:moveTo>
                    <a:pt x="3135313" y="1001713"/>
                  </a:moveTo>
                  <a:lnTo>
                    <a:pt x="3135313" y="1963376"/>
                  </a:lnTo>
                  <a:lnTo>
                    <a:pt x="3187700" y="1947343"/>
                  </a:lnTo>
                  <a:lnTo>
                    <a:pt x="3187700" y="1001713"/>
                  </a:lnTo>
                  <a:lnTo>
                    <a:pt x="3135313" y="1001713"/>
                  </a:lnTo>
                  <a:close/>
                  <a:moveTo>
                    <a:pt x="2678432" y="1001713"/>
                  </a:moveTo>
                  <a:lnTo>
                    <a:pt x="2677719" y="1004936"/>
                  </a:lnTo>
                  <a:lnTo>
                    <a:pt x="2678112" y="1008569"/>
                  </a:lnTo>
                  <a:lnTo>
                    <a:pt x="2679473" y="1019688"/>
                  </a:lnTo>
                  <a:lnTo>
                    <a:pt x="2681061" y="1032849"/>
                  </a:lnTo>
                  <a:lnTo>
                    <a:pt x="2684545" y="1057432"/>
                  </a:lnTo>
                  <a:lnTo>
                    <a:pt x="2709329" y="1072923"/>
                  </a:lnTo>
                  <a:lnTo>
                    <a:pt x="2773790" y="1120775"/>
                  </a:lnTo>
                  <a:lnTo>
                    <a:pt x="2800346" y="1140732"/>
                  </a:lnTo>
                  <a:lnTo>
                    <a:pt x="2823270" y="1158422"/>
                  </a:lnTo>
                  <a:lnTo>
                    <a:pt x="2843017" y="1173390"/>
                  </a:lnTo>
                  <a:lnTo>
                    <a:pt x="2859813" y="1186543"/>
                  </a:lnTo>
                  <a:lnTo>
                    <a:pt x="2873885" y="1198336"/>
                  </a:lnTo>
                  <a:lnTo>
                    <a:pt x="2885688" y="1208088"/>
                  </a:lnTo>
                  <a:lnTo>
                    <a:pt x="2894994" y="1216932"/>
                  </a:lnTo>
                  <a:lnTo>
                    <a:pt x="2899079" y="1220561"/>
                  </a:lnTo>
                  <a:lnTo>
                    <a:pt x="2902484" y="1224190"/>
                  </a:lnTo>
                  <a:lnTo>
                    <a:pt x="2905435" y="1227818"/>
                  </a:lnTo>
                  <a:lnTo>
                    <a:pt x="2908158" y="1231220"/>
                  </a:lnTo>
                  <a:lnTo>
                    <a:pt x="2910428" y="1234168"/>
                  </a:lnTo>
                  <a:lnTo>
                    <a:pt x="2912471" y="1237116"/>
                  </a:lnTo>
                  <a:lnTo>
                    <a:pt x="2914060" y="1240065"/>
                  </a:lnTo>
                  <a:lnTo>
                    <a:pt x="2915648" y="1243240"/>
                  </a:lnTo>
                  <a:lnTo>
                    <a:pt x="2916556" y="1245961"/>
                  </a:lnTo>
                  <a:lnTo>
                    <a:pt x="2917691" y="1248682"/>
                  </a:lnTo>
                  <a:lnTo>
                    <a:pt x="2918372" y="1251631"/>
                  </a:lnTo>
                  <a:lnTo>
                    <a:pt x="2919053" y="1254352"/>
                  </a:lnTo>
                  <a:lnTo>
                    <a:pt x="2919961" y="1260249"/>
                  </a:lnTo>
                  <a:lnTo>
                    <a:pt x="2920415" y="1264558"/>
                  </a:lnTo>
                  <a:lnTo>
                    <a:pt x="2920642" y="1270681"/>
                  </a:lnTo>
                  <a:lnTo>
                    <a:pt x="2921096" y="1287690"/>
                  </a:lnTo>
                  <a:lnTo>
                    <a:pt x="2921550" y="1310822"/>
                  </a:lnTo>
                  <a:lnTo>
                    <a:pt x="2922004" y="1338943"/>
                  </a:lnTo>
                  <a:lnTo>
                    <a:pt x="2922685" y="1405618"/>
                  </a:lnTo>
                  <a:lnTo>
                    <a:pt x="2922912" y="1479550"/>
                  </a:lnTo>
                  <a:lnTo>
                    <a:pt x="2923593" y="1617209"/>
                  </a:lnTo>
                  <a:lnTo>
                    <a:pt x="2924046" y="1664608"/>
                  </a:lnTo>
                  <a:lnTo>
                    <a:pt x="2924273" y="1679349"/>
                  </a:lnTo>
                  <a:lnTo>
                    <a:pt x="2924727" y="1686833"/>
                  </a:lnTo>
                  <a:lnTo>
                    <a:pt x="2926316" y="1697945"/>
                  </a:lnTo>
                  <a:lnTo>
                    <a:pt x="2926770" y="1702481"/>
                  </a:lnTo>
                  <a:lnTo>
                    <a:pt x="2926997" y="1706336"/>
                  </a:lnTo>
                  <a:lnTo>
                    <a:pt x="2926997" y="1709738"/>
                  </a:lnTo>
                  <a:lnTo>
                    <a:pt x="2926770" y="1712459"/>
                  </a:lnTo>
                  <a:lnTo>
                    <a:pt x="2926089" y="1714501"/>
                  </a:lnTo>
                  <a:lnTo>
                    <a:pt x="2925408" y="1716315"/>
                  </a:lnTo>
                  <a:lnTo>
                    <a:pt x="2924046" y="1717902"/>
                  </a:lnTo>
                  <a:lnTo>
                    <a:pt x="2922231" y="1719036"/>
                  </a:lnTo>
                  <a:lnTo>
                    <a:pt x="2920188" y="1719717"/>
                  </a:lnTo>
                  <a:lnTo>
                    <a:pt x="2917691" y="1720624"/>
                  </a:lnTo>
                  <a:lnTo>
                    <a:pt x="2914287" y="1721077"/>
                  </a:lnTo>
                  <a:lnTo>
                    <a:pt x="2910882" y="1721304"/>
                  </a:lnTo>
                  <a:lnTo>
                    <a:pt x="2901803" y="1721984"/>
                  </a:lnTo>
                  <a:lnTo>
                    <a:pt x="2897718" y="1722438"/>
                  </a:lnTo>
                  <a:lnTo>
                    <a:pt x="2895675" y="1723118"/>
                  </a:lnTo>
                  <a:lnTo>
                    <a:pt x="2894313" y="1723572"/>
                  </a:lnTo>
                  <a:lnTo>
                    <a:pt x="2892951" y="1724252"/>
                  </a:lnTo>
                  <a:lnTo>
                    <a:pt x="2891816" y="1725159"/>
                  </a:lnTo>
                  <a:lnTo>
                    <a:pt x="2891135" y="1726293"/>
                  </a:lnTo>
                  <a:lnTo>
                    <a:pt x="2890227" y="1727654"/>
                  </a:lnTo>
                  <a:lnTo>
                    <a:pt x="2889773" y="1729242"/>
                  </a:lnTo>
                  <a:lnTo>
                    <a:pt x="2889546" y="1731283"/>
                  </a:lnTo>
                  <a:lnTo>
                    <a:pt x="2889319" y="1733551"/>
                  </a:lnTo>
                  <a:lnTo>
                    <a:pt x="2889546" y="1736272"/>
                  </a:lnTo>
                  <a:lnTo>
                    <a:pt x="2889773" y="1739220"/>
                  </a:lnTo>
                  <a:lnTo>
                    <a:pt x="2890227" y="1742395"/>
                  </a:lnTo>
                  <a:lnTo>
                    <a:pt x="2892043" y="1750333"/>
                  </a:lnTo>
                  <a:lnTo>
                    <a:pt x="2893632" y="1756002"/>
                  </a:lnTo>
                  <a:lnTo>
                    <a:pt x="2896356" y="1764393"/>
                  </a:lnTo>
                  <a:lnTo>
                    <a:pt x="2903619" y="1787752"/>
                  </a:lnTo>
                  <a:lnTo>
                    <a:pt x="2913833" y="1816781"/>
                  </a:lnTo>
                  <a:lnTo>
                    <a:pt x="2925635" y="1849211"/>
                  </a:lnTo>
                  <a:lnTo>
                    <a:pt x="2937665" y="1881415"/>
                  </a:lnTo>
                  <a:lnTo>
                    <a:pt x="2943566" y="1896836"/>
                  </a:lnTo>
                  <a:lnTo>
                    <a:pt x="2949468" y="1911351"/>
                  </a:lnTo>
                  <a:lnTo>
                    <a:pt x="2954688" y="1924051"/>
                  </a:lnTo>
                  <a:lnTo>
                    <a:pt x="2959454" y="1935390"/>
                  </a:lnTo>
                  <a:lnTo>
                    <a:pt x="2963540" y="1944235"/>
                  </a:lnTo>
                  <a:lnTo>
                    <a:pt x="2966945" y="1950585"/>
                  </a:lnTo>
                  <a:lnTo>
                    <a:pt x="2970122" y="1955574"/>
                  </a:lnTo>
                  <a:lnTo>
                    <a:pt x="2973754" y="1960790"/>
                  </a:lnTo>
                  <a:lnTo>
                    <a:pt x="2977612" y="1966006"/>
                  </a:lnTo>
                  <a:lnTo>
                    <a:pt x="2981698" y="1970995"/>
                  </a:lnTo>
                  <a:lnTo>
                    <a:pt x="2989642" y="1980974"/>
                  </a:lnTo>
                  <a:lnTo>
                    <a:pt x="2997586" y="1989819"/>
                  </a:lnTo>
                  <a:lnTo>
                    <a:pt x="3004622" y="1997529"/>
                  </a:lnTo>
                  <a:lnTo>
                    <a:pt x="3010751" y="2003426"/>
                  </a:lnTo>
                  <a:lnTo>
                    <a:pt x="3016198" y="2008869"/>
                  </a:lnTo>
                  <a:lnTo>
                    <a:pt x="3026866" y="2020435"/>
                  </a:lnTo>
                  <a:lnTo>
                    <a:pt x="3047747" y="2044927"/>
                  </a:lnTo>
                  <a:lnTo>
                    <a:pt x="3063863" y="2063297"/>
                  </a:lnTo>
                  <a:lnTo>
                    <a:pt x="3070218" y="2070554"/>
                  </a:lnTo>
                  <a:lnTo>
                    <a:pt x="3074757" y="2075090"/>
                  </a:lnTo>
                  <a:lnTo>
                    <a:pt x="3076119" y="2076677"/>
                  </a:lnTo>
                  <a:lnTo>
                    <a:pt x="3076575" y="2077406"/>
                  </a:lnTo>
                  <a:lnTo>
                    <a:pt x="3076575" y="1001713"/>
                  </a:lnTo>
                  <a:lnTo>
                    <a:pt x="2678432" y="1001713"/>
                  </a:lnTo>
                  <a:close/>
                  <a:moveTo>
                    <a:pt x="1853446" y="1001713"/>
                  </a:moveTo>
                  <a:lnTo>
                    <a:pt x="1853996" y="1005013"/>
                  </a:lnTo>
                  <a:lnTo>
                    <a:pt x="1855357" y="1013403"/>
                  </a:lnTo>
                  <a:lnTo>
                    <a:pt x="1858533" y="1027916"/>
                  </a:lnTo>
                  <a:lnTo>
                    <a:pt x="1860121" y="1034038"/>
                  </a:lnTo>
                  <a:lnTo>
                    <a:pt x="1875776" y="1038347"/>
                  </a:lnTo>
                  <a:lnTo>
                    <a:pt x="1892791" y="1042655"/>
                  </a:lnTo>
                  <a:lnTo>
                    <a:pt x="1914571" y="1047871"/>
                  </a:lnTo>
                  <a:lnTo>
                    <a:pt x="1926596" y="1050592"/>
                  </a:lnTo>
                  <a:lnTo>
                    <a:pt x="1939074" y="1053086"/>
                  </a:lnTo>
                  <a:lnTo>
                    <a:pt x="1951779" y="1055580"/>
                  </a:lnTo>
                  <a:lnTo>
                    <a:pt x="1964938" y="1057848"/>
                  </a:lnTo>
                  <a:lnTo>
                    <a:pt x="1978096" y="1059889"/>
                  </a:lnTo>
                  <a:lnTo>
                    <a:pt x="1990801" y="1061476"/>
                  </a:lnTo>
                  <a:lnTo>
                    <a:pt x="2003506" y="1062837"/>
                  </a:lnTo>
                  <a:lnTo>
                    <a:pt x="2015077" y="1063517"/>
                  </a:lnTo>
                  <a:lnTo>
                    <a:pt x="2027328" y="1063971"/>
                  </a:lnTo>
                  <a:lnTo>
                    <a:pt x="2040033" y="1065104"/>
                  </a:lnTo>
                  <a:lnTo>
                    <a:pt x="2053192" y="1066238"/>
                  </a:lnTo>
                  <a:lnTo>
                    <a:pt x="2067031" y="1067826"/>
                  </a:lnTo>
                  <a:lnTo>
                    <a:pt x="2081098" y="1069640"/>
                  </a:lnTo>
                  <a:lnTo>
                    <a:pt x="2095618" y="1071680"/>
                  </a:lnTo>
                  <a:lnTo>
                    <a:pt x="2124885" y="1076216"/>
                  </a:lnTo>
                  <a:lnTo>
                    <a:pt x="2153698" y="1081204"/>
                  </a:lnTo>
                  <a:lnTo>
                    <a:pt x="2181603" y="1086193"/>
                  </a:lnTo>
                  <a:lnTo>
                    <a:pt x="2229701" y="1095264"/>
                  </a:lnTo>
                  <a:lnTo>
                    <a:pt x="2234692" y="1096171"/>
                  </a:lnTo>
                  <a:lnTo>
                    <a:pt x="2239684" y="1097758"/>
                  </a:lnTo>
                  <a:lnTo>
                    <a:pt x="2244675" y="1099345"/>
                  </a:lnTo>
                  <a:lnTo>
                    <a:pt x="2249212" y="1101159"/>
                  </a:lnTo>
                  <a:lnTo>
                    <a:pt x="2253750" y="1103200"/>
                  </a:lnTo>
                  <a:lnTo>
                    <a:pt x="2258287" y="1105468"/>
                  </a:lnTo>
                  <a:lnTo>
                    <a:pt x="2262598" y="1107962"/>
                  </a:lnTo>
                  <a:lnTo>
                    <a:pt x="2263570" y="1108576"/>
                  </a:lnTo>
                  <a:lnTo>
                    <a:pt x="2261707" y="1094105"/>
                  </a:lnTo>
                  <a:lnTo>
                    <a:pt x="2257857" y="1065515"/>
                  </a:lnTo>
                  <a:lnTo>
                    <a:pt x="2254687" y="1037379"/>
                  </a:lnTo>
                  <a:lnTo>
                    <a:pt x="2253978" y="1030395"/>
                  </a:lnTo>
                  <a:lnTo>
                    <a:pt x="2208022" y="1030395"/>
                  </a:lnTo>
                  <a:lnTo>
                    <a:pt x="2203726" y="1029941"/>
                  </a:lnTo>
                  <a:lnTo>
                    <a:pt x="2199657" y="1029487"/>
                  </a:lnTo>
                  <a:lnTo>
                    <a:pt x="2196039" y="1028807"/>
                  </a:lnTo>
                  <a:lnTo>
                    <a:pt x="2192422" y="1027899"/>
                  </a:lnTo>
                  <a:lnTo>
                    <a:pt x="2188804" y="1026311"/>
                  </a:lnTo>
                  <a:lnTo>
                    <a:pt x="2185639" y="1024496"/>
                  </a:lnTo>
                  <a:lnTo>
                    <a:pt x="2182474" y="1022681"/>
                  </a:lnTo>
                  <a:lnTo>
                    <a:pt x="2179309" y="1020413"/>
                  </a:lnTo>
                  <a:lnTo>
                    <a:pt x="2176370" y="1017691"/>
                  </a:lnTo>
                  <a:lnTo>
                    <a:pt x="2172978" y="1014968"/>
                  </a:lnTo>
                  <a:lnTo>
                    <a:pt x="2170039" y="1011565"/>
                  </a:lnTo>
                  <a:lnTo>
                    <a:pt x="2167100" y="1008162"/>
                  </a:lnTo>
                  <a:lnTo>
                    <a:pt x="2164161" y="1004533"/>
                  </a:lnTo>
                  <a:lnTo>
                    <a:pt x="2162132" y="1001713"/>
                  </a:lnTo>
                  <a:lnTo>
                    <a:pt x="1853446" y="1001713"/>
                  </a:lnTo>
                  <a:close/>
                  <a:moveTo>
                    <a:pt x="4275346" y="983674"/>
                  </a:moveTo>
                  <a:lnTo>
                    <a:pt x="4311602" y="1044686"/>
                  </a:lnTo>
                  <a:lnTo>
                    <a:pt x="4336981" y="983674"/>
                  </a:lnTo>
                  <a:lnTo>
                    <a:pt x="4275346" y="983674"/>
                  </a:lnTo>
                  <a:close/>
                  <a:moveTo>
                    <a:pt x="3664434" y="861650"/>
                  </a:moveTo>
                  <a:lnTo>
                    <a:pt x="3663301" y="861877"/>
                  </a:lnTo>
                  <a:lnTo>
                    <a:pt x="3662168" y="862331"/>
                  </a:lnTo>
                  <a:lnTo>
                    <a:pt x="3659676" y="863465"/>
                  </a:lnTo>
                  <a:lnTo>
                    <a:pt x="3657410" y="865052"/>
                  </a:lnTo>
                  <a:lnTo>
                    <a:pt x="3655597" y="867094"/>
                  </a:lnTo>
                  <a:lnTo>
                    <a:pt x="3653558" y="869362"/>
                  </a:lnTo>
                  <a:lnTo>
                    <a:pt x="3651745" y="871630"/>
                  </a:lnTo>
                  <a:lnTo>
                    <a:pt x="3650385" y="873671"/>
                  </a:lnTo>
                  <a:lnTo>
                    <a:pt x="3648346" y="877300"/>
                  </a:lnTo>
                  <a:lnTo>
                    <a:pt x="3647666" y="878434"/>
                  </a:lnTo>
                  <a:lnTo>
                    <a:pt x="3649269" y="901700"/>
                  </a:lnTo>
                  <a:lnTo>
                    <a:pt x="3660775" y="901700"/>
                  </a:lnTo>
                  <a:lnTo>
                    <a:pt x="3660775" y="1001713"/>
                  </a:lnTo>
                  <a:lnTo>
                    <a:pt x="3246438" y="1001713"/>
                  </a:lnTo>
                  <a:lnTo>
                    <a:pt x="3246438" y="2034626"/>
                  </a:lnTo>
                  <a:lnTo>
                    <a:pt x="3247945" y="2034259"/>
                  </a:lnTo>
                  <a:lnTo>
                    <a:pt x="3256556" y="2031991"/>
                  </a:lnTo>
                  <a:lnTo>
                    <a:pt x="3265620" y="2029496"/>
                  </a:lnTo>
                  <a:lnTo>
                    <a:pt x="3274910" y="2026547"/>
                  </a:lnTo>
                  <a:lnTo>
                    <a:pt x="3284427" y="2023145"/>
                  </a:lnTo>
                  <a:lnTo>
                    <a:pt x="3293718" y="2019743"/>
                  </a:lnTo>
                  <a:lnTo>
                    <a:pt x="3303008" y="2015887"/>
                  </a:lnTo>
                  <a:lnTo>
                    <a:pt x="3311846" y="2012258"/>
                  </a:lnTo>
                  <a:lnTo>
                    <a:pt x="3320457" y="2008402"/>
                  </a:lnTo>
                  <a:lnTo>
                    <a:pt x="3328841" y="2004773"/>
                  </a:lnTo>
                  <a:lnTo>
                    <a:pt x="3336092" y="2001144"/>
                  </a:lnTo>
                  <a:lnTo>
                    <a:pt x="3343117" y="1997515"/>
                  </a:lnTo>
                  <a:lnTo>
                    <a:pt x="3349008" y="1994340"/>
                  </a:lnTo>
                  <a:lnTo>
                    <a:pt x="3354220" y="1991392"/>
                  </a:lnTo>
                  <a:lnTo>
                    <a:pt x="3358299" y="1988670"/>
                  </a:lnTo>
                  <a:lnTo>
                    <a:pt x="3365550" y="1983453"/>
                  </a:lnTo>
                  <a:lnTo>
                    <a:pt x="3374161" y="1978010"/>
                  </a:lnTo>
                  <a:lnTo>
                    <a:pt x="3383225" y="1972113"/>
                  </a:lnTo>
                  <a:lnTo>
                    <a:pt x="3392515" y="1965762"/>
                  </a:lnTo>
                  <a:lnTo>
                    <a:pt x="3401353" y="1959411"/>
                  </a:lnTo>
                  <a:lnTo>
                    <a:pt x="3405431" y="1956236"/>
                  </a:lnTo>
                  <a:lnTo>
                    <a:pt x="3409510" y="1953061"/>
                  </a:lnTo>
                  <a:lnTo>
                    <a:pt x="3413362" y="1949659"/>
                  </a:lnTo>
                  <a:lnTo>
                    <a:pt x="3416988" y="1946483"/>
                  </a:lnTo>
                  <a:lnTo>
                    <a:pt x="3419934" y="1943308"/>
                  </a:lnTo>
                  <a:lnTo>
                    <a:pt x="3422653" y="1940132"/>
                  </a:lnTo>
                  <a:lnTo>
                    <a:pt x="3424919" y="1936504"/>
                  </a:lnTo>
                  <a:lnTo>
                    <a:pt x="3427185" y="1932648"/>
                  </a:lnTo>
                  <a:lnTo>
                    <a:pt x="3428771" y="1928338"/>
                  </a:lnTo>
                  <a:lnTo>
                    <a:pt x="3430357" y="1924256"/>
                  </a:lnTo>
                  <a:lnTo>
                    <a:pt x="3431490" y="1919493"/>
                  </a:lnTo>
                  <a:lnTo>
                    <a:pt x="3432623" y="1914957"/>
                  </a:lnTo>
                  <a:lnTo>
                    <a:pt x="3433530" y="1910194"/>
                  </a:lnTo>
                  <a:lnTo>
                    <a:pt x="3433983" y="1905884"/>
                  </a:lnTo>
                  <a:lnTo>
                    <a:pt x="3435116" y="1897719"/>
                  </a:lnTo>
                  <a:lnTo>
                    <a:pt x="3435569" y="1890915"/>
                  </a:lnTo>
                  <a:lnTo>
                    <a:pt x="3435796" y="1884791"/>
                  </a:lnTo>
                  <a:lnTo>
                    <a:pt x="3394555" y="1883430"/>
                  </a:lnTo>
                  <a:lnTo>
                    <a:pt x="3362378" y="1882523"/>
                  </a:lnTo>
                  <a:lnTo>
                    <a:pt x="3339944" y="1882069"/>
                  </a:lnTo>
                  <a:lnTo>
                    <a:pt x="3336319" y="1882069"/>
                  </a:lnTo>
                  <a:lnTo>
                    <a:pt x="3333373" y="1881842"/>
                  </a:lnTo>
                  <a:lnTo>
                    <a:pt x="3330880" y="1881615"/>
                  </a:lnTo>
                  <a:lnTo>
                    <a:pt x="3328388" y="1880708"/>
                  </a:lnTo>
                  <a:lnTo>
                    <a:pt x="3326575" y="1879801"/>
                  </a:lnTo>
                  <a:lnTo>
                    <a:pt x="3324535" y="1878894"/>
                  </a:lnTo>
                  <a:lnTo>
                    <a:pt x="3322949" y="1877306"/>
                  </a:lnTo>
                  <a:lnTo>
                    <a:pt x="3321816" y="1875265"/>
                  </a:lnTo>
                  <a:lnTo>
                    <a:pt x="3320457" y="1872997"/>
                  </a:lnTo>
                  <a:lnTo>
                    <a:pt x="3319550" y="1870275"/>
                  </a:lnTo>
                  <a:lnTo>
                    <a:pt x="3318870" y="1867326"/>
                  </a:lnTo>
                  <a:lnTo>
                    <a:pt x="3318417" y="1863697"/>
                  </a:lnTo>
                  <a:lnTo>
                    <a:pt x="3317737" y="1859615"/>
                  </a:lnTo>
                  <a:lnTo>
                    <a:pt x="3317511" y="1855079"/>
                  </a:lnTo>
                  <a:lnTo>
                    <a:pt x="3317284" y="1843738"/>
                  </a:lnTo>
                  <a:lnTo>
                    <a:pt x="3317284" y="1837614"/>
                  </a:lnTo>
                  <a:lnTo>
                    <a:pt x="3317058" y="1831264"/>
                  </a:lnTo>
                  <a:lnTo>
                    <a:pt x="3316604" y="1824686"/>
                  </a:lnTo>
                  <a:lnTo>
                    <a:pt x="3316151" y="1818109"/>
                  </a:lnTo>
                  <a:lnTo>
                    <a:pt x="3314338" y="1803593"/>
                  </a:lnTo>
                  <a:lnTo>
                    <a:pt x="3312072" y="1788170"/>
                  </a:lnTo>
                  <a:lnTo>
                    <a:pt x="3309353" y="1771159"/>
                  </a:lnTo>
                  <a:lnTo>
                    <a:pt x="3306181" y="1752107"/>
                  </a:lnTo>
                  <a:lnTo>
                    <a:pt x="3298930" y="1706972"/>
                  </a:lnTo>
                  <a:lnTo>
                    <a:pt x="3296664" y="1691549"/>
                  </a:lnTo>
                  <a:lnTo>
                    <a:pt x="3294624" y="1670909"/>
                  </a:lnTo>
                  <a:lnTo>
                    <a:pt x="3291905" y="1646187"/>
                  </a:lnTo>
                  <a:lnTo>
                    <a:pt x="3289186" y="1617608"/>
                  </a:lnTo>
                  <a:lnTo>
                    <a:pt x="3283068" y="1553194"/>
                  </a:lnTo>
                  <a:lnTo>
                    <a:pt x="3276950" y="1483790"/>
                  </a:lnTo>
                  <a:lnTo>
                    <a:pt x="3271058" y="1415521"/>
                  </a:lnTo>
                  <a:lnTo>
                    <a:pt x="3265393" y="1354736"/>
                  </a:lnTo>
                  <a:lnTo>
                    <a:pt x="3262900" y="1328879"/>
                  </a:lnTo>
                  <a:lnTo>
                    <a:pt x="3260634" y="1307559"/>
                  </a:lnTo>
                  <a:lnTo>
                    <a:pt x="3258595" y="1291002"/>
                  </a:lnTo>
                  <a:lnTo>
                    <a:pt x="3257689" y="1284651"/>
                  </a:lnTo>
                  <a:lnTo>
                    <a:pt x="3256782" y="1280342"/>
                  </a:lnTo>
                  <a:lnTo>
                    <a:pt x="3256556" y="1278300"/>
                  </a:lnTo>
                  <a:lnTo>
                    <a:pt x="3256556" y="1276259"/>
                  </a:lnTo>
                  <a:lnTo>
                    <a:pt x="3256556" y="1274445"/>
                  </a:lnTo>
                  <a:lnTo>
                    <a:pt x="3256782" y="1272403"/>
                  </a:lnTo>
                  <a:lnTo>
                    <a:pt x="3257235" y="1270362"/>
                  </a:lnTo>
                  <a:lnTo>
                    <a:pt x="3257689" y="1268321"/>
                  </a:lnTo>
                  <a:lnTo>
                    <a:pt x="3259275" y="1264465"/>
                  </a:lnTo>
                  <a:lnTo>
                    <a:pt x="3261314" y="1260156"/>
                  </a:lnTo>
                  <a:lnTo>
                    <a:pt x="3264033" y="1256300"/>
                  </a:lnTo>
                  <a:lnTo>
                    <a:pt x="3267206" y="1251991"/>
                  </a:lnTo>
                  <a:lnTo>
                    <a:pt x="3271058" y="1247908"/>
                  </a:lnTo>
                  <a:lnTo>
                    <a:pt x="3275137" y="1243599"/>
                  </a:lnTo>
                  <a:lnTo>
                    <a:pt x="3279669" y="1239289"/>
                  </a:lnTo>
                  <a:lnTo>
                    <a:pt x="3284654" y="1235207"/>
                  </a:lnTo>
                  <a:lnTo>
                    <a:pt x="3290092" y="1230897"/>
                  </a:lnTo>
                  <a:lnTo>
                    <a:pt x="3295757" y="1226815"/>
                  </a:lnTo>
                  <a:lnTo>
                    <a:pt x="3301876" y="1222505"/>
                  </a:lnTo>
                  <a:lnTo>
                    <a:pt x="3308447" y="1218196"/>
                  </a:lnTo>
                  <a:lnTo>
                    <a:pt x="3314792" y="1214113"/>
                  </a:lnTo>
                  <a:lnTo>
                    <a:pt x="3329067" y="1205948"/>
                  </a:lnTo>
                  <a:lnTo>
                    <a:pt x="3343570" y="1197783"/>
                  </a:lnTo>
                  <a:lnTo>
                    <a:pt x="3358752" y="1190071"/>
                  </a:lnTo>
                  <a:lnTo>
                    <a:pt x="3374161" y="1182360"/>
                  </a:lnTo>
                  <a:lnTo>
                    <a:pt x="3389343" y="1174875"/>
                  </a:lnTo>
                  <a:lnTo>
                    <a:pt x="3404525" y="1167844"/>
                  </a:lnTo>
                  <a:lnTo>
                    <a:pt x="3433303" y="1155143"/>
                  </a:lnTo>
                  <a:lnTo>
                    <a:pt x="3440328" y="1151967"/>
                  </a:lnTo>
                  <a:lnTo>
                    <a:pt x="3448259" y="1149019"/>
                  </a:lnTo>
                  <a:lnTo>
                    <a:pt x="3456643" y="1145843"/>
                  </a:lnTo>
                  <a:lnTo>
                    <a:pt x="3465480" y="1142895"/>
                  </a:lnTo>
                  <a:lnTo>
                    <a:pt x="3484741" y="1136544"/>
                  </a:lnTo>
                  <a:lnTo>
                    <a:pt x="3505588" y="1129967"/>
                  </a:lnTo>
                  <a:lnTo>
                    <a:pt x="3528022" y="1123616"/>
                  </a:lnTo>
                  <a:lnTo>
                    <a:pt x="3550908" y="1117265"/>
                  </a:lnTo>
                  <a:lnTo>
                    <a:pt x="3574248" y="1111141"/>
                  </a:lnTo>
                  <a:lnTo>
                    <a:pt x="3597588" y="1105244"/>
                  </a:lnTo>
                  <a:lnTo>
                    <a:pt x="3620247" y="1099574"/>
                  </a:lnTo>
                  <a:lnTo>
                    <a:pt x="3642228" y="1094357"/>
                  </a:lnTo>
                  <a:lnTo>
                    <a:pt x="3682109" y="1085058"/>
                  </a:lnTo>
                  <a:lnTo>
                    <a:pt x="3713153" y="1078481"/>
                  </a:lnTo>
                  <a:lnTo>
                    <a:pt x="3724936" y="1076213"/>
                  </a:lnTo>
                  <a:lnTo>
                    <a:pt x="3733094" y="1074852"/>
                  </a:lnTo>
                  <a:lnTo>
                    <a:pt x="3744877" y="1072810"/>
                  </a:lnTo>
                  <a:lnTo>
                    <a:pt x="3749862" y="1071676"/>
                  </a:lnTo>
                  <a:lnTo>
                    <a:pt x="3754621" y="1070542"/>
                  </a:lnTo>
                  <a:lnTo>
                    <a:pt x="3758926" y="1069182"/>
                  </a:lnTo>
                  <a:lnTo>
                    <a:pt x="3762552" y="1068047"/>
                  </a:lnTo>
                  <a:lnTo>
                    <a:pt x="3765724" y="1066460"/>
                  </a:lnTo>
                  <a:lnTo>
                    <a:pt x="3768443" y="1065099"/>
                  </a:lnTo>
                  <a:lnTo>
                    <a:pt x="3770936" y="1063284"/>
                  </a:lnTo>
                  <a:lnTo>
                    <a:pt x="3772975" y="1061470"/>
                  </a:lnTo>
                  <a:lnTo>
                    <a:pt x="3774335" y="1059656"/>
                  </a:lnTo>
                  <a:lnTo>
                    <a:pt x="3775694" y="1057387"/>
                  </a:lnTo>
                  <a:lnTo>
                    <a:pt x="3776374" y="1055119"/>
                  </a:lnTo>
                  <a:lnTo>
                    <a:pt x="3776828" y="1052624"/>
                  </a:lnTo>
                  <a:lnTo>
                    <a:pt x="3776828" y="1049903"/>
                  </a:lnTo>
                  <a:lnTo>
                    <a:pt x="3776374" y="1047181"/>
                  </a:lnTo>
                  <a:lnTo>
                    <a:pt x="3774788" y="1034706"/>
                  </a:lnTo>
                  <a:lnTo>
                    <a:pt x="3773428" y="1028129"/>
                  </a:lnTo>
                  <a:lnTo>
                    <a:pt x="3772069" y="1021325"/>
                  </a:lnTo>
                  <a:lnTo>
                    <a:pt x="3770709" y="1017696"/>
                  </a:lnTo>
                  <a:lnTo>
                    <a:pt x="3769576" y="1014067"/>
                  </a:lnTo>
                  <a:lnTo>
                    <a:pt x="3767990" y="1010438"/>
                  </a:lnTo>
                  <a:lnTo>
                    <a:pt x="3766177" y="1006582"/>
                  </a:lnTo>
                  <a:lnTo>
                    <a:pt x="3764138" y="1002726"/>
                  </a:lnTo>
                  <a:lnTo>
                    <a:pt x="3761645" y="998870"/>
                  </a:lnTo>
                  <a:lnTo>
                    <a:pt x="3758926" y="994561"/>
                  </a:lnTo>
                  <a:lnTo>
                    <a:pt x="3755527" y="990252"/>
                  </a:lnTo>
                  <a:lnTo>
                    <a:pt x="3747143" y="980272"/>
                  </a:lnTo>
                  <a:lnTo>
                    <a:pt x="3736946" y="966890"/>
                  </a:lnTo>
                  <a:lnTo>
                    <a:pt x="3725616" y="951240"/>
                  </a:lnTo>
                  <a:lnTo>
                    <a:pt x="3713380" y="934230"/>
                  </a:lnTo>
                  <a:lnTo>
                    <a:pt x="3701823" y="917219"/>
                  </a:lnTo>
                  <a:lnTo>
                    <a:pt x="3696385" y="908827"/>
                  </a:lnTo>
                  <a:lnTo>
                    <a:pt x="3691173" y="900662"/>
                  </a:lnTo>
                  <a:lnTo>
                    <a:pt x="3686641" y="892950"/>
                  </a:lnTo>
                  <a:lnTo>
                    <a:pt x="3682562" y="885692"/>
                  </a:lnTo>
                  <a:lnTo>
                    <a:pt x="3679163" y="879341"/>
                  </a:lnTo>
                  <a:lnTo>
                    <a:pt x="3676671" y="873218"/>
                  </a:lnTo>
                  <a:lnTo>
                    <a:pt x="3675311" y="870723"/>
                  </a:lnTo>
                  <a:lnTo>
                    <a:pt x="3674178" y="868681"/>
                  </a:lnTo>
                  <a:lnTo>
                    <a:pt x="3673045" y="866867"/>
                  </a:lnTo>
                  <a:lnTo>
                    <a:pt x="3671912" y="865052"/>
                  </a:lnTo>
                  <a:lnTo>
                    <a:pt x="3670552" y="864145"/>
                  </a:lnTo>
                  <a:lnTo>
                    <a:pt x="3669419" y="863011"/>
                  </a:lnTo>
                  <a:lnTo>
                    <a:pt x="3668060" y="862331"/>
                  </a:lnTo>
                  <a:lnTo>
                    <a:pt x="3666927" y="861877"/>
                  </a:lnTo>
                  <a:lnTo>
                    <a:pt x="3665567" y="861650"/>
                  </a:lnTo>
                  <a:lnTo>
                    <a:pt x="3664434" y="861650"/>
                  </a:lnTo>
                  <a:close/>
                  <a:moveTo>
                    <a:pt x="2220472" y="826676"/>
                  </a:moveTo>
                  <a:lnTo>
                    <a:pt x="2208828" y="831767"/>
                  </a:lnTo>
                  <a:lnTo>
                    <a:pt x="2195216" y="837663"/>
                  </a:lnTo>
                  <a:lnTo>
                    <a:pt x="2181830" y="843559"/>
                  </a:lnTo>
                  <a:lnTo>
                    <a:pt x="2166630" y="850815"/>
                  </a:lnTo>
                  <a:lnTo>
                    <a:pt x="2150522" y="858979"/>
                  </a:lnTo>
                  <a:lnTo>
                    <a:pt x="2133506" y="867822"/>
                  </a:lnTo>
                  <a:lnTo>
                    <a:pt x="2122843" y="873945"/>
                  </a:lnTo>
                  <a:lnTo>
                    <a:pt x="2109684" y="881428"/>
                  </a:lnTo>
                  <a:lnTo>
                    <a:pt x="2078602" y="900703"/>
                  </a:lnTo>
                  <a:lnTo>
                    <a:pt x="2077000" y="901700"/>
                  </a:lnTo>
                  <a:lnTo>
                    <a:pt x="2239166" y="901700"/>
                  </a:lnTo>
                  <a:lnTo>
                    <a:pt x="2235378" y="885430"/>
                  </a:lnTo>
                  <a:lnTo>
                    <a:pt x="2228822" y="858660"/>
                  </a:lnTo>
                  <a:lnTo>
                    <a:pt x="2221587" y="830530"/>
                  </a:lnTo>
                  <a:lnTo>
                    <a:pt x="2220472" y="826676"/>
                  </a:lnTo>
                  <a:close/>
                  <a:moveTo>
                    <a:pt x="2743080" y="753710"/>
                  </a:moveTo>
                  <a:lnTo>
                    <a:pt x="2741946" y="753937"/>
                  </a:lnTo>
                  <a:lnTo>
                    <a:pt x="2741040" y="754844"/>
                  </a:lnTo>
                  <a:lnTo>
                    <a:pt x="2739906" y="755750"/>
                  </a:lnTo>
                  <a:lnTo>
                    <a:pt x="2738999" y="757110"/>
                  </a:lnTo>
                  <a:lnTo>
                    <a:pt x="2738319" y="758697"/>
                  </a:lnTo>
                  <a:lnTo>
                    <a:pt x="2737412" y="760737"/>
                  </a:lnTo>
                  <a:lnTo>
                    <a:pt x="2736052" y="765724"/>
                  </a:lnTo>
                  <a:lnTo>
                    <a:pt x="2734692" y="771618"/>
                  </a:lnTo>
                  <a:lnTo>
                    <a:pt x="2733332" y="778872"/>
                  </a:lnTo>
                  <a:lnTo>
                    <a:pt x="2731518" y="787032"/>
                  </a:lnTo>
                  <a:lnTo>
                    <a:pt x="2729251" y="795646"/>
                  </a:lnTo>
                  <a:lnTo>
                    <a:pt x="2726758" y="805394"/>
                  </a:lnTo>
                  <a:lnTo>
                    <a:pt x="2723584" y="815821"/>
                  </a:lnTo>
                  <a:lnTo>
                    <a:pt x="2721770" y="821035"/>
                  </a:lnTo>
                  <a:lnTo>
                    <a:pt x="2719730" y="826475"/>
                  </a:lnTo>
                  <a:lnTo>
                    <a:pt x="2717463" y="831915"/>
                  </a:lnTo>
                  <a:lnTo>
                    <a:pt x="2714969" y="837583"/>
                  </a:lnTo>
                  <a:lnTo>
                    <a:pt x="2714856" y="837822"/>
                  </a:lnTo>
                  <a:lnTo>
                    <a:pt x="2706804" y="873933"/>
                  </a:lnTo>
                  <a:lnTo>
                    <a:pt x="2715680" y="872288"/>
                  </a:lnTo>
                  <a:lnTo>
                    <a:pt x="2736799" y="867591"/>
                  </a:lnTo>
                  <a:lnTo>
                    <a:pt x="2756101" y="863117"/>
                  </a:lnTo>
                  <a:lnTo>
                    <a:pt x="2773813" y="859090"/>
                  </a:lnTo>
                  <a:lnTo>
                    <a:pt x="2790390" y="855064"/>
                  </a:lnTo>
                  <a:lnTo>
                    <a:pt x="2805378" y="851708"/>
                  </a:lnTo>
                  <a:lnTo>
                    <a:pt x="2819230" y="848800"/>
                  </a:lnTo>
                  <a:lnTo>
                    <a:pt x="2820115" y="848642"/>
                  </a:lnTo>
                  <a:lnTo>
                    <a:pt x="2815623" y="842570"/>
                  </a:lnTo>
                  <a:lnTo>
                    <a:pt x="2792727" y="811061"/>
                  </a:lnTo>
                  <a:lnTo>
                    <a:pt x="2773457" y="784766"/>
                  </a:lnTo>
                  <a:lnTo>
                    <a:pt x="2765296" y="774338"/>
                  </a:lnTo>
                  <a:lnTo>
                    <a:pt x="2758722" y="766404"/>
                  </a:lnTo>
                  <a:lnTo>
                    <a:pt x="2753508" y="760511"/>
                  </a:lnTo>
                  <a:lnTo>
                    <a:pt x="2751468" y="758244"/>
                  </a:lnTo>
                  <a:lnTo>
                    <a:pt x="2749427" y="756430"/>
                  </a:lnTo>
                  <a:lnTo>
                    <a:pt x="2747614" y="755297"/>
                  </a:lnTo>
                  <a:lnTo>
                    <a:pt x="2745800" y="754164"/>
                  </a:lnTo>
                  <a:lnTo>
                    <a:pt x="2744440" y="753710"/>
                  </a:lnTo>
                  <a:lnTo>
                    <a:pt x="2743080" y="753710"/>
                  </a:lnTo>
                  <a:close/>
                  <a:moveTo>
                    <a:pt x="547726" y="288896"/>
                  </a:moveTo>
                  <a:lnTo>
                    <a:pt x="546138" y="292070"/>
                  </a:lnTo>
                  <a:lnTo>
                    <a:pt x="545003" y="295472"/>
                  </a:lnTo>
                  <a:lnTo>
                    <a:pt x="543415" y="300234"/>
                  </a:lnTo>
                  <a:lnTo>
                    <a:pt x="541600" y="305449"/>
                  </a:lnTo>
                  <a:lnTo>
                    <a:pt x="540466" y="311345"/>
                  </a:lnTo>
                  <a:lnTo>
                    <a:pt x="539558" y="317241"/>
                  </a:lnTo>
                  <a:lnTo>
                    <a:pt x="539331" y="320642"/>
                  </a:lnTo>
                  <a:lnTo>
                    <a:pt x="538877" y="323590"/>
                  </a:lnTo>
                  <a:lnTo>
                    <a:pt x="538877" y="330393"/>
                  </a:lnTo>
                  <a:lnTo>
                    <a:pt x="538877" y="338557"/>
                  </a:lnTo>
                  <a:lnTo>
                    <a:pt x="538877" y="342865"/>
                  </a:lnTo>
                  <a:lnTo>
                    <a:pt x="539331" y="347400"/>
                  </a:lnTo>
                  <a:lnTo>
                    <a:pt x="539785" y="351709"/>
                  </a:lnTo>
                  <a:lnTo>
                    <a:pt x="540692" y="356244"/>
                  </a:lnTo>
                  <a:lnTo>
                    <a:pt x="541600" y="360553"/>
                  </a:lnTo>
                  <a:lnTo>
                    <a:pt x="543415" y="364408"/>
                  </a:lnTo>
                  <a:lnTo>
                    <a:pt x="545457" y="368489"/>
                  </a:lnTo>
                  <a:lnTo>
                    <a:pt x="546365" y="370077"/>
                  </a:lnTo>
                  <a:lnTo>
                    <a:pt x="547953" y="371891"/>
                  </a:lnTo>
                  <a:lnTo>
                    <a:pt x="549314" y="373478"/>
                  </a:lnTo>
                  <a:lnTo>
                    <a:pt x="550903" y="374839"/>
                  </a:lnTo>
                  <a:lnTo>
                    <a:pt x="552718" y="376426"/>
                  </a:lnTo>
                  <a:lnTo>
                    <a:pt x="554533" y="377560"/>
                  </a:lnTo>
                  <a:lnTo>
                    <a:pt x="556575" y="378920"/>
                  </a:lnTo>
                  <a:lnTo>
                    <a:pt x="558844" y="379601"/>
                  </a:lnTo>
                  <a:lnTo>
                    <a:pt x="561340" y="380508"/>
                  </a:lnTo>
                  <a:lnTo>
                    <a:pt x="564063" y="380961"/>
                  </a:lnTo>
                  <a:lnTo>
                    <a:pt x="569054" y="382095"/>
                  </a:lnTo>
                  <a:lnTo>
                    <a:pt x="573365" y="382322"/>
                  </a:lnTo>
                  <a:lnTo>
                    <a:pt x="577223" y="382095"/>
                  </a:lnTo>
                  <a:lnTo>
                    <a:pt x="578811" y="381642"/>
                  </a:lnTo>
                  <a:lnTo>
                    <a:pt x="580399" y="381415"/>
                  </a:lnTo>
                  <a:lnTo>
                    <a:pt x="581987" y="380508"/>
                  </a:lnTo>
                  <a:lnTo>
                    <a:pt x="583122" y="380054"/>
                  </a:lnTo>
                  <a:lnTo>
                    <a:pt x="584029" y="379374"/>
                  </a:lnTo>
                  <a:lnTo>
                    <a:pt x="585164" y="378240"/>
                  </a:lnTo>
                  <a:lnTo>
                    <a:pt x="585845" y="377333"/>
                  </a:lnTo>
                  <a:lnTo>
                    <a:pt x="586525" y="376426"/>
                  </a:lnTo>
                  <a:lnTo>
                    <a:pt x="587660" y="373932"/>
                  </a:lnTo>
                  <a:lnTo>
                    <a:pt x="588114" y="371437"/>
                  </a:lnTo>
                  <a:lnTo>
                    <a:pt x="588114" y="368489"/>
                  </a:lnTo>
                  <a:lnTo>
                    <a:pt x="587887" y="365541"/>
                  </a:lnTo>
                  <a:lnTo>
                    <a:pt x="587206" y="361913"/>
                  </a:lnTo>
                  <a:lnTo>
                    <a:pt x="585845" y="358739"/>
                  </a:lnTo>
                  <a:lnTo>
                    <a:pt x="584256" y="355337"/>
                  </a:lnTo>
                  <a:lnTo>
                    <a:pt x="582441" y="351482"/>
                  </a:lnTo>
                  <a:lnTo>
                    <a:pt x="580399" y="348081"/>
                  </a:lnTo>
                  <a:lnTo>
                    <a:pt x="575407" y="340824"/>
                  </a:lnTo>
                  <a:lnTo>
                    <a:pt x="569962" y="333568"/>
                  </a:lnTo>
                  <a:lnTo>
                    <a:pt x="564516" y="326085"/>
                  </a:lnTo>
                  <a:lnTo>
                    <a:pt x="559298" y="318375"/>
                  </a:lnTo>
                  <a:lnTo>
                    <a:pt x="556802" y="314520"/>
                  </a:lnTo>
                  <a:lnTo>
                    <a:pt x="554533" y="310892"/>
                  </a:lnTo>
                  <a:lnTo>
                    <a:pt x="552718" y="307037"/>
                  </a:lnTo>
                  <a:lnTo>
                    <a:pt x="550903" y="303182"/>
                  </a:lnTo>
                  <a:lnTo>
                    <a:pt x="549541" y="299554"/>
                  </a:lnTo>
                  <a:lnTo>
                    <a:pt x="548407" y="295925"/>
                  </a:lnTo>
                  <a:lnTo>
                    <a:pt x="547953" y="292297"/>
                  </a:lnTo>
                  <a:lnTo>
                    <a:pt x="547726" y="288896"/>
                  </a:lnTo>
                  <a:close/>
                  <a:moveTo>
                    <a:pt x="680233" y="0"/>
                  </a:moveTo>
                  <a:lnTo>
                    <a:pt x="686132" y="0"/>
                  </a:lnTo>
                  <a:lnTo>
                    <a:pt x="692032" y="453"/>
                  </a:lnTo>
                  <a:lnTo>
                    <a:pt x="697931" y="1134"/>
                  </a:lnTo>
                  <a:lnTo>
                    <a:pt x="703830" y="2494"/>
                  </a:lnTo>
                  <a:lnTo>
                    <a:pt x="709957" y="3855"/>
                  </a:lnTo>
                  <a:lnTo>
                    <a:pt x="715856" y="5669"/>
                  </a:lnTo>
                  <a:lnTo>
                    <a:pt x="721528" y="7937"/>
                  </a:lnTo>
                  <a:lnTo>
                    <a:pt x="727201" y="10431"/>
                  </a:lnTo>
                  <a:lnTo>
                    <a:pt x="732873" y="12926"/>
                  </a:lnTo>
                  <a:lnTo>
                    <a:pt x="738318" y="15874"/>
                  </a:lnTo>
                  <a:lnTo>
                    <a:pt x="743537" y="19048"/>
                  </a:lnTo>
                  <a:lnTo>
                    <a:pt x="748529" y="22223"/>
                  </a:lnTo>
                  <a:lnTo>
                    <a:pt x="753294" y="25624"/>
                  </a:lnTo>
                  <a:lnTo>
                    <a:pt x="757832" y="29479"/>
                  </a:lnTo>
                  <a:lnTo>
                    <a:pt x="762596" y="33107"/>
                  </a:lnTo>
                  <a:lnTo>
                    <a:pt x="767361" y="37189"/>
                  </a:lnTo>
                  <a:lnTo>
                    <a:pt x="778025" y="45126"/>
                  </a:lnTo>
                  <a:lnTo>
                    <a:pt x="789824" y="53063"/>
                  </a:lnTo>
                  <a:lnTo>
                    <a:pt x="801396" y="60772"/>
                  </a:lnTo>
                  <a:lnTo>
                    <a:pt x="812513" y="67575"/>
                  </a:lnTo>
                  <a:lnTo>
                    <a:pt x="822951" y="73925"/>
                  </a:lnTo>
                  <a:lnTo>
                    <a:pt x="831346" y="78687"/>
                  </a:lnTo>
                  <a:lnTo>
                    <a:pt x="837699" y="82315"/>
                  </a:lnTo>
                  <a:lnTo>
                    <a:pt x="840195" y="83675"/>
                  </a:lnTo>
                  <a:lnTo>
                    <a:pt x="842464" y="85490"/>
                  </a:lnTo>
                  <a:lnTo>
                    <a:pt x="844279" y="87304"/>
                  </a:lnTo>
                  <a:lnTo>
                    <a:pt x="846094" y="88891"/>
                  </a:lnTo>
                  <a:lnTo>
                    <a:pt x="847682" y="90932"/>
                  </a:lnTo>
                  <a:lnTo>
                    <a:pt x="848817" y="92973"/>
                  </a:lnTo>
                  <a:lnTo>
                    <a:pt x="849951" y="95014"/>
                  </a:lnTo>
                  <a:lnTo>
                    <a:pt x="850859" y="97054"/>
                  </a:lnTo>
                  <a:lnTo>
                    <a:pt x="851313" y="99095"/>
                  </a:lnTo>
                  <a:lnTo>
                    <a:pt x="851539" y="101136"/>
                  </a:lnTo>
                  <a:lnTo>
                    <a:pt x="851539" y="103177"/>
                  </a:lnTo>
                  <a:lnTo>
                    <a:pt x="851313" y="104764"/>
                  </a:lnTo>
                  <a:lnTo>
                    <a:pt x="850859" y="106579"/>
                  </a:lnTo>
                  <a:lnTo>
                    <a:pt x="849951" y="108393"/>
                  </a:lnTo>
                  <a:lnTo>
                    <a:pt x="848817" y="109753"/>
                  </a:lnTo>
                  <a:lnTo>
                    <a:pt x="847228" y="110887"/>
                  </a:lnTo>
                  <a:lnTo>
                    <a:pt x="844506" y="112928"/>
                  </a:lnTo>
                  <a:lnTo>
                    <a:pt x="841783" y="115195"/>
                  </a:lnTo>
                  <a:lnTo>
                    <a:pt x="839968" y="117463"/>
                  </a:lnTo>
                  <a:lnTo>
                    <a:pt x="838380" y="119957"/>
                  </a:lnTo>
                  <a:lnTo>
                    <a:pt x="837926" y="121091"/>
                  </a:lnTo>
                  <a:lnTo>
                    <a:pt x="837472" y="122452"/>
                  </a:lnTo>
                  <a:lnTo>
                    <a:pt x="837245" y="123812"/>
                  </a:lnTo>
                  <a:lnTo>
                    <a:pt x="837018" y="125400"/>
                  </a:lnTo>
                  <a:lnTo>
                    <a:pt x="837245" y="128574"/>
                  </a:lnTo>
                  <a:lnTo>
                    <a:pt x="837699" y="132656"/>
                  </a:lnTo>
                  <a:lnTo>
                    <a:pt x="840195" y="141500"/>
                  </a:lnTo>
                  <a:lnTo>
                    <a:pt x="841329" y="146942"/>
                  </a:lnTo>
                  <a:lnTo>
                    <a:pt x="842464" y="152611"/>
                  </a:lnTo>
                  <a:lnTo>
                    <a:pt x="843144" y="159187"/>
                  </a:lnTo>
                  <a:lnTo>
                    <a:pt x="843371" y="162589"/>
                  </a:lnTo>
                  <a:lnTo>
                    <a:pt x="843371" y="165990"/>
                  </a:lnTo>
                  <a:lnTo>
                    <a:pt x="843144" y="169618"/>
                  </a:lnTo>
                  <a:lnTo>
                    <a:pt x="842917" y="173247"/>
                  </a:lnTo>
                  <a:lnTo>
                    <a:pt x="842464" y="177328"/>
                  </a:lnTo>
                  <a:lnTo>
                    <a:pt x="841556" y="181183"/>
                  </a:lnTo>
                  <a:lnTo>
                    <a:pt x="839968" y="189120"/>
                  </a:lnTo>
                  <a:lnTo>
                    <a:pt x="838606" y="196830"/>
                  </a:lnTo>
                  <a:lnTo>
                    <a:pt x="838153" y="200231"/>
                  </a:lnTo>
                  <a:lnTo>
                    <a:pt x="837926" y="203860"/>
                  </a:lnTo>
                  <a:lnTo>
                    <a:pt x="837926" y="207261"/>
                  </a:lnTo>
                  <a:lnTo>
                    <a:pt x="838153" y="210663"/>
                  </a:lnTo>
                  <a:lnTo>
                    <a:pt x="838380" y="213837"/>
                  </a:lnTo>
                  <a:lnTo>
                    <a:pt x="838833" y="217239"/>
                  </a:lnTo>
                  <a:lnTo>
                    <a:pt x="839741" y="220187"/>
                  </a:lnTo>
                  <a:lnTo>
                    <a:pt x="840648" y="223134"/>
                  </a:lnTo>
                  <a:lnTo>
                    <a:pt x="841783" y="225856"/>
                  </a:lnTo>
                  <a:lnTo>
                    <a:pt x="843598" y="228577"/>
                  </a:lnTo>
                  <a:lnTo>
                    <a:pt x="845413" y="231298"/>
                  </a:lnTo>
                  <a:lnTo>
                    <a:pt x="847228" y="233792"/>
                  </a:lnTo>
                  <a:lnTo>
                    <a:pt x="850632" y="237420"/>
                  </a:lnTo>
                  <a:lnTo>
                    <a:pt x="854035" y="241956"/>
                  </a:lnTo>
                  <a:lnTo>
                    <a:pt x="861296" y="251933"/>
                  </a:lnTo>
                  <a:lnTo>
                    <a:pt x="868103" y="261004"/>
                  </a:lnTo>
                  <a:lnTo>
                    <a:pt x="871052" y="264632"/>
                  </a:lnTo>
                  <a:lnTo>
                    <a:pt x="873548" y="266900"/>
                  </a:lnTo>
                  <a:lnTo>
                    <a:pt x="874683" y="268034"/>
                  </a:lnTo>
                  <a:lnTo>
                    <a:pt x="875590" y="269167"/>
                  </a:lnTo>
                  <a:lnTo>
                    <a:pt x="876271" y="270528"/>
                  </a:lnTo>
                  <a:lnTo>
                    <a:pt x="877179" y="271888"/>
                  </a:lnTo>
                  <a:lnTo>
                    <a:pt x="877632" y="273476"/>
                  </a:lnTo>
                  <a:lnTo>
                    <a:pt x="877859" y="274836"/>
                  </a:lnTo>
                  <a:lnTo>
                    <a:pt x="878086" y="276424"/>
                  </a:lnTo>
                  <a:lnTo>
                    <a:pt x="877859" y="278011"/>
                  </a:lnTo>
                  <a:lnTo>
                    <a:pt x="877632" y="279372"/>
                  </a:lnTo>
                  <a:lnTo>
                    <a:pt x="877179" y="280959"/>
                  </a:lnTo>
                  <a:lnTo>
                    <a:pt x="876271" y="282093"/>
                  </a:lnTo>
                  <a:lnTo>
                    <a:pt x="875364" y="283453"/>
                  </a:lnTo>
                  <a:lnTo>
                    <a:pt x="874229" y="284360"/>
                  </a:lnTo>
                  <a:lnTo>
                    <a:pt x="872641" y="285267"/>
                  </a:lnTo>
                  <a:lnTo>
                    <a:pt x="870826" y="285948"/>
                  </a:lnTo>
                  <a:lnTo>
                    <a:pt x="869010" y="286401"/>
                  </a:lnTo>
                  <a:lnTo>
                    <a:pt x="864472" y="286855"/>
                  </a:lnTo>
                  <a:lnTo>
                    <a:pt x="860162" y="287535"/>
                  </a:lnTo>
                  <a:lnTo>
                    <a:pt x="856077" y="288896"/>
                  </a:lnTo>
                  <a:lnTo>
                    <a:pt x="852447" y="290029"/>
                  </a:lnTo>
                  <a:lnTo>
                    <a:pt x="850859" y="290710"/>
                  </a:lnTo>
                  <a:lnTo>
                    <a:pt x="849497" y="291844"/>
                  </a:lnTo>
                  <a:lnTo>
                    <a:pt x="848363" y="292751"/>
                  </a:lnTo>
                  <a:lnTo>
                    <a:pt x="847002" y="294111"/>
                  </a:lnTo>
                  <a:lnTo>
                    <a:pt x="846321" y="295018"/>
                  </a:lnTo>
                  <a:lnTo>
                    <a:pt x="845640" y="296606"/>
                  </a:lnTo>
                  <a:lnTo>
                    <a:pt x="845186" y="297739"/>
                  </a:lnTo>
                  <a:lnTo>
                    <a:pt x="845186" y="299327"/>
                  </a:lnTo>
                  <a:lnTo>
                    <a:pt x="845413" y="302501"/>
                  </a:lnTo>
                  <a:lnTo>
                    <a:pt x="845867" y="305676"/>
                  </a:lnTo>
                  <a:lnTo>
                    <a:pt x="846321" y="308624"/>
                  </a:lnTo>
                  <a:lnTo>
                    <a:pt x="846548" y="311572"/>
                  </a:lnTo>
                  <a:lnTo>
                    <a:pt x="846548" y="314293"/>
                  </a:lnTo>
                  <a:lnTo>
                    <a:pt x="846548" y="315427"/>
                  </a:lnTo>
                  <a:lnTo>
                    <a:pt x="846094" y="316561"/>
                  </a:lnTo>
                  <a:lnTo>
                    <a:pt x="845640" y="317695"/>
                  </a:lnTo>
                  <a:lnTo>
                    <a:pt x="844960" y="318375"/>
                  </a:lnTo>
                  <a:lnTo>
                    <a:pt x="843825" y="319055"/>
                  </a:lnTo>
                  <a:lnTo>
                    <a:pt x="842690" y="319509"/>
                  </a:lnTo>
                  <a:lnTo>
                    <a:pt x="840195" y="320642"/>
                  </a:lnTo>
                  <a:lnTo>
                    <a:pt x="837699" y="322003"/>
                  </a:lnTo>
                  <a:lnTo>
                    <a:pt x="835884" y="323817"/>
                  </a:lnTo>
                  <a:lnTo>
                    <a:pt x="834522" y="325858"/>
                  </a:lnTo>
                  <a:lnTo>
                    <a:pt x="833842" y="326765"/>
                  </a:lnTo>
                  <a:lnTo>
                    <a:pt x="833615" y="327672"/>
                  </a:lnTo>
                  <a:lnTo>
                    <a:pt x="833388" y="328806"/>
                  </a:lnTo>
                  <a:lnTo>
                    <a:pt x="833388" y="329940"/>
                  </a:lnTo>
                  <a:lnTo>
                    <a:pt x="833615" y="331073"/>
                  </a:lnTo>
                  <a:lnTo>
                    <a:pt x="833842" y="331981"/>
                  </a:lnTo>
                  <a:lnTo>
                    <a:pt x="834522" y="332888"/>
                  </a:lnTo>
                  <a:lnTo>
                    <a:pt x="835430" y="333795"/>
                  </a:lnTo>
                  <a:lnTo>
                    <a:pt x="837472" y="335382"/>
                  </a:lnTo>
                  <a:lnTo>
                    <a:pt x="839741" y="336969"/>
                  </a:lnTo>
                  <a:lnTo>
                    <a:pt x="844279" y="339237"/>
                  </a:lnTo>
                  <a:lnTo>
                    <a:pt x="846548" y="340371"/>
                  </a:lnTo>
                  <a:lnTo>
                    <a:pt x="848363" y="341731"/>
                  </a:lnTo>
                  <a:lnTo>
                    <a:pt x="848817" y="342412"/>
                  </a:lnTo>
                  <a:lnTo>
                    <a:pt x="849270" y="343092"/>
                  </a:lnTo>
                  <a:lnTo>
                    <a:pt x="849724" y="343772"/>
                  </a:lnTo>
                  <a:lnTo>
                    <a:pt x="849724" y="344679"/>
                  </a:lnTo>
                  <a:lnTo>
                    <a:pt x="849497" y="346267"/>
                  </a:lnTo>
                  <a:lnTo>
                    <a:pt x="848817" y="347854"/>
                  </a:lnTo>
                  <a:lnTo>
                    <a:pt x="847682" y="349441"/>
                  </a:lnTo>
                  <a:lnTo>
                    <a:pt x="846094" y="350575"/>
                  </a:lnTo>
                  <a:lnTo>
                    <a:pt x="842010" y="353296"/>
                  </a:lnTo>
                  <a:lnTo>
                    <a:pt x="837699" y="356471"/>
                  </a:lnTo>
                  <a:lnTo>
                    <a:pt x="833615" y="359646"/>
                  </a:lnTo>
                  <a:lnTo>
                    <a:pt x="832253" y="361233"/>
                  </a:lnTo>
                  <a:lnTo>
                    <a:pt x="830892" y="363047"/>
                  </a:lnTo>
                  <a:lnTo>
                    <a:pt x="830211" y="364634"/>
                  </a:lnTo>
                  <a:lnTo>
                    <a:pt x="829984" y="366675"/>
                  </a:lnTo>
                  <a:lnTo>
                    <a:pt x="829984" y="369170"/>
                  </a:lnTo>
                  <a:lnTo>
                    <a:pt x="830665" y="371891"/>
                  </a:lnTo>
                  <a:lnTo>
                    <a:pt x="831346" y="375065"/>
                  </a:lnTo>
                  <a:lnTo>
                    <a:pt x="832026" y="378013"/>
                  </a:lnTo>
                  <a:lnTo>
                    <a:pt x="832026" y="380961"/>
                  </a:lnTo>
                  <a:lnTo>
                    <a:pt x="832026" y="383909"/>
                  </a:lnTo>
                  <a:lnTo>
                    <a:pt x="831119" y="386857"/>
                  </a:lnTo>
                  <a:lnTo>
                    <a:pt x="829758" y="389805"/>
                  </a:lnTo>
                  <a:lnTo>
                    <a:pt x="827942" y="392753"/>
                  </a:lnTo>
                  <a:lnTo>
                    <a:pt x="825446" y="395701"/>
                  </a:lnTo>
                  <a:lnTo>
                    <a:pt x="823858" y="397288"/>
                  </a:lnTo>
                  <a:lnTo>
                    <a:pt x="821816" y="398422"/>
                  </a:lnTo>
                  <a:lnTo>
                    <a:pt x="819774" y="399329"/>
                  </a:lnTo>
                  <a:lnTo>
                    <a:pt x="817278" y="400236"/>
                  </a:lnTo>
                  <a:lnTo>
                    <a:pt x="814782" y="400690"/>
                  </a:lnTo>
                  <a:lnTo>
                    <a:pt x="811833" y="401143"/>
                  </a:lnTo>
                  <a:lnTo>
                    <a:pt x="805933" y="401597"/>
                  </a:lnTo>
                  <a:lnTo>
                    <a:pt x="799127" y="401823"/>
                  </a:lnTo>
                  <a:lnTo>
                    <a:pt x="792093" y="401823"/>
                  </a:lnTo>
                  <a:lnTo>
                    <a:pt x="784605" y="401823"/>
                  </a:lnTo>
                  <a:lnTo>
                    <a:pt x="777118" y="402504"/>
                  </a:lnTo>
                  <a:lnTo>
                    <a:pt x="773487" y="402957"/>
                  </a:lnTo>
                  <a:lnTo>
                    <a:pt x="770084" y="403864"/>
                  </a:lnTo>
                  <a:lnTo>
                    <a:pt x="766907" y="405452"/>
                  </a:lnTo>
                  <a:lnTo>
                    <a:pt x="763958" y="407266"/>
                  </a:lnTo>
                  <a:lnTo>
                    <a:pt x="761235" y="409533"/>
                  </a:lnTo>
                  <a:lnTo>
                    <a:pt x="758512" y="412028"/>
                  </a:lnTo>
                  <a:lnTo>
                    <a:pt x="756016" y="414976"/>
                  </a:lnTo>
                  <a:lnTo>
                    <a:pt x="753520" y="418377"/>
                  </a:lnTo>
                  <a:lnTo>
                    <a:pt x="751252" y="422005"/>
                  </a:lnTo>
                  <a:lnTo>
                    <a:pt x="748983" y="425633"/>
                  </a:lnTo>
                  <a:lnTo>
                    <a:pt x="744898" y="434250"/>
                  </a:lnTo>
                  <a:lnTo>
                    <a:pt x="740588" y="443321"/>
                  </a:lnTo>
                  <a:lnTo>
                    <a:pt x="736503" y="453072"/>
                  </a:lnTo>
                  <a:lnTo>
                    <a:pt x="734461" y="457834"/>
                  </a:lnTo>
                  <a:lnTo>
                    <a:pt x="732873" y="462142"/>
                  </a:lnTo>
                  <a:lnTo>
                    <a:pt x="731512" y="466451"/>
                  </a:lnTo>
                  <a:lnTo>
                    <a:pt x="730831" y="470079"/>
                  </a:lnTo>
                  <a:lnTo>
                    <a:pt x="729923" y="473480"/>
                  </a:lnTo>
                  <a:lnTo>
                    <a:pt x="729696" y="476655"/>
                  </a:lnTo>
                  <a:lnTo>
                    <a:pt x="729696" y="479376"/>
                  </a:lnTo>
                  <a:lnTo>
                    <a:pt x="729696" y="481644"/>
                  </a:lnTo>
                  <a:lnTo>
                    <a:pt x="730150" y="483685"/>
                  </a:lnTo>
                  <a:lnTo>
                    <a:pt x="731058" y="485499"/>
                  </a:lnTo>
                  <a:lnTo>
                    <a:pt x="731739" y="486859"/>
                  </a:lnTo>
                  <a:lnTo>
                    <a:pt x="732646" y="488220"/>
                  </a:lnTo>
                  <a:lnTo>
                    <a:pt x="734008" y="489127"/>
                  </a:lnTo>
                  <a:lnTo>
                    <a:pt x="735142" y="490034"/>
                  </a:lnTo>
                  <a:lnTo>
                    <a:pt x="736730" y="490261"/>
                  </a:lnTo>
                  <a:lnTo>
                    <a:pt x="738092" y="490488"/>
                  </a:lnTo>
                  <a:lnTo>
                    <a:pt x="741495" y="490714"/>
                  </a:lnTo>
                  <a:lnTo>
                    <a:pt x="745125" y="491395"/>
                  </a:lnTo>
                  <a:lnTo>
                    <a:pt x="748983" y="492982"/>
                  </a:lnTo>
                  <a:lnTo>
                    <a:pt x="753294" y="494796"/>
                  </a:lnTo>
                  <a:lnTo>
                    <a:pt x="758285" y="497290"/>
                  </a:lnTo>
                  <a:lnTo>
                    <a:pt x="763504" y="500012"/>
                  </a:lnTo>
                  <a:lnTo>
                    <a:pt x="775302" y="507041"/>
                  </a:lnTo>
                  <a:lnTo>
                    <a:pt x="778933" y="509309"/>
                  </a:lnTo>
                  <a:lnTo>
                    <a:pt x="782336" y="512257"/>
                  </a:lnTo>
                  <a:lnTo>
                    <a:pt x="785967" y="515885"/>
                  </a:lnTo>
                  <a:lnTo>
                    <a:pt x="790051" y="520193"/>
                  </a:lnTo>
                  <a:lnTo>
                    <a:pt x="793908" y="525182"/>
                  </a:lnTo>
                  <a:lnTo>
                    <a:pt x="798219" y="530398"/>
                  </a:lnTo>
                  <a:lnTo>
                    <a:pt x="802530" y="536067"/>
                  </a:lnTo>
                  <a:lnTo>
                    <a:pt x="806614" y="542189"/>
                  </a:lnTo>
                  <a:lnTo>
                    <a:pt x="815009" y="554888"/>
                  </a:lnTo>
                  <a:lnTo>
                    <a:pt x="823404" y="568267"/>
                  </a:lnTo>
                  <a:lnTo>
                    <a:pt x="831346" y="581646"/>
                  </a:lnTo>
                  <a:lnTo>
                    <a:pt x="838606" y="594118"/>
                  </a:lnTo>
                  <a:lnTo>
                    <a:pt x="840648" y="597519"/>
                  </a:lnTo>
                  <a:lnTo>
                    <a:pt x="843144" y="601374"/>
                  </a:lnTo>
                  <a:lnTo>
                    <a:pt x="849497" y="610218"/>
                  </a:lnTo>
                  <a:lnTo>
                    <a:pt x="857666" y="620876"/>
                  </a:lnTo>
                  <a:lnTo>
                    <a:pt x="866968" y="632668"/>
                  </a:lnTo>
                  <a:lnTo>
                    <a:pt x="877406" y="645593"/>
                  </a:lnTo>
                  <a:lnTo>
                    <a:pt x="888523" y="659199"/>
                  </a:lnTo>
                  <a:lnTo>
                    <a:pt x="912121" y="687091"/>
                  </a:lnTo>
                  <a:lnTo>
                    <a:pt x="934810" y="713622"/>
                  </a:lnTo>
                  <a:lnTo>
                    <a:pt x="954777" y="736752"/>
                  </a:lnTo>
                  <a:lnTo>
                    <a:pt x="969298" y="753759"/>
                  </a:lnTo>
                  <a:lnTo>
                    <a:pt x="976559" y="761922"/>
                  </a:lnTo>
                  <a:lnTo>
                    <a:pt x="979282" y="764870"/>
                  </a:lnTo>
                  <a:lnTo>
                    <a:pt x="982004" y="767365"/>
                  </a:lnTo>
                  <a:lnTo>
                    <a:pt x="984954" y="769405"/>
                  </a:lnTo>
                  <a:lnTo>
                    <a:pt x="987904" y="770993"/>
                  </a:lnTo>
                  <a:lnTo>
                    <a:pt x="989265" y="771446"/>
                  </a:lnTo>
                  <a:lnTo>
                    <a:pt x="990400" y="771673"/>
                  </a:lnTo>
                  <a:lnTo>
                    <a:pt x="991761" y="771673"/>
                  </a:lnTo>
                  <a:lnTo>
                    <a:pt x="992669" y="771673"/>
                  </a:lnTo>
                  <a:lnTo>
                    <a:pt x="993803" y="771220"/>
                  </a:lnTo>
                  <a:lnTo>
                    <a:pt x="994484" y="770539"/>
                  </a:lnTo>
                  <a:lnTo>
                    <a:pt x="995164" y="769632"/>
                  </a:lnTo>
                  <a:lnTo>
                    <a:pt x="995618" y="768725"/>
                  </a:lnTo>
                  <a:lnTo>
                    <a:pt x="1003106" y="731536"/>
                  </a:lnTo>
                  <a:lnTo>
                    <a:pt x="1018308" y="654664"/>
                  </a:lnTo>
                  <a:lnTo>
                    <a:pt x="1033737" y="575750"/>
                  </a:lnTo>
                  <a:lnTo>
                    <a:pt x="1042132" y="531758"/>
                  </a:lnTo>
                  <a:lnTo>
                    <a:pt x="1042812" y="528584"/>
                  </a:lnTo>
                  <a:lnTo>
                    <a:pt x="1043720" y="525862"/>
                  </a:lnTo>
                  <a:lnTo>
                    <a:pt x="1045081" y="523141"/>
                  </a:lnTo>
                  <a:lnTo>
                    <a:pt x="1046443" y="521100"/>
                  </a:lnTo>
                  <a:lnTo>
                    <a:pt x="1048031" y="519286"/>
                  </a:lnTo>
                  <a:lnTo>
                    <a:pt x="1049846" y="517472"/>
                  </a:lnTo>
                  <a:lnTo>
                    <a:pt x="1051662" y="516112"/>
                  </a:lnTo>
                  <a:lnTo>
                    <a:pt x="1053930" y="514978"/>
                  </a:lnTo>
                  <a:lnTo>
                    <a:pt x="1056199" y="514298"/>
                  </a:lnTo>
                  <a:lnTo>
                    <a:pt x="1058695" y="513391"/>
                  </a:lnTo>
                  <a:lnTo>
                    <a:pt x="1061191" y="512937"/>
                  </a:lnTo>
                  <a:lnTo>
                    <a:pt x="1063914" y="512484"/>
                  </a:lnTo>
                  <a:lnTo>
                    <a:pt x="1069813" y="512030"/>
                  </a:lnTo>
                  <a:lnTo>
                    <a:pt x="1075939" y="512030"/>
                  </a:lnTo>
                  <a:lnTo>
                    <a:pt x="1093183" y="511350"/>
                  </a:lnTo>
                  <a:lnTo>
                    <a:pt x="1127672" y="509536"/>
                  </a:lnTo>
                  <a:lnTo>
                    <a:pt x="1225464" y="504547"/>
                  </a:lnTo>
                  <a:lnTo>
                    <a:pt x="1324390" y="499331"/>
                  </a:lnTo>
                  <a:lnTo>
                    <a:pt x="1359786" y="497517"/>
                  </a:lnTo>
                  <a:lnTo>
                    <a:pt x="1378391" y="496837"/>
                  </a:lnTo>
                  <a:lnTo>
                    <a:pt x="1382475" y="497064"/>
                  </a:lnTo>
                  <a:lnTo>
                    <a:pt x="1386106" y="497290"/>
                  </a:lnTo>
                  <a:lnTo>
                    <a:pt x="1389509" y="498197"/>
                  </a:lnTo>
                  <a:lnTo>
                    <a:pt x="1392686" y="498878"/>
                  </a:lnTo>
                  <a:lnTo>
                    <a:pt x="1395182" y="499785"/>
                  </a:lnTo>
                  <a:lnTo>
                    <a:pt x="1397450" y="501372"/>
                  </a:lnTo>
                  <a:lnTo>
                    <a:pt x="1399492" y="502733"/>
                  </a:lnTo>
                  <a:lnTo>
                    <a:pt x="1401308" y="504547"/>
                  </a:lnTo>
                  <a:lnTo>
                    <a:pt x="1402442" y="506814"/>
                  </a:lnTo>
                  <a:lnTo>
                    <a:pt x="1403804" y="509082"/>
                  </a:lnTo>
                  <a:lnTo>
                    <a:pt x="1404257" y="511803"/>
                  </a:lnTo>
                  <a:lnTo>
                    <a:pt x="1404711" y="514524"/>
                  </a:lnTo>
                  <a:lnTo>
                    <a:pt x="1404938" y="517699"/>
                  </a:lnTo>
                  <a:lnTo>
                    <a:pt x="1404711" y="520874"/>
                  </a:lnTo>
                  <a:lnTo>
                    <a:pt x="1404257" y="524729"/>
                  </a:lnTo>
                  <a:lnTo>
                    <a:pt x="1403577" y="528584"/>
                  </a:lnTo>
                  <a:lnTo>
                    <a:pt x="1397904" y="555568"/>
                  </a:lnTo>
                  <a:lnTo>
                    <a:pt x="1386332" y="613393"/>
                  </a:lnTo>
                  <a:lnTo>
                    <a:pt x="1353886" y="778929"/>
                  </a:lnTo>
                  <a:lnTo>
                    <a:pt x="1351865" y="789240"/>
                  </a:lnTo>
                  <a:lnTo>
                    <a:pt x="1356912" y="789590"/>
                  </a:lnTo>
                  <a:lnTo>
                    <a:pt x="1382549" y="790497"/>
                  </a:lnTo>
                  <a:lnTo>
                    <a:pt x="1409547" y="791631"/>
                  </a:lnTo>
                  <a:lnTo>
                    <a:pt x="1437226" y="792084"/>
                  </a:lnTo>
                  <a:lnTo>
                    <a:pt x="1463770" y="792311"/>
                  </a:lnTo>
                  <a:lnTo>
                    <a:pt x="1487819" y="792084"/>
                  </a:lnTo>
                  <a:lnTo>
                    <a:pt x="1488008" y="791357"/>
                  </a:lnTo>
                  <a:lnTo>
                    <a:pt x="1487487" y="791299"/>
                  </a:lnTo>
                  <a:lnTo>
                    <a:pt x="1488025" y="791291"/>
                  </a:lnTo>
                  <a:lnTo>
                    <a:pt x="1490995" y="779839"/>
                  </a:lnTo>
                  <a:lnTo>
                    <a:pt x="1493945" y="766914"/>
                  </a:lnTo>
                  <a:lnTo>
                    <a:pt x="1500524" y="740609"/>
                  </a:lnTo>
                  <a:lnTo>
                    <a:pt x="1503700" y="727457"/>
                  </a:lnTo>
                  <a:lnTo>
                    <a:pt x="1507103" y="714985"/>
                  </a:lnTo>
                  <a:lnTo>
                    <a:pt x="1510960" y="703194"/>
                  </a:lnTo>
                  <a:lnTo>
                    <a:pt x="1514590" y="692083"/>
                  </a:lnTo>
                  <a:lnTo>
                    <a:pt x="1517993" y="683466"/>
                  </a:lnTo>
                  <a:lnTo>
                    <a:pt x="1522758" y="672808"/>
                  </a:lnTo>
                  <a:lnTo>
                    <a:pt x="1528883" y="660109"/>
                  </a:lnTo>
                  <a:lnTo>
                    <a:pt x="1535917" y="646277"/>
                  </a:lnTo>
                  <a:lnTo>
                    <a:pt x="1543857" y="631084"/>
                  </a:lnTo>
                  <a:lnTo>
                    <a:pt x="1552478" y="615211"/>
                  </a:lnTo>
                  <a:lnTo>
                    <a:pt x="1561553" y="598884"/>
                  </a:lnTo>
                  <a:lnTo>
                    <a:pt x="1570628" y="582784"/>
                  </a:lnTo>
                  <a:lnTo>
                    <a:pt x="1580157" y="566684"/>
                  </a:lnTo>
                  <a:lnTo>
                    <a:pt x="1589459" y="551264"/>
                  </a:lnTo>
                  <a:lnTo>
                    <a:pt x="1598307" y="536751"/>
                  </a:lnTo>
                  <a:lnTo>
                    <a:pt x="1607155" y="523599"/>
                  </a:lnTo>
                  <a:lnTo>
                    <a:pt x="1615096" y="512034"/>
                  </a:lnTo>
                  <a:lnTo>
                    <a:pt x="1622129" y="502737"/>
                  </a:lnTo>
                  <a:lnTo>
                    <a:pt x="1625532" y="498656"/>
                  </a:lnTo>
                  <a:lnTo>
                    <a:pt x="1628482" y="495254"/>
                  </a:lnTo>
                  <a:lnTo>
                    <a:pt x="1630977" y="492760"/>
                  </a:lnTo>
                  <a:lnTo>
                    <a:pt x="1633473" y="490719"/>
                  </a:lnTo>
                  <a:lnTo>
                    <a:pt x="1692234" y="447634"/>
                  </a:lnTo>
                  <a:lnTo>
                    <a:pt x="1723316" y="424731"/>
                  </a:lnTo>
                  <a:lnTo>
                    <a:pt x="1734886" y="416568"/>
                  </a:lnTo>
                  <a:lnTo>
                    <a:pt x="1741466" y="412033"/>
                  </a:lnTo>
                  <a:lnTo>
                    <a:pt x="1745322" y="409539"/>
                  </a:lnTo>
                  <a:lnTo>
                    <a:pt x="1748952" y="407271"/>
                  </a:lnTo>
                  <a:lnTo>
                    <a:pt x="1754851" y="402509"/>
                  </a:lnTo>
                  <a:lnTo>
                    <a:pt x="1759162" y="398654"/>
                  </a:lnTo>
                  <a:lnTo>
                    <a:pt x="1760750" y="397293"/>
                  </a:lnTo>
                  <a:lnTo>
                    <a:pt x="1777539" y="388903"/>
                  </a:lnTo>
                  <a:lnTo>
                    <a:pt x="1780488" y="386636"/>
                  </a:lnTo>
                  <a:lnTo>
                    <a:pt x="1783664" y="384368"/>
                  </a:lnTo>
                  <a:lnTo>
                    <a:pt x="1787067" y="381193"/>
                  </a:lnTo>
                  <a:lnTo>
                    <a:pt x="1790697" y="377565"/>
                  </a:lnTo>
                  <a:lnTo>
                    <a:pt x="1792286" y="375751"/>
                  </a:lnTo>
                  <a:lnTo>
                    <a:pt x="1793647" y="373710"/>
                  </a:lnTo>
                  <a:lnTo>
                    <a:pt x="1794781" y="371669"/>
                  </a:lnTo>
                  <a:lnTo>
                    <a:pt x="1795916" y="369402"/>
                  </a:lnTo>
                  <a:lnTo>
                    <a:pt x="1796369" y="367588"/>
                  </a:lnTo>
                  <a:lnTo>
                    <a:pt x="1796596" y="365547"/>
                  </a:lnTo>
                  <a:lnTo>
                    <a:pt x="1796596" y="363733"/>
                  </a:lnTo>
                  <a:lnTo>
                    <a:pt x="1796369" y="362372"/>
                  </a:lnTo>
                  <a:lnTo>
                    <a:pt x="1795916" y="361012"/>
                  </a:lnTo>
                  <a:lnTo>
                    <a:pt x="1795462" y="360331"/>
                  </a:lnTo>
                  <a:lnTo>
                    <a:pt x="1794554" y="359651"/>
                  </a:lnTo>
                  <a:lnTo>
                    <a:pt x="1793647" y="358971"/>
                  </a:lnTo>
                  <a:lnTo>
                    <a:pt x="1791832" y="358517"/>
                  </a:lnTo>
                  <a:lnTo>
                    <a:pt x="1789563" y="358064"/>
                  </a:lnTo>
                  <a:lnTo>
                    <a:pt x="1787521" y="357610"/>
                  </a:lnTo>
                  <a:lnTo>
                    <a:pt x="1786387" y="357157"/>
                  </a:lnTo>
                  <a:lnTo>
                    <a:pt x="1785252" y="356250"/>
                  </a:lnTo>
                  <a:lnTo>
                    <a:pt x="1784118" y="355569"/>
                  </a:lnTo>
                  <a:lnTo>
                    <a:pt x="1783211" y="354662"/>
                  </a:lnTo>
                  <a:lnTo>
                    <a:pt x="1782530" y="353075"/>
                  </a:lnTo>
                  <a:lnTo>
                    <a:pt x="1782076" y="351034"/>
                  </a:lnTo>
                  <a:lnTo>
                    <a:pt x="1781622" y="348540"/>
                  </a:lnTo>
                  <a:lnTo>
                    <a:pt x="1781396" y="345592"/>
                  </a:lnTo>
                  <a:lnTo>
                    <a:pt x="1781396" y="339016"/>
                  </a:lnTo>
                  <a:lnTo>
                    <a:pt x="1781622" y="331533"/>
                  </a:lnTo>
                  <a:lnTo>
                    <a:pt x="1782757" y="316793"/>
                  </a:lnTo>
                  <a:lnTo>
                    <a:pt x="1782984" y="311124"/>
                  </a:lnTo>
                  <a:lnTo>
                    <a:pt x="1782757" y="308630"/>
                  </a:lnTo>
                  <a:lnTo>
                    <a:pt x="1782530" y="307043"/>
                  </a:lnTo>
                  <a:lnTo>
                    <a:pt x="1781622" y="304321"/>
                  </a:lnTo>
                  <a:lnTo>
                    <a:pt x="1780715" y="302054"/>
                  </a:lnTo>
                  <a:lnTo>
                    <a:pt x="1778900" y="297519"/>
                  </a:lnTo>
                  <a:lnTo>
                    <a:pt x="1776177" y="291396"/>
                  </a:lnTo>
                  <a:lnTo>
                    <a:pt x="1774362" y="287088"/>
                  </a:lnTo>
                  <a:lnTo>
                    <a:pt x="1772094" y="281192"/>
                  </a:lnTo>
                  <a:lnTo>
                    <a:pt x="1770959" y="278017"/>
                  </a:lnTo>
                  <a:lnTo>
                    <a:pt x="1770506" y="274162"/>
                  </a:lnTo>
                  <a:lnTo>
                    <a:pt x="1770052" y="270534"/>
                  </a:lnTo>
                  <a:lnTo>
                    <a:pt x="1770052" y="266452"/>
                  </a:lnTo>
                  <a:lnTo>
                    <a:pt x="1770279" y="262597"/>
                  </a:lnTo>
                  <a:lnTo>
                    <a:pt x="1770732" y="258289"/>
                  </a:lnTo>
                  <a:lnTo>
                    <a:pt x="1771413" y="254434"/>
                  </a:lnTo>
                  <a:lnTo>
                    <a:pt x="1772321" y="250126"/>
                  </a:lnTo>
                  <a:lnTo>
                    <a:pt x="1774362" y="241962"/>
                  </a:lnTo>
                  <a:lnTo>
                    <a:pt x="1776404" y="234479"/>
                  </a:lnTo>
                  <a:lnTo>
                    <a:pt x="1778900" y="227676"/>
                  </a:lnTo>
                  <a:lnTo>
                    <a:pt x="1781169" y="222007"/>
                  </a:lnTo>
                  <a:lnTo>
                    <a:pt x="1782303" y="219286"/>
                  </a:lnTo>
                  <a:lnTo>
                    <a:pt x="1783211" y="215885"/>
                  </a:lnTo>
                  <a:lnTo>
                    <a:pt x="1785026" y="208855"/>
                  </a:lnTo>
                  <a:lnTo>
                    <a:pt x="1786387" y="200692"/>
                  </a:lnTo>
                  <a:lnTo>
                    <a:pt x="1787521" y="192075"/>
                  </a:lnTo>
                  <a:lnTo>
                    <a:pt x="1788202" y="183458"/>
                  </a:lnTo>
                  <a:lnTo>
                    <a:pt x="1788429" y="175294"/>
                  </a:lnTo>
                  <a:lnTo>
                    <a:pt x="1788429" y="167811"/>
                  </a:lnTo>
                  <a:lnTo>
                    <a:pt x="1787975" y="161462"/>
                  </a:lnTo>
                  <a:lnTo>
                    <a:pt x="1787748" y="158741"/>
                  </a:lnTo>
                  <a:lnTo>
                    <a:pt x="1788202" y="155566"/>
                  </a:lnTo>
                  <a:lnTo>
                    <a:pt x="1788656" y="152165"/>
                  </a:lnTo>
                  <a:lnTo>
                    <a:pt x="1790017" y="148763"/>
                  </a:lnTo>
                  <a:lnTo>
                    <a:pt x="1791151" y="145362"/>
                  </a:lnTo>
                  <a:lnTo>
                    <a:pt x="1792966" y="141507"/>
                  </a:lnTo>
                  <a:lnTo>
                    <a:pt x="1794781" y="138106"/>
                  </a:lnTo>
                  <a:lnTo>
                    <a:pt x="1796823" y="134704"/>
                  </a:lnTo>
                  <a:lnTo>
                    <a:pt x="1799092" y="131076"/>
                  </a:lnTo>
                  <a:lnTo>
                    <a:pt x="1801587" y="127675"/>
                  </a:lnTo>
                  <a:lnTo>
                    <a:pt x="1804083" y="124727"/>
                  </a:lnTo>
                  <a:lnTo>
                    <a:pt x="1806806" y="121779"/>
                  </a:lnTo>
                  <a:lnTo>
                    <a:pt x="1809301" y="119058"/>
                  </a:lnTo>
                  <a:lnTo>
                    <a:pt x="1812024" y="116790"/>
                  </a:lnTo>
                  <a:lnTo>
                    <a:pt x="1814519" y="114522"/>
                  </a:lnTo>
                  <a:lnTo>
                    <a:pt x="1817015" y="113162"/>
                  </a:lnTo>
                  <a:lnTo>
                    <a:pt x="1822460" y="109987"/>
                  </a:lnTo>
                  <a:lnTo>
                    <a:pt x="1828586" y="106813"/>
                  </a:lnTo>
                  <a:lnTo>
                    <a:pt x="1842198" y="100690"/>
                  </a:lnTo>
                  <a:lnTo>
                    <a:pt x="1855130" y="95021"/>
                  </a:lnTo>
                  <a:lnTo>
                    <a:pt x="1864659" y="90939"/>
                  </a:lnTo>
                  <a:lnTo>
                    <a:pt x="1871692" y="88218"/>
                  </a:lnTo>
                  <a:lnTo>
                    <a:pt x="1879406" y="85497"/>
                  </a:lnTo>
                  <a:lnTo>
                    <a:pt x="1883262" y="84590"/>
                  </a:lnTo>
                  <a:lnTo>
                    <a:pt x="1886439" y="83910"/>
                  </a:lnTo>
                  <a:lnTo>
                    <a:pt x="1889615" y="83456"/>
                  </a:lnTo>
                  <a:lnTo>
                    <a:pt x="1892111" y="83456"/>
                  </a:lnTo>
                  <a:lnTo>
                    <a:pt x="1898690" y="84590"/>
                  </a:lnTo>
                  <a:lnTo>
                    <a:pt x="1903228" y="85043"/>
                  </a:lnTo>
                  <a:lnTo>
                    <a:pt x="1907992" y="85270"/>
                  </a:lnTo>
                  <a:lnTo>
                    <a:pt x="1912983" y="85270"/>
                  </a:lnTo>
                  <a:lnTo>
                    <a:pt x="1917294" y="85043"/>
                  </a:lnTo>
                  <a:lnTo>
                    <a:pt x="1919563" y="84590"/>
                  </a:lnTo>
                  <a:lnTo>
                    <a:pt x="1921604" y="84136"/>
                  </a:lnTo>
                  <a:lnTo>
                    <a:pt x="1923646" y="83456"/>
                  </a:lnTo>
                  <a:lnTo>
                    <a:pt x="1925008" y="82776"/>
                  </a:lnTo>
                  <a:lnTo>
                    <a:pt x="1928638" y="80962"/>
                  </a:lnTo>
                  <a:lnTo>
                    <a:pt x="1932494" y="79828"/>
                  </a:lnTo>
                  <a:lnTo>
                    <a:pt x="1937032" y="78921"/>
                  </a:lnTo>
                  <a:lnTo>
                    <a:pt x="1941796" y="78014"/>
                  </a:lnTo>
                  <a:lnTo>
                    <a:pt x="1946334" y="77787"/>
                  </a:lnTo>
                  <a:lnTo>
                    <a:pt x="1951098" y="77787"/>
                  </a:lnTo>
                  <a:lnTo>
                    <a:pt x="1955636" y="78241"/>
                  </a:lnTo>
                  <a:lnTo>
                    <a:pt x="1959720" y="79148"/>
                  </a:lnTo>
                  <a:lnTo>
                    <a:pt x="1964030" y="80281"/>
                  </a:lnTo>
                  <a:lnTo>
                    <a:pt x="1968568" y="82096"/>
                  </a:lnTo>
                  <a:lnTo>
                    <a:pt x="1977643" y="85497"/>
                  </a:lnTo>
                  <a:lnTo>
                    <a:pt x="1982407" y="87311"/>
                  </a:lnTo>
                  <a:lnTo>
                    <a:pt x="1986264" y="88672"/>
                  </a:lnTo>
                  <a:lnTo>
                    <a:pt x="1990121" y="89805"/>
                  </a:lnTo>
                  <a:lnTo>
                    <a:pt x="1991482" y="90032"/>
                  </a:lnTo>
                  <a:lnTo>
                    <a:pt x="1992843" y="90032"/>
                  </a:lnTo>
                  <a:lnTo>
                    <a:pt x="1995112" y="90032"/>
                  </a:lnTo>
                  <a:lnTo>
                    <a:pt x="1997381" y="89805"/>
                  </a:lnTo>
                  <a:lnTo>
                    <a:pt x="2001464" y="89352"/>
                  </a:lnTo>
                  <a:lnTo>
                    <a:pt x="2006229" y="88445"/>
                  </a:lnTo>
                  <a:lnTo>
                    <a:pt x="2009405" y="88218"/>
                  </a:lnTo>
                  <a:lnTo>
                    <a:pt x="2012808" y="88218"/>
                  </a:lnTo>
                  <a:lnTo>
                    <a:pt x="2014623" y="88218"/>
                  </a:lnTo>
                  <a:lnTo>
                    <a:pt x="2015984" y="88672"/>
                  </a:lnTo>
                  <a:lnTo>
                    <a:pt x="2016892" y="89352"/>
                  </a:lnTo>
                  <a:lnTo>
                    <a:pt x="2017573" y="90032"/>
                  </a:lnTo>
                  <a:lnTo>
                    <a:pt x="2018026" y="90939"/>
                  </a:lnTo>
                  <a:lnTo>
                    <a:pt x="2018707" y="92300"/>
                  </a:lnTo>
                  <a:lnTo>
                    <a:pt x="2019161" y="94567"/>
                  </a:lnTo>
                  <a:lnTo>
                    <a:pt x="2019388" y="96835"/>
                  </a:lnTo>
                  <a:lnTo>
                    <a:pt x="2019841" y="98196"/>
                  </a:lnTo>
                  <a:lnTo>
                    <a:pt x="2020295" y="99329"/>
                  </a:lnTo>
                  <a:lnTo>
                    <a:pt x="2021203" y="100463"/>
                  </a:lnTo>
                  <a:lnTo>
                    <a:pt x="2022110" y="101370"/>
                  </a:lnTo>
                  <a:lnTo>
                    <a:pt x="2023245" y="102051"/>
                  </a:lnTo>
                  <a:lnTo>
                    <a:pt x="2025060" y="102958"/>
                  </a:lnTo>
                  <a:lnTo>
                    <a:pt x="2026875" y="103411"/>
                  </a:lnTo>
                  <a:lnTo>
                    <a:pt x="2028236" y="104091"/>
                  </a:lnTo>
                  <a:lnTo>
                    <a:pt x="2029597" y="104772"/>
                  </a:lnTo>
                  <a:lnTo>
                    <a:pt x="2030505" y="105905"/>
                  </a:lnTo>
                  <a:lnTo>
                    <a:pt x="2031185" y="106813"/>
                  </a:lnTo>
                  <a:lnTo>
                    <a:pt x="2032093" y="107946"/>
                  </a:lnTo>
                  <a:lnTo>
                    <a:pt x="2033000" y="109987"/>
                  </a:lnTo>
                  <a:lnTo>
                    <a:pt x="2033454" y="112708"/>
                  </a:lnTo>
                  <a:lnTo>
                    <a:pt x="2033681" y="115203"/>
                  </a:lnTo>
                  <a:lnTo>
                    <a:pt x="2033681" y="117697"/>
                  </a:lnTo>
                  <a:lnTo>
                    <a:pt x="2033908" y="120191"/>
                  </a:lnTo>
                  <a:lnTo>
                    <a:pt x="2034588" y="122686"/>
                  </a:lnTo>
                  <a:lnTo>
                    <a:pt x="2035042" y="124727"/>
                  </a:lnTo>
                  <a:lnTo>
                    <a:pt x="2036176" y="129035"/>
                  </a:lnTo>
                  <a:lnTo>
                    <a:pt x="2036403" y="130849"/>
                  </a:lnTo>
                  <a:lnTo>
                    <a:pt x="2036403" y="133117"/>
                  </a:lnTo>
                  <a:lnTo>
                    <a:pt x="2035950" y="135384"/>
                  </a:lnTo>
                  <a:lnTo>
                    <a:pt x="2035042" y="137652"/>
                  </a:lnTo>
                  <a:lnTo>
                    <a:pt x="2032320" y="142868"/>
                  </a:lnTo>
                  <a:lnTo>
                    <a:pt x="2030958" y="145589"/>
                  </a:lnTo>
                  <a:lnTo>
                    <a:pt x="2030051" y="148537"/>
                  </a:lnTo>
                  <a:lnTo>
                    <a:pt x="2029370" y="151258"/>
                  </a:lnTo>
                  <a:lnTo>
                    <a:pt x="2028916" y="153752"/>
                  </a:lnTo>
                  <a:lnTo>
                    <a:pt x="2029370" y="156246"/>
                  </a:lnTo>
                  <a:lnTo>
                    <a:pt x="2029597" y="157153"/>
                  </a:lnTo>
                  <a:lnTo>
                    <a:pt x="2029824" y="158287"/>
                  </a:lnTo>
                  <a:lnTo>
                    <a:pt x="2035723" y="169172"/>
                  </a:lnTo>
                  <a:lnTo>
                    <a:pt x="2046613" y="188220"/>
                  </a:lnTo>
                  <a:lnTo>
                    <a:pt x="2057503" y="207721"/>
                  </a:lnTo>
                  <a:lnTo>
                    <a:pt x="2061586" y="215204"/>
                  </a:lnTo>
                  <a:lnTo>
                    <a:pt x="2063855" y="219739"/>
                  </a:lnTo>
                  <a:lnTo>
                    <a:pt x="2064536" y="222234"/>
                  </a:lnTo>
                  <a:lnTo>
                    <a:pt x="2064763" y="224728"/>
                  </a:lnTo>
                  <a:lnTo>
                    <a:pt x="2064763" y="227223"/>
                  </a:lnTo>
                  <a:lnTo>
                    <a:pt x="2064309" y="229944"/>
                  </a:lnTo>
                  <a:lnTo>
                    <a:pt x="2062721" y="235386"/>
                  </a:lnTo>
                  <a:lnTo>
                    <a:pt x="2061133" y="241282"/>
                  </a:lnTo>
                  <a:lnTo>
                    <a:pt x="2060452" y="244230"/>
                  </a:lnTo>
                  <a:lnTo>
                    <a:pt x="2060225" y="247178"/>
                  </a:lnTo>
                  <a:lnTo>
                    <a:pt x="2060225" y="249899"/>
                  </a:lnTo>
                  <a:lnTo>
                    <a:pt x="2060679" y="252620"/>
                  </a:lnTo>
                  <a:lnTo>
                    <a:pt x="2061360" y="255114"/>
                  </a:lnTo>
                  <a:lnTo>
                    <a:pt x="2062267" y="257382"/>
                  </a:lnTo>
                  <a:lnTo>
                    <a:pt x="2063175" y="259650"/>
                  </a:lnTo>
                  <a:lnTo>
                    <a:pt x="2064763" y="261690"/>
                  </a:lnTo>
                  <a:lnTo>
                    <a:pt x="2074972" y="275296"/>
                  </a:lnTo>
                  <a:lnTo>
                    <a:pt x="2081551" y="283913"/>
                  </a:lnTo>
                  <a:lnTo>
                    <a:pt x="2087223" y="291850"/>
                  </a:lnTo>
                  <a:lnTo>
                    <a:pt x="2089265" y="295251"/>
                  </a:lnTo>
                  <a:lnTo>
                    <a:pt x="2091080" y="298652"/>
                  </a:lnTo>
                  <a:lnTo>
                    <a:pt x="2092215" y="301827"/>
                  </a:lnTo>
                  <a:lnTo>
                    <a:pt x="2092442" y="303188"/>
                  </a:lnTo>
                  <a:lnTo>
                    <a:pt x="2092668" y="304548"/>
                  </a:lnTo>
                  <a:lnTo>
                    <a:pt x="2092668" y="305909"/>
                  </a:lnTo>
                  <a:lnTo>
                    <a:pt x="2092442" y="307043"/>
                  </a:lnTo>
                  <a:lnTo>
                    <a:pt x="2091988" y="308176"/>
                  </a:lnTo>
                  <a:lnTo>
                    <a:pt x="2091534" y="309310"/>
                  </a:lnTo>
                  <a:lnTo>
                    <a:pt x="2090853" y="310217"/>
                  </a:lnTo>
                  <a:lnTo>
                    <a:pt x="2089492" y="310897"/>
                  </a:lnTo>
                  <a:lnTo>
                    <a:pt x="2088358" y="311578"/>
                  </a:lnTo>
                  <a:lnTo>
                    <a:pt x="2086770" y="312258"/>
                  </a:lnTo>
                  <a:lnTo>
                    <a:pt x="2079963" y="313845"/>
                  </a:lnTo>
                  <a:lnTo>
                    <a:pt x="2073611" y="315886"/>
                  </a:lnTo>
                  <a:lnTo>
                    <a:pt x="2068620" y="317927"/>
                  </a:lnTo>
                  <a:lnTo>
                    <a:pt x="2066805" y="318834"/>
                  </a:lnTo>
                  <a:lnTo>
                    <a:pt x="2065670" y="319968"/>
                  </a:lnTo>
                  <a:lnTo>
                    <a:pt x="2063175" y="322462"/>
                  </a:lnTo>
                  <a:lnTo>
                    <a:pt x="2060452" y="326317"/>
                  </a:lnTo>
                  <a:lnTo>
                    <a:pt x="2059091" y="328585"/>
                  </a:lnTo>
                  <a:lnTo>
                    <a:pt x="2057730" y="330852"/>
                  </a:lnTo>
                  <a:lnTo>
                    <a:pt x="2057049" y="332667"/>
                  </a:lnTo>
                  <a:lnTo>
                    <a:pt x="2056368" y="334707"/>
                  </a:lnTo>
                  <a:lnTo>
                    <a:pt x="2055915" y="338789"/>
                  </a:lnTo>
                  <a:lnTo>
                    <a:pt x="2055007" y="342871"/>
                  </a:lnTo>
                  <a:lnTo>
                    <a:pt x="2054326" y="344912"/>
                  </a:lnTo>
                  <a:lnTo>
                    <a:pt x="2053646" y="346726"/>
                  </a:lnTo>
                  <a:lnTo>
                    <a:pt x="2052511" y="348086"/>
                  </a:lnTo>
                  <a:lnTo>
                    <a:pt x="2051150" y="349220"/>
                  </a:lnTo>
                  <a:lnTo>
                    <a:pt x="2048201" y="351034"/>
                  </a:lnTo>
                  <a:lnTo>
                    <a:pt x="2047066" y="352168"/>
                  </a:lnTo>
                  <a:lnTo>
                    <a:pt x="2046159" y="353075"/>
                  </a:lnTo>
                  <a:lnTo>
                    <a:pt x="2045705" y="353982"/>
                  </a:lnTo>
                  <a:lnTo>
                    <a:pt x="2045705" y="355116"/>
                  </a:lnTo>
                  <a:lnTo>
                    <a:pt x="2045932" y="356023"/>
                  </a:lnTo>
                  <a:lnTo>
                    <a:pt x="2046840" y="356930"/>
                  </a:lnTo>
                  <a:lnTo>
                    <a:pt x="2049108" y="358971"/>
                  </a:lnTo>
                  <a:lnTo>
                    <a:pt x="2050696" y="360331"/>
                  </a:lnTo>
                  <a:lnTo>
                    <a:pt x="2051831" y="361465"/>
                  </a:lnTo>
                  <a:lnTo>
                    <a:pt x="2052738" y="363053"/>
                  </a:lnTo>
                  <a:lnTo>
                    <a:pt x="2053419" y="364413"/>
                  </a:lnTo>
                  <a:lnTo>
                    <a:pt x="2053873" y="366000"/>
                  </a:lnTo>
                  <a:lnTo>
                    <a:pt x="2053646" y="367588"/>
                  </a:lnTo>
                  <a:lnTo>
                    <a:pt x="2052511" y="370762"/>
                  </a:lnTo>
                  <a:lnTo>
                    <a:pt x="2052058" y="372576"/>
                  </a:lnTo>
                  <a:lnTo>
                    <a:pt x="2052058" y="374844"/>
                  </a:lnTo>
                  <a:lnTo>
                    <a:pt x="2052058" y="377112"/>
                  </a:lnTo>
                  <a:lnTo>
                    <a:pt x="2052511" y="379606"/>
                  </a:lnTo>
                  <a:lnTo>
                    <a:pt x="2053646" y="382327"/>
                  </a:lnTo>
                  <a:lnTo>
                    <a:pt x="2054780" y="385048"/>
                  </a:lnTo>
                  <a:lnTo>
                    <a:pt x="2055461" y="386862"/>
                  </a:lnTo>
                  <a:lnTo>
                    <a:pt x="2056141" y="388450"/>
                  </a:lnTo>
                  <a:lnTo>
                    <a:pt x="2056368" y="390717"/>
                  </a:lnTo>
                  <a:lnTo>
                    <a:pt x="2056368" y="392985"/>
                  </a:lnTo>
                  <a:lnTo>
                    <a:pt x="2055915" y="395479"/>
                  </a:lnTo>
                  <a:lnTo>
                    <a:pt x="2055234" y="397747"/>
                  </a:lnTo>
                  <a:lnTo>
                    <a:pt x="2054780" y="400241"/>
                  </a:lnTo>
                  <a:lnTo>
                    <a:pt x="2053873" y="402736"/>
                  </a:lnTo>
                  <a:lnTo>
                    <a:pt x="2052511" y="405230"/>
                  </a:lnTo>
                  <a:lnTo>
                    <a:pt x="2051377" y="407498"/>
                  </a:lnTo>
                  <a:lnTo>
                    <a:pt x="2049789" y="409312"/>
                  </a:lnTo>
                  <a:lnTo>
                    <a:pt x="2048428" y="411353"/>
                  </a:lnTo>
                  <a:lnTo>
                    <a:pt x="2046386" y="412940"/>
                  </a:lnTo>
                  <a:lnTo>
                    <a:pt x="2044344" y="414074"/>
                  </a:lnTo>
                  <a:lnTo>
                    <a:pt x="2042529" y="414981"/>
                  </a:lnTo>
                  <a:lnTo>
                    <a:pt x="2040033" y="415661"/>
                  </a:lnTo>
                  <a:lnTo>
                    <a:pt x="2034815" y="416115"/>
                  </a:lnTo>
                  <a:lnTo>
                    <a:pt x="2028690" y="416115"/>
                  </a:lnTo>
                  <a:lnTo>
                    <a:pt x="2022337" y="416115"/>
                  </a:lnTo>
                  <a:lnTo>
                    <a:pt x="2015531" y="416115"/>
                  </a:lnTo>
                  <a:lnTo>
                    <a:pt x="2009178" y="415661"/>
                  </a:lnTo>
                  <a:lnTo>
                    <a:pt x="2003280" y="414981"/>
                  </a:lnTo>
                  <a:lnTo>
                    <a:pt x="1998061" y="414300"/>
                  </a:lnTo>
                  <a:lnTo>
                    <a:pt x="1994204" y="413620"/>
                  </a:lnTo>
                  <a:lnTo>
                    <a:pt x="1991255" y="412940"/>
                  </a:lnTo>
                  <a:lnTo>
                    <a:pt x="1988079" y="412033"/>
                  </a:lnTo>
                  <a:lnTo>
                    <a:pt x="1985130" y="411806"/>
                  </a:lnTo>
                  <a:lnTo>
                    <a:pt x="1981953" y="412033"/>
                  </a:lnTo>
                  <a:lnTo>
                    <a:pt x="1980592" y="412260"/>
                  </a:lnTo>
                  <a:lnTo>
                    <a:pt x="1979231" y="412940"/>
                  </a:lnTo>
                  <a:lnTo>
                    <a:pt x="1977643" y="413620"/>
                  </a:lnTo>
                  <a:lnTo>
                    <a:pt x="1976508" y="414300"/>
                  </a:lnTo>
                  <a:lnTo>
                    <a:pt x="1975147" y="415434"/>
                  </a:lnTo>
                  <a:lnTo>
                    <a:pt x="1974013" y="416341"/>
                  </a:lnTo>
                  <a:lnTo>
                    <a:pt x="1972651" y="417929"/>
                  </a:lnTo>
                  <a:lnTo>
                    <a:pt x="1971744" y="419289"/>
                  </a:lnTo>
                  <a:lnTo>
                    <a:pt x="1969702" y="422917"/>
                  </a:lnTo>
                  <a:lnTo>
                    <a:pt x="1968341" y="426999"/>
                  </a:lnTo>
                  <a:lnTo>
                    <a:pt x="1965391" y="434936"/>
                  </a:lnTo>
                  <a:lnTo>
                    <a:pt x="1963803" y="438564"/>
                  </a:lnTo>
                  <a:lnTo>
                    <a:pt x="1962215" y="442192"/>
                  </a:lnTo>
                  <a:lnTo>
                    <a:pt x="1960627" y="444686"/>
                  </a:lnTo>
                  <a:lnTo>
                    <a:pt x="1959493" y="445593"/>
                  </a:lnTo>
                  <a:lnTo>
                    <a:pt x="1958585" y="446274"/>
                  </a:lnTo>
                  <a:lnTo>
                    <a:pt x="1948603" y="452850"/>
                  </a:lnTo>
                  <a:lnTo>
                    <a:pt x="1944292" y="456024"/>
                  </a:lnTo>
                  <a:lnTo>
                    <a:pt x="1942704" y="457158"/>
                  </a:lnTo>
                  <a:lnTo>
                    <a:pt x="1942023" y="458519"/>
                  </a:lnTo>
                  <a:lnTo>
                    <a:pt x="1941796" y="459653"/>
                  </a:lnTo>
                  <a:lnTo>
                    <a:pt x="1942023" y="462147"/>
                  </a:lnTo>
                  <a:lnTo>
                    <a:pt x="1942477" y="464868"/>
                  </a:lnTo>
                  <a:lnTo>
                    <a:pt x="1943384" y="468496"/>
                  </a:lnTo>
                  <a:lnTo>
                    <a:pt x="1944519" y="472125"/>
                  </a:lnTo>
                  <a:lnTo>
                    <a:pt x="1945653" y="475526"/>
                  </a:lnTo>
                  <a:lnTo>
                    <a:pt x="1947241" y="479154"/>
                  </a:lnTo>
                  <a:lnTo>
                    <a:pt x="1948603" y="481875"/>
                  </a:lnTo>
                  <a:lnTo>
                    <a:pt x="1952913" y="488678"/>
                  </a:lnTo>
                  <a:lnTo>
                    <a:pt x="1953140" y="489585"/>
                  </a:lnTo>
                  <a:lnTo>
                    <a:pt x="1953367" y="490492"/>
                  </a:lnTo>
                  <a:lnTo>
                    <a:pt x="1953367" y="491626"/>
                  </a:lnTo>
                  <a:lnTo>
                    <a:pt x="1953140" y="493440"/>
                  </a:lnTo>
                  <a:lnTo>
                    <a:pt x="1952459" y="495254"/>
                  </a:lnTo>
                  <a:lnTo>
                    <a:pt x="1950871" y="497522"/>
                  </a:lnTo>
                  <a:lnTo>
                    <a:pt x="1948603" y="499789"/>
                  </a:lnTo>
                  <a:lnTo>
                    <a:pt x="1946334" y="502057"/>
                  </a:lnTo>
                  <a:lnTo>
                    <a:pt x="1944519" y="503418"/>
                  </a:lnTo>
                  <a:lnTo>
                    <a:pt x="1943158" y="504098"/>
                  </a:lnTo>
                  <a:lnTo>
                    <a:pt x="1942250" y="504778"/>
                  </a:lnTo>
                  <a:lnTo>
                    <a:pt x="1942023" y="505458"/>
                  </a:lnTo>
                  <a:lnTo>
                    <a:pt x="1942023" y="505912"/>
                  </a:lnTo>
                  <a:lnTo>
                    <a:pt x="1942023" y="507272"/>
                  </a:lnTo>
                  <a:lnTo>
                    <a:pt x="1942250" y="509994"/>
                  </a:lnTo>
                  <a:lnTo>
                    <a:pt x="1943158" y="513849"/>
                  </a:lnTo>
                  <a:lnTo>
                    <a:pt x="1943611" y="517023"/>
                  </a:lnTo>
                  <a:lnTo>
                    <a:pt x="1943838" y="521332"/>
                  </a:lnTo>
                  <a:lnTo>
                    <a:pt x="1944519" y="532896"/>
                  </a:lnTo>
                  <a:lnTo>
                    <a:pt x="1944746" y="547182"/>
                  </a:lnTo>
                  <a:lnTo>
                    <a:pt x="1944519" y="563282"/>
                  </a:lnTo>
                  <a:lnTo>
                    <a:pt x="1944292" y="594575"/>
                  </a:lnTo>
                  <a:lnTo>
                    <a:pt x="1943838" y="615664"/>
                  </a:lnTo>
                  <a:lnTo>
                    <a:pt x="1943611" y="622694"/>
                  </a:lnTo>
                  <a:lnTo>
                    <a:pt x="1943384" y="631537"/>
                  </a:lnTo>
                  <a:lnTo>
                    <a:pt x="1942477" y="652173"/>
                  </a:lnTo>
                  <a:lnTo>
                    <a:pt x="1941569" y="672808"/>
                  </a:lnTo>
                  <a:lnTo>
                    <a:pt x="1941116" y="681652"/>
                  </a:lnTo>
                  <a:lnTo>
                    <a:pt x="1940889" y="688681"/>
                  </a:lnTo>
                  <a:lnTo>
                    <a:pt x="1941116" y="694123"/>
                  </a:lnTo>
                  <a:lnTo>
                    <a:pt x="1941796" y="697752"/>
                  </a:lnTo>
                  <a:lnTo>
                    <a:pt x="1942250" y="699339"/>
                  </a:lnTo>
                  <a:lnTo>
                    <a:pt x="1942704" y="700473"/>
                  </a:lnTo>
                  <a:lnTo>
                    <a:pt x="1943384" y="701607"/>
                  </a:lnTo>
                  <a:lnTo>
                    <a:pt x="1944292" y="702287"/>
                  </a:lnTo>
                  <a:lnTo>
                    <a:pt x="1944973" y="702967"/>
                  </a:lnTo>
                  <a:lnTo>
                    <a:pt x="1945880" y="703421"/>
                  </a:lnTo>
                  <a:lnTo>
                    <a:pt x="1948376" y="704328"/>
                  </a:lnTo>
                  <a:lnTo>
                    <a:pt x="1955182" y="705462"/>
                  </a:lnTo>
                  <a:lnTo>
                    <a:pt x="1962442" y="707276"/>
                  </a:lnTo>
                  <a:lnTo>
                    <a:pt x="1969475" y="709090"/>
                  </a:lnTo>
                  <a:lnTo>
                    <a:pt x="1976281" y="711811"/>
                  </a:lnTo>
                  <a:lnTo>
                    <a:pt x="1982861" y="715212"/>
                  </a:lnTo>
                  <a:lnTo>
                    <a:pt x="1986264" y="717026"/>
                  </a:lnTo>
                  <a:lnTo>
                    <a:pt x="1990348" y="718840"/>
                  </a:lnTo>
                  <a:lnTo>
                    <a:pt x="1994658" y="720655"/>
                  </a:lnTo>
                  <a:lnTo>
                    <a:pt x="1999196" y="722015"/>
                  </a:lnTo>
                  <a:lnTo>
                    <a:pt x="2003960" y="723149"/>
                  </a:lnTo>
                  <a:lnTo>
                    <a:pt x="2009178" y="723829"/>
                  </a:lnTo>
                  <a:lnTo>
                    <a:pt x="2014396" y="724056"/>
                  </a:lnTo>
                  <a:lnTo>
                    <a:pt x="2017119" y="723829"/>
                  </a:lnTo>
                  <a:lnTo>
                    <a:pt x="2019841" y="723602"/>
                  </a:lnTo>
                  <a:lnTo>
                    <a:pt x="2031412" y="721562"/>
                  </a:lnTo>
                  <a:lnTo>
                    <a:pt x="2037538" y="720881"/>
                  </a:lnTo>
                  <a:lnTo>
                    <a:pt x="2043210" y="720201"/>
                  </a:lnTo>
                  <a:lnTo>
                    <a:pt x="2048201" y="720201"/>
                  </a:lnTo>
                  <a:lnTo>
                    <a:pt x="2050470" y="720428"/>
                  </a:lnTo>
                  <a:lnTo>
                    <a:pt x="2052285" y="720655"/>
                  </a:lnTo>
                  <a:lnTo>
                    <a:pt x="2054100" y="721108"/>
                  </a:lnTo>
                  <a:lnTo>
                    <a:pt x="2055461" y="721788"/>
                  </a:lnTo>
                  <a:lnTo>
                    <a:pt x="2056822" y="722922"/>
                  </a:lnTo>
                  <a:lnTo>
                    <a:pt x="2057503" y="724283"/>
                  </a:lnTo>
                  <a:lnTo>
                    <a:pt x="2057956" y="725643"/>
                  </a:lnTo>
                  <a:lnTo>
                    <a:pt x="2059318" y="726550"/>
                  </a:lnTo>
                  <a:lnTo>
                    <a:pt x="2060452" y="727457"/>
                  </a:lnTo>
                  <a:lnTo>
                    <a:pt x="2062267" y="728364"/>
                  </a:lnTo>
                  <a:lnTo>
                    <a:pt x="2064309" y="728818"/>
                  </a:lnTo>
                  <a:lnTo>
                    <a:pt x="2066124" y="729271"/>
                  </a:lnTo>
                  <a:lnTo>
                    <a:pt x="2068620" y="729271"/>
                  </a:lnTo>
                  <a:lnTo>
                    <a:pt x="2071115" y="729498"/>
                  </a:lnTo>
                  <a:lnTo>
                    <a:pt x="2077014" y="729271"/>
                  </a:lnTo>
                  <a:lnTo>
                    <a:pt x="2082913" y="728591"/>
                  </a:lnTo>
                  <a:lnTo>
                    <a:pt x="2089038" y="727457"/>
                  </a:lnTo>
                  <a:lnTo>
                    <a:pt x="2094937" y="726324"/>
                  </a:lnTo>
                  <a:lnTo>
                    <a:pt x="2108323" y="723376"/>
                  </a:lnTo>
                  <a:lnTo>
                    <a:pt x="2115356" y="721788"/>
                  </a:lnTo>
                  <a:lnTo>
                    <a:pt x="2122389" y="720655"/>
                  </a:lnTo>
                  <a:lnTo>
                    <a:pt x="2125565" y="720428"/>
                  </a:lnTo>
                  <a:lnTo>
                    <a:pt x="2128742" y="720201"/>
                  </a:lnTo>
                  <a:lnTo>
                    <a:pt x="2131464" y="720201"/>
                  </a:lnTo>
                  <a:lnTo>
                    <a:pt x="2134186" y="720201"/>
                  </a:lnTo>
                  <a:lnTo>
                    <a:pt x="2136682" y="720655"/>
                  </a:lnTo>
                  <a:lnTo>
                    <a:pt x="2138724" y="721335"/>
                  </a:lnTo>
                  <a:lnTo>
                    <a:pt x="2140312" y="722242"/>
                  </a:lnTo>
                  <a:lnTo>
                    <a:pt x="2141673" y="723829"/>
                  </a:lnTo>
                  <a:lnTo>
                    <a:pt x="2143715" y="726777"/>
                  </a:lnTo>
                  <a:lnTo>
                    <a:pt x="2146211" y="729952"/>
                  </a:lnTo>
                  <a:lnTo>
                    <a:pt x="2148480" y="732673"/>
                  </a:lnTo>
                  <a:lnTo>
                    <a:pt x="2150068" y="734033"/>
                  </a:lnTo>
                  <a:lnTo>
                    <a:pt x="2151883" y="734940"/>
                  </a:lnTo>
                  <a:lnTo>
                    <a:pt x="2153244" y="735621"/>
                  </a:lnTo>
                  <a:lnTo>
                    <a:pt x="2155286" y="736528"/>
                  </a:lnTo>
                  <a:lnTo>
                    <a:pt x="2157101" y="736981"/>
                  </a:lnTo>
                  <a:lnTo>
                    <a:pt x="2159370" y="737208"/>
                  </a:lnTo>
                  <a:lnTo>
                    <a:pt x="2161412" y="736981"/>
                  </a:lnTo>
                  <a:lnTo>
                    <a:pt x="2163680" y="736528"/>
                  </a:lnTo>
                  <a:lnTo>
                    <a:pt x="2166403" y="736074"/>
                  </a:lnTo>
                  <a:lnTo>
                    <a:pt x="2169125" y="734714"/>
                  </a:lnTo>
                  <a:lnTo>
                    <a:pt x="2184326" y="727684"/>
                  </a:lnTo>
                  <a:lnTo>
                    <a:pt x="2188637" y="726324"/>
                  </a:lnTo>
                  <a:lnTo>
                    <a:pt x="2192493" y="724963"/>
                  </a:lnTo>
                  <a:lnTo>
                    <a:pt x="2194762" y="724736"/>
                  </a:lnTo>
                  <a:lnTo>
                    <a:pt x="2197258" y="724736"/>
                  </a:lnTo>
                  <a:lnTo>
                    <a:pt x="2199980" y="724963"/>
                  </a:lnTo>
                  <a:lnTo>
                    <a:pt x="2202703" y="725416"/>
                  </a:lnTo>
                  <a:lnTo>
                    <a:pt x="2203269" y="725501"/>
                  </a:lnTo>
                  <a:lnTo>
                    <a:pt x="2203274" y="725493"/>
                  </a:lnTo>
                  <a:lnTo>
                    <a:pt x="2204178" y="723905"/>
                  </a:lnTo>
                  <a:lnTo>
                    <a:pt x="2205761" y="722316"/>
                  </a:lnTo>
                  <a:lnTo>
                    <a:pt x="2207117" y="721182"/>
                  </a:lnTo>
                  <a:lnTo>
                    <a:pt x="2208926" y="719821"/>
                  </a:lnTo>
                  <a:lnTo>
                    <a:pt x="2210961" y="718687"/>
                  </a:lnTo>
                  <a:lnTo>
                    <a:pt x="2212770" y="718006"/>
                  </a:lnTo>
                  <a:lnTo>
                    <a:pt x="2215030" y="716872"/>
                  </a:lnTo>
                  <a:lnTo>
                    <a:pt x="2220230" y="715511"/>
                  </a:lnTo>
                  <a:lnTo>
                    <a:pt x="2225883" y="714376"/>
                  </a:lnTo>
                  <a:lnTo>
                    <a:pt x="2232665" y="713469"/>
                  </a:lnTo>
                  <a:lnTo>
                    <a:pt x="2239222" y="712561"/>
                  </a:lnTo>
                  <a:lnTo>
                    <a:pt x="2245778" y="711881"/>
                  </a:lnTo>
                  <a:lnTo>
                    <a:pt x="2251430" y="711427"/>
                  </a:lnTo>
                  <a:lnTo>
                    <a:pt x="2257083" y="711200"/>
                  </a:lnTo>
                  <a:lnTo>
                    <a:pt x="2262057" y="711200"/>
                  </a:lnTo>
                  <a:lnTo>
                    <a:pt x="2266804" y="711427"/>
                  </a:lnTo>
                  <a:lnTo>
                    <a:pt x="2271100" y="711881"/>
                  </a:lnTo>
                  <a:lnTo>
                    <a:pt x="2275170" y="712561"/>
                  </a:lnTo>
                  <a:lnTo>
                    <a:pt x="2276646" y="712747"/>
                  </a:lnTo>
                  <a:lnTo>
                    <a:pt x="2276020" y="705380"/>
                  </a:lnTo>
                  <a:lnTo>
                    <a:pt x="2275340" y="693817"/>
                  </a:lnTo>
                  <a:lnTo>
                    <a:pt x="2275114" y="682027"/>
                  </a:lnTo>
                  <a:lnTo>
                    <a:pt x="2274887" y="670010"/>
                  </a:lnTo>
                  <a:lnTo>
                    <a:pt x="2275114" y="646204"/>
                  </a:lnTo>
                  <a:lnTo>
                    <a:pt x="2275567" y="623984"/>
                  </a:lnTo>
                  <a:lnTo>
                    <a:pt x="2275793" y="604712"/>
                  </a:lnTo>
                  <a:lnTo>
                    <a:pt x="2276020" y="589975"/>
                  </a:lnTo>
                  <a:lnTo>
                    <a:pt x="2276247" y="583853"/>
                  </a:lnTo>
                  <a:lnTo>
                    <a:pt x="2276926" y="577278"/>
                  </a:lnTo>
                  <a:lnTo>
                    <a:pt x="2277606" y="570476"/>
                  </a:lnTo>
                  <a:lnTo>
                    <a:pt x="2278739" y="563448"/>
                  </a:lnTo>
                  <a:lnTo>
                    <a:pt x="2280099" y="556646"/>
                  </a:lnTo>
                  <a:lnTo>
                    <a:pt x="2281459" y="549617"/>
                  </a:lnTo>
                  <a:lnTo>
                    <a:pt x="2283271" y="542589"/>
                  </a:lnTo>
                  <a:lnTo>
                    <a:pt x="2285084" y="536013"/>
                  </a:lnTo>
                  <a:lnTo>
                    <a:pt x="2288483" y="523543"/>
                  </a:lnTo>
                  <a:lnTo>
                    <a:pt x="2291882" y="513341"/>
                  </a:lnTo>
                  <a:lnTo>
                    <a:pt x="2293468" y="509259"/>
                  </a:lnTo>
                  <a:lnTo>
                    <a:pt x="2294828" y="506085"/>
                  </a:lnTo>
                  <a:lnTo>
                    <a:pt x="2296188" y="503591"/>
                  </a:lnTo>
                  <a:lnTo>
                    <a:pt x="2297094" y="502231"/>
                  </a:lnTo>
                  <a:lnTo>
                    <a:pt x="2299360" y="500190"/>
                  </a:lnTo>
                  <a:lnTo>
                    <a:pt x="2302533" y="498150"/>
                  </a:lnTo>
                  <a:lnTo>
                    <a:pt x="2306385" y="495656"/>
                  </a:lnTo>
                  <a:lnTo>
                    <a:pt x="2310464" y="493162"/>
                  </a:lnTo>
                  <a:lnTo>
                    <a:pt x="2315222" y="490668"/>
                  </a:lnTo>
                  <a:lnTo>
                    <a:pt x="2319981" y="488627"/>
                  </a:lnTo>
                  <a:lnTo>
                    <a:pt x="2324966" y="486813"/>
                  </a:lnTo>
                  <a:lnTo>
                    <a:pt x="2329498" y="485680"/>
                  </a:lnTo>
                  <a:lnTo>
                    <a:pt x="2335617" y="484319"/>
                  </a:lnTo>
                  <a:lnTo>
                    <a:pt x="2344454" y="482505"/>
                  </a:lnTo>
                  <a:lnTo>
                    <a:pt x="2354878" y="479785"/>
                  </a:lnTo>
                  <a:lnTo>
                    <a:pt x="2366208" y="476384"/>
                  </a:lnTo>
                  <a:lnTo>
                    <a:pt x="2377992" y="473209"/>
                  </a:lnTo>
                  <a:lnTo>
                    <a:pt x="2388869" y="469809"/>
                  </a:lnTo>
                  <a:lnTo>
                    <a:pt x="2397933" y="466634"/>
                  </a:lnTo>
                  <a:lnTo>
                    <a:pt x="2401785" y="465047"/>
                  </a:lnTo>
                  <a:lnTo>
                    <a:pt x="2404731" y="463687"/>
                  </a:lnTo>
                  <a:lnTo>
                    <a:pt x="2409716" y="461193"/>
                  </a:lnTo>
                  <a:lnTo>
                    <a:pt x="2413568" y="459379"/>
                  </a:lnTo>
                  <a:lnTo>
                    <a:pt x="2416741" y="457792"/>
                  </a:lnTo>
                  <a:lnTo>
                    <a:pt x="2419460" y="456432"/>
                  </a:lnTo>
                  <a:lnTo>
                    <a:pt x="2420593" y="455751"/>
                  </a:lnTo>
                  <a:lnTo>
                    <a:pt x="2421499" y="454844"/>
                  </a:lnTo>
                  <a:lnTo>
                    <a:pt x="2422179" y="453937"/>
                  </a:lnTo>
                  <a:lnTo>
                    <a:pt x="2422859" y="452577"/>
                  </a:lnTo>
                  <a:lnTo>
                    <a:pt x="2423312" y="451217"/>
                  </a:lnTo>
                  <a:lnTo>
                    <a:pt x="2423766" y="449630"/>
                  </a:lnTo>
                  <a:lnTo>
                    <a:pt x="2424219" y="445548"/>
                  </a:lnTo>
                  <a:lnTo>
                    <a:pt x="2424899" y="436479"/>
                  </a:lnTo>
                  <a:lnTo>
                    <a:pt x="2425805" y="428090"/>
                  </a:lnTo>
                  <a:lnTo>
                    <a:pt x="2426032" y="424236"/>
                  </a:lnTo>
                  <a:lnTo>
                    <a:pt x="2426032" y="420155"/>
                  </a:lnTo>
                  <a:lnTo>
                    <a:pt x="2425805" y="416074"/>
                  </a:lnTo>
                  <a:lnTo>
                    <a:pt x="2424899" y="411993"/>
                  </a:lnTo>
                  <a:lnTo>
                    <a:pt x="2424672" y="409272"/>
                  </a:lnTo>
                  <a:lnTo>
                    <a:pt x="2424672" y="404964"/>
                  </a:lnTo>
                  <a:lnTo>
                    <a:pt x="2424899" y="399296"/>
                  </a:lnTo>
                  <a:lnTo>
                    <a:pt x="2425125" y="392947"/>
                  </a:lnTo>
                  <a:lnTo>
                    <a:pt x="2426485" y="377303"/>
                  </a:lnTo>
                  <a:lnTo>
                    <a:pt x="2428298" y="359845"/>
                  </a:lnTo>
                  <a:lnTo>
                    <a:pt x="2431923" y="324475"/>
                  </a:lnTo>
                  <a:lnTo>
                    <a:pt x="2433509" y="309964"/>
                  </a:lnTo>
                  <a:lnTo>
                    <a:pt x="2434416" y="298855"/>
                  </a:lnTo>
                  <a:lnTo>
                    <a:pt x="2435096" y="289105"/>
                  </a:lnTo>
                  <a:lnTo>
                    <a:pt x="2436682" y="277089"/>
                  </a:lnTo>
                  <a:lnTo>
                    <a:pt x="2438268" y="263938"/>
                  </a:lnTo>
                  <a:lnTo>
                    <a:pt x="2440081" y="250335"/>
                  </a:lnTo>
                  <a:lnTo>
                    <a:pt x="2442120" y="237411"/>
                  </a:lnTo>
                  <a:lnTo>
                    <a:pt x="2444160" y="225621"/>
                  </a:lnTo>
                  <a:lnTo>
                    <a:pt x="2445746" y="216325"/>
                  </a:lnTo>
                  <a:lnTo>
                    <a:pt x="2447332" y="209977"/>
                  </a:lnTo>
                  <a:lnTo>
                    <a:pt x="2448012" y="207256"/>
                  </a:lnTo>
                  <a:lnTo>
                    <a:pt x="2449372" y="203401"/>
                  </a:lnTo>
                  <a:lnTo>
                    <a:pt x="2450958" y="199094"/>
                  </a:lnTo>
                  <a:lnTo>
                    <a:pt x="2453224" y="193652"/>
                  </a:lnTo>
                  <a:lnTo>
                    <a:pt x="2455943" y="187530"/>
                  </a:lnTo>
                  <a:lnTo>
                    <a:pt x="2459342" y="180955"/>
                  </a:lnTo>
                  <a:lnTo>
                    <a:pt x="2463648" y="173927"/>
                  </a:lnTo>
                  <a:lnTo>
                    <a:pt x="2468406" y="166898"/>
                  </a:lnTo>
                  <a:lnTo>
                    <a:pt x="2473845" y="159416"/>
                  </a:lnTo>
                  <a:lnTo>
                    <a:pt x="2476791" y="155562"/>
                  </a:lnTo>
                  <a:lnTo>
                    <a:pt x="2479963" y="151934"/>
                  </a:lnTo>
                  <a:lnTo>
                    <a:pt x="2483136" y="148306"/>
                  </a:lnTo>
                  <a:lnTo>
                    <a:pt x="2486988" y="144452"/>
                  </a:lnTo>
                  <a:lnTo>
                    <a:pt x="2490614" y="140824"/>
                  </a:lnTo>
                  <a:lnTo>
                    <a:pt x="2494692" y="136970"/>
                  </a:lnTo>
                  <a:lnTo>
                    <a:pt x="2498998" y="133569"/>
                  </a:lnTo>
                  <a:lnTo>
                    <a:pt x="2503303" y="130168"/>
                  </a:lnTo>
                  <a:lnTo>
                    <a:pt x="2508062" y="126994"/>
                  </a:lnTo>
                  <a:lnTo>
                    <a:pt x="2513047" y="123593"/>
                  </a:lnTo>
                  <a:lnTo>
                    <a:pt x="2518033" y="120419"/>
                  </a:lnTo>
                  <a:lnTo>
                    <a:pt x="2523244" y="117471"/>
                  </a:lnTo>
                  <a:lnTo>
                    <a:pt x="2529136" y="114750"/>
                  </a:lnTo>
                  <a:lnTo>
                    <a:pt x="2535028" y="112030"/>
                  </a:lnTo>
                  <a:lnTo>
                    <a:pt x="2538200" y="111123"/>
                  </a:lnTo>
                  <a:lnTo>
                    <a:pt x="2541599" y="109989"/>
                  </a:lnTo>
                  <a:lnTo>
                    <a:pt x="2545905" y="109082"/>
                  </a:lnTo>
                  <a:lnTo>
                    <a:pt x="2550437" y="108175"/>
                  </a:lnTo>
                  <a:lnTo>
                    <a:pt x="2559954" y="106815"/>
                  </a:lnTo>
                  <a:lnTo>
                    <a:pt x="2569925" y="106135"/>
                  </a:lnTo>
                  <a:lnTo>
                    <a:pt x="2588506" y="104548"/>
                  </a:lnTo>
                  <a:lnTo>
                    <a:pt x="2595758" y="104094"/>
                  </a:lnTo>
                  <a:lnTo>
                    <a:pt x="2600970" y="103641"/>
                  </a:lnTo>
                  <a:lnTo>
                    <a:pt x="2603009" y="103414"/>
                  </a:lnTo>
                  <a:lnTo>
                    <a:pt x="2606181" y="103187"/>
                  </a:lnTo>
                  <a:lnTo>
                    <a:pt x="2613886" y="103414"/>
                  </a:lnTo>
                  <a:lnTo>
                    <a:pt x="2622950" y="104094"/>
                  </a:lnTo>
                  <a:lnTo>
                    <a:pt x="2633147" y="105228"/>
                  </a:lnTo>
                  <a:lnTo>
                    <a:pt x="2638359" y="106361"/>
                  </a:lnTo>
                  <a:lnTo>
                    <a:pt x="2643571" y="107268"/>
                  </a:lnTo>
                  <a:lnTo>
                    <a:pt x="2648556" y="108629"/>
                  </a:lnTo>
                  <a:lnTo>
                    <a:pt x="2652862" y="109989"/>
                  </a:lnTo>
                  <a:lnTo>
                    <a:pt x="2657394" y="111576"/>
                  </a:lnTo>
                  <a:lnTo>
                    <a:pt x="2661019" y="113163"/>
                  </a:lnTo>
                  <a:lnTo>
                    <a:pt x="2664418" y="115204"/>
                  </a:lnTo>
                  <a:lnTo>
                    <a:pt x="2665778" y="116564"/>
                  </a:lnTo>
                  <a:lnTo>
                    <a:pt x="2667138" y="117471"/>
                  </a:lnTo>
                  <a:lnTo>
                    <a:pt x="2669177" y="119965"/>
                  </a:lnTo>
                  <a:lnTo>
                    <a:pt x="2670990" y="122459"/>
                  </a:lnTo>
                  <a:lnTo>
                    <a:pt x="2672803" y="124953"/>
                  </a:lnTo>
                  <a:lnTo>
                    <a:pt x="2674389" y="127674"/>
                  </a:lnTo>
                  <a:lnTo>
                    <a:pt x="2677108" y="133569"/>
                  </a:lnTo>
                  <a:lnTo>
                    <a:pt x="2679828" y="139464"/>
                  </a:lnTo>
                  <a:lnTo>
                    <a:pt x="2683000" y="145812"/>
                  </a:lnTo>
                  <a:lnTo>
                    <a:pt x="2684586" y="148986"/>
                  </a:lnTo>
                  <a:lnTo>
                    <a:pt x="2686399" y="152161"/>
                  </a:lnTo>
                  <a:lnTo>
                    <a:pt x="2688438" y="155335"/>
                  </a:lnTo>
                  <a:lnTo>
                    <a:pt x="2690478" y="158282"/>
                  </a:lnTo>
                  <a:lnTo>
                    <a:pt x="2692971" y="161683"/>
                  </a:lnTo>
                  <a:lnTo>
                    <a:pt x="2695916" y="164631"/>
                  </a:lnTo>
                  <a:lnTo>
                    <a:pt x="2699089" y="167805"/>
                  </a:lnTo>
                  <a:lnTo>
                    <a:pt x="2701808" y="171206"/>
                  </a:lnTo>
                  <a:lnTo>
                    <a:pt x="2704527" y="175287"/>
                  </a:lnTo>
                  <a:lnTo>
                    <a:pt x="2707247" y="179141"/>
                  </a:lnTo>
                  <a:lnTo>
                    <a:pt x="2709739" y="183449"/>
                  </a:lnTo>
                  <a:lnTo>
                    <a:pt x="2712232" y="187984"/>
                  </a:lnTo>
                  <a:lnTo>
                    <a:pt x="2714271" y="192292"/>
                  </a:lnTo>
                  <a:lnTo>
                    <a:pt x="2716311" y="196826"/>
                  </a:lnTo>
                  <a:lnTo>
                    <a:pt x="2720163" y="205442"/>
                  </a:lnTo>
                  <a:lnTo>
                    <a:pt x="2723109" y="213378"/>
                  </a:lnTo>
                  <a:lnTo>
                    <a:pt x="2724922" y="220406"/>
                  </a:lnTo>
                  <a:lnTo>
                    <a:pt x="2726281" y="225848"/>
                  </a:lnTo>
                  <a:lnTo>
                    <a:pt x="2726961" y="230836"/>
                  </a:lnTo>
                  <a:lnTo>
                    <a:pt x="2727414" y="236504"/>
                  </a:lnTo>
                  <a:lnTo>
                    <a:pt x="2728321" y="249201"/>
                  </a:lnTo>
                  <a:lnTo>
                    <a:pt x="2729000" y="261444"/>
                  </a:lnTo>
                  <a:lnTo>
                    <a:pt x="2729454" y="267113"/>
                  </a:lnTo>
                  <a:lnTo>
                    <a:pt x="2730134" y="272101"/>
                  </a:lnTo>
                  <a:lnTo>
                    <a:pt x="2731720" y="281623"/>
                  </a:lnTo>
                  <a:lnTo>
                    <a:pt x="2732626" y="290466"/>
                  </a:lnTo>
                  <a:lnTo>
                    <a:pt x="2734666" y="305203"/>
                  </a:lnTo>
                  <a:lnTo>
                    <a:pt x="2734892" y="308151"/>
                  </a:lnTo>
                  <a:lnTo>
                    <a:pt x="2735119" y="311778"/>
                  </a:lnTo>
                  <a:lnTo>
                    <a:pt x="2735119" y="316313"/>
                  </a:lnTo>
                  <a:lnTo>
                    <a:pt x="2734892" y="320847"/>
                  </a:lnTo>
                  <a:lnTo>
                    <a:pt x="2734212" y="325382"/>
                  </a:lnTo>
                  <a:lnTo>
                    <a:pt x="2733533" y="329917"/>
                  </a:lnTo>
                  <a:lnTo>
                    <a:pt x="2732173" y="334224"/>
                  </a:lnTo>
                  <a:lnTo>
                    <a:pt x="2731493" y="336038"/>
                  </a:lnTo>
                  <a:lnTo>
                    <a:pt x="2730360" y="337852"/>
                  </a:lnTo>
                  <a:lnTo>
                    <a:pt x="2726281" y="345561"/>
                  </a:lnTo>
                  <a:lnTo>
                    <a:pt x="2724015" y="349869"/>
                  </a:lnTo>
                  <a:lnTo>
                    <a:pt x="2721749" y="354177"/>
                  </a:lnTo>
                  <a:lnTo>
                    <a:pt x="2719710" y="358938"/>
                  </a:lnTo>
                  <a:lnTo>
                    <a:pt x="2718124" y="363699"/>
                  </a:lnTo>
                  <a:lnTo>
                    <a:pt x="2716764" y="368234"/>
                  </a:lnTo>
                  <a:lnTo>
                    <a:pt x="2716084" y="372542"/>
                  </a:lnTo>
                  <a:lnTo>
                    <a:pt x="2715178" y="382291"/>
                  </a:lnTo>
                  <a:lnTo>
                    <a:pt x="2713818" y="393174"/>
                  </a:lnTo>
                  <a:lnTo>
                    <a:pt x="2713591" y="398389"/>
                  </a:lnTo>
                  <a:lnTo>
                    <a:pt x="2713365" y="403377"/>
                  </a:lnTo>
                  <a:lnTo>
                    <a:pt x="2713591" y="407231"/>
                  </a:lnTo>
                  <a:lnTo>
                    <a:pt x="2713818" y="408818"/>
                  </a:lnTo>
                  <a:lnTo>
                    <a:pt x="2714045" y="409952"/>
                  </a:lnTo>
                  <a:lnTo>
                    <a:pt x="2714271" y="411312"/>
                  </a:lnTo>
                  <a:lnTo>
                    <a:pt x="2714498" y="412673"/>
                  </a:lnTo>
                  <a:lnTo>
                    <a:pt x="2714271" y="416074"/>
                  </a:lnTo>
                  <a:lnTo>
                    <a:pt x="2713591" y="419475"/>
                  </a:lnTo>
                  <a:lnTo>
                    <a:pt x="2712685" y="423102"/>
                  </a:lnTo>
                  <a:lnTo>
                    <a:pt x="2711099" y="426730"/>
                  </a:lnTo>
                  <a:lnTo>
                    <a:pt x="2709059" y="430131"/>
                  </a:lnTo>
                  <a:lnTo>
                    <a:pt x="2707247" y="432852"/>
                  </a:lnTo>
                  <a:lnTo>
                    <a:pt x="2705887" y="433759"/>
                  </a:lnTo>
                  <a:lnTo>
                    <a:pt x="2704981" y="434892"/>
                  </a:lnTo>
                  <a:lnTo>
                    <a:pt x="2703394" y="435346"/>
                  </a:lnTo>
                  <a:lnTo>
                    <a:pt x="2701581" y="436026"/>
                  </a:lnTo>
                  <a:lnTo>
                    <a:pt x="2699089" y="436253"/>
                  </a:lnTo>
                  <a:lnTo>
                    <a:pt x="2696596" y="436706"/>
                  </a:lnTo>
                  <a:lnTo>
                    <a:pt x="2690251" y="437160"/>
                  </a:lnTo>
                  <a:lnTo>
                    <a:pt x="2683680" y="437386"/>
                  </a:lnTo>
                  <a:lnTo>
                    <a:pt x="2672350" y="437160"/>
                  </a:lnTo>
                  <a:lnTo>
                    <a:pt x="2667364" y="436706"/>
                  </a:lnTo>
                  <a:lnTo>
                    <a:pt x="2665325" y="437613"/>
                  </a:lnTo>
                  <a:lnTo>
                    <a:pt x="2663285" y="438520"/>
                  </a:lnTo>
                  <a:lnTo>
                    <a:pt x="2661019" y="440107"/>
                  </a:lnTo>
                  <a:lnTo>
                    <a:pt x="2658753" y="441694"/>
                  </a:lnTo>
                  <a:lnTo>
                    <a:pt x="2657847" y="443054"/>
                  </a:lnTo>
                  <a:lnTo>
                    <a:pt x="2656941" y="443961"/>
                  </a:lnTo>
                  <a:lnTo>
                    <a:pt x="2656034" y="445548"/>
                  </a:lnTo>
                  <a:lnTo>
                    <a:pt x="2655354" y="446909"/>
                  </a:lnTo>
                  <a:lnTo>
                    <a:pt x="2655128" y="448496"/>
                  </a:lnTo>
                  <a:lnTo>
                    <a:pt x="2654901" y="450083"/>
                  </a:lnTo>
                  <a:lnTo>
                    <a:pt x="2655128" y="456432"/>
                  </a:lnTo>
                  <a:lnTo>
                    <a:pt x="2655354" y="459152"/>
                  </a:lnTo>
                  <a:lnTo>
                    <a:pt x="2655808" y="461646"/>
                  </a:lnTo>
                  <a:lnTo>
                    <a:pt x="2656714" y="463687"/>
                  </a:lnTo>
                  <a:lnTo>
                    <a:pt x="2657620" y="465274"/>
                  </a:lnTo>
                  <a:lnTo>
                    <a:pt x="2658527" y="467088"/>
                  </a:lnTo>
                  <a:lnTo>
                    <a:pt x="2660113" y="468221"/>
                  </a:lnTo>
                  <a:lnTo>
                    <a:pt x="2663965" y="470715"/>
                  </a:lnTo>
                  <a:lnTo>
                    <a:pt x="2672350" y="475703"/>
                  </a:lnTo>
                  <a:lnTo>
                    <a:pt x="2683453" y="482279"/>
                  </a:lnTo>
                  <a:lnTo>
                    <a:pt x="2696823" y="489534"/>
                  </a:lnTo>
                  <a:lnTo>
                    <a:pt x="2710872" y="497016"/>
                  </a:lnTo>
                  <a:lnTo>
                    <a:pt x="2718124" y="500417"/>
                  </a:lnTo>
                  <a:lnTo>
                    <a:pt x="2724922" y="503818"/>
                  </a:lnTo>
                  <a:lnTo>
                    <a:pt x="2731720" y="506765"/>
                  </a:lnTo>
                  <a:lnTo>
                    <a:pt x="2737838" y="509259"/>
                  </a:lnTo>
                  <a:lnTo>
                    <a:pt x="2743503" y="510847"/>
                  </a:lnTo>
                  <a:lnTo>
                    <a:pt x="2748488" y="512434"/>
                  </a:lnTo>
                  <a:lnTo>
                    <a:pt x="2765257" y="515608"/>
                  </a:lnTo>
                  <a:lnTo>
                    <a:pt x="2772055" y="517422"/>
                  </a:lnTo>
                  <a:lnTo>
                    <a:pt x="2775001" y="518102"/>
                  </a:lnTo>
                  <a:lnTo>
                    <a:pt x="2777947" y="519236"/>
                  </a:lnTo>
                  <a:lnTo>
                    <a:pt x="2780440" y="520369"/>
                  </a:lnTo>
                  <a:lnTo>
                    <a:pt x="2782932" y="521503"/>
                  </a:lnTo>
                  <a:lnTo>
                    <a:pt x="2785198" y="522863"/>
                  </a:lnTo>
                  <a:lnTo>
                    <a:pt x="2787238" y="524677"/>
                  </a:lnTo>
                  <a:lnTo>
                    <a:pt x="2788803" y="526048"/>
                  </a:lnTo>
                  <a:lnTo>
                    <a:pt x="2792727" y="527028"/>
                  </a:lnTo>
                  <a:lnTo>
                    <a:pt x="2797034" y="528389"/>
                  </a:lnTo>
                  <a:lnTo>
                    <a:pt x="2800888" y="529975"/>
                  </a:lnTo>
                  <a:lnTo>
                    <a:pt x="2804062" y="531562"/>
                  </a:lnTo>
                  <a:lnTo>
                    <a:pt x="2807236" y="533829"/>
                  </a:lnTo>
                  <a:lnTo>
                    <a:pt x="2809956" y="536096"/>
                  </a:lnTo>
                  <a:lnTo>
                    <a:pt x="2811996" y="538816"/>
                  </a:lnTo>
                  <a:lnTo>
                    <a:pt x="2814036" y="541763"/>
                  </a:lnTo>
                  <a:lnTo>
                    <a:pt x="2815623" y="545163"/>
                  </a:lnTo>
                  <a:lnTo>
                    <a:pt x="2816757" y="548790"/>
                  </a:lnTo>
                  <a:lnTo>
                    <a:pt x="2817437" y="553097"/>
                  </a:lnTo>
                  <a:lnTo>
                    <a:pt x="2818117" y="557404"/>
                  </a:lnTo>
                  <a:lnTo>
                    <a:pt x="2818344" y="562617"/>
                  </a:lnTo>
                  <a:lnTo>
                    <a:pt x="2818344" y="568058"/>
                  </a:lnTo>
                  <a:lnTo>
                    <a:pt x="2818570" y="573952"/>
                  </a:lnTo>
                  <a:lnTo>
                    <a:pt x="2819250" y="580299"/>
                  </a:lnTo>
                  <a:lnTo>
                    <a:pt x="2820157" y="586872"/>
                  </a:lnTo>
                  <a:lnTo>
                    <a:pt x="2821517" y="593900"/>
                  </a:lnTo>
                  <a:lnTo>
                    <a:pt x="2822878" y="601153"/>
                  </a:lnTo>
                  <a:lnTo>
                    <a:pt x="2824918" y="608407"/>
                  </a:lnTo>
                  <a:lnTo>
                    <a:pt x="2826823" y="615074"/>
                  </a:lnTo>
                  <a:lnTo>
                    <a:pt x="2833691" y="630106"/>
                  </a:lnTo>
                  <a:lnTo>
                    <a:pt x="2838450" y="640536"/>
                  </a:lnTo>
                  <a:lnTo>
                    <a:pt x="2836258" y="640536"/>
                  </a:lnTo>
                  <a:lnTo>
                    <a:pt x="2836480" y="641049"/>
                  </a:lnTo>
                  <a:lnTo>
                    <a:pt x="2840107" y="649663"/>
                  </a:lnTo>
                  <a:lnTo>
                    <a:pt x="2844641" y="658277"/>
                  </a:lnTo>
                  <a:lnTo>
                    <a:pt x="2849175" y="667571"/>
                  </a:lnTo>
                  <a:lnTo>
                    <a:pt x="2854615" y="676412"/>
                  </a:lnTo>
                  <a:lnTo>
                    <a:pt x="2860510" y="685706"/>
                  </a:lnTo>
                  <a:lnTo>
                    <a:pt x="2866177" y="694320"/>
                  </a:lnTo>
                  <a:lnTo>
                    <a:pt x="2872751" y="705200"/>
                  </a:lnTo>
                  <a:lnTo>
                    <a:pt x="2889074" y="732629"/>
                  </a:lnTo>
                  <a:lnTo>
                    <a:pt x="2908570" y="764818"/>
                  </a:lnTo>
                  <a:lnTo>
                    <a:pt x="2928972" y="799727"/>
                  </a:lnTo>
                  <a:lnTo>
                    <a:pt x="2939627" y="816728"/>
                  </a:lnTo>
                  <a:lnTo>
                    <a:pt x="2949829" y="833502"/>
                  </a:lnTo>
                  <a:lnTo>
                    <a:pt x="2960030" y="849143"/>
                  </a:lnTo>
                  <a:lnTo>
                    <a:pt x="2969551" y="863878"/>
                  </a:lnTo>
                  <a:lnTo>
                    <a:pt x="2978393" y="876798"/>
                  </a:lnTo>
                  <a:lnTo>
                    <a:pt x="2986554" y="887906"/>
                  </a:lnTo>
                  <a:lnTo>
                    <a:pt x="2990181" y="892666"/>
                  </a:lnTo>
                  <a:lnTo>
                    <a:pt x="2993808" y="896520"/>
                  </a:lnTo>
                  <a:lnTo>
                    <a:pt x="2996755" y="899920"/>
                  </a:lnTo>
                  <a:lnTo>
                    <a:pt x="2998859" y="901700"/>
                  </a:lnTo>
                  <a:lnTo>
                    <a:pt x="3305549" y="901700"/>
                  </a:lnTo>
                  <a:lnTo>
                    <a:pt x="3306861" y="868001"/>
                  </a:lnTo>
                  <a:lnTo>
                    <a:pt x="3330654" y="846908"/>
                  </a:lnTo>
                  <a:lnTo>
                    <a:pt x="3383904" y="800185"/>
                  </a:lnTo>
                  <a:lnTo>
                    <a:pt x="3413136" y="774555"/>
                  </a:lnTo>
                  <a:lnTo>
                    <a:pt x="3439421" y="751647"/>
                  </a:lnTo>
                  <a:lnTo>
                    <a:pt x="3450525" y="742348"/>
                  </a:lnTo>
                  <a:lnTo>
                    <a:pt x="3459815" y="734863"/>
                  </a:lnTo>
                  <a:lnTo>
                    <a:pt x="3466387" y="729420"/>
                  </a:lnTo>
                  <a:lnTo>
                    <a:pt x="3470465" y="726698"/>
                  </a:lnTo>
                  <a:lnTo>
                    <a:pt x="3471825" y="725791"/>
                  </a:lnTo>
                  <a:lnTo>
                    <a:pt x="3473638" y="724203"/>
                  </a:lnTo>
                  <a:lnTo>
                    <a:pt x="3478623" y="720348"/>
                  </a:lnTo>
                  <a:lnTo>
                    <a:pt x="3484968" y="714224"/>
                  </a:lnTo>
                  <a:lnTo>
                    <a:pt x="3492445" y="707193"/>
                  </a:lnTo>
                  <a:lnTo>
                    <a:pt x="3510347" y="689728"/>
                  </a:lnTo>
                  <a:lnTo>
                    <a:pt x="3530061" y="669996"/>
                  </a:lnTo>
                  <a:lnTo>
                    <a:pt x="3568130" y="630984"/>
                  </a:lnTo>
                  <a:lnTo>
                    <a:pt x="3591923" y="606489"/>
                  </a:lnTo>
                  <a:lnTo>
                    <a:pt x="3594868" y="603540"/>
                  </a:lnTo>
                  <a:lnTo>
                    <a:pt x="3597588" y="600138"/>
                  </a:lnTo>
                  <a:lnTo>
                    <a:pt x="3600307" y="596736"/>
                  </a:lnTo>
                  <a:lnTo>
                    <a:pt x="3603026" y="593561"/>
                  </a:lnTo>
                  <a:lnTo>
                    <a:pt x="3605518" y="589932"/>
                  </a:lnTo>
                  <a:lnTo>
                    <a:pt x="3607784" y="586303"/>
                  </a:lnTo>
                  <a:lnTo>
                    <a:pt x="3609597" y="582901"/>
                  </a:lnTo>
                  <a:lnTo>
                    <a:pt x="3611637" y="579272"/>
                  </a:lnTo>
                  <a:lnTo>
                    <a:pt x="3613449" y="575869"/>
                  </a:lnTo>
                  <a:lnTo>
                    <a:pt x="3614582" y="572467"/>
                  </a:lnTo>
                  <a:lnTo>
                    <a:pt x="3615942" y="569292"/>
                  </a:lnTo>
                  <a:lnTo>
                    <a:pt x="3616622" y="565890"/>
                  </a:lnTo>
                  <a:lnTo>
                    <a:pt x="3617302" y="562941"/>
                  </a:lnTo>
                  <a:lnTo>
                    <a:pt x="3617528" y="559993"/>
                  </a:lnTo>
                  <a:lnTo>
                    <a:pt x="3617302" y="557498"/>
                  </a:lnTo>
                  <a:lnTo>
                    <a:pt x="3616848" y="555003"/>
                  </a:lnTo>
                  <a:lnTo>
                    <a:pt x="3616395" y="552735"/>
                  </a:lnTo>
                  <a:lnTo>
                    <a:pt x="3616169" y="550240"/>
                  </a:lnTo>
                  <a:lnTo>
                    <a:pt x="3616169" y="548425"/>
                  </a:lnTo>
                  <a:lnTo>
                    <a:pt x="3616395" y="546157"/>
                  </a:lnTo>
                  <a:lnTo>
                    <a:pt x="3616848" y="543889"/>
                  </a:lnTo>
                  <a:lnTo>
                    <a:pt x="3617302" y="541621"/>
                  </a:lnTo>
                  <a:lnTo>
                    <a:pt x="3619114" y="537539"/>
                  </a:lnTo>
                  <a:lnTo>
                    <a:pt x="3621380" y="533229"/>
                  </a:lnTo>
                  <a:lnTo>
                    <a:pt x="3623873" y="528693"/>
                  </a:lnTo>
                  <a:lnTo>
                    <a:pt x="3629311" y="519847"/>
                  </a:lnTo>
                  <a:lnTo>
                    <a:pt x="3636109" y="507146"/>
                  </a:lnTo>
                  <a:lnTo>
                    <a:pt x="3645400" y="489908"/>
                  </a:lnTo>
                  <a:lnTo>
                    <a:pt x="3655370" y="471310"/>
                  </a:lnTo>
                  <a:lnTo>
                    <a:pt x="3664208" y="454526"/>
                  </a:lnTo>
                  <a:lnTo>
                    <a:pt x="3666247" y="450897"/>
                  </a:lnTo>
                  <a:lnTo>
                    <a:pt x="3668286" y="447495"/>
                  </a:lnTo>
                  <a:lnTo>
                    <a:pt x="3672818" y="440917"/>
                  </a:lnTo>
                  <a:lnTo>
                    <a:pt x="3677124" y="434794"/>
                  </a:lnTo>
                  <a:lnTo>
                    <a:pt x="3680976" y="429350"/>
                  </a:lnTo>
                  <a:lnTo>
                    <a:pt x="3683922" y="424134"/>
                  </a:lnTo>
                  <a:lnTo>
                    <a:pt x="3685281" y="421865"/>
                  </a:lnTo>
                  <a:lnTo>
                    <a:pt x="3685961" y="419597"/>
                  </a:lnTo>
                  <a:lnTo>
                    <a:pt x="3686641" y="417329"/>
                  </a:lnTo>
                  <a:lnTo>
                    <a:pt x="3686641" y="415515"/>
                  </a:lnTo>
                  <a:lnTo>
                    <a:pt x="3686414" y="413700"/>
                  </a:lnTo>
                  <a:lnTo>
                    <a:pt x="3685735" y="411886"/>
                  </a:lnTo>
                  <a:lnTo>
                    <a:pt x="3683695" y="408257"/>
                  </a:lnTo>
                  <a:lnTo>
                    <a:pt x="3681882" y="403721"/>
                  </a:lnTo>
                  <a:lnTo>
                    <a:pt x="3679616" y="398958"/>
                  </a:lnTo>
                  <a:lnTo>
                    <a:pt x="3678257" y="396463"/>
                  </a:lnTo>
                  <a:lnTo>
                    <a:pt x="3676671" y="394421"/>
                  </a:lnTo>
                  <a:lnTo>
                    <a:pt x="3674858" y="392380"/>
                  </a:lnTo>
                  <a:lnTo>
                    <a:pt x="3672818" y="390339"/>
                  </a:lnTo>
                  <a:lnTo>
                    <a:pt x="3670552" y="388524"/>
                  </a:lnTo>
                  <a:lnTo>
                    <a:pt x="3667833" y="387163"/>
                  </a:lnTo>
                  <a:lnTo>
                    <a:pt x="3664888" y="386256"/>
                  </a:lnTo>
                  <a:lnTo>
                    <a:pt x="3661715" y="385349"/>
                  </a:lnTo>
                  <a:lnTo>
                    <a:pt x="3658090" y="384895"/>
                  </a:lnTo>
                  <a:lnTo>
                    <a:pt x="3653558" y="385122"/>
                  </a:lnTo>
                  <a:lnTo>
                    <a:pt x="3646986" y="386256"/>
                  </a:lnTo>
                  <a:lnTo>
                    <a:pt x="3639055" y="387617"/>
                  </a:lnTo>
                  <a:lnTo>
                    <a:pt x="3620474" y="391700"/>
                  </a:lnTo>
                  <a:lnTo>
                    <a:pt x="3600533" y="396009"/>
                  </a:lnTo>
                  <a:lnTo>
                    <a:pt x="3590563" y="398050"/>
                  </a:lnTo>
                  <a:lnTo>
                    <a:pt x="3581272" y="399638"/>
                  </a:lnTo>
                  <a:lnTo>
                    <a:pt x="3576740" y="400092"/>
                  </a:lnTo>
                  <a:lnTo>
                    <a:pt x="3573115" y="400318"/>
                  </a:lnTo>
                  <a:lnTo>
                    <a:pt x="3569716" y="400092"/>
                  </a:lnTo>
                  <a:lnTo>
                    <a:pt x="3566770" y="399638"/>
                  </a:lnTo>
                  <a:lnTo>
                    <a:pt x="3564504" y="398731"/>
                  </a:lnTo>
                  <a:lnTo>
                    <a:pt x="3562465" y="397824"/>
                  </a:lnTo>
                  <a:lnTo>
                    <a:pt x="3560878" y="396463"/>
                  </a:lnTo>
                  <a:lnTo>
                    <a:pt x="3559292" y="395102"/>
                  </a:lnTo>
                  <a:lnTo>
                    <a:pt x="3558386" y="393287"/>
                  </a:lnTo>
                  <a:lnTo>
                    <a:pt x="3557706" y="391700"/>
                  </a:lnTo>
                  <a:lnTo>
                    <a:pt x="3556800" y="389658"/>
                  </a:lnTo>
                  <a:lnTo>
                    <a:pt x="3556346" y="387390"/>
                  </a:lnTo>
                  <a:lnTo>
                    <a:pt x="3555667" y="383081"/>
                  </a:lnTo>
                  <a:lnTo>
                    <a:pt x="3555213" y="378545"/>
                  </a:lnTo>
                  <a:lnTo>
                    <a:pt x="3554534" y="373555"/>
                  </a:lnTo>
                  <a:lnTo>
                    <a:pt x="3553854" y="368111"/>
                  </a:lnTo>
                  <a:lnTo>
                    <a:pt x="3553401" y="361988"/>
                  </a:lnTo>
                  <a:lnTo>
                    <a:pt x="3552721" y="356317"/>
                  </a:lnTo>
                  <a:lnTo>
                    <a:pt x="3552268" y="353596"/>
                  </a:lnTo>
                  <a:lnTo>
                    <a:pt x="3551361" y="350874"/>
                  </a:lnTo>
                  <a:lnTo>
                    <a:pt x="3550681" y="348379"/>
                  </a:lnTo>
                  <a:lnTo>
                    <a:pt x="3549775" y="346564"/>
                  </a:lnTo>
                  <a:lnTo>
                    <a:pt x="3548415" y="344523"/>
                  </a:lnTo>
                  <a:lnTo>
                    <a:pt x="3547282" y="342709"/>
                  </a:lnTo>
                  <a:lnTo>
                    <a:pt x="3545470" y="341575"/>
                  </a:lnTo>
                  <a:lnTo>
                    <a:pt x="3543884" y="340441"/>
                  </a:lnTo>
                  <a:lnTo>
                    <a:pt x="3542071" y="339533"/>
                  </a:lnTo>
                  <a:lnTo>
                    <a:pt x="3540484" y="338853"/>
                  </a:lnTo>
                  <a:lnTo>
                    <a:pt x="3539352" y="337719"/>
                  </a:lnTo>
                  <a:lnTo>
                    <a:pt x="3538672" y="336585"/>
                  </a:lnTo>
                  <a:lnTo>
                    <a:pt x="3537992" y="335224"/>
                  </a:lnTo>
                  <a:lnTo>
                    <a:pt x="3537539" y="334090"/>
                  </a:lnTo>
                  <a:lnTo>
                    <a:pt x="3537539" y="332502"/>
                  </a:lnTo>
                  <a:lnTo>
                    <a:pt x="3537539" y="331141"/>
                  </a:lnTo>
                  <a:lnTo>
                    <a:pt x="3537765" y="328193"/>
                  </a:lnTo>
                  <a:lnTo>
                    <a:pt x="3538218" y="324791"/>
                  </a:lnTo>
                  <a:lnTo>
                    <a:pt x="3538898" y="321615"/>
                  </a:lnTo>
                  <a:lnTo>
                    <a:pt x="3539125" y="318440"/>
                  </a:lnTo>
                  <a:lnTo>
                    <a:pt x="3539125" y="314811"/>
                  </a:lnTo>
                  <a:lnTo>
                    <a:pt x="3538672" y="310275"/>
                  </a:lnTo>
                  <a:lnTo>
                    <a:pt x="3537312" y="299842"/>
                  </a:lnTo>
                  <a:lnTo>
                    <a:pt x="3536179" y="289635"/>
                  </a:lnTo>
                  <a:lnTo>
                    <a:pt x="3535499" y="285099"/>
                  </a:lnTo>
                  <a:lnTo>
                    <a:pt x="3535273" y="281243"/>
                  </a:lnTo>
                  <a:lnTo>
                    <a:pt x="3535046" y="278748"/>
                  </a:lnTo>
                  <a:lnTo>
                    <a:pt x="3534593" y="276707"/>
                  </a:lnTo>
                  <a:lnTo>
                    <a:pt x="3533913" y="275119"/>
                  </a:lnTo>
                  <a:lnTo>
                    <a:pt x="3532554" y="273758"/>
                  </a:lnTo>
                  <a:lnTo>
                    <a:pt x="3531421" y="272851"/>
                  </a:lnTo>
                  <a:lnTo>
                    <a:pt x="3530061" y="271717"/>
                  </a:lnTo>
                  <a:lnTo>
                    <a:pt x="3528475" y="271263"/>
                  </a:lnTo>
                  <a:lnTo>
                    <a:pt x="3526889" y="271037"/>
                  </a:lnTo>
                  <a:lnTo>
                    <a:pt x="3523490" y="270583"/>
                  </a:lnTo>
                  <a:lnTo>
                    <a:pt x="3519637" y="270583"/>
                  </a:lnTo>
                  <a:lnTo>
                    <a:pt x="3516238" y="270129"/>
                  </a:lnTo>
                  <a:lnTo>
                    <a:pt x="3514879" y="269903"/>
                  </a:lnTo>
                  <a:lnTo>
                    <a:pt x="3513293" y="269222"/>
                  </a:lnTo>
                  <a:lnTo>
                    <a:pt x="3511027" y="268315"/>
                  </a:lnTo>
                  <a:lnTo>
                    <a:pt x="3509440" y="267181"/>
                  </a:lnTo>
                  <a:lnTo>
                    <a:pt x="3507628" y="265820"/>
                  </a:lnTo>
                  <a:lnTo>
                    <a:pt x="3506721" y="263779"/>
                  </a:lnTo>
                  <a:lnTo>
                    <a:pt x="3505815" y="261964"/>
                  </a:lnTo>
                  <a:lnTo>
                    <a:pt x="3505588" y="259469"/>
                  </a:lnTo>
                  <a:lnTo>
                    <a:pt x="3505815" y="256748"/>
                  </a:lnTo>
                  <a:lnTo>
                    <a:pt x="3506948" y="253345"/>
                  </a:lnTo>
                  <a:lnTo>
                    <a:pt x="3508534" y="249717"/>
                  </a:lnTo>
                  <a:lnTo>
                    <a:pt x="3510800" y="245634"/>
                  </a:lnTo>
                  <a:lnTo>
                    <a:pt x="3513972" y="240871"/>
                  </a:lnTo>
                  <a:lnTo>
                    <a:pt x="3518051" y="235654"/>
                  </a:lnTo>
                  <a:lnTo>
                    <a:pt x="3523036" y="229757"/>
                  </a:lnTo>
                  <a:lnTo>
                    <a:pt x="3528701" y="223180"/>
                  </a:lnTo>
                  <a:lnTo>
                    <a:pt x="3535273" y="215922"/>
                  </a:lnTo>
                  <a:lnTo>
                    <a:pt x="3543204" y="207983"/>
                  </a:lnTo>
                  <a:lnTo>
                    <a:pt x="3544110" y="207076"/>
                  </a:lnTo>
                  <a:lnTo>
                    <a:pt x="3544563" y="205942"/>
                  </a:lnTo>
                  <a:lnTo>
                    <a:pt x="3544790" y="204581"/>
                  </a:lnTo>
                  <a:lnTo>
                    <a:pt x="3545016" y="203220"/>
                  </a:lnTo>
                  <a:lnTo>
                    <a:pt x="3544790" y="201406"/>
                  </a:lnTo>
                  <a:lnTo>
                    <a:pt x="3544790" y="199818"/>
                  </a:lnTo>
                  <a:lnTo>
                    <a:pt x="3543884" y="196189"/>
                  </a:lnTo>
                  <a:lnTo>
                    <a:pt x="3542524" y="192787"/>
                  </a:lnTo>
                  <a:lnTo>
                    <a:pt x="3541391" y="189158"/>
                  </a:lnTo>
                  <a:lnTo>
                    <a:pt x="3539125" y="183034"/>
                  </a:lnTo>
                  <a:lnTo>
                    <a:pt x="3538672" y="180086"/>
                  </a:lnTo>
                  <a:lnTo>
                    <a:pt x="3538218" y="176910"/>
                  </a:lnTo>
                  <a:lnTo>
                    <a:pt x="3538672" y="173055"/>
                  </a:lnTo>
                  <a:lnTo>
                    <a:pt x="3539352" y="168972"/>
                  </a:lnTo>
                  <a:lnTo>
                    <a:pt x="3540258" y="164663"/>
                  </a:lnTo>
                  <a:lnTo>
                    <a:pt x="3541618" y="160126"/>
                  </a:lnTo>
                  <a:lnTo>
                    <a:pt x="3544790" y="150600"/>
                  </a:lnTo>
                  <a:lnTo>
                    <a:pt x="3552041" y="130414"/>
                  </a:lnTo>
                  <a:lnTo>
                    <a:pt x="3555213" y="120661"/>
                  </a:lnTo>
                  <a:lnTo>
                    <a:pt x="3556573" y="116125"/>
                  </a:lnTo>
                  <a:lnTo>
                    <a:pt x="3557706" y="111589"/>
                  </a:lnTo>
                  <a:lnTo>
                    <a:pt x="3559292" y="103877"/>
                  </a:lnTo>
                  <a:lnTo>
                    <a:pt x="3560425" y="98661"/>
                  </a:lnTo>
                  <a:lnTo>
                    <a:pt x="3560652" y="96620"/>
                  </a:lnTo>
                  <a:lnTo>
                    <a:pt x="3560652" y="95259"/>
                  </a:lnTo>
                  <a:lnTo>
                    <a:pt x="3560425" y="93898"/>
                  </a:lnTo>
                  <a:lnTo>
                    <a:pt x="3560199" y="93217"/>
                  </a:lnTo>
                  <a:lnTo>
                    <a:pt x="3559745" y="92537"/>
                  </a:lnTo>
                  <a:lnTo>
                    <a:pt x="3558839" y="92310"/>
                  </a:lnTo>
                  <a:lnTo>
                    <a:pt x="3557933" y="92083"/>
                  </a:lnTo>
                  <a:lnTo>
                    <a:pt x="3556800" y="91857"/>
                  </a:lnTo>
                  <a:lnTo>
                    <a:pt x="3553854" y="91857"/>
                  </a:lnTo>
                  <a:lnTo>
                    <a:pt x="3550002" y="91403"/>
                  </a:lnTo>
                  <a:lnTo>
                    <a:pt x="3548642" y="91176"/>
                  </a:lnTo>
                  <a:lnTo>
                    <a:pt x="3547282" y="90722"/>
                  </a:lnTo>
                  <a:lnTo>
                    <a:pt x="3546149" y="90496"/>
                  </a:lnTo>
                  <a:lnTo>
                    <a:pt x="3545243" y="89815"/>
                  </a:lnTo>
                  <a:lnTo>
                    <a:pt x="3544337" y="88908"/>
                  </a:lnTo>
                  <a:lnTo>
                    <a:pt x="3543884" y="88001"/>
                  </a:lnTo>
                  <a:lnTo>
                    <a:pt x="3543430" y="86867"/>
                  </a:lnTo>
                  <a:lnTo>
                    <a:pt x="3543430" y="85279"/>
                  </a:lnTo>
                  <a:lnTo>
                    <a:pt x="3543884" y="83465"/>
                  </a:lnTo>
                  <a:lnTo>
                    <a:pt x="3544563" y="81650"/>
                  </a:lnTo>
                  <a:lnTo>
                    <a:pt x="3545696" y="79155"/>
                  </a:lnTo>
                  <a:lnTo>
                    <a:pt x="3547282" y="76660"/>
                  </a:lnTo>
                  <a:lnTo>
                    <a:pt x="3549322" y="73712"/>
                  </a:lnTo>
                  <a:lnTo>
                    <a:pt x="3552041" y="70083"/>
                  </a:lnTo>
                  <a:lnTo>
                    <a:pt x="3554987" y="66454"/>
                  </a:lnTo>
                  <a:lnTo>
                    <a:pt x="3558612" y="62371"/>
                  </a:lnTo>
                  <a:lnTo>
                    <a:pt x="3562691" y="58289"/>
                  </a:lnTo>
                  <a:lnTo>
                    <a:pt x="3566770" y="54433"/>
                  </a:lnTo>
                  <a:lnTo>
                    <a:pt x="3571529" y="50804"/>
                  </a:lnTo>
                  <a:lnTo>
                    <a:pt x="3576287" y="47402"/>
                  </a:lnTo>
                  <a:lnTo>
                    <a:pt x="3581499" y="44226"/>
                  </a:lnTo>
                  <a:lnTo>
                    <a:pt x="3586937" y="41051"/>
                  </a:lnTo>
                  <a:lnTo>
                    <a:pt x="3592829" y="38103"/>
                  </a:lnTo>
                  <a:lnTo>
                    <a:pt x="3598947" y="35381"/>
                  </a:lnTo>
                  <a:lnTo>
                    <a:pt x="3605518" y="32886"/>
                  </a:lnTo>
                  <a:lnTo>
                    <a:pt x="3612316" y="30164"/>
                  </a:lnTo>
                  <a:lnTo>
                    <a:pt x="3619794" y="27896"/>
                  </a:lnTo>
                  <a:lnTo>
                    <a:pt x="3627725" y="25628"/>
                  </a:lnTo>
                  <a:lnTo>
                    <a:pt x="3636109" y="23360"/>
                  </a:lnTo>
                  <a:lnTo>
                    <a:pt x="3644947" y="21092"/>
                  </a:lnTo>
                  <a:lnTo>
                    <a:pt x="3664208" y="16329"/>
                  </a:lnTo>
                  <a:lnTo>
                    <a:pt x="3674405" y="14287"/>
                  </a:lnTo>
                  <a:lnTo>
                    <a:pt x="3684148" y="12927"/>
                  </a:lnTo>
                  <a:lnTo>
                    <a:pt x="3694119" y="11566"/>
                  </a:lnTo>
                  <a:lnTo>
                    <a:pt x="3703863" y="11112"/>
                  </a:lnTo>
                  <a:lnTo>
                    <a:pt x="3713380" y="11112"/>
                  </a:lnTo>
                  <a:lnTo>
                    <a:pt x="3722897" y="11566"/>
                  </a:lnTo>
                  <a:lnTo>
                    <a:pt x="3731961" y="12927"/>
                  </a:lnTo>
                  <a:lnTo>
                    <a:pt x="3741251" y="14287"/>
                  </a:lnTo>
                  <a:lnTo>
                    <a:pt x="3750089" y="16556"/>
                  </a:lnTo>
                  <a:lnTo>
                    <a:pt x="3759153" y="19277"/>
                  </a:lnTo>
                  <a:lnTo>
                    <a:pt x="3767764" y="22453"/>
                  </a:lnTo>
                  <a:lnTo>
                    <a:pt x="3776148" y="26535"/>
                  </a:lnTo>
                  <a:lnTo>
                    <a:pt x="3784532" y="31071"/>
                  </a:lnTo>
                  <a:lnTo>
                    <a:pt x="3792689" y="35834"/>
                  </a:lnTo>
                  <a:lnTo>
                    <a:pt x="3800847" y="41731"/>
                  </a:lnTo>
                  <a:lnTo>
                    <a:pt x="3808778" y="47855"/>
                  </a:lnTo>
                  <a:lnTo>
                    <a:pt x="3812857" y="51258"/>
                  </a:lnTo>
                  <a:lnTo>
                    <a:pt x="3816256" y="54886"/>
                  </a:lnTo>
                  <a:lnTo>
                    <a:pt x="3819428" y="58289"/>
                  </a:lnTo>
                  <a:lnTo>
                    <a:pt x="3822827" y="61918"/>
                  </a:lnTo>
                  <a:lnTo>
                    <a:pt x="3825546" y="65773"/>
                  </a:lnTo>
                  <a:lnTo>
                    <a:pt x="3828039" y="69402"/>
                  </a:lnTo>
                  <a:lnTo>
                    <a:pt x="3830532" y="73031"/>
                  </a:lnTo>
                  <a:lnTo>
                    <a:pt x="3832344" y="77114"/>
                  </a:lnTo>
                  <a:lnTo>
                    <a:pt x="3834384" y="80743"/>
                  </a:lnTo>
                  <a:lnTo>
                    <a:pt x="3836196" y="84825"/>
                  </a:lnTo>
                  <a:lnTo>
                    <a:pt x="3837783" y="88681"/>
                  </a:lnTo>
                  <a:lnTo>
                    <a:pt x="3839142" y="92764"/>
                  </a:lnTo>
                  <a:lnTo>
                    <a:pt x="3840275" y="96620"/>
                  </a:lnTo>
                  <a:lnTo>
                    <a:pt x="3841408" y="100702"/>
                  </a:lnTo>
                  <a:lnTo>
                    <a:pt x="3842994" y="108640"/>
                  </a:lnTo>
                  <a:lnTo>
                    <a:pt x="3844354" y="116352"/>
                  </a:lnTo>
                  <a:lnTo>
                    <a:pt x="3845034" y="124064"/>
                  </a:lnTo>
                  <a:lnTo>
                    <a:pt x="3845487" y="131095"/>
                  </a:lnTo>
                  <a:lnTo>
                    <a:pt x="3845487" y="138126"/>
                  </a:lnTo>
                  <a:lnTo>
                    <a:pt x="3845487" y="144477"/>
                  </a:lnTo>
                  <a:lnTo>
                    <a:pt x="3845260" y="150827"/>
                  </a:lnTo>
                  <a:lnTo>
                    <a:pt x="3844581" y="161260"/>
                  </a:lnTo>
                  <a:lnTo>
                    <a:pt x="3845260" y="196416"/>
                  </a:lnTo>
                  <a:lnTo>
                    <a:pt x="3845714" y="225221"/>
                  </a:lnTo>
                  <a:lnTo>
                    <a:pt x="3845940" y="247675"/>
                  </a:lnTo>
                  <a:lnTo>
                    <a:pt x="3845940" y="261284"/>
                  </a:lnTo>
                  <a:lnTo>
                    <a:pt x="3846620" y="271263"/>
                  </a:lnTo>
                  <a:lnTo>
                    <a:pt x="3847526" y="280563"/>
                  </a:lnTo>
                  <a:lnTo>
                    <a:pt x="3849113" y="290996"/>
                  </a:lnTo>
                  <a:lnTo>
                    <a:pt x="3849339" y="292357"/>
                  </a:lnTo>
                  <a:lnTo>
                    <a:pt x="3850019" y="293718"/>
                  </a:lnTo>
                  <a:lnTo>
                    <a:pt x="3850699" y="294852"/>
                  </a:lnTo>
                  <a:lnTo>
                    <a:pt x="3851832" y="295759"/>
                  </a:lnTo>
                  <a:lnTo>
                    <a:pt x="3852965" y="296893"/>
                  </a:lnTo>
                  <a:lnTo>
                    <a:pt x="3854324" y="297573"/>
                  </a:lnTo>
                  <a:lnTo>
                    <a:pt x="3855911" y="298027"/>
                  </a:lnTo>
                  <a:lnTo>
                    <a:pt x="3857723" y="298934"/>
                  </a:lnTo>
                  <a:lnTo>
                    <a:pt x="3861349" y="299615"/>
                  </a:lnTo>
                  <a:lnTo>
                    <a:pt x="3865654" y="300068"/>
                  </a:lnTo>
                  <a:lnTo>
                    <a:pt x="3870640" y="300295"/>
                  </a:lnTo>
                  <a:lnTo>
                    <a:pt x="3875625" y="300295"/>
                  </a:lnTo>
                  <a:lnTo>
                    <a:pt x="3886502" y="300068"/>
                  </a:lnTo>
                  <a:lnTo>
                    <a:pt x="3897605" y="299842"/>
                  </a:lnTo>
                  <a:lnTo>
                    <a:pt x="3903270" y="299842"/>
                  </a:lnTo>
                  <a:lnTo>
                    <a:pt x="3908482" y="300068"/>
                  </a:lnTo>
                  <a:lnTo>
                    <a:pt x="3913693" y="300522"/>
                  </a:lnTo>
                  <a:lnTo>
                    <a:pt x="3918452" y="301656"/>
                  </a:lnTo>
                  <a:lnTo>
                    <a:pt x="3928649" y="303697"/>
                  </a:lnTo>
                  <a:lnTo>
                    <a:pt x="3940432" y="307099"/>
                  </a:lnTo>
                  <a:lnTo>
                    <a:pt x="3953348" y="310728"/>
                  </a:lnTo>
                  <a:lnTo>
                    <a:pt x="3959920" y="312997"/>
                  </a:lnTo>
                  <a:lnTo>
                    <a:pt x="3966718" y="315265"/>
                  </a:lnTo>
                  <a:lnTo>
                    <a:pt x="3973062" y="317760"/>
                  </a:lnTo>
                  <a:lnTo>
                    <a:pt x="3979407" y="320254"/>
                  </a:lnTo>
                  <a:lnTo>
                    <a:pt x="3985299" y="323203"/>
                  </a:lnTo>
                  <a:lnTo>
                    <a:pt x="3990737" y="325925"/>
                  </a:lnTo>
                  <a:lnTo>
                    <a:pt x="3995722" y="329100"/>
                  </a:lnTo>
                  <a:lnTo>
                    <a:pt x="4000028" y="332049"/>
                  </a:lnTo>
                  <a:lnTo>
                    <a:pt x="4002067" y="333863"/>
                  </a:lnTo>
                  <a:lnTo>
                    <a:pt x="4003880" y="335451"/>
                  </a:lnTo>
                  <a:lnTo>
                    <a:pt x="4005240" y="337265"/>
                  </a:lnTo>
                  <a:lnTo>
                    <a:pt x="4006826" y="339080"/>
                  </a:lnTo>
                  <a:lnTo>
                    <a:pt x="4012038" y="346111"/>
                  </a:lnTo>
                  <a:lnTo>
                    <a:pt x="4018156" y="353822"/>
                  </a:lnTo>
                  <a:lnTo>
                    <a:pt x="4032885" y="371287"/>
                  </a:lnTo>
                  <a:lnTo>
                    <a:pt x="4041269" y="381266"/>
                  </a:lnTo>
                  <a:lnTo>
                    <a:pt x="4050333" y="392607"/>
                  </a:lnTo>
                  <a:lnTo>
                    <a:pt x="4060303" y="405308"/>
                  </a:lnTo>
                  <a:lnTo>
                    <a:pt x="4070953" y="419371"/>
                  </a:lnTo>
                  <a:lnTo>
                    <a:pt x="4076618" y="427536"/>
                  </a:lnTo>
                  <a:lnTo>
                    <a:pt x="4082736" y="437062"/>
                  </a:lnTo>
                  <a:lnTo>
                    <a:pt x="4088855" y="447722"/>
                  </a:lnTo>
                  <a:lnTo>
                    <a:pt x="4094973" y="459289"/>
                  </a:lnTo>
                  <a:lnTo>
                    <a:pt x="4101544" y="471990"/>
                  </a:lnTo>
                  <a:lnTo>
                    <a:pt x="4107889" y="485372"/>
                  </a:lnTo>
                  <a:lnTo>
                    <a:pt x="4114007" y="499434"/>
                  </a:lnTo>
                  <a:lnTo>
                    <a:pt x="4120352" y="514404"/>
                  </a:lnTo>
                  <a:lnTo>
                    <a:pt x="4126470" y="529827"/>
                  </a:lnTo>
                  <a:lnTo>
                    <a:pt x="4132135" y="545704"/>
                  </a:lnTo>
                  <a:lnTo>
                    <a:pt x="4137800" y="561807"/>
                  </a:lnTo>
                  <a:lnTo>
                    <a:pt x="4143012" y="578138"/>
                  </a:lnTo>
                  <a:lnTo>
                    <a:pt x="4147770" y="594468"/>
                  </a:lnTo>
                  <a:lnTo>
                    <a:pt x="4152302" y="611025"/>
                  </a:lnTo>
                  <a:lnTo>
                    <a:pt x="4155928" y="627582"/>
                  </a:lnTo>
                  <a:lnTo>
                    <a:pt x="4159100" y="643686"/>
                  </a:lnTo>
                  <a:lnTo>
                    <a:pt x="4164992" y="674078"/>
                  </a:lnTo>
                  <a:lnTo>
                    <a:pt x="4167711" y="687914"/>
                  </a:lnTo>
                  <a:lnTo>
                    <a:pt x="4170657" y="701296"/>
                  </a:lnTo>
                  <a:lnTo>
                    <a:pt x="4173603" y="713997"/>
                  </a:lnTo>
                  <a:lnTo>
                    <a:pt x="4176549" y="726018"/>
                  </a:lnTo>
                  <a:lnTo>
                    <a:pt x="4179721" y="737358"/>
                  </a:lnTo>
                  <a:lnTo>
                    <a:pt x="4183120" y="748245"/>
                  </a:lnTo>
                  <a:lnTo>
                    <a:pt x="4186746" y="758678"/>
                  </a:lnTo>
                  <a:lnTo>
                    <a:pt x="4190371" y="768658"/>
                  </a:lnTo>
                  <a:lnTo>
                    <a:pt x="4194450" y="778184"/>
                  </a:lnTo>
                  <a:lnTo>
                    <a:pt x="4198529" y="787483"/>
                  </a:lnTo>
                  <a:lnTo>
                    <a:pt x="4203061" y="796329"/>
                  </a:lnTo>
                  <a:lnTo>
                    <a:pt x="4207819" y="805175"/>
                  </a:lnTo>
                  <a:lnTo>
                    <a:pt x="4213031" y="813567"/>
                  </a:lnTo>
                  <a:lnTo>
                    <a:pt x="4218696" y="821958"/>
                  </a:lnTo>
                  <a:lnTo>
                    <a:pt x="4221415" y="826268"/>
                  </a:lnTo>
                  <a:lnTo>
                    <a:pt x="4224134" y="830350"/>
                  </a:lnTo>
                  <a:lnTo>
                    <a:pt x="4226627" y="834887"/>
                  </a:lnTo>
                  <a:lnTo>
                    <a:pt x="4228893" y="839196"/>
                  </a:lnTo>
                  <a:lnTo>
                    <a:pt x="4230932" y="843959"/>
                  </a:lnTo>
                  <a:lnTo>
                    <a:pt x="4233198" y="848495"/>
                  </a:lnTo>
                  <a:lnTo>
                    <a:pt x="4237051" y="857795"/>
                  </a:lnTo>
                  <a:lnTo>
                    <a:pt x="4239996" y="867321"/>
                  </a:lnTo>
                  <a:lnTo>
                    <a:pt x="4242716" y="876620"/>
                  </a:lnTo>
                  <a:lnTo>
                    <a:pt x="4244982" y="885692"/>
                  </a:lnTo>
                  <a:lnTo>
                    <a:pt x="4246794" y="894084"/>
                  </a:lnTo>
                  <a:lnTo>
                    <a:pt x="4248380" y="902249"/>
                  </a:lnTo>
                  <a:lnTo>
                    <a:pt x="4249514" y="909734"/>
                  </a:lnTo>
                  <a:lnTo>
                    <a:pt x="4250646" y="916538"/>
                  </a:lnTo>
                  <a:lnTo>
                    <a:pt x="4251100" y="922209"/>
                  </a:lnTo>
                  <a:lnTo>
                    <a:pt x="4251780" y="930374"/>
                  </a:lnTo>
                  <a:lnTo>
                    <a:pt x="4252006" y="933322"/>
                  </a:lnTo>
                  <a:lnTo>
                    <a:pt x="4352843" y="927879"/>
                  </a:lnTo>
                  <a:lnTo>
                    <a:pt x="4374596" y="841464"/>
                  </a:lnTo>
                  <a:lnTo>
                    <a:pt x="4391138" y="776370"/>
                  </a:lnTo>
                  <a:lnTo>
                    <a:pt x="4397483" y="750513"/>
                  </a:lnTo>
                  <a:lnTo>
                    <a:pt x="4402015" y="734183"/>
                  </a:lnTo>
                  <a:lnTo>
                    <a:pt x="4404734" y="724430"/>
                  </a:lnTo>
                  <a:lnTo>
                    <a:pt x="4406094" y="720348"/>
                  </a:lnTo>
                  <a:lnTo>
                    <a:pt x="4407680" y="716492"/>
                  </a:lnTo>
                  <a:lnTo>
                    <a:pt x="4409493" y="713316"/>
                  </a:lnTo>
                  <a:lnTo>
                    <a:pt x="4411079" y="710368"/>
                  </a:lnTo>
                  <a:lnTo>
                    <a:pt x="4413345" y="707646"/>
                  </a:lnTo>
                  <a:lnTo>
                    <a:pt x="4415611" y="705151"/>
                  </a:lnTo>
                  <a:lnTo>
                    <a:pt x="4418103" y="702883"/>
                  </a:lnTo>
                  <a:lnTo>
                    <a:pt x="4421049" y="700842"/>
                  </a:lnTo>
                  <a:lnTo>
                    <a:pt x="4424448" y="699027"/>
                  </a:lnTo>
                  <a:lnTo>
                    <a:pt x="4428300" y="697213"/>
                  </a:lnTo>
                  <a:lnTo>
                    <a:pt x="4432379" y="695398"/>
                  </a:lnTo>
                  <a:lnTo>
                    <a:pt x="4437138" y="693811"/>
                  </a:lnTo>
                  <a:lnTo>
                    <a:pt x="4448468" y="689955"/>
                  </a:lnTo>
                  <a:lnTo>
                    <a:pt x="4451640" y="689048"/>
                  </a:lnTo>
                  <a:lnTo>
                    <a:pt x="4454586" y="688594"/>
                  </a:lnTo>
                  <a:lnTo>
                    <a:pt x="4457305" y="687914"/>
                  </a:lnTo>
                  <a:lnTo>
                    <a:pt x="4459798" y="687687"/>
                  </a:lnTo>
                  <a:lnTo>
                    <a:pt x="4462290" y="687460"/>
                  </a:lnTo>
                  <a:lnTo>
                    <a:pt x="4464330" y="687687"/>
                  </a:lnTo>
                  <a:lnTo>
                    <a:pt x="4466369" y="687914"/>
                  </a:lnTo>
                  <a:lnTo>
                    <a:pt x="4468408" y="688821"/>
                  </a:lnTo>
                  <a:lnTo>
                    <a:pt x="4470221" y="689501"/>
                  </a:lnTo>
                  <a:lnTo>
                    <a:pt x="4471807" y="690409"/>
                  </a:lnTo>
                  <a:lnTo>
                    <a:pt x="4473167" y="691769"/>
                  </a:lnTo>
                  <a:lnTo>
                    <a:pt x="4474300" y="693130"/>
                  </a:lnTo>
                  <a:lnTo>
                    <a:pt x="4475660" y="694718"/>
                  </a:lnTo>
                  <a:lnTo>
                    <a:pt x="4476566" y="696759"/>
                  </a:lnTo>
                  <a:lnTo>
                    <a:pt x="4477246" y="699027"/>
                  </a:lnTo>
                  <a:lnTo>
                    <a:pt x="4477699" y="701069"/>
                  </a:lnTo>
                  <a:lnTo>
                    <a:pt x="4478379" y="703790"/>
                  </a:lnTo>
                  <a:lnTo>
                    <a:pt x="4478832" y="706512"/>
                  </a:lnTo>
                  <a:lnTo>
                    <a:pt x="4478832" y="709914"/>
                  </a:lnTo>
                  <a:lnTo>
                    <a:pt x="4478832" y="713090"/>
                  </a:lnTo>
                  <a:lnTo>
                    <a:pt x="4478379" y="720574"/>
                  </a:lnTo>
                  <a:lnTo>
                    <a:pt x="4477246" y="728740"/>
                  </a:lnTo>
                  <a:lnTo>
                    <a:pt x="4475660" y="738039"/>
                  </a:lnTo>
                  <a:lnTo>
                    <a:pt x="4473167" y="748472"/>
                  </a:lnTo>
                  <a:lnTo>
                    <a:pt x="4470221" y="760266"/>
                  </a:lnTo>
                  <a:lnTo>
                    <a:pt x="4466369" y="772514"/>
                  </a:lnTo>
                  <a:lnTo>
                    <a:pt x="4462743" y="785669"/>
                  </a:lnTo>
                  <a:lnTo>
                    <a:pt x="4458891" y="799051"/>
                  </a:lnTo>
                  <a:lnTo>
                    <a:pt x="4452093" y="825134"/>
                  </a:lnTo>
                  <a:lnTo>
                    <a:pt x="4445748" y="849856"/>
                  </a:lnTo>
                  <a:lnTo>
                    <a:pt x="4440537" y="872537"/>
                  </a:lnTo>
                  <a:lnTo>
                    <a:pt x="4436458" y="891816"/>
                  </a:lnTo>
                  <a:lnTo>
                    <a:pt x="4433286" y="906785"/>
                  </a:lnTo>
                  <a:lnTo>
                    <a:pt x="4430566" y="920167"/>
                  </a:lnTo>
                  <a:lnTo>
                    <a:pt x="4433965" y="919940"/>
                  </a:lnTo>
                  <a:lnTo>
                    <a:pt x="4444842" y="919714"/>
                  </a:lnTo>
                  <a:lnTo>
                    <a:pt x="4463197" y="918806"/>
                  </a:lnTo>
                  <a:lnTo>
                    <a:pt x="4489935" y="917446"/>
                  </a:lnTo>
                  <a:lnTo>
                    <a:pt x="4497413" y="917219"/>
                  </a:lnTo>
                  <a:lnTo>
                    <a:pt x="4503758" y="917219"/>
                  </a:lnTo>
                  <a:lnTo>
                    <a:pt x="4509423" y="917446"/>
                  </a:lnTo>
                  <a:lnTo>
                    <a:pt x="4514408" y="917899"/>
                  </a:lnTo>
                  <a:lnTo>
                    <a:pt x="4518713" y="918806"/>
                  </a:lnTo>
                  <a:lnTo>
                    <a:pt x="4522112" y="920167"/>
                  </a:lnTo>
                  <a:lnTo>
                    <a:pt x="4523699" y="920621"/>
                  </a:lnTo>
                  <a:lnTo>
                    <a:pt x="4524832" y="921755"/>
                  </a:lnTo>
                  <a:lnTo>
                    <a:pt x="4525965" y="922435"/>
                  </a:lnTo>
                  <a:lnTo>
                    <a:pt x="4526871" y="923343"/>
                  </a:lnTo>
                  <a:lnTo>
                    <a:pt x="4527551" y="924477"/>
                  </a:lnTo>
                  <a:lnTo>
                    <a:pt x="4528004" y="925384"/>
                  </a:lnTo>
                  <a:lnTo>
                    <a:pt x="4528684" y="926518"/>
                  </a:lnTo>
                  <a:lnTo>
                    <a:pt x="4528910" y="927879"/>
                  </a:lnTo>
                  <a:lnTo>
                    <a:pt x="4529137" y="929013"/>
                  </a:lnTo>
                  <a:lnTo>
                    <a:pt x="4528910" y="930601"/>
                  </a:lnTo>
                  <a:lnTo>
                    <a:pt x="4528231" y="933549"/>
                  </a:lnTo>
                  <a:lnTo>
                    <a:pt x="4527324" y="936951"/>
                  </a:lnTo>
                  <a:lnTo>
                    <a:pt x="4525511" y="940580"/>
                  </a:lnTo>
                  <a:lnTo>
                    <a:pt x="4523699" y="944436"/>
                  </a:lnTo>
                  <a:lnTo>
                    <a:pt x="4520979" y="948745"/>
                  </a:lnTo>
                  <a:lnTo>
                    <a:pt x="4515314" y="957137"/>
                  </a:lnTo>
                  <a:lnTo>
                    <a:pt x="4512595" y="960766"/>
                  </a:lnTo>
                  <a:lnTo>
                    <a:pt x="4509650" y="964395"/>
                  </a:lnTo>
                  <a:lnTo>
                    <a:pt x="4506704" y="967571"/>
                  </a:lnTo>
                  <a:lnTo>
                    <a:pt x="4503984" y="970519"/>
                  </a:lnTo>
                  <a:lnTo>
                    <a:pt x="4501265" y="973241"/>
                  </a:lnTo>
                  <a:lnTo>
                    <a:pt x="4498320" y="975736"/>
                  </a:lnTo>
                  <a:lnTo>
                    <a:pt x="4495374" y="977777"/>
                  </a:lnTo>
                  <a:lnTo>
                    <a:pt x="4492428" y="979592"/>
                  </a:lnTo>
                  <a:lnTo>
                    <a:pt x="4489256" y="981179"/>
                  </a:lnTo>
                  <a:lnTo>
                    <a:pt x="4486083" y="982313"/>
                  </a:lnTo>
                  <a:lnTo>
                    <a:pt x="4482684" y="983447"/>
                  </a:lnTo>
                  <a:lnTo>
                    <a:pt x="4479285" y="984128"/>
                  </a:lnTo>
                  <a:lnTo>
                    <a:pt x="4475660" y="984581"/>
                  </a:lnTo>
                  <a:lnTo>
                    <a:pt x="4471581" y="984808"/>
                  </a:lnTo>
                  <a:lnTo>
                    <a:pt x="4407453" y="984808"/>
                  </a:lnTo>
                  <a:lnTo>
                    <a:pt x="4406094" y="987076"/>
                  </a:lnTo>
                  <a:lnTo>
                    <a:pt x="4404281" y="991159"/>
                  </a:lnTo>
                  <a:lnTo>
                    <a:pt x="4401335" y="997736"/>
                  </a:lnTo>
                  <a:lnTo>
                    <a:pt x="4396803" y="1007716"/>
                  </a:lnTo>
                  <a:lnTo>
                    <a:pt x="4390912" y="1021778"/>
                  </a:lnTo>
                  <a:lnTo>
                    <a:pt x="4383207" y="1040603"/>
                  </a:lnTo>
                  <a:lnTo>
                    <a:pt x="4373463" y="1065099"/>
                  </a:lnTo>
                  <a:lnTo>
                    <a:pt x="4368025" y="1079842"/>
                  </a:lnTo>
                  <a:lnTo>
                    <a:pt x="4361907" y="1096852"/>
                  </a:lnTo>
                  <a:lnTo>
                    <a:pt x="4347631" y="1136544"/>
                  </a:lnTo>
                  <a:lnTo>
                    <a:pt x="4339473" y="1158318"/>
                  </a:lnTo>
                  <a:lnTo>
                    <a:pt x="4330636" y="1180772"/>
                  </a:lnTo>
                  <a:lnTo>
                    <a:pt x="4325878" y="1192566"/>
                  </a:lnTo>
                  <a:lnTo>
                    <a:pt x="4321119" y="1204134"/>
                  </a:lnTo>
                  <a:lnTo>
                    <a:pt x="4315907" y="1215701"/>
                  </a:lnTo>
                  <a:lnTo>
                    <a:pt x="4310922" y="1227495"/>
                  </a:lnTo>
                  <a:lnTo>
                    <a:pt x="4305257" y="1239062"/>
                  </a:lnTo>
                  <a:lnTo>
                    <a:pt x="4299592" y="1250856"/>
                  </a:lnTo>
                  <a:lnTo>
                    <a:pt x="4293700" y="1262197"/>
                  </a:lnTo>
                  <a:lnTo>
                    <a:pt x="4287582" y="1273311"/>
                  </a:lnTo>
                  <a:lnTo>
                    <a:pt x="4281237" y="1284198"/>
                  </a:lnTo>
                  <a:lnTo>
                    <a:pt x="4274666" y="1295084"/>
                  </a:lnTo>
                  <a:lnTo>
                    <a:pt x="4267868" y="1305518"/>
                  </a:lnTo>
                  <a:lnTo>
                    <a:pt x="4260844" y="1315724"/>
                  </a:lnTo>
                  <a:lnTo>
                    <a:pt x="4253592" y="1325477"/>
                  </a:lnTo>
                  <a:lnTo>
                    <a:pt x="4246114" y="1334776"/>
                  </a:lnTo>
                  <a:lnTo>
                    <a:pt x="4238410" y="1343622"/>
                  </a:lnTo>
                  <a:lnTo>
                    <a:pt x="4230253" y="1352014"/>
                  </a:lnTo>
                  <a:lnTo>
                    <a:pt x="4226400" y="1355870"/>
                  </a:lnTo>
                  <a:lnTo>
                    <a:pt x="4222095" y="1359725"/>
                  </a:lnTo>
                  <a:lnTo>
                    <a:pt x="4218016" y="1363127"/>
                  </a:lnTo>
                  <a:lnTo>
                    <a:pt x="4213711" y="1366756"/>
                  </a:lnTo>
                  <a:lnTo>
                    <a:pt x="4209179" y="1370159"/>
                  </a:lnTo>
                  <a:lnTo>
                    <a:pt x="4204874" y="1373334"/>
                  </a:lnTo>
                  <a:lnTo>
                    <a:pt x="4200342" y="1376282"/>
                  </a:lnTo>
                  <a:lnTo>
                    <a:pt x="4195810" y="1379004"/>
                  </a:lnTo>
                  <a:lnTo>
                    <a:pt x="4190598" y="1381953"/>
                  </a:lnTo>
                  <a:lnTo>
                    <a:pt x="4185613" y="1384674"/>
                  </a:lnTo>
                  <a:lnTo>
                    <a:pt x="4180854" y="1387169"/>
                  </a:lnTo>
                  <a:lnTo>
                    <a:pt x="4176095" y="1389437"/>
                  </a:lnTo>
                  <a:lnTo>
                    <a:pt x="4171337" y="1391479"/>
                  </a:lnTo>
                  <a:lnTo>
                    <a:pt x="4166805" y="1392840"/>
                  </a:lnTo>
                  <a:lnTo>
                    <a:pt x="4162499" y="1394427"/>
                  </a:lnTo>
                  <a:lnTo>
                    <a:pt x="4157967" y="1395561"/>
                  </a:lnTo>
                  <a:lnTo>
                    <a:pt x="4153435" y="1396695"/>
                  </a:lnTo>
                  <a:lnTo>
                    <a:pt x="4149130" y="1397376"/>
                  </a:lnTo>
                  <a:lnTo>
                    <a:pt x="4144598" y="1397829"/>
                  </a:lnTo>
                  <a:lnTo>
                    <a:pt x="4140066" y="1398283"/>
                  </a:lnTo>
                  <a:lnTo>
                    <a:pt x="4135761" y="1398283"/>
                  </a:lnTo>
                  <a:lnTo>
                    <a:pt x="4131229" y="1398283"/>
                  </a:lnTo>
                  <a:lnTo>
                    <a:pt x="4126470" y="1398056"/>
                  </a:lnTo>
                  <a:lnTo>
                    <a:pt x="4121485" y="1397603"/>
                  </a:lnTo>
                  <a:lnTo>
                    <a:pt x="4099731" y="1395335"/>
                  </a:lnTo>
                  <a:lnTo>
                    <a:pt x="4074806" y="1392840"/>
                  </a:lnTo>
                  <a:lnTo>
                    <a:pt x="4027220" y="1388530"/>
                  </a:lnTo>
                  <a:lnTo>
                    <a:pt x="4022688" y="1387850"/>
                  </a:lnTo>
                  <a:lnTo>
                    <a:pt x="4019289" y="1387850"/>
                  </a:lnTo>
                  <a:lnTo>
                    <a:pt x="4016796" y="1388303"/>
                  </a:lnTo>
                  <a:lnTo>
                    <a:pt x="4014983" y="1388530"/>
                  </a:lnTo>
                  <a:lnTo>
                    <a:pt x="4014077" y="1389211"/>
                  </a:lnTo>
                  <a:lnTo>
                    <a:pt x="4013850" y="1389664"/>
                  </a:lnTo>
                  <a:lnTo>
                    <a:pt x="4013850" y="1390118"/>
                  </a:lnTo>
                  <a:lnTo>
                    <a:pt x="4014077" y="1391252"/>
                  </a:lnTo>
                  <a:lnTo>
                    <a:pt x="4014757" y="1392386"/>
                  </a:lnTo>
                  <a:lnTo>
                    <a:pt x="4015663" y="1393747"/>
                  </a:lnTo>
                  <a:lnTo>
                    <a:pt x="4017023" y="1394881"/>
                  </a:lnTo>
                  <a:lnTo>
                    <a:pt x="4020195" y="1397829"/>
                  </a:lnTo>
                  <a:lnTo>
                    <a:pt x="4023594" y="1400551"/>
                  </a:lnTo>
                  <a:lnTo>
                    <a:pt x="4026313" y="1403273"/>
                  </a:lnTo>
                  <a:lnTo>
                    <a:pt x="4027220" y="1404634"/>
                  </a:lnTo>
                  <a:lnTo>
                    <a:pt x="4027900" y="1406221"/>
                  </a:lnTo>
                  <a:lnTo>
                    <a:pt x="4028353" y="1408490"/>
                  </a:lnTo>
                  <a:lnTo>
                    <a:pt x="4028579" y="1410758"/>
                  </a:lnTo>
                  <a:lnTo>
                    <a:pt x="4028579" y="1413253"/>
                  </a:lnTo>
                  <a:lnTo>
                    <a:pt x="4028353" y="1415974"/>
                  </a:lnTo>
                  <a:lnTo>
                    <a:pt x="4027673" y="1421418"/>
                  </a:lnTo>
                  <a:lnTo>
                    <a:pt x="4026313" y="1426861"/>
                  </a:lnTo>
                  <a:lnTo>
                    <a:pt x="4024727" y="1432078"/>
                  </a:lnTo>
                  <a:lnTo>
                    <a:pt x="4023594" y="1434346"/>
                  </a:lnTo>
                  <a:lnTo>
                    <a:pt x="4022688" y="1436387"/>
                  </a:lnTo>
                  <a:lnTo>
                    <a:pt x="4021781" y="1437975"/>
                  </a:lnTo>
                  <a:lnTo>
                    <a:pt x="4020648" y="1439336"/>
                  </a:lnTo>
                  <a:lnTo>
                    <a:pt x="4018156" y="1441604"/>
                  </a:lnTo>
                  <a:lnTo>
                    <a:pt x="4015210" y="1443645"/>
                  </a:lnTo>
                  <a:lnTo>
                    <a:pt x="4012038" y="1445460"/>
                  </a:lnTo>
                  <a:lnTo>
                    <a:pt x="4008865" y="1447274"/>
                  </a:lnTo>
                  <a:lnTo>
                    <a:pt x="4003427" y="1449769"/>
                  </a:lnTo>
                  <a:lnTo>
                    <a:pt x="4001161" y="1450449"/>
                  </a:lnTo>
                  <a:lnTo>
                    <a:pt x="3999121" y="1573380"/>
                  </a:lnTo>
                  <a:lnTo>
                    <a:pt x="4012264" y="1573380"/>
                  </a:lnTo>
                  <a:lnTo>
                    <a:pt x="4011131" y="1772066"/>
                  </a:lnTo>
                  <a:lnTo>
                    <a:pt x="4011358" y="1776602"/>
                  </a:lnTo>
                  <a:lnTo>
                    <a:pt x="4011358" y="1780005"/>
                  </a:lnTo>
                  <a:lnTo>
                    <a:pt x="4011811" y="1782499"/>
                  </a:lnTo>
                  <a:lnTo>
                    <a:pt x="4012264" y="1784314"/>
                  </a:lnTo>
                  <a:lnTo>
                    <a:pt x="4012491" y="1785221"/>
                  </a:lnTo>
                  <a:lnTo>
                    <a:pt x="4012944" y="1786128"/>
                  </a:lnTo>
                  <a:lnTo>
                    <a:pt x="4013170" y="1786582"/>
                  </a:lnTo>
                  <a:lnTo>
                    <a:pt x="4020875" y="1787262"/>
                  </a:lnTo>
                  <a:lnTo>
                    <a:pt x="4041495" y="1789757"/>
                  </a:lnTo>
                  <a:lnTo>
                    <a:pt x="4050106" y="1790665"/>
                  </a:lnTo>
                  <a:lnTo>
                    <a:pt x="4062569" y="1792706"/>
                  </a:lnTo>
                  <a:lnTo>
                    <a:pt x="4078884" y="1795201"/>
                  </a:lnTo>
                  <a:lnTo>
                    <a:pt x="4098825" y="1798830"/>
                  </a:lnTo>
                  <a:lnTo>
                    <a:pt x="4121712" y="1803366"/>
                  </a:lnTo>
                  <a:lnTo>
                    <a:pt x="4147770" y="1809036"/>
                  </a:lnTo>
                  <a:lnTo>
                    <a:pt x="4161820" y="1812212"/>
                  </a:lnTo>
                  <a:lnTo>
                    <a:pt x="4176775" y="1816067"/>
                  </a:lnTo>
                  <a:lnTo>
                    <a:pt x="4192184" y="1819696"/>
                  </a:lnTo>
                  <a:lnTo>
                    <a:pt x="4208272" y="1824233"/>
                  </a:lnTo>
                  <a:lnTo>
                    <a:pt x="4216430" y="1826501"/>
                  </a:lnTo>
                  <a:lnTo>
                    <a:pt x="4224588" y="1828996"/>
                  </a:lnTo>
                  <a:lnTo>
                    <a:pt x="4232745" y="1831944"/>
                  </a:lnTo>
                  <a:lnTo>
                    <a:pt x="4240903" y="1834893"/>
                  </a:lnTo>
                  <a:lnTo>
                    <a:pt x="4249060" y="1838068"/>
                  </a:lnTo>
                  <a:lnTo>
                    <a:pt x="4257218" y="1841243"/>
                  </a:lnTo>
                  <a:lnTo>
                    <a:pt x="4265149" y="1844872"/>
                  </a:lnTo>
                  <a:lnTo>
                    <a:pt x="4273080" y="1848501"/>
                  </a:lnTo>
                  <a:lnTo>
                    <a:pt x="4288715" y="1855986"/>
                  </a:lnTo>
                  <a:lnTo>
                    <a:pt x="4303897" y="1863924"/>
                  </a:lnTo>
                  <a:lnTo>
                    <a:pt x="4318173" y="1871863"/>
                  </a:lnTo>
                  <a:lnTo>
                    <a:pt x="4332222" y="1879801"/>
                  </a:lnTo>
                  <a:lnTo>
                    <a:pt x="4344912" y="1887513"/>
                  </a:lnTo>
                  <a:lnTo>
                    <a:pt x="4356922" y="1894997"/>
                  </a:lnTo>
                  <a:lnTo>
                    <a:pt x="4367798" y="1901802"/>
                  </a:lnTo>
                  <a:lnTo>
                    <a:pt x="4377542" y="1908379"/>
                  </a:lnTo>
                  <a:lnTo>
                    <a:pt x="4392724" y="1918586"/>
                  </a:lnTo>
                  <a:lnTo>
                    <a:pt x="4401788" y="1924709"/>
                  </a:lnTo>
                  <a:lnTo>
                    <a:pt x="4406094" y="1927658"/>
                  </a:lnTo>
                  <a:lnTo>
                    <a:pt x="4409719" y="1930833"/>
                  </a:lnTo>
                  <a:lnTo>
                    <a:pt x="4412665" y="1933555"/>
                  </a:lnTo>
                  <a:lnTo>
                    <a:pt x="4414704" y="1936277"/>
                  </a:lnTo>
                  <a:lnTo>
                    <a:pt x="4416064" y="1938545"/>
                  </a:lnTo>
                  <a:lnTo>
                    <a:pt x="4416291" y="1939225"/>
                  </a:lnTo>
                  <a:lnTo>
                    <a:pt x="4416517" y="1940359"/>
                  </a:lnTo>
                  <a:lnTo>
                    <a:pt x="4416291" y="1940813"/>
                  </a:lnTo>
                  <a:lnTo>
                    <a:pt x="4416064" y="1941267"/>
                  </a:lnTo>
                  <a:lnTo>
                    <a:pt x="4415611" y="1941493"/>
                  </a:lnTo>
                  <a:lnTo>
                    <a:pt x="4414931" y="1941720"/>
                  </a:lnTo>
                  <a:lnTo>
                    <a:pt x="4413118" y="1941720"/>
                  </a:lnTo>
                  <a:lnTo>
                    <a:pt x="4410852" y="1942174"/>
                  </a:lnTo>
                  <a:lnTo>
                    <a:pt x="4408586" y="1942854"/>
                  </a:lnTo>
                  <a:lnTo>
                    <a:pt x="4407227" y="1943535"/>
                  </a:lnTo>
                  <a:lnTo>
                    <a:pt x="4406773" y="1943988"/>
                  </a:lnTo>
                  <a:lnTo>
                    <a:pt x="4406094" y="1944669"/>
                  </a:lnTo>
                  <a:lnTo>
                    <a:pt x="4406094" y="1945349"/>
                  </a:lnTo>
                  <a:lnTo>
                    <a:pt x="4406547" y="1946030"/>
                  </a:lnTo>
                  <a:lnTo>
                    <a:pt x="4407227" y="1946710"/>
                  </a:lnTo>
                  <a:lnTo>
                    <a:pt x="4408360" y="1947844"/>
                  </a:lnTo>
                  <a:lnTo>
                    <a:pt x="4409946" y="1948751"/>
                  </a:lnTo>
                  <a:lnTo>
                    <a:pt x="4411985" y="1949659"/>
                  </a:lnTo>
                  <a:lnTo>
                    <a:pt x="4414478" y="1951019"/>
                  </a:lnTo>
                  <a:lnTo>
                    <a:pt x="4416517" y="1952153"/>
                  </a:lnTo>
                  <a:lnTo>
                    <a:pt x="4418783" y="1953968"/>
                  </a:lnTo>
                  <a:lnTo>
                    <a:pt x="4421049" y="1955782"/>
                  </a:lnTo>
                  <a:lnTo>
                    <a:pt x="4425581" y="1959638"/>
                  </a:lnTo>
                  <a:lnTo>
                    <a:pt x="4429433" y="1964174"/>
                  </a:lnTo>
                  <a:lnTo>
                    <a:pt x="4433286" y="1969164"/>
                  </a:lnTo>
                  <a:lnTo>
                    <a:pt x="4436684" y="1973927"/>
                  </a:lnTo>
                  <a:lnTo>
                    <a:pt x="4439630" y="1979144"/>
                  </a:lnTo>
                  <a:lnTo>
                    <a:pt x="4441896" y="1984360"/>
                  </a:lnTo>
                  <a:lnTo>
                    <a:pt x="4442576" y="1987082"/>
                  </a:lnTo>
                  <a:lnTo>
                    <a:pt x="4443256" y="1990484"/>
                  </a:lnTo>
                  <a:lnTo>
                    <a:pt x="4443936" y="1993660"/>
                  </a:lnTo>
                  <a:lnTo>
                    <a:pt x="4443936" y="1997289"/>
                  </a:lnTo>
                  <a:lnTo>
                    <a:pt x="4443936" y="2000918"/>
                  </a:lnTo>
                  <a:lnTo>
                    <a:pt x="4443709" y="2004773"/>
                  </a:lnTo>
                  <a:lnTo>
                    <a:pt x="4443029" y="2008402"/>
                  </a:lnTo>
                  <a:lnTo>
                    <a:pt x="4442350" y="2012258"/>
                  </a:lnTo>
                  <a:lnTo>
                    <a:pt x="4441443" y="2015887"/>
                  </a:lnTo>
                  <a:lnTo>
                    <a:pt x="4440310" y="2019743"/>
                  </a:lnTo>
                  <a:lnTo>
                    <a:pt x="4438950" y="2023145"/>
                  </a:lnTo>
                  <a:lnTo>
                    <a:pt x="4437364" y="2026094"/>
                  </a:lnTo>
                  <a:lnTo>
                    <a:pt x="4435778" y="2029042"/>
                  </a:lnTo>
                  <a:lnTo>
                    <a:pt x="4433739" y="2031537"/>
                  </a:lnTo>
                  <a:lnTo>
                    <a:pt x="4431473" y="2033578"/>
                  </a:lnTo>
                  <a:lnTo>
                    <a:pt x="4429207" y="2035393"/>
                  </a:lnTo>
                  <a:lnTo>
                    <a:pt x="4426034" y="2036527"/>
                  </a:lnTo>
                  <a:lnTo>
                    <a:pt x="4422635" y="2037888"/>
                  </a:lnTo>
                  <a:lnTo>
                    <a:pt x="4419010" y="2038568"/>
                  </a:lnTo>
                  <a:lnTo>
                    <a:pt x="4415837" y="2039022"/>
                  </a:lnTo>
                  <a:lnTo>
                    <a:pt x="4412438" y="2039249"/>
                  </a:lnTo>
                  <a:lnTo>
                    <a:pt x="4409493" y="2039249"/>
                  </a:lnTo>
                  <a:lnTo>
                    <a:pt x="4404507" y="2039249"/>
                  </a:lnTo>
                  <a:lnTo>
                    <a:pt x="4402695" y="2038795"/>
                  </a:lnTo>
                  <a:lnTo>
                    <a:pt x="4400655" y="2038114"/>
                  </a:lnTo>
                  <a:lnTo>
                    <a:pt x="4399069" y="2036754"/>
                  </a:lnTo>
                  <a:lnTo>
                    <a:pt x="4397256" y="2035393"/>
                  </a:lnTo>
                  <a:lnTo>
                    <a:pt x="4395897" y="2033805"/>
                  </a:lnTo>
                  <a:lnTo>
                    <a:pt x="4394764" y="2032217"/>
                  </a:lnTo>
                  <a:lnTo>
                    <a:pt x="4393857" y="2030857"/>
                  </a:lnTo>
                  <a:lnTo>
                    <a:pt x="4393631" y="2029496"/>
                  </a:lnTo>
                  <a:lnTo>
                    <a:pt x="4393178" y="2027454"/>
                  </a:lnTo>
                  <a:lnTo>
                    <a:pt x="4392271" y="2025413"/>
                  </a:lnTo>
                  <a:lnTo>
                    <a:pt x="4391818" y="2024733"/>
                  </a:lnTo>
                  <a:lnTo>
                    <a:pt x="4391138" y="2023825"/>
                  </a:lnTo>
                  <a:lnTo>
                    <a:pt x="4390458" y="2023599"/>
                  </a:lnTo>
                  <a:lnTo>
                    <a:pt x="4389552" y="2023372"/>
                  </a:lnTo>
                  <a:lnTo>
                    <a:pt x="4388646" y="2023599"/>
                  </a:lnTo>
                  <a:lnTo>
                    <a:pt x="4387966" y="2024052"/>
                  </a:lnTo>
                  <a:lnTo>
                    <a:pt x="4387059" y="2024733"/>
                  </a:lnTo>
                  <a:lnTo>
                    <a:pt x="4386606" y="2025413"/>
                  </a:lnTo>
                  <a:lnTo>
                    <a:pt x="4385473" y="2027681"/>
                  </a:lnTo>
                  <a:lnTo>
                    <a:pt x="4384567" y="2030176"/>
                  </a:lnTo>
                  <a:lnTo>
                    <a:pt x="4384114" y="2031537"/>
                  </a:lnTo>
                  <a:lnTo>
                    <a:pt x="4383434" y="2032898"/>
                  </a:lnTo>
                  <a:lnTo>
                    <a:pt x="4381848" y="2034712"/>
                  </a:lnTo>
                  <a:lnTo>
                    <a:pt x="4380261" y="2036300"/>
                  </a:lnTo>
                  <a:lnTo>
                    <a:pt x="4379355" y="2036754"/>
                  </a:lnTo>
                  <a:lnTo>
                    <a:pt x="4378902" y="2036754"/>
                  </a:lnTo>
                  <a:lnTo>
                    <a:pt x="4367118" y="2036527"/>
                  </a:lnTo>
                  <a:lnTo>
                    <a:pt x="4365986" y="2036527"/>
                  </a:lnTo>
                  <a:lnTo>
                    <a:pt x="4363266" y="2036300"/>
                  </a:lnTo>
                  <a:lnTo>
                    <a:pt x="4359414" y="2035846"/>
                  </a:lnTo>
                  <a:lnTo>
                    <a:pt x="4357148" y="2034939"/>
                  </a:lnTo>
                  <a:lnTo>
                    <a:pt x="4354656" y="2034259"/>
                  </a:lnTo>
                  <a:lnTo>
                    <a:pt x="4352163" y="2033578"/>
                  </a:lnTo>
                  <a:lnTo>
                    <a:pt x="4349897" y="2032217"/>
                  </a:lnTo>
                  <a:lnTo>
                    <a:pt x="4347404" y="2030857"/>
                  </a:lnTo>
                  <a:lnTo>
                    <a:pt x="4344912" y="2028815"/>
                  </a:lnTo>
                  <a:lnTo>
                    <a:pt x="4343099" y="2026774"/>
                  </a:lnTo>
                  <a:lnTo>
                    <a:pt x="4341060" y="2024279"/>
                  </a:lnTo>
                  <a:lnTo>
                    <a:pt x="4339247" y="2021331"/>
                  </a:lnTo>
                  <a:lnTo>
                    <a:pt x="4338114" y="2018155"/>
                  </a:lnTo>
                  <a:lnTo>
                    <a:pt x="4336528" y="2012712"/>
                  </a:lnTo>
                  <a:lnTo>
                    <a:pt x="4335621" y="2006361"/>
                  </a:lnTo>
                  <a:lnTo>
                    <a:pt x="4334942" y="1998876"/>
                  </a:lnTo>
                  <a:lnTo>
                    <a:pt x="4334942" y="1995021"/>
                  </a:lnTo>
                  <a:lnTo>
                    <a:pt x="4334942" y="1991392"/>
                  </a:lnTo>
                  <a:lnTo>
                    <a:pt x="4335168" y="1987536"/>
                  </a:lnTo>
                  <a:lnTo>
                    <a:pt x="4335395" y="1983680"/>
                  </a:lnTo>
                  <a:lnTo>
                    <a:pt x="4336074" y="1980278"/>
                  </a:lnTo>
                  <a:lnTo>
                    <a:pt x="4336754" y="1976649"/>
                  </a:lnTo>
                  <a:lnTo>
                    <a:pt x="4337661" y="1973474"/>
                  </a:lnTo>
                  <a:lnTo>
                    <a:pt x="4338794" y="1970525"/>
                  </a:lnTo>
                  <a:lnTo>
                    <a:pt x="4340380" y="1967803"/>
                  </a:lnTo>
                  <a:lnTo>
                    <a:pt x="4341966" y="1965308"/>
                  </a:lnTo>
                  <a:lnTo>
                    <a:pt x="4344232" y="1962587"/>
                  </a:lnTo>
                  <a:lnTo>
                    <a:pt x="4346271" y="1959865"/>
                  </a:lnTo>
                  <a:lnTo>
                    <a:pt x="4348084" y="1957143"/>
                  </a:lnTo>
                  <a:lnTo>
                    <a:pt x="4349217" y="1954648"/>
                  </a:lnTo>
                  <a:lnTo>
                    <a:pt x="4350124" y="1952153"/>
                  </a:lnTo>
                  <a:lnTo>
                    <a:pt x="4351030" y="1949659"/>
                  </a:lnTo>
                  <a:lnTo>
                    <a:pt x="4351483" y="1947164"/>
                  </a:lnTo>
                  <a:lnTo>
                    <a:pt x="4351710" y="1945122"/>
                  </a:lnTo>
                  <a:lnTo>
                    <a:pt x="4351483" y="1942854"/>
                  </a:lnTo>
                  <a:lnTo>
                    <a:pt x="4351257" y="1940813"/>
                  </a:lnTo>
                  <a:lnTo>
                    <a:pt x="4350350" y="1938772"/>
                  </a:lnTo>
                  <a:lnTo>
                    <a:pt x="4349670" y="1936730"/>
                  </a:lnTo>
                  <a:lnTo>
                    <a:pt x="4348537" y="1935143"/>
                  </a:lnTo>
                  <a:lnTo>
                    <a:pt x="4347178" y="1933328"/>
                  </a:lnTo>
                  <a:lnTo>
                    <a:pt x="4345818" y="1931967"/>
                  </a:lnTo>
                  <a:lnTo>
                    <a:pt x="4344005" y="1930380"/>
                  </a:lnTo>
                  <a:lnTo>
                    <a:pt x="4338794" y="1927204"/>
                  </a:lnTo>
                  <a:lnTo>
                    <a:pt x="4331089" y="1922441"/>
                  </a:lnTo>
                  <a:lnTo>
                    <a:pt x="4320892" y="1916544"/>
                  </a:lnTo>
                  <a:lnTo>
                    <a:pt x="4308429" y="1909513"/>
                  </a:lnTo>
                  <a:lnTo>
                    <a:pt x="4293474" y="1901802"/>
                  </a:lnTo>
                  <a:lnTo>
                    <a:pt x="4276932" y="1893183"/>
                  </a:lnTo>
                  <a:lnTo>
                    <a:pt x="4258578" y="1884110"/>
                  </a:lnTo>
                  <a:lnTo>
                    <a:pt x="4238410" y="1874131"/>
                  </a:lnTo>
                  <a:lnTo>
                    <a:pt x="4227760" y="1869141"/>
                  </a:lnTo>
                  <a:lnTo>
                    <a:pt x="4216430" y="1864378"/>
                  </a:lnTo>
                  <a:lnTo>
                    <a:pt x="4204874" y="1859842"/>
                  </a:lnTo>
                  <a:lnTo>
                    <a:pt x="4192637" y="1855759"/>
                  </a:lnTo>
                  <a:lnTo>
                    <a:pt x="4180401" y="1851903"/>
                  </a:lnTo>
                  <a:lnTo>
                    <a:pt x="4168164" y="1848274"/>
                  </a:lnTo>
                  <a:lnTo>
                    <a:pt x="4155928" y="1844872"/>
                  </a:lnTo>
                  <a:lnTo>
                    <a:pt x="4144145" y="1841924"/>
                  </a:lnTo>
                  <a:lnTo>
                    <a:pt x="4132362" y="1839202"/>
                  </a:lnTo>
                  <a:lnTo>
                    <a:pt x="4121258" y="1836480"/>
                  </a:lnTo>
                  <a:lnTo>
                    <a:pt x="4101318" y="1832398"/>
                  </a:lnTo>
                  <a:lnTo>
                    <a:pt x="4084776" y="1829449"/>
                  </a:lnTo>
                  <a:lnTo>
                    <a:pt x="4078431" y="1828769"/>
                  </a:lnTo>
                  <a:lnTo>
                    <a:pt x="4073446" y="1827861"/>
                  </a:lnTo>
                  <a:lnTo>
                    <a:pt x="4069594" y="1827635"/>
                  </a:lnTo>
                  <a:lnTo>
                    <a:pt x="4065968" y="1827635"/>
                  </a:lnTo>
                  <a:lnTo>
                    <a:pt x="4063249" y="1827635"/>
                  </a:lnTo>
                  <a:lnTo>
                    <a:pt x="4060983" y="1828088"/>
                  </a:lnTo>
                  <a:lnTo>
                    <a:pt x="4059397" y="1828769"/>
                  </a:lnTo>
                  <a:lnTo>
                    <a:pt x="4057811" y="1829222"/>
                  </a:lnTo>
                  <a:lnTo>
                    <a:pt x="4056904" y="1829903"/>
                  </a:lnTo>
                  <a:lnTo>
                    <a:pt x="4056451" y="1830583"/>
                  </a:lnTo>
                  <a:lnTo>
                    <a:pt x="4055771" y="1831490"/>
                  </a:lnTo>
                  <a:lnTo>
                    <a:pt x="4055771" y="1832171"/>
                  </a:lnTo>
                  <a:lnTo>
                    <a:pt x="4056224" y="1833759"/>
                  </a:lnTo>
                  <a:lnTo>
                    <a:pt x="4056451" y="1834666"/>
                  </a:lnTo>
                  <a:lnTo>
                    <a:pt x="4056678" y="1835119"/>
                  </a:lnTo>
                  <a:lnTo>
                    <a:pt x="4065288" y="1843285"/>
                  </a:lnTo>
                  <a:lnTo>
                    <a:pt x="4079111" y="1856213"/>
                  </a:lnTo>
                  <a:lnTo>
                    <a:pt x="4102224" y="1877079"/>
                  </a:lnTo>
                  <a:lnTo>
                    <a:pt x="4105623" y="1880481"/>
                  </a:lnTo>
                  <a:lnTo>
                    <a:pt x="4109249" y="1883657"/>
                  </a:lnTo>
                  <a:lnTo>
                    <a:pt x="4112648" y="1887513"/>
                  </a:lnTo>
                  <a:lnTo>
                    <a:pt x="4115820" y="1891142"/>
                  </a:lnTo>
                  <a:lnTo>
                    <a:pt x="4122391" y="1898853"/>
                  </a:lnTo>
                  <a:lnTo>
                    <a:pt x="4128283" y="1907018"/>
                  </a:lnTo>
                  <a:lnTo>
                    <a:pt x="4133948" y="1915410"/>
                  </a:lnTo>
                  <a:lnTo>
                    <a:pt x="4139386" y="1924256"/>
                  </a:lnTo>
                  <a:lnTo>
                    <a:pt x="4144372" y="1932875"/>
                  </a:lnTo>
                  <a:lnTo>
                    <a:pt x="4149130" y="1941267"/>
                  </a:lnTo>
                  <a:lnTo>
                    <a:pt x="4153435" y="1949659"/>
                  </a:lnTo>
                  <a:lnTo>
                    <a:pt x="4157514" y="1957597"/>
                  </a:lnTo>
                  <a:lnTo>
                    <a:pt x="4164086" y="1972113"/>
                  </a:lnTo>
                  <a:lnTo>
                    <a:pt x="4169297" y="1983907"/>
                  </a:lnTo>
                  <a:lnTo>
                    <a:pt x="4173150" y="1992072"/>
                  </a:lnTo>
                  <a:lnTo>
                    <a:pt x="4174509" y="1995474"/>
                  </a:lnTo>
                  <a:lnTo>
                    <a:pt x="4175869" y="1998876"/>
                  </a:lnTo>
                  <a:lnTo>
                    <a:pt x="4178135" y="2005454"/>
                  </a:lnTo>
                  <a:lnTo>
                    <a:pt x="4179948" y="2011578"/>
                  </a:lnTo>
                  <a:lnTo>
                    <a:pt x="4181081" y="2014073"/>
                  </a:lnTo>
                  <a:lnTo>
                    <a:pt x="4181760" y="2016114"/>
                  </a:lnTo>
                  <a:lnTo>
                    <a:pt x="4182893" y="2017928"/>
                  </a:lnTo>
                  <a:lnTo>
                    <a:pt x="4184253" y="2019743"/>
                  </a:lnTo>
                  <a:lnTo>
                    <a:pt x="4185839" y="2021331"/>
                  </a:lnTo>
                  <a:lnTo>
                    <a:pt x="4188105" y="2022918"/>
                  </a:lnTo>
                  <a:lnTo>
                    <a:pt x="4190598" y="2024733"/>
                  </a:lnTo>
                  <a:lnTo>
                    <a:pt x="4193770" y="2026094"/>
                  </a:lnTo>
                  <a:lnTo>
                    <a:pt x="4197622" y="2027681"/>
                  </a:lnTo>
                  <a:lnTo>
                    <a:pt x="4202154" y="2029269"/>
                  </a:lnTo>
                  <a:lnTo>
                    <a:pt x="4204420" y="2030176"/>
                  </a:lnTo>
                  <a:lnTo>
                    <a:pt x="4206913" y="2031310"/>
                  </a:lnTo>
                  <a:lnTo>
                    <a:pt x="4209406" y="2032898"/>
                  </a:lnTo>
                  <a:lnTo>
                    <a:pt x="4211672" y="2034486"/>
                  </a:lnTo>
                  <a:lnTo>
                    <a:pt x="4213938" y="2036527"/>
                  </a:lnTo>
                  <a:lnTo>
                    <a:pt x="4216204" y="2038568"/>
                  </a:lnTo>
                  <a:lnTo>
                    <a:pt x="4218469" y="2041063"/>
                  </a:lnTo>
                  <a:lnTo>
                    <a:pt x="4220282" y="2043558"/>
                  </a:lnTo>
                  <a:lnTo>
                    <a:pt x="4222322" y="2046280"/>
                  </a:lnTo>
                  <a:lnTo>
                    <a:pt x="4224134" y="2049228"/>
                  </a:lnTo>
                  <a:lnTo>
                    <a:pt x="4225494" y="2052404"/>
                  </a:lnTo>
                  <a:lnTo>
                    <a:pt x="4226854" y="2055352"/>
                  </a:lnTo>
                  <a:lnTo>
                    <a:pt x="4227987" y="2058754"/>
                  </a:lnTo>
                  <a:lnTo>
                    <a:pt x="4229120" y="2062383"/>
                  </a:lnTo>
                  <a:lnTo>
                    <a:pt x="4229799" y="2065785"/>
                  </a:lnTo>
                  <a:lnTo>
                    <a:pt x="4230253" y="2069187"/>
                  </a:lnTo>
                  <a:lnTo>
                    <a:pt x="4230253" y="2073043"/>
                  </a:lnTo>
                  <a:lnTo>
                    <a:pt x="4230026" y="2076899"/>
                  </a:lnTo>
                  <a:lnTo>
                    <a:pt x="4229120" y="2081208"/>
                  </a:lnTo>
                  <a:lnTo>
                    <a:pt x="4227987" y="2085291"/>
                  </a:lnTo>
                  <a:lnTo>
                    <a:pt x="4226400" y="2089600"/>
                  </a:lnTo>
                  <a:lnTo>
                    <a:pt x="4224134" y="2093910"/>
                  </a:lnTo>
                  <a:lnTo>
                    <a:pt x="4221415" y="2097992"/>
                  </a:lnTo>
                  <a:lnTo>
                    <a:pt x="4218469" y="2102075"/>
                  </a:lnTo>
                  <a:lnTo>
                    <a:pt x="4214617" y="2105704"/>
                  </a:lnTo>
                  <a:lnTo>
                    <a:pt x="4210538" y="2109106"/>
                  </a:lnTo>
                  <a:lnTo>
                    <a:pt x="4208272" y="2110920"/>
                  </a:lnTo>
                  <a:lnTo>
                    <a:pt x="4205780" y="2112508"/>
                  </a:lnTo>
                  <a:lnTo>
                    <a:pt x="4203287" y="2113869"/>
                  </a:lnTo>
                  <a:lnTo>
                    <a:pt x="4200568" y="2115230"/>
                  </a:lnTo>
                  <a:lnTo>
                    <a:pt x="4197849" y="2116364"/>
                  </a:lnTo>
                  <a:lnTo>
                    <a:pt x="4194903" y="2117498"/>
                  </a:lnTo>
                  <a:lnTo>
                    <a:pt x="4191731" y="2118405"/>
                  </a:lnTo>
                  <a:lnTo>
                    <a:pt x="4188332" y="2119086"/>
                  </a:lnTo>
                  <a:lnTo>
                    <a:pt x="4184933" y="2119766"/>
                  </a:lnTo>
                  <a:lnTo>
                    <a:pt x="4181534" y="2120447"/>
                  </a:lnTo>
                  <a:lnTo>
                    <a:pt x="4177682" y="2120673"/>
                  </a:lnTo>
                  <a:lnTo>
                    <a:pt x="4173829" y="2120900"/>
                  </a:lnTo>
                  <a:lnTo>
                    <a:pt x="4170204" y="2120900"/>
                  </a:lnTo>
                  <a:lnTo>
                    <a:pt x="4166352" y="2120673"/>
                  </a:lnTo>
                  <a:lnTo>
                    <a:pt x="4162953" y="2120220"/>
                  </a:lnTo>
                  <a:lnTo>
                    <a:pt x="4159554" y="2119539"/>
                  </a:lnTo>
                  <a:lnTo>
                    <a:pt x="4156155" y="2118859"/>
                  </a:lnTo>
                  <a:lnTo>
                    <a:pt x="4153209" y="2117952"/>
                  </a:lnTo>
                  <a:lnTo>
                    <a:pt x="4150490" y="2116818"/>
                  </a:lnTo>
                  <a:lnTo>
                    <a:pt x="4147770" y="2115683"/>
                  </a:lnTo>
                  <a:lnTo>
                    <a:pt x="4145051" y="2114323"/>
                  </a:lnTo>
                  <a:lnTo>
                    <a:pt x="4142785" y="2112962"/>
                  </a:lnTo>
                  <a:lnTo>
                    <a:pt x="4140519" y="2111147"/>
                  </a:lnTo>
                  <a:lnTo>
                    <a:pt x="4138480" y="2109560"/>
                  </a:lnTo>
                  <a:lnTo>
                    <a:pt x="4136440" y="2107745"/>
                  </a:lnTo>
                  <a:lnTo>
                    <a:pt x="4134401" y="2105931"/>
                  </a:lnTo>
                  <a:lnTo>
                    <a:pt x="4131229" y="2102075"/>
                  </a:lnTo>
                  <a:lnTo>
                    <a:pt x="4128283" y="2097766"/>
                  </a:lnTo>
                  <a:lnTo>
                    <a:pt x="4125790" y="2093683"/>
                  </a:lnTo>
                  <a:lnTo>
                    <a:pt x="4123751" y="2089374"/>
                  </a:lnTo>
                  <a:lnTo>
                    <a:pt x="4121938" y="2084837"/>
                  </a:lnTo>
                  <a:lnTo>
                    <a:pt x="4120805" y="2080755"/>
                  </a:lnTo>
                  <a:lnTo>
                    <a:pt x="4119899" y="2076672"/>
                  </a:lnTo>
                  <a:lnTo>
                    <a:pt x="4118992" y="2072816"/>
                  </a:lnTo>
                  <a:lnTo>
                    <a:pt x="4118539" y="2069187"/>
                  </a:lnTo>
                  <a:lnTo>
                    <a:pt x="4118539" y="2066012"/>
                  </a:lnTo>
                  <a:lnTo>
                    <a:pt x="4118539" y="2062837"/>
                  </a:lnTo>
                  <a:lnTo>
                    <a:pt x="4118992" y="2059435"/>
                  </a:lnTo>
                  <a:lnTo>
                    <a:pt x="4119446" y="2056486"/>
                  </a:lnTo>
                  <a:lnTo>
                    <a:pt x="4120352" y="2053084"/>
                  </a:lnTo>
                  <a:lnTo>
                    <a:pt x="4121258" y="2050135"/>
                  </a:lnTo>
                  <a:lnTo>
                    <a:pt x="4122618" y="2047187"/>
                  </a:lnTo>
                  <a:lnTo>
                    <a:pt x="4123751" y="2044465"/>
                  </a:lnTo>
                  <a:lnTo>
                    <a:pt x="4125111" y="2041970"/>
                  </a:lnTo>
                  <a:lnTo>
                    <a:pt x="4126470" y="2039475"/>
                  </a:lnTo>
                  <a:lnTo>
                    <a:pt x="4128056" y="2037207"/>
                  </a:lnTo>
                  <a:lnTo>
                    <a:pt x="4129416" y="2035393"/>
                  </a:lnTo>
                  <a:lnTo>
                    <a:pt x="4131002" y="2033578"/>
                  </a:lnTo>
                  <a:lnTo>
                    <a:pt x="4132362" y="2031991"/>
                  </a:lnTo>
                  <a:lnTo>
                    <a:pt x="4133948" y="2030857"/>
                  </a:lnTo>
                  <a:lnTo>
                    <a:pt x="4135308" y="2030176"/>
                  </a:lnTo>
                  <a:lnTo>
                    <a:pt x="4139840" y="2027908"/>
                  </a:lnTo>
                  <a:lnTo>
                    <a:pt x="4141426" y="2027001"/>
                  </a:lnTo>
                  <a:lnTo>
                    <a:pt x="4142106" y="2026320"/>
                  </a:lnTo>
                  <a:lnTo>
                    <a:pt x="4142785" y="2025413"/>
                  </a:lnTo>
                  <a:lnTo>
                    <a:pt x="4142785" y="2024052"/>
                  </a:lnTo>
                  <a:lnTo>
                    <a:pt x="4142559" y="2022238"/>
                  </a:lnTo>
                  <a:lnTo>
                    <a:pt x="4141879" y="2019743"/>
                  </a:lnTo>
                  <a:lnTo>
                    <a:pt x="4140519" y="2015887"/>
                  </a:lnTo>
                  <a:lnTo>
                    <a:pt x="4138480" y="2011351"/>
                  </a:lnTo>
                  <a:lnTo>
                    <a:pt x="4135308" y="2005000"/>
                  </a:lnTo>
                  <a:lnTo>
                    <a:pt x="4131682" y="1997289"/>
                  </a:lnTo>
                  <a:lnTo>
                    <a:pt x="4120805" y="1977103"/>
                  </a:lnTo>
                  <a:lnTo>
                    <a:pt x="4105396" y="1948751"/>
                  </a:lnTo>
                  <a:lnTo>
                    <a:pt x="4100864" y="1940813"/>
                  </a:lnTo>
                  <a:lnTo>
                    <a:pt x="4096332" y="1933101"/>
                  </a:lnTo>
                  <a:lnTo>
                    <a:pt x="4091574" y="1925843"/>
                  </a:lnTo>
                  <a:lnTo>
                    <a:pt x="4086589" y="1918812"/>
                  </a:lnTo>
                  <a:lnTo>
                    <a:pt x="4081604" y="1912008"/>
                  </a:lnTo>
                  <a:lnTo>
                    <a:pt x="4076618" y="1905884"/>
                  </a:lnTo>
                  <a:lnTo>
                    <a:pt x="4072086" y="1899760"/>
                  </a:lnTo>
                  <a:lnTo>
                    <a:pt x="4067101" y="1894090"/>
                  </a:lnTo>
                  <a:lnTo>
                    <a:pt x="4057811" y="1884337"/>
                  </a:lnTo>
                  <a:lnTo>
                    <a:pt x="4049653" y="1875718"/>
                  </a:lnTo>
                  <a:lnTo>
                    <a:pt x="4042855" y="1868914"/>
                  </a:lnTo>
                  <a:lnTo>
                    <a:pt x="4036963" y="1863924"/>
                  </a:lnTo>
                  <a:lnTo>
                    <a:pt x="4034244" y="1861883"/>
                  </a:lnTo>
                  <a:lnTo>
                    <a:pt x="4031298" y="1860295"/>
                  </a:lnTo>
                  <a:lnTo>
                    <a:pt x="4028806" y="1859161"/>
                  </a:lnTo>
                  <a:lnTo>
                    <a:pt x="4026313" y="1858481"/>
                  </a:lnTo>
                  <a:lnTo>
                    <a:pt x="4024274" y="1858027"/>
                  </a:lnTo>
                  <a:lnTo>
                    <a:pt x="4022688" y="1857800"/>
                  </a:lnTo>
                  <a:lnTo>
                    <a:pt x="4021102" y="1857800"/>
                  </a:lnTo>
                  <a:lnTo>
                    <a:pt x="4020875" y="1861883"/>
                  </a:lnTo>
                  <a:lnTo>
                    <a:pt x="4020875" y="1866419"/>
                  </a:lnTo>
                  <a:lnTo>
                    <a:pt x="4020875" y="1871636"/>
                  </a:lnTo>
                  <a:lnTo>
                    <a:pt x="4021102" y="1876852"/>
                  </a:lnTo>
                  <a:lnTo>
                    <a:pt x="4021781" y="1881615"/>
                  </a:lnTo>
                  <a:lnTo>
                    <a:pt x="4022234" y="1883430"/>
                  </a:lnTo>
                  <a:lnTo>
                    <a:pt x="4022914" y="1885018"/>
                  </a:lnTo>
                  <a:lnTo>
                    <a:pt x="4023368" y="1886152"/>
                  </a:lnTo>
                  <a:lnTo>
                    <a:pt x="4024500" y="1886832"/>
                  </a:lnTo>
                  <a:lnTo>
                    <a:pt x="4025180" y="1887286"/>
                  </a:lnTo>
                  <a:lnTo>
                    <a:pt x="4026313" y="1887966"/>
                  </a:lnTo>
                  <a:lnTo>
                    <a:pt x="4028353" y="1890007"/>
                  </a:lnTo>
                  <a:lnTo>
                    <a:pt x="4030845" y="1892729"/>
                  </a:lnTo>
                  <a:lnTo>
                    <a:pt x="4032885" y="1896585"/>
                  </a:lnTo>
                  <a:lnTo>
                    <a:pt x="4034018" y="1898853"/>
                  </a:lnTo>
                  <a:lnTo>
                    <a:pt x="4034924" y="1901121"/>
                  </a:lnTo>
                  <a:lnTo>
                    <a:pt x="4035830" y="1903843"/>
                  </a:lnTo>
                  <a:lnTo>
                    <a:pt x="4036510" y="1906565"/>
                  </a:lnTo>
                  <a:lnTo>
                    <a:pt x="4036963" y="1909513"/>
                  </a:lnTo>
                  <a:lnTo>
                    <a:pt x="4037643" y="1912688"/>
                  </a:lnTo>
                  <a:lnTo>
                    <a:pt x="4037870" y="1916091"/>
                  </a:lnTo>
                  <a:lnTo>
                    <a:pt x="4038096" y="1919720"/>
                  </a:lnTo>
                  <a:lnTo>
                    <a:pt x="4037870" y="1923122"/>
                  </a:lnTo>
                  <a:lnTo>
                    <a:pt x="4036963" y="1927204"/>
                  </a:lnTo>
                  <a:lnTo>
                    <a:pt x="4036057" y="1930833"/>
                  </a:lnTo>
                  <a:lnTo>
                    <a:pt x="4034471" y="1934689"/>
                  </a:lnTo>
                  <a:lnTo>
                    <a:pt x="4032885" y="1938545"/>
                  </a:lnTo>
                  <a:lnTo>
                    <a:pt x="4030619" y="1941947"/>
                  </a:lnTo>
                  <a:lnTo>
                    <a:pt x="4027900" y="1945803"/>
                  </a:lnTo>
                  <a:lnTo>
                    <a:pt x="4024954" y="1948978"/>
                  </a:lnTo>
                  <a:lnTo>
                    <a:pt x="4021555" y="1952153"/>
                  </a:lnTo>
                  <a:lnTo>
                    <a:pt x="4017702" y="1954875"/>
                  </a:lnTo>
                  <a:lnTo>
                    <a:pt x="4013624" y="1957597"/>
                  </a:lnTo>
                  <a:lnTo>
                    <a:pt x="4008865" y="1959865"/>
                  </a:lnTo>
                  <a:lnTo>
                    <a:pt x="4003880" y="1961679"/>
                  </a:lnTo>
                  <a:lnTo>
                    <a:pt x="3998668" y="1962814"/>
                  </a:lnTo>
                  <a:lnTo>
                    <a:pt x="3992777" y="1963721"/>
                  </a:lnTo>
                  <a:lnTo>
                    <a:pt x="3986658" y="1964174"/>
                  </a:lnTo>
                  <a:lnTo>
                    <a:pt x="3983486" y="1963948"/>
                  </a:lnTo>
                  <a:lnTo>
                    <a:pt x="3980540" y="1963721"/>
                  </a:lnTo>
                  <a:lnTo>
                    <a:pt x="3977821" y="1963267"/>
                  </a:lnTo>
                  <a:lnTo>
                    <a:pt x="3975102" y="1962814"/>
                  </a:lnTo>
                  <a:lnTo>
                    <a:pt x="3972383" y="1962133"/>
                  </a:lnTo>
                  <a:lnTo>
                    <a:pt x="3969890" y="1961453"/>
                  </a:lnTo>
                  <a:lnTo>
                    <a:pt x="3965132" y="1959411"/>
                  </a:lnTo>
                  <a:lnTo>
                    <a:pt x="3961053" y="1957143"/>
                  </a:lnTo>
                  <a:lnTo>
                    <a:pt x="3957200" y="1954648"/>
                  </a:lnTo>
                  <a:lnTo>
                    <a:pt x="3954028" y="1951700"/>
                  </a:lnTo>
                  <a:lnTo>
                    <a:pt x="3951082" y="1948524"/>
                  </a:lnTo>
                  <a:lnTo>
                    <a:pt x="3948363" y="1945349"/>
                  </a:lnTo>
                  <a:lnTo>
                    <a:pt x="3946097" y="1941720"/>
                  </a:lnTo>
                  <a:lnTo>
                    <a:pt x="3944284" y="1938545"/>
                  </a:lnTo>
                  <a:lnTo>
                    <a:pt x="3942925" y="1935143"/>
                  </a:lnTo>
                  <a:lnTo>
                    <a:pt x="3941565" y="1931967"/>
                  </a:lnTo>
                  <a:lnTo>
                    <a:pt x="3940885" y="1928565"/>
                  </a:lnTo>
                  <a:lnTo>
                    <a:pt x="3940432" y="1925617"/>
                  </a:lnTo>
                  <a:lnTo>
                    <a:pt x="3940206" y="1922895"/>
                  </a:lnTo>
                  <a:lnTo>
                    <a:pt x="3940432" y="1920400"/>
                  </a:lnTo>
                  <a:lnTo>
                    <a:pt x="3940885" y="1917678"/>
                  </a:lnTo>
                  <a:lnTo>
                    <a:pt x="3941565" y="1915183"/>
                  </a:lnTo>
                  <a:lnTo>
                    <a:pt x="3942925" y="1912462"/>
                  </a:lnTo>
                  <a:lnTo>
                    <a:pt x="3944058" y="1909740"/>
                  </a:lnTo>
                  <a:lnTo>
                    <a:pt x="3945644" y="1907245"/>
                  </a:lnTo>
                  <a:lnTo>
                    <a:pt x="3948816" y="1902255"/>
                  </a:lnTo>
                  <a:lnTo>
                    <a:pt x="3951989" y="1898173"/>
                  </a:lnTo>
                  <a:lnTo>
                    <a:pt x="3954934" y="1894770"/>
                  </a:lnTo>
                  <a:lnTo>
                    <a:pt x="3957880" y="1891595"/>
                  </a:lnTo>
                  <a:lnTo>
                    <a:pt x="3957200" y="1885018"/>
                  </a:lnTo>
                  <a:lnTo>
                    <a:pt x="3934541" y="1885471"/>
                  </a:lnTo>
                  <a:lnTo>
                    <a:pt x="3934087" y="1863471"/>
                  </a:lnTo>
                  <a:lnTo>
                    <a:pt x="3933634" y="1846687"/>
                  </a:lnTo>
                  <a:lnTo>
                    <a:pt x="3933408" y="1836934"/>
                  </a:lnTo>
                  <a:lnTo>
                    <a:pt x="3933408" y="1834666"/>
                  </a:lnTo>
                  <a:lnTo>
                    <a:pt x="3933634" y="1832851"/>
                  </a:lnTo>
                  <a:lnTo>
                    <a:pt x="3934087" y="1830130"/>
                  </a:lnTo>
                  <a:lnTo>
                    <a:pt x="3934087" y="1829222"/>
                  </a:lnTo>
                  <a:lnTo>
                    <a:pt x="3933408" y="1828542"/>
                  </a:lnTo>
                  <a:lnTo>
                    <a:pt x="3932954" y="1828088"/>
                  </a:lnTo>
                  <a:lnTo>
                    <a:pt x="3931821" y="1828088"/>
                  </a:lnTo>
                  <a:lnTo>
                    <a:pt x="3923890" y="1829222"/>
                  </a:lnTo>
                  <a:lnTo>
                    <a:pt x="3915959" y="1830356"/>
                  </a:lnTo>
                  <a:lnTo>
                    <a:pt x="3908255" y="1832171"/>
                  </a:lnTo>
                  <a:lnTo>
                    <a:pt x="3900777" y="1834212"/>
                  </a:lnTo>
                  <a:lnTo>
                    <a:pt x="3893300" y="1836707"/>
                  </a:lnTo>
                  <a:lnTo>
                    <a:pt x="3886502" y="1839202"/>
                  </a:lnTo>
                  <a:lnTo>
                    <a:pt x="3879477" y="1841697"/>
                  </a:lnTo>
                  <a:lnTo>
                    <a:pt x="3872906" y="1844419"/>
                  </a:lnTo>
                  <a:lnTo>
                    <a:pt x="3866561" y="1847367"/>
                  </a:lnTo>
                  <a:lnTo>
                    <a:pt x="3860443" y="1850316"/>
                  </a:lnTo>
                  <a:lnTo>
                    <a:pt x="3849339" y="1856213"/>
                  </a:lnTo>
                  <a:lnTo>
                    <a:pt x="3839142" y="1862110"/>
                  </a:lnTo>
                  <a:lnTo>
                    <a:pt x="3830532" y="1867553"/>
                  </a:lnTo>
                  <a:lnTo>
                    <a:pt x="3826906" y="1869821"/>
                  </a:lnTo>
                  <a:lnTo>
                    <a:pt x="3823734" y="1872316"/>
                  </a:lnTo>
                  <a:lnTo>
                    <a:pt x="3821014" y="1874584"/>
                  </a:lnTo>
                  <a:lnTo>
                    <a:pt x="3818522" y="1876852"/>
                  </a:lnTo>
                  <a:lnTo>
                    <a:pt x="3816482" y="1879121"/>
                  </a:lnTo>
                  <a:lnTo>
                    <a:pt x="3814896" y="1880935"/>
                  </a:lnTo>
                  <a:lnTo>
                    <a:pt x="3811950" y="1884791"/>
                  </a:lnTo>
                  <a:lnTo>
                    <a:pt x="3809911" y="1887966"/>
                  </a:lnTo>
                  <a:lnTo>
                    <a:pt x="3808778" y="1890461"/>
                  </a:lnTo>
                  <a:lnTo>
                    <a:pt x="3808098" y="1892729"/>
                  </a:lnTo>
                  <a:lnTo>
                    <a:pt x="3802886" y="1957143"/>
                  </a:lnTo>
                  <a:lnTo>
                    <a:pt x="3792916" y="1959638"/>
                  </a:lnTo>
                  <a:lnTo>
                    <a:pt x="3782266" y="1962133"/>
                  </a:lnTo>
                  <a:lnTo>
                    <a:pt x="3770030" y="1964628"/>
                  </a:lnTo>
                  <a:lnTo>
                    <a:pt x="3756660" y="1967350"/>
                  </a:lnTo>
                  <a:lnTo>
                    <a:pt x="3743971" y="1969391"/>
                  </a:lnTo>
                  <a:lnTo>
                    <a:pt x="3738306" y="1970071"/>
                  </a:lnTo>
                  <a:lnTo>
                    <a:pt x="3733094" y="1970525"/>
                  </a:lnTo>
                  <a:lnTo>
                    <a:pt x="3728562" y="1970525"/>
                  </a:lnTo>
                  <a:lnTo>
                    <a:pt x="3725163" y="1970298"/>
                  </a:lnTo>
                  <a:lnTo>
                    <a:pt x="3722444" y="1969845"/>
                  </a:lnTo>
                  <a:lnTo>
                    <a:pt x="3719724" y="1969164"/>
                  </a:lnTo>
                  <a:lnTo>
                    <a:pt x="3717458" y="1968030"/>
                  </a:lnTo>
                  <a:lnTo>
                    <a:pt x="3715192" y="1967123"/>
                  </a:lnTo>
                  <a:lnTo>
                    <a:pt x="3713153" y="1965989"/>
                  </a:lnTo>
                  <a:lnTo>
                    <a:pt x="3711567" y="1965082"/>
                  </a:lnTo>
                  <a:lnTo>
                    <a:pt x="3708848" y="1962587"/>
                  </a:lnTo>
                  <a:lnTo>
                    <a:pt x="3706582" y="1960545"/>
                  </a:lnTo>
                  <a:lnTo>
                    <a:pt x="3705222" y="1958958"/>
                  </a:lnTo>
                  <a:lnTo>
                    <a:pt x="3704089" y="1957143"/>
                  </a:lnTo>
                  <a:lnTo>
                    <a:pt x="3668740" y="1991392"/>
                  </a:lnTo>
                  <a:lnTo>
                    <a:pt x="3673045" y="1996381"/>
                  </a:lnTo>
                  <a:lnTo>
                    <a:pt x="3677577" y="2002052"/>
                  </a:lnTo>
                  <a:lnTo>
                    <a:pt x="3682789" y="2008856"/>
                  </a:lnTo>
                  <a:lnTo>
                    <a:pt x="3688227" y="2016794"/>
                  </a:lnTo>
                  <a:lnTo>
                    <a:pt x="3690720" y="2020650"/>
                  </a:lnTo>
                  <a:lnTo>
                    <a:pt x="3693212" y="2024733"/>
                  </a:lnTo>
                  <a:lnTo>
                    <a:pt x="3695252" y="2028815"/>
                  </a:lnTo>
                  <a:lnTo>
                    <a:pt x="3696838" y="2032898"/>
                  </a:lnTo>
                  <a:lnTo>
                    <a:pt x="3698198" y="2036527"/>
                  </a:lnTo>
                  <a:lnTo>
                    <a:pt x="3698877" y="2039929"/>
                  </a:lnTo>
                  <a:lnTo>
                    <a:pt x="3699104" y="2043558"/>
                  </a:lnTo>
                  <a:lnTo>
                    <a:pt x="3699104" y="2046960"/>
                  </a:lnTo>
                  <a:lnTo>
                    <a:pt x="3698651" y="2050362"/>
                  </a:lnTo>
                  <a:lnTo>
                    <a:pt x="3697971" y="2053764"/>
                  </a:lnTo>
                  <a:lnTo>
                    <a:pt x="3696611" y="2056940"/>
                  </a:lnTo>
                  <a:lnTo>
                    <a:pt x="3695478" y="2059888"/>
                  </a:lnTo>
                  <a:lnTo>
                    <a:pt x="3693666" y="2062837"/>
                  </a:lnTo>
                  <a:lnTo>
                    <a:pt x="3691853" y="2065559"/>
                  </a:lnTo>
                  <a:lnTo>
                    <a:pt x="3690040" y="2068053"/>
                  </a:lnTo>
                  <a:lnTo>
                    <a:pt x="3687774" y="2070322"/>
                  </a:lnTo>
                  <a:lnTo>
                    <a:pt x="3685508" y="2071909"/>
                  </a:lnTo>
                  <a:lnTo>
                    <a:pt x="3683242" y="2073724"/>
                  </a:lnTo>
                  <a:lnTo>
                    <a:pt x="3680749" y="2075311"/>
                  </a:lnTo>
                  <a:lnTo>
                    <a:pt x="3678483" y="2076219"/>
                  </a:lnTo>
                  <a:lnTo>
                    <a:pt x="3675991" y="2076672"/>
                  </a:lnTo>
                  <a:lnTo>
                    <a:pt x="3673951" y="2076899"/>
                  </a:lnTo>
                  <a:lnTo>
                    <a:pt x="3671685" y="2076672"/>
                  </a:lnTo>
                  <a:lnTo>
                    <a:pt x="3669419" y="2076445"/>
                  </a:lnTo>
                  <a:lnTo>
                    <a:pt x="3665114" y="2075538"/>
                  </a:lnTo>
                  <a:lnTo>
                    <a:pt x="3657410" y="2073043"/>
                  </a:lnTo>
                  <a:lnTo>
                    <a:pt x="3654464" y="2072363"/>
                  </a:lnTo>
                  <a:lnTo>
                    <a:pt x="3653331" y="2072363"/>
                  </a:lnTo>
                  <a:lnTo>
                    <a:pt x="3652198" y="2072590"/>
                  </a:lnTo>
                  <a:lnTo>
                    <a:pt x="3651292" y="2073043"/>
                  </a:lnTo>
                  <a:lnTo>
                    <a:pt x="3650838" y="2073950"/>
                  </a:lnTo>
                  <a:lnTo>
                    <a:pt x="3650385" y="2075311"/>
                  </a:lnTo>
                  <a:lnTo>
                    <a:pt x="3650385" y="2076899"/>
                  </a:lnTo>
                  <a:lnTo>
                    <a:pt x="3650159" y="2078940"/>
                  </a:lnTo>
                  <a:lnTo>
                    <a:pt x="3649026" y="2081208"/>
                  </a:lnTo>
                  <a:lnTo>
                    <a:pt x="3647893" y="2083477"/>
                  </a:lnTo>
                  <a:lnTo>
                    <a:pt x="3646306" y="2085745"/>
                  </a:lnTo>
                  <a:lnTo>
                    <a:pt x="3644267" y="2088240"/>
                  </a:lnTo>
                  <a:lnTo>
                    <a:pt x="3642228" y="2090281"/>
                  </a:lnTo>
                  <a:lnTo>
                    <a:pt x="3639508" y="2092549"/>
                  </a:lnTo>
                  <a:lnTo>
                    <a:pt x="3636789" y="2094817"/>
                  </a:lnTo>
                  <a:lnTo>
                    <a:pt x="3634070" y="2096858"/>
                  </a:lnTo>
                  <a:lnTo>
                    <a:pt x="3630671" y="2098446"/>
                  </a:lnTo>
                  <a:lnTo>
                    <a:pt x="3627725" y="2100260"/>
                  </a:lnTo>
                  <a:lnTo>
                    <a:pt x="3624779" y="2101848"/>
                  </a:lnTo>
                  <a:lnTo>
                    <a:pt x="3621834" y="2102982"/>
                  </a:lnTo>
                  <a:lnTo>
                    <a:pt x="3618888" y="2103889"/>
                  </a:lnTo>
                  <a:lnTo>
                    <a:pt x="3616169" y="2104570"/>
                  </a:lnTo>
                  <a:lnTo>
                    <a:pt x="3613449" y="2104797"/>
                  </a:lnTo>
                  <a:lnTo>
                    <a:pt x="3610730" y="2104797"/>
                  </a:lnTo>
                  <a:lnTo>
                    <a:pt x="3608011" y="2105250"/>
                  </a:lnTo>
                  <a:lnTo>
                    <a:pt x="3600986" y="2106838"/>
                  </a:lnTo>
                  <a:lnTo>
                    <a:pt x="3584445" y="2111147"/>
                  </a:lnTo>
                  <a:lnTo>
                    <a:pt x="3574928" y="2113642"/>
                  </a:lnTo>
                  <a:lnTo>
                    <a:pt x="3569942" y="2114776"/>
                  </a:lnTo>
                  <a:lnTo>
                    <a:pt x="3564731" y="2115683"/>
                  </a:lnTo>
                  <a:lnTo>
                    <a:pt x="3559745" y="2116591"/>
                  </a:lnTo>
                  <a:lnTo>
                    <a:pt x="3554534" y="2117044"/>
                  </a:lnTo>
                  <a:lnTo>
                    <a:pt x="3549095" y="2117725"/>
                  </a:lnTo>
                  <a:lnTo>
                    <a:pt x="3543884" y="2117952"/>
                  </a:lnTo>
                  <a:lnTo>
                    <a:pt x="3533913" y="2117725"/>
                  </a:lnTo>
                  <a:lnTo>
                    <a:pt x="3529608" y="2117044"/>
                  </a:lnTo>
                  <a:lnTo>
                    <a:pt x="3525982" y="2116591"/>
                  </a:lnTo>
                  <a:lnTo>
                    <a:pt x="3522810" y="2116137"/>
                  </a:lnTo>
                  <a:lnTo>
                    <a:pt x="3519637" y="2115457"/>
                  </a:lnTo>
                  <a:lnTo>
                    <a:pt x="3517371" y="2114323"/>
                  </a:lnTo>
                  <a:lnTo>
                    <a:pt x="3515105" y="2113189"/>
                  </a:lnTo>
                  <a:lnTo>
                    <a:pt x="3513293" y="2111828"/>
                  </a:lnTo>
                  <a:lnTo>
                    <a:pt x="3511933" y="2110467"/>
                  </a:lnTo>
                  <a:lnTo>
                    <a:pt x="3510573" y="2108652"/>
                  </a:lnTo>
                  <a:lnTo>
                    <a:pt x="3509667" y="2106838"/>
                  </a:lnTo>
                  <a:lnTo>
                    <a:pt x="3508761" y="2104570"/>
                  </a:lnTo>
                  <a:lnTo>
                    <a:pt x="3508534" y="2102302"/>
                  </a:lnTo>
                  <a:lnTo>
                    <a:pt x="3508081" y="2099580"/>
                  </a:lnTo>
                  <a:lnTo>
                    <a:pt x="3508081" y="2096858"/>
                  </a:lnTo>
                  <a:lnTo>
                    <a:pt x="3507854" y="2094137"/>
                  </a:lnTo>
                  <a:lnTo>
                    <a:pt x="3507401" y="2091868"/>
                  </a:lnTo>
                  <a:lnTo>
                    <a:pt x="3506268" y="2089827"/>
                  </a:lnTo>
                  <a:lnTo>
                    <a:pt x="3505135" y="2088466"/>
                  </a:lnTo>
                  <a:lnTo>
                    <a:pt x="3503322" y="2087332"/>
                  </a:lnTo>
                  <a:lnTo>
                    <a:pt x="3501056" y="2086879"/>
                  </a:lnTo>
                  <a:lnTo>
                    <a:pt x="3498337" y="2086652"/>
                  </a:lnTo>
                  <a:lnTo>
                    <a:pt x="3495391" y="2086652"/>
                  </a:lnTo>
                  <a:lnTo>
                    <a:pt x="3491992" y="2087105"/>
                  </a:lnTo>
                  <a:lnTo>
                    <a:pt x="3488140" y="2088240"/>
                  </a:lnTo>
                  <a:lnTo>
                    <a:pt x="3483608" y="2089147"/>
                  </a:lnTo>
                  <a:lnTo>
                    <a:pt x="3478623" y="2090508"/>
                  </a:lnTo>
                  <a:lnTo>
                    <a:pt x="3467520" y="2094590"/>
                  </a:lnTo>
                  <a:lnTo>
                    <a:pt x="3454150" y="2099353"/>
                  </a:lnTo>
                  <a:lnTo>
                    <a:pt x="3446899" y="2102075"/>
                  </a:lnTo>
                  <a:lnTo>
                    <a:pt x="3439421" y="2104570"/>
                  </a:lnTo>
                  <a:lnTo>
                    <a:pt x="3431717" y="2106838"/>
                  </a:lnTo>
                  <a:lnTo>
                    <a:pt x="3423786" y="2108652"/>
                  </a:lnTo>
                  <a:lnTo>
                    <a:pt x="3416082" y="2110694"/>
                  </a:lnTo>
                  <a:lnTo>
                    <a:pt x="3408151" y="2112281"/>
                  </a:lnTo>
                  <a:lnTo>
                    <a:pt x="3400673" y="2113642"/>
                  </a:lnTo>
                  <a:lnTo>
                    <a:pt x="3392968" y="2115230"/>
                  </a:lnTo>
                  <a:lnTo>
                    <a:pt x="3385491" y="2116137"/>
                  </a:lnTo>
                  <a:lnTo>
                    <a:pt x="3378013" y="2116818"/>
                  </a:lnTo>
                  <a:lnTo>
                    <a:pt x="3370988" y="2117725"/>
                  </a:lnTo>
                  <a:lnTo>
                    <a:pt x="3364417" y="2118178"/>
                  </a:lnTo>
                  <a:lnTo>
                    <a:pt x="3358299" y="2118405"/>
                  </a:lnTo>
                  <a:lnTo>
                    <a:pt x="3352407" y="2118405"/>
                  </a:lnTo>
                  <a:lnTo>
                    <a:pt x="3346969" y="2118178"/>
                  </a:lnTo>
                  <a:lnTo>
                    <a:pt x="3342437" y="2117952"/>
                  </a:lnTo>
                  <a:lnTo>
                    <a:pt x="3309353" y="2114096"/>
                  </a:lnTo>
                  <a:lnTo>
                    <a:pt x="3284881" y="2111147"/>
                  </a:lnTo>
                  <a:lnTo>
                    <a:pt x="3257689" y="2107745"/>
                  </a:lnTo>
                  <a:lnTo>
                    <a:pt x="3246438" y="2106042"/>
                  </a:lnTo>
                  <a:lnTo>
                    <a:pt x="3246438" y="2132486"/>
                  </a:lnTo>
                  <a:lnTo>
                    <a:pt x="3246216" y="2135206"/>
                  </a:lnTo>
                  <a:lnTo>
                    <a:pt x="3245993" y="2137698"/>
                  </a:lnTo>
                  <a:lnTo>
                    <a:pt x="3245103" y="2140418"/>
                  </a:lnTo>
                  <a:lnTo>
                    <a:pt x="3244213" y="2142684"/>
                  </a:lnTo>
                  <a:lnTo>
                    <a:pt x="3243101" y="2145177"/>
                  </a:lnTo>
                  <a:lnTo>
                    <a:pt x="3241766" y="2147443"/>
                  </a:lnTo>
                  <a:lnTo>
                    <a:pt x="3239986" y="2149482"/>
                  </a:lnTo>
                  <a:lnTo>
                    <a:pt x="3238428" y="2151295"/>
                  </a:lnTo>
                  <a:lnTo>
                    <a:pt x="3236426" y="2153108"/>
                  </a:lnTo>
                  <a:lnTo>
                    <a:pt x="3234423" y="2154694"/>
                  </a:lnTo>
                  <a:lnTo>
                    <a:pt x="3232198" y="2155828"/>
                  </a:lnTo>
                  <a:lnTo>
                    <a:pt x="3229751" y="2157187"/>
                  </a:lnTo>
                  <a:lnTo>
                    <a:pt x="3227526" y="2157867"/>
                  </a:lnTo>
                  <a:lnTo>
                    <a:pt x="3224856" y="2158547"/>
                  </a:lnTo>
                  <a:lnTo>
                    <a:pt x="3221964" y="2159000"/>
                  </a:lnTo>
                  <a:lnTo>
                    <a:pt x="3219294" y="2159000"/>
                  </a:lnTo>
                  <a:lnTo>
                    <a:pt x="3214844" y="2159000"/>
                  </a:lnTo>
                  <a:lnTo>
                    <a:pt x="3211952" y="2159000"/>
                  </a:lnTo>
                  <a:lnTo>
                    <a:pt x="3209282" y="2158547"/>
                  </a:lnTo>
                  <a:lnTo>
                    <a:pt x="3206834" y="2157867"/>
                  </a:lnTo>
                  <a:lnTo>
                    <a:pt x="3204164" y="2157187"/>
                  </a:lnTo>
                  <a:lnTo>
                    <a:pt x="3201940" y="2155828"/>
                  </a:lnTo>
                  <a:lnTo>
                    <a:pt x="3199715" y="2154694"/>
                  </a:lnTo>
                  <a:lnTo>
                    <a:pt x="3197490" y="2153108"/>
                  </a:lnTo>
                  <a:lnTo>
                    <a:pt x="3195487" y="2151295"/>
                  </a:lnTo>
                  <a:lnTo>
                    <a:pt x="3193930" y="2149482"/>
                  </a:lnTo>
                  <a:lnTo>
                    <a:pt x="3192372" y="2147443"/>
                  </a:lnTo>
                  <a:lnTo>
                    <a:pt x="3191037" y="2145177"/>
                  </a:lnTo>
                  <a:lnTo>
                    <a:pt x="3189702" y="2142684"/>
                  </a:lnTo>
                  <a:lnTo>
                    <a:pt x="3189035" y="2140418"/>
                  </a:lnTo>
                  <a:lnTo>
                    <a:pt x="3188367" y="2137698"/>
                  </a:lnTo>
                  <a:lnTo>
                    <a:pt x="3187700" y="2135206"/>
                  </a:lnTo>
                  <a:lnTo>
                    <a:pt x="3187700" y="2132486"/>
                  </a:lnTo>
                  <a:lnTo>
                    <a:pt x="3187700" y="2096168"/>
                  </a:lnTo>
                  <a:lnTo>
                    <a:pt x="3184497" y="2095497"/>
                  </a:lnTo>
                  <a:lnTo>
                    <a:pt x="3176340" y="2093683"/>
                  </a:lnTo>
                  <a:lnTo>
                    <a:pt x="3169995" y="2091642"/>
                  </a:lnTo>
                  <a:lnTo>
                    <a:pt x="3165236" y="2089374"/>
                  </a:lnTo>
                  <a:lnTo>
                    <a:pt x="3161157" y="2087332"/>
                  </a:lnTo>
                  <a:lnTo>
                    <a:pt x="3157985" y="2085064"/>
                  </a:lnTo>
                  <a:lnTo>
                    <a:pt x="3155492" y="2083023"/>
                  </a:lnTo>
                  <a:lnTo>
                    <a:pt x="3153680" y="2080755"/>
                  </a:lnTo>
                  <a:lnTo>
                    <a:pt x="3152320" y="2078260"/>
                  </a:lnTo>
                  <a:lnTo>
                    <a:pt x="3151640" y="2075765"/>
                  </a:lnTo>
                  <a:lnTo>
                    <a:pt x="3151187" y="2073497"/>
                  </a:lnTo>
                  <a:lnTo>
                    <a:pt x="3151187" y="2071002"/>
                  </a:lnTo>
                  <a:lnTo>
                    <a:pt x="3151414" y="2068280"/>
                  </a:lnTo>
                  <a:lnTo>
                    <a:pt x="3152093" y="2065785"/>
                  </a:lnTo>
                  <a:lnTo>
                    <a:pt x="3152773" y="2063290"/>
                  </a:lnTo>
                  <a:lnTo>
                    <a:pt x="3154813" y="2058301"/>
                  </a:lnTo>
                  <a:lnTo>
                    <a:pt x="3156852" y="2053084"/>
                  </a:lnTo>
                  <a:lnTo>
                    <a:pt x="3157532" y="2052177"/>
                  </a:lnTo>
                  <a:lnTo>
                    <a:pt x="3158212" y="2050816"/>
                  </a:lnTo>
                  <a:lnTo>
                    <a:pt x="3159118" y="2049909"/>
                  </a:lnTo>
                  <a:lnTo>
                    <a:pt x="3160024" y="2049001"/>
                  </a:lnTo>
                  <a:lnTo>
                    <a:pt x="3162517" y="2047414"/>
                  </a:lnTo>
                  <a:lnTo>
                    <a:pt x="3165236" y="2046053"/>
                  </a:lnTo>
                  <a:lnTo>
                    <a:pt x="3168635" y="2044692"/>
                  </a:lnTo>
                  <a:lnTo>
                    <a:pt x="3172714" y="2044012"/>
                  </a:lnTo>
                  <a:lnTo>
                    <a:pt x="3176793" y="2042877"/>
                  </a:lnTo>
                  <a:lnTo>
                    <a:pt x="3181551" y="2042424"/>
                  </a:lnTo>
                  <a:lnTo>
                    <a:pt x="3187700" y="2041769"/>
                  </a:lnTo>
                  <a:lnTo>
                    <a:pt x="3187700" y="2013434"/>
                  </a:lnTo>
                  <a:lnTo>
                    <a:pt x="3135313" y="2029813"/>
                  </a:lnTo>
                  <a:lnTo>
                    <a:pt x="3135313" y="2172607"/>
                  </a:lnTo>
                  <a:lnTo>
                    <a:pt x="3135313" y="2175329"/>
                  </a:lnTo>
                  <a:lnTo>
                    <a:pt x="3134866" y="2178050"/>
                  </a:lnTo>
                  <a:lnTo>
                    <a:pt x="3134196" y="2180772"/>
                  </a:lnTo>
                  <a:lnTo>
                    <a:pt x="3133303" y="2183266"/>
                  </a:lnTo>
                  <a:lnTo>
                    <a:pt x="3132186" y="2185761"/>
                  </a:lnTo>
                  <a:lnTo>
                    <a:pt x="3130623" y="2188029"/>
                  </a:lnTo>
                  <a:lnTo>
                    <a:pt x="3129283" y="2190070"/>
                  </a:lnTo>
                  <a:lnTo>
                    <a:pt x="3127496" y="2192111"/>
                  </a:lnTo>
                  <a:lnTo>
                    <a:pt x="3125486" y="2193698"/>
                  </a:lnTo>
                  <a:lnTo>
                    <a:pt x="3123476" y="2195513"/>
                  </a:lnTo>
                  <a:lnTo>
                    <a:pt x="3121243" y="2196647"/>
                  </a:lnTo>
                  <a:lnTo>
                    <a:pt x="3119009" y="2198007"/>
                  </a:lnTo>
                  <a:lnTo>
                    <a:pt x="3116329" y="2198914"/>
                  </a:lnTo>
                  <a:lnTo>
                    <a:pt x="3113873" y="2199368"/>
                  </a:lnTo>
                  <a:lnTo>
                    <a:pt x="3111192" y="2200048"/>
                  </a:lnTo>
                  <a:lnTo>
                    <a:pt x="3108289" y="2200275"/>
                  </a:lnTo>
                  <a:lnTo>
                    <a:pt x="3103599" y="2200275"/>
                  </a:lnTo>
                  <a:lnTo>
                    <a:pt x="3100919" y="2200048"/>
                  </a:lnTo>
                  <a:lnTo>
                    <a:pt x="3098239" y="2199368"/>
                  </a:lnTo>
                  <a:lnTo>
                    <a:pt x="3095559" y="2198914"/>
                  </a:lnTo>
                  <a:lnTo>
                    <a:pt x="3093102" y="2198007"/>
                  </a:lnTo>
                  <a:lnTo>
                    <a:pt x="3090645" y="2196647"/>
                  </a:lnTo>
                  <a:lnTo>
                    <a:pt x="3088412" y="2195513"/>
                  </a:lnTo>
                  <a:lnTo>
                    <a:pt x="3086402" y="2193698"/>
                  </a:lnTo>
                  <a:lnTo>
                    <a:pt x="3084615" y="2192111"/>
                  </a:lnTo>
                  <a:lnTo>
                    <a:pt x="3082828" y="2190070"/>
                  </a:lnTo>
                  <a:lnTo>
                    <a:pt x="3081042" y="2188029"/>
                  </a:lnTo>
                  <a:lnTo>
                    <a:pt x="3079925" y="2185761"/>
                  </a:lnTo>
                  <a:lnTo>
                    <a:pt x="3078585" y="2183266"/>
                  </a:lnTo>
                  <a:lnTo>
                    <a:pt x="3077692" y="2180772"/>
                  </a:lnTo>
                  <a:lnTo>
                    <a:pt x="3077022" y="2178050"/>
                  </a:lnTo>
                  <a:lnTo>
                    <a:pt x="3076798" y="2175329"/>
                  </a:lnTo>
                  <a:lnTo>
                    <a:pt x="3076575" y="2172607"/>
                  </a:lnTo>
                  <a:lnTo>
                    <a:pt x="3076575" y="2090145"/>
                  </a:lnTo>
                  <a:lnTo>
                    <a:pt x="3076346" y="2090511"/>
                  </a:lnTo>
                  <a:lnTo>
                    <a:pt x="3075438" y="2092552"/>
                  </a:lnTo>
                  <a:lnTo>
                    <a:pt x="3074303" y="2094367"/>
                  </a:lnTo>
                  <a:lnTo>
                    <a:pt x="3072488" y="2095954"/>
                  </a:lnTo>
                  <a:lnTo>
                    <a:pt x="3070672" y="2097769"/>
                  </a:lnTo>
                  <a:lnTo>
                    <a:pt x="3068856" y="2099356"/>
                  </a:lnTo>
                  <a:lnTo>
                    <a:pt x="3066813" y="2100263"/>
                  </a:lnTo>
                  <a:lnTo>
                    <a:pt x="3064544" y="2101170"/>
                  </a:lnTo>
                  <a:lnTo>
                    <a:pt x="3062047" y="2101624"/>
                  </a:lnTo>
                  <a:lnTo>
                    <a:pt x="3058869" y="2102304"/>
                  </a:lnTo>
                  <a:lnTo>
                    <a:pt x="3053876" y="2102758"/>
                  </a:lnTo>
                  <a:lnTo>
                    <a:pt x="3040257" y="2103211"/>
                  </a:lnTo>
                  <a:lnTo>
                    <a:pt x="3022780" y="2103438"/>
                  </a:lnTo>
                  <a:lnTo>
                    <a:pt x="3003714" y="2103438"/>
                  </a:lnTo>
                  <a:lnTo>
                    <a:pt x="2984649" y="2103211"/>
                  </a:lnTo>
                  <a:lnTo>
                    <a:pt x="2966945" y="2102531"/>
                  </a:lnTo>
                  <a:lnTo>
                    <a:pt x="2959228" y="2102077"/>
                  </a:lnTo>
                  <a:lnTo>
                    <a:pt x="2952872" y="2101397"/>
                  </a:lnTo>
                  <a:lnTo>
                    <a:pt x="2947652" y="2100717"/>
                  </a:lnTo>
                  <a:lnTo>
                    <a:pt x="2944020" y="2100036"/>
                  </a:lnTo>
                  <a:lnTo>
                    <a:pt x="2937438" y="2097995"/>
                  </a:lnTo>
                  <a:lnTo>
                    <a:pt x="2929948" y="2095047"/>
                  </a:lnTo>
                  <a:lnTo>
                    <a:pt x="2921777" y="2090965"/>
                  </a:lnTo>
                  <a:lnTo>
                    <a:pt x="2917691" y="2088924"/>
                  </a:lnTo>
                  <a:lnTo>
                    <a:pt x="2913379" y="2086656"/>
                  </a:lnTo>
                  <a:lnTo>
                    <a:pt x="2909520" y="2084161"/>
                  </a:lnTo>
                  <a:lnTo>
                    <a:pt x="2905662" y="2081440"/>
                  </a:lnTo>
                  <a:lnTo>
                    <a:pt x="2902030" y="2078719"/>
                  </a:lnTo>
                  <a:lnTo>
                    <a:pt x="2898852" y="2075770"/>
                  </a:lnTo>
                  <a:lnTo>
                    <a:pt x="2895675" y="2072822"/>
                  </a:lnTo>
                  <a:lnTo>
                    <a:pt x="2892951" y="2069647"/>
                  </a:lnTo>
                  <a:lnTo>
                    <a:pt x="2891135" y="2066472"/>
                  </a:lnTo>
                  <a:lnTo>
                    <a:pt x="2889546" y="2063297"/>
                  </a:lnTo>
                  <a:lnTo>
                    <a:pt x="2887050" y="2057401"/>
                  </a:lnTo>
                  <a:lnTo>
                    <a:pt x="2884326" y="2051731"/>
                  </a:lnTo>
                  <a:lnTo>
                    <a:pt x="2881602" y="2046515"/>
                  </a:lnTo>
                  <a:lnTo>
                    <a:pt x="2878879" y="2041752"/>
                  </a:lnTo>
                  <a:lnTo>
                    <a:pt x="2873885" y="2033361"/>
                  </a:lnTo>
                  <a:lnTo>
                    <a:pt x="2872296" y="2029733"/>
                  </a:lnTo>
                  <a:lnTo>
                    <a:pt x="2870708" y="2026331"/>
                  </a:lnTo>
                  <a:lnTo>
                    <a:pt x="2870027" y="2025197"/>
                  </a:lnTo>
                  <a:lnTo>
                    <a:pt x="2869119" y="2024290"/>
                  </a:lnTo>
                  <a:lnTo>
                    <a:pt x="2868438" y="2023836"/>
                  </a:lnTo>
                  <a:lnTo>
                    <a:pt x="2867757" y="2024063"/>
                  </a:lnTo>
                  <a:lnTo>
                    <a:pt x="2867076" y="2024517"/>
                  </a:lnTo>
                  <a:lnTo>
                    <a:pt x="2866168" y="2025651"/>
                  </a:lnTo>
                  <a:lnTo>
                    <a:pt x="2865714" y="2026785"/>
                  </a:lnTo>
                  <a:lnTo>
                    <a:pt x="2865033" y="2028372"/>
                  </a:lnTo>
                  <a:lnTo>
                    <a:pt x="2864125" y="2031547"/>
                  </a:lnTo>
                  <a:lnTo>
                    <a:pt x="2863444" y="2035402"/>
                  </a:lnTo>
                  <a:lnTo>
                    <a:pt x="2863444" y="2037444"/>
                  </a:lnTo>
                  <a:lnTo>
                    <a:pt x="2863444" y="2039485"/>
                  </a:lnTo>
                  <a:lnTo>
                    <a:pt x="2864125" y="2041299"/>
                  </a:lnTo>
                  <a:lnTo>
                    <a:pt x="2864579" y="2042886"/>
                  </a:lnTo>
                  <a:lnTo>
                    <a:pt x="2864806" y="2044474"/>
                  </a:lnTo>
                  <a:lnTo>
                    <a:pt x="2864806" y="2045835"/>
                  </a:lnTo>
                  <a:lnTo>
                    <a:pt x="2864579" y="2047195"/>
                  </a:lnTo>
                  <a:lnTo>
                    <a:pt x="2863671" y="2048102"/>
                  </a:lnTo>
                  <a:lnTo>
                    <a:pt x="2862763" y="2049236"/>
                  </a:lnTo>
                  <a:lnTo>
                    <a:pt x="2861629" y="2049917"/>
                  </a:lnTo>
                  <a:lnTo>
                    <a:pt x="2860267" y="2050597"/>
                  </a:lnTo>
                  <a:lnTo>
                    <a:pt x="2858905" y="2051051"/>
                  </a:lnTo>
                  <a:lnTo>
                    <a:pt x="2855500" y="2051958"/>
                  </a:lnTo>
                  <a:lnTo>
                    <a:pt x="2852550" y="2052185"/>
                  </a:lnTo>
                  <a:lnTo>
                    <a:pt x="2850053" y="2051958"/>
                  </a:lnTo>
                  <a:lnTo>
                    <a:pt x="2849145" y="2051731"/>
                  </a:lnTo>
                  <a:lnTo>
                    <a:pt x="2848691" y="2051277"/>
                  </a:lnTo>
                  <a:lnTo>
                    <a:pt x="2847783" y="2050370"/>
                  </a:lnTo>
                  <a:lnTo>
                    <a:pt x="2847329" y="2048102"/>
                  </a:lnTo>
                  <a:lnTo>
                    <a:pt x="2846421" y="2040619"/>
                  </a:lnTo>
                  <a:lnTo>
                    <a:pt x="2845513" y="2030640"/>
                  </a:lnTo>
                  <a:lnTo>
                    <a:pt x="2844379" y="2018620"/>
                  </a:lnTo>
                  <a:lnTo>
                    <a:pt x="2843471" y="2006601"/>
                  </a:lnTo>
                  <a:lnTo>
                    <a:pt x="2842336" y="1995261"/>
                  </a:lnTo>
                  <a:lnTo>
                    <a:pt x="2841201" y="1986417"/>
                  </a:lnTo>
                  <a:lnTo>
                    <a:pt x="2840747" y="1983242"/>
                  </a:lnTo>
                  <a:lnTo>
                    <a:pt x="2839839" y="1980974"/>
                  </a:lnTo>
                  <a:lnTo>
                    <a:pt x="2835527" y="1970542"/>
                  </a:lnTo>
                  <a:lnTo>
                    <a:pt x="2835360" y="1970163"/>
                  </a:lnTo>
                  <a:lnTo>
                    <a:pt x="2834651" y="1970217"/>
                  </a:lnTo>
                  <a:lnTo>
                    <a:pt x="2831710" y="1970443"/>
                  </a:lnTo>
                  <a:lnTo>
                    <a:pt x="2829221" y="1970670"/>
                  </a:lnTo>
                  <a:lnTo>
                    <a:pt x="2824696" y="1970443"/>
                  </a:lnTo>
                  <a:lnTo>
                    <a:pt x="2823339" y="1970217"/>
                  </a:lnTo>
                  <a:lnTo>
                    <a:pt x="2821528" y="1969538"/>
                  </a:lnTo>
                  <a:lnTo>
                    <a:pt x="2819945" y="1968632"/>
                  </a:lnTo>
                  <a:lnTo>
                    <a:pt x="2818587" y="1967274"/>
                  </a:lnTo>
                  <a:lnTo>
                    <a:pt x="2817230" y="1965916"/>
                  </a:lnTo>
                  <a:lnTo>
                    <a:pt x="2816325" y="1964558"/>
                  </a:lnTo>
                  <a:lnTo>
                    <a:pt x="2815646" y="1963426"/>
                  </a:lnTo>
                  <a:lnTo>
                    <a:pt x="2815420" y="1962067"/>
                  </a:lnTo>
                  <a:lnTo>
                    <a:pt x="2814741" y="1960030"/>
                  </a:lnTo>
                  <a:lnTo>
                    <a:pt x="2814062" y="1958672"/>
                  </a:lnTo>
                  <a:lnTo>
                    <a:pt x="2813610" y="1957993"/>
                  </a:lnTo>
                  <a:lnTo>
                    <a:pt x="2813157" y="1957314"/>
                  </a:lnTo>
                  <a:lnTo>
                    <a:pt x="2812252" y="1957087"/>
                  </a:lnTo>
                  <a:lnTo>
                    <a:pt x="2811800" y="1956861"/>
                  </a:lnTo>
                  <a:lnTo>
                    <a:pt x="2811121" y="1957087"/>
                  </a:lnTo>
                  <a:lnTo>
                    <a:pt x="2810442" y="1957314"/>
                  </a:lnTo>
                  <a:lnTo>
                    <a:pt x="2809537" y="1957993"/>
                  </a:lnTo>
                  <a:lnTo>
                    <a:pt x="2809084" y="1958672"/>
                  </a:lnTo>
                  <a:lnTo>
                    <a:pt x="2808179" y="1960483"/>
                  </a:lnTo>
                  <a:lnTo>
                    <a:pt x="2807501" y="1962747"/>
                  </a:lnTo>
                  <a:lnTo>
                    <a:pt x="2806822" y="1963878"/>
                  </a:lnTo>
                  <a:lnTo>
                    <a:pt x="2806369" y="1965010"/>
                  </a:lnTo>
                  <a:lnTo>
                    <a:pt x="2805012" y="1966821"/>
                  </a:lnTo>
                  <a:lnTo>
                    <a:pt x="2803654" y="1967953"/>
                  </a:lnTo>
                  <a:lnTo>
                    <a:pt x="2802976" y="1968632"/>
                  </a:lnTo>
                  <a:lnTo>
                    <a:pt x="2802523" y="1968632"/>
                  </a:lnTo>
                  <a:lnTo>
                    <a:pt x="2792115" y="1968406"/>
                  </a:lnTo>
                  <a:lnTo>
                    <a:pt x="2791436" y="1968406"/>
                  </a:lnTo>
                  <a:lnTo>
                    <a:pt x="2788948" y="1967953"/>
                  </a:lnTo>
                  <a:lnTo>
                    <a:pt x="2785554" y="1967500"/>
                  </a:lnTo>
                  <a:lnTo>
                    <a:pt x="2781481" y="1966369"/>
                  </a:lnTo>
                  <a:lnTo>
                    <a:pt x="2779445" y="1965463"/>
                  </a:lnTo>
                  <a:lnTo>
                    <a:pt x="2777182" y="1964558"/>
                  </a:lnTo>
                  <a:lnTo>
                    <a:pt x="2775146" y="1963426"/>
                  </a:lnTo>
                  <a:lnTo>
                    <a:pt x="2773110" y="1961615"/>
                  </a:lnTo>
                  <a:lnTo>
                    <a:pt x="2771300" y="1959804"/>
                  </a:lnTo>
                  <a:lnTo>
                    <a:pt x="2769490" y="1957540"/>
                  </a:lnTo>
                  <a:lnTo>
                    <a:pt x="2768132" y="1955276"/>
                  </a:lnTo>
                  <a:lnTo>
                    <a:pt x="2767001" y="1952107"/>
                  </a:lnTo>
                  <a:lnTo>
                    <a:pt x="2765870" y="1947579"/>
                  </a:lnTo>
                  <a:lnTo>
                    <a:pt x="2764965" y="1941694"/>
                  </a:lnTo>
                  <a:lnTo>
                    <a:pt x="2764286" y="1935582"/>
                  </a:lnTo>
                  <a:lnTo>
                    <a:pt x="2764286" y="1929017"/>
                  </a:lnTo>
                  <a:lnTo>
                    <a:pt x="2764286" y="1925621"/>
                  </a:lnTo>
                  <a:lnTo>
                    <a:pt x="2764512" y="1922452"/>
                  </a:lnTo>
                  <a:lnTo>
                    <a:pt x="2765191" y="1919283"/>
                  </a:lnTo>
                  <a:lnTo>
                    <a:pt x="2765870" y="1916340"/>
                  </a:lnTo>
                  <a:lnTo>
                    <a:pt x="2766548" y="1913397"/>
                  </a:lnTo>
                  <a:lnTo>
                    <a:pt x="2767906" y="1910907"/>
                  </a:lnTo>
                  <a:lnTo>
                    <a:pt x="2769037" y="1908643"/>
                  </a:lnTo>
                  <a:lnTo>
                    <a:pt x="2770621" y="1906379"/>
                  </a:lnTo>
                  <a:lnTo>
                    <a:pt x="2772431" y="1904115"/>
                  </a:lnTo>
                  <a:lnTo>
                    <a:pt x="2774241" y="1901625"/>
                  </a:lnTo>
                  <a:lnTo>
                    <a:pt x="2775599" y="1899362"/>
                  </a:lnTo>
                  <a:lnTo>
                    <a:pt x="2776730" y="1897324"/>
                  </a:lnTo>
                  <a:lnTo>
                    <a:pt x="2777635" y="1895060"/>
                  </a:lnTo>
                  <a:lnTo>
                    <a:pt x="2778314" y="1892797"/>
                  </a:lnTo>
                  <a:lnTo>
                    <a:pt x="2778766" y="1890759"/>
                  </a:lnTo>
                  <a:lnTo>
                    <a:pt x="2778766" y="1888722"/>
                  </a:lnTo>
                  <a:lnTo>
                    <a:pt x="2778766" y="1886911"/>
                  </a:lnTo>
                  <a:lnTo>
                    <a:pt x="2778540" y="1885100"/>
                  </a:lnTo>
                  <a:lnTo>
                    <a:pt x="2777635" y="1883289"/>
                  </a:lnTo>
                  <a:lnTo>
                    <a:pt x="2776956" y="1881704"/>
                  </a:lnTo>
                  <a:lnTo>
                    <a:pt x="2776277" y="1880120"/>
                  </a:lnTo>
                  <a:lnTo>
                    <a:pt x="2774920" y="1878761"/>
                  </a:lnTo>
                  <a:lnTo>
                    <a:pt x="2773789" y="1877403"/>
                  </a:lnTo>
                  <a:lnTo>
                    <a:pt x="2772205" y="1876271"/>
                  </a:lnTo>
                  <a:lnTo>
                    <a:pt x="2767906" y="1873328"/>
                  </a:lnTo>
                  <a:lnTo>
                    <a:pt x="2760892" y="1869027"/>
                  </a:lnTo>
                  <a:lnTo>
                    <a:pt x="2752068" y="1864047"/>
                  </a:lnTo>
                  <a:lnTo>
                    <a:pt x="2741208" y="1858161"/>
                  </a:lnTo>
                  <a:lnTo>
                    <a:pt x="2728733" y="1851373"/>
                  </a:lnTo>
                  <a:lnTo>
                    <a:pt x="2735036" y="1883775"/>
                  </a:lnTo>
                  <a:lnTo>
                    <a:pt x="2738211" y="1900340"/>
                  </a:lnTo>
                  <a:lnTo>
                    <a:pt x="2741159" y="1915089"/>
                  </a:lnTo>
                  <a:lnTo>
                    <a:pt x="2744107" y="1928704"/>
                  </a:lnTo>
                  <a:lnTo>
                    <a:pt x="2747055" y="1940730"/>
                  </a:lnTo>
                  <a:lnTo>
                    <a:pt x="2749550" y="1950034"/>
                  </a:lnTo>
                  <a:lnTo>
                    <a:pt x="2751818" y="1957068"/>
                  </a:lnTo>
                  <a:lnTo>
                    <a:pt x="2754086" y="1962741"/>
                  </a:lnTo>
                  <a:lnTo>
                    <a:pt x="2756807" y="1968187"/>
                  </a:lnTo>
                  <a:lnTo>
                    <a:pt x="2759529" y="1974087"/>
                  </a:lnTo>
                  <a:lnTo>
                    <a:pt x="2762477" y="1979760"/>
                  </a:lnTo>
                  <a:lnTo>
                    <a:pt x="2768827" y="1990878"/>
                  </a:lnTo>
                  <a:lnTo>
                    <a:pt x="2775177" y="2001089"/>
                  </a:lnTo>
                  <a:lnTo>
                    <a:pt x="2780846" y="2009939"/>
                  </a:lnTo>
                  <a:lnTo>
                    <a:pt x="2785609" y="2016973"/>
                  </a:lnTo>
                  <a:lnTo>
                    <a:pt x="2790145" y="2022873"/>
                  </a:lnTo>
                  <a:lnTo>
                    <a:pt x="2798536" y="2036261"/>
                  </a:lnTo>
                  <a:lnTo>
                    <a:pt x="2814864" y="2063718"/>
                  </a:lnTo>
                  <a:lnTo>
                    <a:pt x="2827564" y="2084821"/>
                  </a:lnTo>
                  <a:lnTo>
                    <a:pt x="2832780" y="2093216"/>
                  </a:lnTo>
                  <a:lnTo>
                    <a:pt x="2836182" y="2098435"/>
                  </a:lnTo>
                  <a:lnTo>
                    <a:pt x="2837316" y="2100251"/>
                  </a:lnTo>
                  <a:lnTo>
                    <a:pt x="2837996" y="2102293"/>
                  </a:lnTo>
                  <a:lnTo>
                    <a:pt x="2838450" y="2104108"/>
                  </a:lnTo>
                  <a:lnTo>
                    <a:pt x="2838450" y="2106150"/>
                  </a:lnTo>
                  <a:lnTo>
                    <a:pt x="2837996" y="2108193"/>
                  </a:lnTo>
                  <a:lnTo>
                    <a:pt x="2837316" y="2110235"/>
                  </a:lnTo>
                  <a:lnTo>
                    <a:pt x="2836409" y="2112050"/>
                  </a:lnTo>
                  <a:lnTo>
                    <a:pt x="2835275" y="2113865"/>
                  </a:lnTo>
                  <a:lnTo>
                    <a:pt x="2833914" y="2115681"/>
                  </a:lnTo>
                  <a:lnTo>
                    <a:pt x="2832100" y="2117269"/>
                  </a:lnTo>
                  <a:lnTo>
                    <a:pt x="2830512" y="2118858"/>
                  </a:lnTo>
                  <a:lnTo>
                    <a:pt x="2828471" y="2119992"/>
                  </a:lnTo>
                  <a:lnTo>
                    <a:pt x="2826204" y="2121127"/>
                  </a:lnTo>
                  <a:lnTo>
                    <a:pt x="2823936" y="2121807"/>
                  </a:lnTo>
                  <a:lnTo>
                    <a:pt x="2821441" y="2122261"/>
                  </a:lnTo>
                  <a:lnTo>
                    <a:pt x="2819173" y="2122488"/>
                  </a:lnTo>
                  <a:lnTo>
                    <a:pt x="2815771" y="2122261"/>
                  </a:lnTo>
                  <a:lnTo>
                    <a:pt x="2810782" y="2121807"/>
                  </a:lnTo>
                  <a:lnTo>
                    <a:pt x="2797175" y="2119992"/>
                  </a:lnTo>
                  <a:lnTo>
                    <a:pt x="2780166" y="2117269"/>
                  </a:lnTo>
                  <a:lnTo>
                    <a:pt x="2761570" y="2114092"/>
                  </a:lnTo>
                  <a:lnTo>
                    <a:pt x="2742746" y="2110462"/>
                  </a:lnTo>
                  <a:lnTo>
                    <a:pt x="2725284" y="2106604"/>
                  </a:lnTo>
                  <a:lnTo>
                    <a:pt x="2717800" y="2105016"/>
                  </a:lnTo>
                  <a:lnTo>
                    <a:pt x="2711677" y="2103201"/>
                  </a:lnTo>
                  <a:lnTo>
                    <a:pt x="2706688" y="2101839"/>
                  </a:lnTo>
                  <a:lnTo>
                    <a:pt x="2703286" y="2100251"/>
                  </a:lnTo>
                  <a:lnTo>
                    <a:pt x="2697162" y="2097074"/>
                  </a:lnTo>
                  <a:lnTo>
                    <a:pt x="2690359" y="2092763"/>
                  </a:lnTo>
                  <a:lnTo>
                    <a:pt x="2682875" y="2087543"/>
                  </a:lnTo>
                  <a:lnTo>
                    <a:pt x="2679246" y="2084821"/>
                  </a:lnTo>
                  <a:lnTo>
                    <a:pt x="2675391" y="2081644"/>
                  </a:lnTo>
                  <a:lnTo>
                    <a:pt x="2671989" y="2078694"/>
                  </a:lnTo>
                  <a:lnTo>
                    <a:pt x="2668814" y="2075290"/>
                  </a:lnTo>
                  <a:lnTo>
                    <a:pt x="2665639" y="2071886"/>
                  </a:lnTo>
                  <a:lnTo>
                    <a:pt x="2662918" y="2068483"/>
                  </a:lnTo>
                  <a:lnTo>
                    <a:pt x="2660423" y="2065079"/>
                  </a:lnTo>
                  <a:lnTo>
                    <a:pt x="2658382" y="2061448"/>
                  </a:lnTo>
                  <a:lnTo>
                    <a:pt x="2656795" y="2058045"/>
                  </a:lnTo>
                  <a:lnTo>
                    <a:pt x="2656114" y="2054868"/>
                  </a:lnTo>
                  <a:lnTo>
                    <a:pt x="2654754" y="2048061"/>
                  </a:lnTo>
                  <a:lnTo>
                    <a:pt x="2652939" y="2042161"/>
                  </a:lnTo>
                  <a:lnTo>
                    <a:pt x="2651125" y="2036488"/>
                  </a:lnTo>
                  <a:lnTo>
                    <a:pt x="2650544" y="2034891"/>
                  </a:lnTo>
                  <a:lnTo>
                    <a:pt x="2647538" y="2036545"/>
                  </a:lnTo>
                  <a:lnTo>
                    <a:pt x="2642334" y="2038582"/>
                  </a:lnTo>
                  <a:lnTo>
                    <a:pt x="2639845" y="2039261"/>
                  </a:lnTo>
                  <a:lnTo>
                    <a:pt x="2636904" y="2040167"/>
                  </a:lnTo>
                  <a:lnTo>
                    <a:pt x="2633962" y="2040620"/>
                  </a:lnTo>
                  <a:lnTo>
                    <a:pt x="2631021" y="2041072"/>
                  </a:lnTo>
                  <a:lnTo>
                    <a:pt x="2627854" y="2041299"/>
                  </a:lnTo>
                  <a:lnTo>
                    <a:pt x="2624460" y="2041525"/>
                  </a:lnTo>
                  <a:lnTo>
                    <a:pt x="2621066" y="2041525"/>
                  </a:lnTo>
                  <a:lnTo>
                    <a:pt x="2617898" y="2041299"/>
                  </a:lnTo>
                  <a:lnTo>
                    <a:pt x="2614731" y="2040846"/>
                  </a:lnTo>
                  <a:lnTo>
                    <a:pt x="2612016" y="2040393"/>
                  </a:lnTo>
                  <a:lnTo>
                    <a:pt x="2609301" y="2039941"/>
                  </a:lnTo>
                  <a:lnTo>
                    <a:pt x="2606585" y="2038809"/>
                  </a:lnTo>
                  <a:lnTo>
                    <a:pt x="2604097" y="2038130"/>
                  </a:lnTo>
                  <a:lnTo>
                    <a:pt x="2601608" y="2036771"/>
                  </a:lnTo>
                  <a:lnTo>
                    <a:pt x="2599345" y="2035866"/>
                  </a:lnTo>
                  <a:lnTo>
                    <a:pt x="2597309" y="2034281"/>
                  </a:lnTo>
                  <a:lnTo>
                    <a:pt x="2593463" y="2031565"/>
                  </a:lnTo>
                  <a:lnTo>
                    <a:pt x="2590295" y="2028395"/>
                  </a:lnTo>
                  <a:lnTo>
                    <a:pt x="2587354" y="2025000"/>
                  </a:lnTo>
                  <a:lnTo>
                    <a:pt x="2584865" y="2021604"/>
                  </a:lnTo>
                  <a:lnTo>
                    <a:pt x="2582602" y="2017756"/>
                  </a:lnTo>
                  <a:lnTo>
                    <a:pt x="2580792" y="2014134"/>
                  </a:lnTo>
                  <a:lnTo>
                    <a:pt x="2579435" y="2010285"/>
                  </a:lnTo>
                  <a:lnTo>
                    <a:pt x="2578077" y="2006663"/>
                  </a:lnTo>
                  <a:lnTo>
                    <a:pt x="2577398" y="2003041"/>
                  </a:lnTo>
                  <a:lnTo>
                    <a:pt x="2576946" y="1999646"/>
                  </a:lnTo>
                  <a:lnTo>
                    <a:pt x="2576267" y="1996703"/>
                  </a:lnTo>
                  <a:lnTo>
                    <a:pt x="2576267" y="1993760"/>
                  </a:lnTo>
                  <a:lnTo>
                    <a:pt x="2576267" y="1991044"/>
                  </a:lnTo>
                  <a:lnTo>
                    <a:pt x="2576720" y="1988101"/>
                  </a:lnTo>
                  <a:lnTo>
                    <a:pt x="2577172" y="1985384"/>
                  </a:lnTo>
                  <a:lnTo>
                    <a:pt x="2577851" y="1982668"/>
                  </a:lnTo>
                  <a:lnTo>
                    <a:pt x="2578756" y="1980178"/>
                  </a:lnTo>
                  <a:lnTo>
                    <a:pt x="2579887" y="1977687"/>
                  </a:lnTo>
                  <a:lnTo>
                    <a:pt x="2580792" y="1975197"/>
                  </a:lnTo>
                  <a:lnTo>
                    <a:pt x="2583281" y="1970670"/>
                  </a:lnTo>
                  <a:lnTo>
                    <a:pt x="2585770" y="1967274"/>
                  </a:lnTo>
                  <a:lnTo>
                    <a:pt x="2588485" y="1964331"/>
                  </a:lnTo>
                  <a:lnTo>
                    <a:pt x="2589616" y="1963426"/>
                  </a:lnTo>
                  <a:lnTo>
                    <a:pt x="2590974" y="1962520"/>
                  </a:lnTo>
                  <a:lnTo>
                    <a:pt x="2594594" y="1960709"/>
                  </a:lnTo>
                  <a:lnTo>
                    <a:pt x="2596178" y="1960030"/>
                  </a:lnTo>
                  <a:lnTo>
                    <a:pt x="2596856" y="1959351"/>
                  </a:lnTo>
                  <a:lnTo>
                    <a:pt x="2597309" y="1958672"/>
                  </a:lnTo>
                  <a:lnTo>
                    <a:pt x="2597309" y="1957314"/>
                  </a:lnTo>
                  <a:lnTo>
                    <a:pt x="2597083" y="1955955"/>
                  </a:lnTo>
                  <a:lnTo>
                    <a:pt x="2596630" y="1953465"/>
                  </a:lnTo>
                  <a:lnTo>
                    <a:pt x="2595499" y="1950522"/>
                  </a:lnTo>
                  <a:lnTo>
                    <a:pt x="2593689" y="1946221"/>
                  </a:lnTo>
                  <a:lnTo>
                    <a:pt x="2587806" y="1934450"/>
                  </a:lnTo>
                  <a:lnTo>
                    <a:pt x="2578304" y="1916566"/>
                  </a:lnTo>
                  <a:lnTo>
                    <a:pt x="2564954" y="1892118"/>
                  </a:lnTo>
                  <a:lnTo>
                    <a:pt x="2561108" y="1885100"/>
                  </a:lnTo>
                  <a:lnTo>
                    <a:pt x="2557035" y="1878535"/>
                  </a:lnTo>
                  <a:lnTo>
                    <a:pt x="2552963" y="1871970"/>
                  </a:lnTo>
                  <a:lnTo>
                    <a:pt x="2548664" y="1866084"/>
                  </a:lnTo>
                  <a:lnTo>
                    <a:pt x="2544139" y="1860199"/>
                  </a:lnTo>
                  <a:lnTo>
                    <a:pt x="2540066" y="1854766"/>
                  </a:lnTo>
                  <a:lnTo>
                    <a:pt x="2535767" y="1849559"/>
                  </a:lnTo>
                  <a:lnTo>
                    <a:pt x="2531695" y="1844805"/>
                  </a:lnTo>
                  <a:lnTo>
                    <a:pt x="2523776" y="1835750"/>
                  </a:lnTo>
                  <a:lnTo>
                    <a:pt x="2516536" y="1828732"/>
                  </a:lnTo>
                  <a:lnTo>
                    <a:pt x="2510200" y="1822620"/>
                  </a:lnTo>
                  <a:lnTo>
                    <a:pt x="2505675" y="1818546"/>
                  </a:lnTo>
                  <a:lnTo>
                    <a:pt x="2503187" y="1816508"/>
                  </a:lnTo>
                  <a:lnTo>
                    <a:pt x="2500698" y="1815150"/>
                  </a:lnTo>
                  <a:lnTo>
                    <a:pt x="2498435" y="1814018"/>
                  </a:lnTo>
                  <a:lnTo>
                    <a:pt x="2496173" y="1813565"/>
                  </a:lnTo>
                  <a:lnTo>
                    <a:pt x="2494589" y="1813113"/>
                  </a:lnTo>
                  <a:lnTo>
                    <a:pt x="2493005" y="1812886"/>
                  </a:lnTo>
                  <a:lnTo>
                    <a:pt x="2491648" y="1812886"/>
                  </a:lnTo>
                  <a:lnTo>
                    <a:pt x="2491421" y="1816508"/>
                  </a:lnTo>
                  <a:lnTo>
                    <a:pt x="2491421" y="1824884"/>
                  </a:lnTo>
                  <a:lnTo>
                    <a:pt x="2491648" y="1829638"/>
                  </a:lnTo>
                  <a:lnTo>
                    <a:pt x="2492326" y="1833713"/>
                  </a:lnTo>
                  <a:lnTo>
                    <a:pt x="2492779" y="1835297"/>
                  </a:lnTo>
                  <a:lnTo>
                    <a:pt x="2493231" y="1836656"/>
                  </a:lnTo>
                  <a:lnTo>
                    <a:pt x="2493684" y="1837561"/>
                  </a:lnTo>
                  <a:lnTo>
                    <a:pt x="2494589" y="1838014"/>
                  </a:lnTo>
                  <a:lnTo>
                    <a:pt x="2495268" y="1838467"/>
                  </a:lnTo>
                  <a:lnTo>
                    <a:pt x="2496173" y="1839146"/>
                  </a:lnTo>
                  <a:lnTo>
                    <a:pt x="2498209" y="1840730"/>
                  </a:lnTo>
                  <a:lnTo>
                    <a:pt x="2500245" y="1843447"/>
                  </a:lnTo>
                  <a:lnTo>
                    <a:pt x="2501829" y="1846842"/>
                  </a:lnTo>
                  <a:lnTo>
                    <a:pt x="2503639" y="1850691"/>
                  </a:lnTo>
                  <a:lnTo>
                    <a:pt x="2505223" y="1855445"/>
                  </a:lnTo>
                  <a:lnTo>
                    <a:pt x="2505675" y="1858161"/>
                  </a:lnTo>
                  <a:lnTo>
                    <a:pt x="2505902" y="1860878"/>
                  </a:lnTo>
                  <a:lnTo>
                    <a:pt x="2506128" y="1863594"/>
                  </a:lnTo>
                  <a:lnTo>
                    <a:pt x="2506354" y="1866763"/>
                  </a:lnTo>
                  <a:lnTo>
                    <a:pt x="2506128" y="1869933"/>
                  </a:lnTo>
                  <a:lnTo>
                    <a:pt x="2505675" y="1873328"/>
                  </a:lnTo>
                  <a:lnTo>
                    <a:pt x="2504544" y="1876498"/>
                  </a:lnTo>
                  <a:lnTo>
                    <a:pt x="2503413" y="1879893"/>
                  </a:lnTo>
                  <a:lnTo>
                    <a:pt x="2501829" y="1883063"/>
                  </a:lnTo>
                  <a:lnTo>
                    <a:pt x="2500019" y="1886458"/>
                  </a:lnTo>
                  <a:lnTo>
                    <a:pt x="2497756" y="1889401"/>
                  </a:lnTo>
                  <a:lnTo>
                    <a:pt x="2495041" y="1892344"/>
                  </a:lnTo>
                  <a:lnTo>
                    <a:pt x="2492100" y="1895060"/>
                  </a:lnTo>
                  <a:lnTo>
                    <a:pt x="2488706" y="1897551"/>
                  </a:lnTo>
                  <a:lnTo>
                    <a:pt x="2485086" y="1899814"/>
                  </a:lnTo>
                  <a:lnTo>
                    <a:pt x="2481013" y="1901625"/>
                  </a:lnTo>
                  <a:lnTo>
                    <a:pt x="2476715" y="1903210"/>
                  </a:lnTo>
                  <a:lnTo>
                    <a:pt x="2472190" y="1904115"/>
                  </a:lnTo>
                  <a:lnTo>
                    <a:pt x="2466986" y="1905021"/>
                  </a:lnTo>
                  <a:lnTo>
                    <a:pt x="2461782" y="1905247"/>
                  </a:lnTo>
                  <a:lnTo>
                    <a:pt x="2456578" y="1905021"/>
                  </a:lnTo>
                  <a:lnTo>
                    <a:pt x="2451600" y="1904115"/>
                  </a:lnTo>
                  <a:lnTo>
                    <a:pt x="2447301" y="1902984"/>
                  </a:lnTo>
                  <a:lnTo>
                    <a:pt x="2443229" y="1901399"/>
                  </a:lnTo>
                  <a:lnTo>
                    <a:pt x="2439609" y="1899362"/>
                  </a:lnTo>
                  <a:lnTo>
                    <a:pt x="2436441" y="1897098"/>
                  </a:lnTo>
                  <a:lnTo>
                    <a:pt x="2433274" y="1894608"/>
                  </a:lnTo>
                  <a:lnTo>
                    <a:pt x="2431011" y="1891891"/>
                  </a:lnTo>
                  <a:lnTo>
                    <a:pt x="2428748" y="1889175"/>
                  </a:lnTo>
                  <a:lnTo>
                    <a:pt x="2426712" y="1886005"/>
                  </a:lnTo>
                  <a:lnTo>
                    <a:pt x="2424902" y="1883063"/>
                  </a:lnTo>
                  <a:lnTo>
                    <a:pt x="2423771" y="1880120"/>
                  </a:lnTo>
                  <a:lnTo>
                    <a:pt x="2422639" y="1877177"/>
                  </a:lnTo>
                  <a:lnTo>
                    <a:pt x="2421961" y="1874460"/>
                  </a:lnTo>
                  <a:lnTo>
                    <a:pt x="2421508" y="1871970"/>
                  </a:lnTo>
                  <a:lnTo>
                    <a:pt x="2421508" y="1869706"/>
                  </a:lnTo>
                  <a:lnTo>
                    <a:pt x="2421508" y="1867443"/>
                  </a:lnTo>
                  <a:lnTo>
                    <a:pt x="2421961" y="1865405"/>
                  </a:lnTo>
                  <a:lnTo>
                    <a:pt x="2422639" y="1862915"/>
                  </a:lnTo>
                  <a:lnTo>
                    <a:pt x="2423771" y="1860651"/>
                  </a:lnTo>
                  <a:lnTo>
                    <a:pt x="2424676" y="1858161"/>
                  </a:lnTo>
                  <a:lnTo>
                    <a:pt x="2426260" y="1855897"/>
                  </a:lnTo>
                  <a:lnTo>
                    <a:pt x="2428975" y="1851596"/>
                  </a:lnTo>
                  <a:lnTo>
                    <a:pt x="2431690" y="1847974"/>
                  </a:lnTo>
                  <a:lnTo>
                    <a:pt x="2434179" y="1845031"/>
                  </a:lnTo>
                  <a:lnTo>
                    <a:pt x="2436667" y="1842541"/>
                  </a:lnTo>
                  <a:lnTo>
                    <a:pt x="2436441" y="1836656"/>
                  </a:lnTo>
                  <a:lnTo>
                    <a:pt x="2416304" y="1837108"/>
                  </a:lnTo>
                  <a:lnTo>
                    <a:pt x="2416078" y="1817866"/>
                  </a:lnTo>
                  <a:lnTo>
                    <a:pt x="2415852" y="1803605"/>
                  </a:lnTo>
                  <a:lnTo>
                    <a:pt x="2415626" y="1794776"/>
                  </a:lnTo>
                  <a:lnTo>
                    <a:pt x="2415626" y="1792965"/>
                  </a:lnTo>
                  <a:lnTo>
                    <a:pt x="2415626" y="1791607"/>
                  </a:lnTo>
                  <a:lnTo>
                    <a:pt x="2416078" y="1789117"/>
                  </a:lnTo>
                  <a:lnTo>
                    <a:pt x="2415852" y="1787985"/>
                  </a:lnTo>
                  <a:lnTo>
                    <a:pt x="2415626" y="1787532"/>
                  </a:lnTo>
                  <a:lnTo>
                    <a:pt x="2415173" y="1787306"/>
                  </a:lnTo>
                  <a:lnTo>
                    <a:pt x="2414042" y="1787306"/>
                  </a:lnTo>
                  <a:lnTo>
                    <a:pt x="2407254" y="1787985"/>
                  </a:lnTo>
                  <a:lnTo>
                    <a:pt x="2400240" y="1789343"/>
                  </a:lnTo>
                  <a:lnTo>
                    <a:pt x="2393452" y="1790701"/>
                  </a:lnTo>
                  <a:lnTo>
                    <a:pt x="2387117" y="1792512"/>
                  </a:lnTo>
                  <a:lnTo>
                    <a:pt x="2380782" y="1794550"/>
                  </a:lnTo>
                  <a:lnTo>
                    <a:pt x="2374673" y="1796814"/>
                  </a:lnTo>
                  <a:lnTo>
                    <a:pt x="2368564" y="1799077"/>
                  </a:lnTo>
                  <a:lnTo>
                    <a:pt x="2362908" y="1801341"/>
                  </a:lnTo>
                  <a:lnTo>
                    <a:pt x="2357478" y="1803831"/>
                  </a:lnTo>
                  <a:lnTo>
                    <a:pt x="2352274" y="1806548"/>
                  </a:lnTo>
                  <a:lnTo>
                    <a:pt x="2342319" y="1811754"/>
                  </a:lnTo>
                  <a:lnTo>
                    <a:pt x="2333721" y="1816735"/>
                  </a:lnTo>
                  <a:lnTo>
                    <a:pt x="2326028" y="1821488"/>
                  </a:lnTo>
                  <a:lnTo>
                    <a:pt x="2323986" y="1822903"/>
                  </a:lnTo>
                  <a:lnTo>
                    <a:pt x="2323854" y="1823166"/>
                  </a:lnTo>
                  <a:lnTo>
                    <a:pt x="2322947" y="1824980"/>
                  </a:lnTo>
                  <a:lnTo>
                    <a:pt x="2321812" y="1826568"/>
                  </a:lnTo>
                  <a:lnTo>
                    <a:pt x="2320451" y="1827701"/>
                  </a:lnTo>
                  <a:lnTo>
                    <a:pt x="2319090" y="1828835"/>
                  </a:lnTo>
                  <a:lnTo>
                    <a:pt x="2317502" y="1829742"/>
                  </a:lnTo>
                  <a:lnTo>
                    <a:pt x="2315914" y="1830423"/>
                  </a:lnTo>
                  <a:lnTo>
                    <a:pt x="2314556" y="1831101"/>
                  </a:lnTo>
                  <a:lnTo>
                    <a:pt x="2312453" y="1833486"/>
                  </a:lnTo>
                  <a:lnTo>
                    <a:pt x="2309964" y="1836656"/>
                  </a:lnTo>
                  <a:lnTo>
                    <a:pt x="2308154" y="1839372"/>
                  </a:lnTo>
                  <a:lnTo>
                    <a:pt x="2307249" y="1841636"/>
                  </a:lnTo>
                  <a:lnTo>
                    <a:pt x="2306796" y="1843220"/>
                  </a:lnTo>
                  <a:lnTo>
                    <a:pt x="2304063" y="1875389"/>
                  </a:lnTo>
                  <a:lnTo>
                    <a:pt x="2305248" y="1877550"/>
                  </a:lnTo>
                  <a:lnTo>
                    <a:pt x="2306845" y="1880685"/>
                  </a:lnTo>
                  <a:lnTo>
                    <a:pt x="2307986" y="1883820"/>
                  </a:lnTo>
                  <a:lnTo>
                    <a:pt x="2309127" y="1887403"/>
                  </a:lnTo>
                  <a:lnTo>
                    <a:pt x="2309584" y="1890986"/>
                  </a:lnTo>
                  <a:lnTo>
                    <a:pt x="2309812" y="1894569"/>
                  </a:lnTo>
                  <a:lnTo>
                    <a:pt x="2309584" y="1898376"/>
                  </a:lnTo>
                  <a:lnTo>
                    <a:pt x="2309127" y="1901735"/>
                  </a:lnTo>
                  <a:lnTo>
                    <a:pt x="2307986" y="1905095"/>
                  </a:lnTo>
                  <a:lnTo>
                    <a:pt x="2306845" y="1908678"/>
                  </a:lnTo>
                  <a:lnTo>
                    <a:pt x="2305248" y="1911589"/>
                  </a:lnTo>
                  <a:lnTo>
                    <a:pt x="2303651" y="1914500"/>
                  </a:lnTo>
                  <a:lnTo>
                    <a:pt x="2301368" y="1917412"/>
                  </a:lnTo>
                  <a:lnTo>
                    <a:pt x="2299086" y="1919875"/>
                  </a:lnTo>
                  <a:lnTo>
                    <a:pt x="2296348" y="1922114"/>
                  </a:lnTo>
                  <a:lnTo>
                    <a:pt x="2293610" y="1924354"/>
                  </a:lnTo>
                  <a:lnTo>
                    <a:pt x="2290643" y="1925921"/>
                  </a:lnTo>
                  <a:lnTo>
                    <a:pt x="2287448" y="1927489"/>
                  </a:lnTo>
                  <a:lnTo>
                    <a:pt x="2284025" y="1928609"/>
                  </a:lnTo>
                  <a:lnTo>
                    <a:pt x="2280602" y="1929728"/>
                  </a:lnTo>
                  <a:lnTo>
                    <a:pt x="2276951" y="1930176"/>
                  </a:lnTo>
                  <a:lnTo>
                    <a:pt x="2273071" y="1930400"/>
                  </a:lnTo>
                  <a:lnTo>
                    <a:pt x="2269648" y="1930176"/>
                  </a:lnTo>
                  <a:lnTo>
                    <a:pt x="2265997" y="1929728"/>
                  </a:lnTo>
                  <a:lnTo>
                    <a:pt x="2262346" y="1928609"/>
                  </a:lnTo>
                  <a:lnTo>
                    <a:pt x="2259151" y="1927489"/>
                  </a:lnTo>
                  <a:lnTo>
                    <a:pt x="2255956" y="1925921"/>
                  </a:lnTo>
                  <a:lnTo>
                    <a:pt x="2252989" y="1924354"/>
                  </a:lnTo>
                  <a:lnTo>
                    <a:pt x="2250251" y="1922114"/>
                  </a:lnTo>
                  <a:lnTo>
                    <a:pt x="2247513" y="1919875"/>
                  </a:lnTo>
                  <a:lnTo>
                    <a:pt x="2245231" y="1917412"/>
                  </a:lnTo>
                  <a:lnTo>
                    <a:pt x="2242948" y="1914500"/>
                  </a:lnTo>
                  <a:lnTo>
                    <a:pt x="2241123" y="1911589"/>
                  </a:lnTo>
                  <a:lnTo>
                    <a:pt x="2239754" y="1908678"/>
                  </a:lnTo>
                  <a:lnTo>
                    <a:pt x="2238384" y="1905095"/>
                  </a:lnTo>
                  <a:lnTo>
                    <a:pt x="2237472" y="1901735"/>
                  </a:lnTo>
                  <a:lnTo>
                    <a:pt x="2237015" y="1898376"/>
                  </a:lnTo>
                  <a:lnTo>
                    <a:pt x="2236787" y="1894569"/>
                  </a:lnTo>
                  <a:lnTo>
                    <a:pt x="2237015" y="1890986"/>
                  </a:lnTo>
                  <a:lnTo>
                    <a:pt x="2237472" y="1887403"/>
                  </a:lnTo>
                  <a:lnTo>
                    <a:pt x="2238384" y="1883820"/>
                  </a:lnTo>
                  <a:lnTo>
                    <a:pt x="2239754" y="1880685"/>
                  </a:lnTo>
                  <a:lnTo>
                    <a:pt x="2241123" y="1877550"/>
                  </a:lnTo>
                  <a:lnTo>
                    <a:pt x="2242948" y="1874638"/>
                  </a:lnTo>
                  <a:lnTo>
                    <a:pt x="2245231" y="1871951"/>
                  </a:lnTo>
                  <a:lnTo>
                    <a:pt x="2247513" y="1869264"/>
                  </a:lnTo>
                  <a:lnTo>
                    <a:pt x="2250251" y="1867024"/>
                  </a:lnTo>
                  <a:lnTo>
                    <a:pt x="2252989" y="1865009"/>
                  </a:lnTo>
                  <a:lnTo>
                    <a:pt x="2255956" y="1862993"/>
                  </a:lnTo>
                  <a:lnTo>
                    <a:pt x="2259151" y="1861650"/>
                  </a:lnTo>
                  <a:lnTo>
                    <a:pt x="2262346" y="1860306"/>
                  </a:lnTo>
                  <a:lnTo>
                    <a:pt x="2265997" y="1859634"/>
                  </a:lnTo>
                  <a:lnTo>
                    <a:pt x="2269648" y="1858962"/>
                  </a:lnTo>
                  <a:lnTo>
                    <a:pt x="2273071" y="1858962"/>
                  </a:lnTo>
                  <a:lnTo>
                    <a:pt x="2276951" y="1858962"/>
                  </a:lnTo>
                  <a:lnTo>
                    <a:pt x="2278062" y="1859167"/>
                  </a:lnTo>
                  <a:lnTo>
                    <a:pt x="2278062" y="1841316"/>
                  </a:lnTo>
                  <a:lnTo>
                    <a:pt x="2272127" y="1843121"/>
                  </a:lnTo>
                  <a:lnTo>
                    <a:pt x="2260102" y="1846296"/>
                  </a:lnTo>
                  <a:lnTo>
                    <a:pt x="2247397" y="1849697"/>
                  </a:lnTo>
                  <a:lnTo>
                    <a:pt x="2234465" y="1852645"/>
                  </a:lnTo>
                  <a:lnTo>
                    <a:pt x="2221987" y="1855139"/>
                  </a:lnTo>
                  <a:lnTo>
                    <a:pt x="2211097" y="1857180"/>
                  </a:lnTo>
                  <a:lnTo>
                    <a:pt x="2202022" y="1858541"/>
                  </a:lnTo>
                  <a:lnTo>
                    <a:pt x="2198392" y="1858768"/>
                  </a:lnTo>
                  <a:lnTo>
                    <a:pt x="2195670" y="1858994"/>
                  </a:lnTo>
                  <a:lnTo>
                    <a:pt x="2194535" y="1858994"/>
                  </a:lnTo>
                  <a:lnTo>
                    <a:pt x="2193401" y="1859221"/>
                  </a:lnTo>
                  <a:lnTo>
                    <a:pt x="2192493" y="1859448"/>
                  </a:lnTo>
                  <a:lnTo>
                    <a:pt x="2191813" y="1860355"/>
                  </a:lnTo>
                  <a:lnTo>
                    <a:pt x="2191359" y="1860809"/>
                  </a:lnTo>
                  <a:lnTo>
                    <a:pt x="2190452" y="1861489"/>
                  </a:lnTo>
                  <a:lnTo>
                    <a:pt x="2189544" y="1863530"/>
                  </a:lnTo>
                  <a:lnTo>
                    <a:pt x="2189090" y="1865797"/>
                  </a:lnTo>
                  <a:lnTo>
                    <a:pt x="2188863" y="1868518"/>
                  </a:lnTo>
                  <a:lnTo>
                    <a:pt x="2188637" y="1871240"/>
                  </a:lnTo>
                  <a:lnTo>
                    <a:pt x="2188863" y="1874414"/>
                  </a:lnTo>
                  <a:lnTo>
                    <a:pt x="2189544" y="1880763"/>
                  </a:lnTo>
                  <a:lnTo>
                    <a:pt x="2190225" y="1887566"/>
                  </a:lnTo>
                  <a:lnTo>
                    <a:pt x="2190905" y="1893689"/>
                  </a:lnTo>
                  <a:lnTo>
                    <a:pt x="2191359" y="1896637"/>
                  </a:lnTo>
                  <a:lnTo>
                    <a:pt x="2191586" y="1899131"/>
                  </a:lnTo>
                  <a:lnTo>
                    <a:pt x="2191586" y="1901852"/>
                  </a:lnTo>
                  <a:lnTo>
                    <a:pt x="2192267" y="1905027"/>
                  </a:lnTo>
                  <a:lnTo>
                    <a:pt x="2192947" y="1908202"/>
                  </a:lnTo>
                  <a:lnTo>
                    <a:pt x="2194308" y="1911830"/>
                  </a:lnTo>
                  <a:lnTo>
                    <a:pt x="2195670" y="1915911"/>
                  </a:lnTo>
                  <a:lnTo>
                    <a:pt x="2197485" y="1919766"/>
                  </a:lnTo>
                  <a:lnTo>
                    <a:pt x="2201568" y="1928383"/>
                  </a:lnTo>
                  <a:lnTo>
                    <a:pt x="2206560" y="1937227"/>
                  </a:lnTo>
                  <a:lnTo>
                    <a:pt x="2212005" y="1945844"/>
                  </a:lnTo>
                  <a:lnTo>
                    <a:pt x="2217450" y="1953781"/>
                  </a:lnTo>
                  <a:lnTo>
                    <a:pt x="2220626" y="1957409"/>
                  </a:lnTo>
                  <a:lnTo>
                    <a:pt x="2223348" y="1960810"/>
                  </a:lnTo>
                  <a:lnTo>
                    <a:pt x="2223848" y="1961446"/>
                  </a:lnTo>
                  <a:lnTo>
                    <a:pt x="2225427" y="1960259"/>
                  </a:lnTo>
                  <a:lnTo>
                    <a:pt x="2228329" y="1958243"/>
                  </a:lnTo>
                  <a:lnTo>
                    <a:pt x="2231678" y="1956900"/>
                  </a:lnTo>
                  <a:lnTo>
                    <a:pt x="2235027" y="1955556"/>
                  </a:lnTo>
                  <a:lnTo>
                    <a:pt x="2238375" y="1954884"/>
                  </a:lnTo>
                  <a:lnTo>
                    <a:pt x="2241724" y="1954436"/>
                  </a:lnTo>
                  <a:lnTo>
                    <a:pt x="2245519" y="1954212"/>
                  </a:lnTo>
                  <a:lnTo>
                    <a:pt x="2249091" y="1954436"/>
                  </a:lnTo>
                  <a:lnTo>
                    <a:pt x="2252663" y="1954884"/>
                  </a:lnTo>
                  <a:lnTo>
                    <a:pt x="2256011" y="1955556"/>
                  </a:lnTo>
                  <a:lnTo>
                    <a:pt x="2259360" y="1956900"/>
                  </a:lnTo>
                  <a:lnTo>
                    <a:pt x="2262486" y="1958243"/>
                  </a:lnTo>
                  <a:lnTo>
                    <a:pt x="2265611" y="1960259"/>
                  </a:lnTo>
                  <a:lnTo>
                    <a:pt x="2268290" y="1962274"/>
                  </a:lnTo>
                  <a:lnTo>
                    <a:pt x="2270746" y="1964738"/>
                  </a:lnTo>
                  <a:lnTo>
                    <a:pt x="2272978" y="1967201"/>
                  </a:lnTo>
                  <a:lnTo>
                    <a:pt x="2274987" y="1969888"/>
                  </a:lnTo>
                  <a:lnTo>
                    <a:pt x="2276773" y="1972800"/>
                  </a:lnTo>
                  <a:lnTo>
                    <a:pt x="2278336" y="1975935"/>
                  </a:lnTo>
                  <a:lnTo>
                    <a:pt x="2279675" y="1979518"/>
                  </a:lnTo>
                  <a:lnTo>
                    <a:pt x="2280345" y="1982877"/>
                  </a:lnTo>
                  <a:lnTo>
                    <a:pt x="2280792" y="1986236"/>
                  </a:lnTo>
                  <a:lnTo>
                    <a:pt x="2281238" y="1990043"/>
                  </a:lnTo>
                  <a:lnTo>
                    <a:pt x="2280792" y="1993626"/>
                  </a:lnTo>
                  <a:lnTo>
                    <a:pt x="2280345" y="1996985"/>
                  </a:lnTo>
                  <a:lnTo>
                    <a:pt x="2279675" y="2000569"/>
                  </a:lnTo>
                  <a:lnTo>
                    <a:pt x="2278336" y="2003928"/>
                  </a:lnTo>
                  <a:lnTo>
                    <a:pt x="2276773" y="2007063"/>
                  </a:lnTo>
                  <a:lnTo>
                    <a:pt x="2274987" y="2009974"/>
                  </a:lnTo>
                  <a:lnTo>
                    <a:pt x="2272978" y="2012662"/>
                  </a:lnTo>
                  <a:lnTo>
                    <a:pt x="2270746" y="2015125"/>
                  </a:lnTo>
                  <a:lnTo>
                    <a:pt x="2268290" y="2017588"/>
                  </a:lnTo>
                  <a:lnTo>
                    <a:pt x="2265611" y="2019604"/>
                  </a:lnTo>
                  <a:lnTo>
                    <a:pt x="2262486" y="2021395"/>
                  </a:lnTo>
                  <a:lnTo>
                    <a:pt x="2259360" y="2022963"/>
                  </a:lnTo>
                  <a:lnTo>
                    <a:pt x="2256011" y="2024083"/>
                  </a:lnTo>
                  <a:lnTo>
                    <a:pt x="2252663" y="2024978"/>
                  </a:lnTo>
                  <a:lnTo>
                    <a:pt x="2249091" y="2025426"/>
                  </a:lnTo>
                  <a:lnTo>
                    <a:pt x="2245519" y="2025650"/>
                  </a:lnTo>
                  <a:lnTo>
                    <a:pt x="2241724" y="2025426"/>
                  </a:lnTo>
                  <a:lnTo>
                    <a:pt x="2238375" y="2024978"/>
                  </a:lnTo>
                  <a:lnTo>
                    <a:pt x="2235027" y="2024083"/>
                  </a:lnTo>
                  <a:lnTo>
                    <a:pt x="2231678" y="2022963"/>
                  </a:lnTo>
                  <a:lnTo>
                    <a:pt x="2228329" y="2021395"/>
                  </a:lnTo>
                  <a:lnTo>
                    <a:pt x="2225427" y="2019604"/>
                  </a:lnTo>
                  <a:lnTo>
                    <a:pt x="2222748" y="2017588"/>
                  </a:lnTo>
                  <a:lnTo>
                    <a:pt x="2220292" y="2015125"/>
                  </a:lnTo>
                  <a:lnTo>
                    <a:pt x="2217837" y="2012662"/>
                  </a:lnTo>
                  <a:lnTo>
                    <a:pt x="2216051" y="2009974"/>
                  </a:lnTo>
                  <a:lnTo>
                    <a:pt x="2214265" y="2007063"/>
                  </a:lnTo>
                  <a:lnTo>
                    <a:pt x="2212479" y="2003928"/>
                  </a:lnTo>
                  <a:lnTo>
                    <a:pt x="2211586" y="2000569"/>
                  </a:lnTo>
                  <a:lnTo>
                    <a:pt x="2210693" y="1996985"/>
                  </a:lnTo>
                  <a:lnTo>
                    <a:pt x="2210023" y="1993626"/>
                  </a:lnTo>
                  <a:lnTo>
                    <a:pt x="2209812" y="1990239"/>
                  </a:lnTo>
                  <a:lnTo>
                    <a:pt x="2208602" y="1989836"/>
                  </a:lnTo>
                  <a:lnTo>
                    <a:pt x="2207694" y="1989382"/>
                  </a:lnTo>
                  <a:lnTo>
                    <a:pt x="2206787" y="1989382"/>
                  </a:lnTo>
                  <a:lnTo>
                    <a:pt x="2206106" y="1989836"/>
                  </a:lnTo>
                  <a:lnTo>
                    <a:pt x="2205425" y="1990062"/>
                  </a:lnTo>
                  <a:lnTo>
                    <a:pt x="2204972" y="1990516"/>
                  </a:lnTo>
                  <a:lnTo>
                    <a:pt x="2204291" y="1991196"/>
                  </a:lnTo>
                  <a:lnTo>
                    <a:pt x="2203383" y="1992783"/>
                  </a:lnTo>
                  <a:lnTo>
                    <a:pt x="2202930" y="1995051"/>
                  </a:lnTo>
                  <a:lnTo>
                    <a:pt x="2202703" y="1997319"/>
                  </a:lnTo>
                  <a:lnTo>
                    <a:pt x="2202703" y="2000493"/>
                  </a:lnTo>
                  <a:lnTo>
                    <a:pt x="2202930" y="2003668"/>
                  </a:lnTo>
                  <a:lnTo>
                    <a:pt x="2203383" y="2007069"/>
                  </a:lnTo>
                  <a:lnTo>
                    <a:pt x="2204064" y="2010924"/>
                  </a:lnTo>
                  <a:lnTo>
                    <a:pt x="2205425" y="2014552"/>
                  </a:lnTo>
                  <a:lnTo>
                    <a:pt x="2206560" y="2018634"/>
                  </a:lnTo>
                  <a:lnTo>
                    <a:pt x="2208375" y="2022716"/>
                  </a:lnTo>
                  <a:lnTo>
                    <a:pt x="2210417" y="2026571"/>
                  </a:lnTo>
                  <a:lnTo>
                    <a:pt x="2212685" y="2030879"/>
                  </a:lnTo>
                  <a:lnTo>
                    <a:pt x="2215408" y="2035188"/>
                  </a:lnTo>
                  <a:lnTo>
                    <a:pt x="2218584" y="2040176"/>
                  </a:lnTo>
                  <a:lnTo>
                    <a:pt x="2226525" y="2051288"/>
                  </a:lnTo>
                  <a:lnTo>
                    <a:pt x="2235373" y="2063533"/>
                  </a:lnTo>
                  <a:lnTo>
                    <a:pt x="2244448" y="2076685"/>
                  </a:lnTo>
                  <a:lnTo>
                    <a:pt x="2248758" y="2083034"/>
                  </a:lnTo>
                  <a:lnTo>
                    <a:pt x="2252842" y="2089384"/>
                  </a:lnTo>
                  <a:lnTo>
                    <a:pt x="2256245" y="2095279"/>
                  </a:lnTo>
                  <a:lnTo>
                    <a:pt x="2259195" y="2100722"/>
                  </a:lnTo>
                  <a:lnTo>
                    <a:pt x="2261464" y="2105937"/>
                  </a:lnTo>
                  <a:lnTo>
                    <a:pt x="2263278" y="2110699"/>
                  </a:lnTo>
                  <a:lnTo>
                    <a:pt x="2263732" y="2112740"/>
                  </a:lnTo>
                  <a:lnTo>
                    <a:pt x="2263959" y="2114554"/>
                  </a:lnTo>
                  <a:lnTo>
                    <a:pt x="2263732" y="2116141"/>
                  </a:lnTo>
                  <a:lnTo>
                    <a:pt x="2263505" y="2117729"/>
                  </a:lnTo>
                  <a:lnTo>
                    <a:pt x="2263052" y="2119089"/>
                  </a:lnTo>
                  <a:lnTo>
                    <a:pt x="2261690" y="2120223"/>
                  </a:lnTo>
                  <a:lnTo>
                    <a:pt x="2260102" y="2121130"/>
                  </a:lnTo>
                  <a:lnTo>
                    <a:pt x="2258287" y="2121810"/>
                  </a:lnTo>
                  <a:lnTo>
                    <a:pt x="2255792" y="2122717"/>
                  </a:lnTo>
                  <a:lnTo>
                    <a:pt x="2253069" y="2123171"/>
                  </a:lnTo>
                  <a:lnTo>
                    <a:pt x="2250120" y="2123624"/>
                  </a:lnTo>
                  <a:lnTo>
                    <a:pt x="2246490" y="2123851"/>
                  </a:lnTo>
                  <a:lnTo>
                    <a:pt x="2239230" y="2124078"/>
                  </a:lnTo>
                  <a:lnTo>
                    <a:pt x="2230608" y="2124078"/>
                  </a:lnTo>
                  <a:lnTo>
                    <a:pt x="2221534" y="2123624"/>
                  </a:lnTo>
                  <a:lnTo>
                    <a:pt x="2212005" y="2122944"/>
                  </a:lnTo>
                  <a:lnTo>
                    <a:pt x="2202476" y="2121810"/>
                  </a:lnTo>
                  <a:lnTo>
                    <a:pt x="2192947" y="2120677"/>
                  </a:lnTo>
                  <a:lnTo>
                    <a:pt x="2175024" y="2118182"/>
                  </a:lnTo>
                  <a:lnTo>
                    <a:pt x="2160731" y="2115461"/>
                  </a:lnTo>
                  <a:lnTo>
                    <a:pt x="2150975" y="2113420"/>
                  </a:lnTo>
                  <a:lnTo>
                    <a:pt x="2144623" y="2112060"/>
                  </a:lnTo>
                  <a:lnTo>
                    <a:pt x="2138497" y="2110246"/>
                  </a:lnTo>
                  <a:lnTo>
                    <a:pt x="2135094" y="2109112"/>
                  </a:lnTo>
                  <a:lnTo>
                    <a:pt x="2131918" y="2107524"/>
                  </a:lnTo>
                  <a:lnTo>
                    <a:pt x="2128742" y="2105710"/>
                  </a:lnTo>
                  <a:lnTo>
                    <a:pt x="2125565" y="2103896"/>
                  </a:lnTo>
                  <a:lnTo>
                    <a:pt x="2122616" y="2101402"/>
                  </a:lnTo>
                  <a:lnTo>
                    <a:pt x="2119213" y="2098454"/>
                  </a:lnTo>
                  <a:lnTo>
                    <a:pt x="2116036" y="2094599"/>
                  </a:lnTo>
                  <a:lnTo>
                    <a:pt x="2112860" y="2090744"/>
                  </a:lnTo>
                  <a:lnTo>
                    <a:pt x="2109684" y="2085755"/>
                  </a:lnTo>
                  <a:lnTo>
                    <a:pt x="2106508" y="2080313"/>
                  </a:lnTo>
                  <a:lnTo>
                    <a:pt x="2103558" y="2073964"/>
                  </a:lnTo>
                  <a:lnTo>
                    <a:pt x="2100155" y="2066934"/>
                  </a:lnTo>
                  <a:lnTo>
                    <a:pt x="2093576" y="2051514"/>
                  </a:lnTo>
                  <a:lnTo>
                    <a:pt x="2086543" y="2035641"/>
                  </a:lnTo>
                  <a:lnTo>
                    <a:pt x="2079283" y="2019768"/>
                  </a:lnTo>
                  <a:lnTo>
                    <a:pt x="2072703" y="2005028"/>
                  </a:lnTo>
                  <a:lnTo>
                    <a:pt x="2065897" y="1991650"/>
                  </a:lnTo>
                  <a:lnTo>
                    <a:pt x="2060225" y="1980538"/>
                  </a:lnTo>
                  <a:lnTo>
                    <a:pt x="2057503" y="1976003"/>
                  </a:lnTo>
                  <a:lnTo>
                    <a:pt x="2055234" y="1972375"/>
                  </a:lnTo>
                  <a:lnTo>
                    <a:pt x="2053192" y="1969200"/>
                  </a:lnTo>
                  <a:lnTo>
                    <a:pt x="2051377" y="1967159"/>
                  </a:lnTo>
                  <a:lnTo>
                    <a:pt x="2049562" y="1966026"/>
                  </a:lnTo>
                  <a:lnTo>
                    <a:pt x="2047520" y="1964892"/>
                  </a:lnTo>
                  <a:lnTo>
                    <a:pt x="2045705" y="1964438"/>
                  </a:lnTo>
                  <a:lnTo>
                    <a:pt x="2043436" y="1964212"/>
                  </a:lnTo>
                  <a:lnTo>
                    <a:pt x="2041168" y="1964438"/>
                  </a:lnTo>
                  <a:lnTo>
                    <a:pt x="2038899" y="1964665"/>
                  </a:lnTo>
                  <a:lnTo>
                    <a:pt x="2036630" y="1965345"/>
                  </a:lnTo>
                  <a:lnTo>
                    <a:pt x="2034588" y="1966252"/>
                  </a:lnTo>
                  <a:lnTo>
                    <a:pt x="2030278" y="1967840"/>
                  </a:lnTo>
                  <a:lnTo>
                    <a:pt x="2026875" y="1969654"/>
                  </a:lnTo>
                  <a:lnTo>
                    <a:pt x="2023925" y="1971468"/>
                  </a:lnTo>
                  <a:lnTo>
                    <a:pt x="2023018" y="1971241"/>
                  </a:lnTo>
                  <a:lnTo>
                    <a:pt x="2021430" y="1970107"/>
                  </a:lnTo>
                  <a:lnTo>
                    <a:pt x="2018253" y="1968066"/>
                  </a:lnTo>
                  <a:lnTo>
                    <a:pt x="2014396" y="1964892"/>
                  </a:lnTo>
                  <a:lnTo>
                    <a:pt x="2009405" y="1960130"/>
                  </a:lnTo>
                  <a:lnTo>
                    <a:pt x="2006456" y="1956955"/>
                  </a:lnTo>
                  <a:lnTo>
                    <a:pt x="2003280" y="1953554"/>
                  </a:lnTo>
                  <a:lnTo>
                    <a:pt x="1999650" y="1949245"/>
                  </a:lnTo>
                  <a:lnTo>
                    <a:pt x="1996020" y="1944710"/>
                  </a:lnTo>
                  <a:lnTo>
                    <a:pt x="1991709" y="1939041"/>
                  </a:lnTo>
                  <a:lnTo>
                    <a:pt x="1987625" y="1933145"/>
                  </a:lnTo>
                  <a:lnTo>
                    <a:pt x="1980138" y="1922487"/>
                  </a:lnTo>
                  <a:lnTo>
                    <a:pt x="1974013" y="1914097"/>
                  </a:lnTo>
                  <a:lnTo>
                    <a:pt x="1968794" y="1907068"/>
                  </a:lnTo>
                  <a:lnTo>
                    <a:pt x="1964938" y="1901399"/>
                  </a:lnTo>
                  <a:lnTo>
                    <a:pt x="1963350" y="1898904"/>
                  </a:lnTo>
                  <a:lnTo>
                    <a:pt x="1961988" y="1896637"/>
                  </a:lnTo>
                  <a:lnTo>
                    <a:pt x="1961081" y="1894596"/>
                  </a:lnTo>
                  <a:lnTo>
                    <a:pt x="1960400" y="1892555"/>
                  </a:lnTo>
                  <a:lnTo>
                    <a:pt x="1959720" y="1890287"/>
                  </a:lnTo>
                  <a:lnTo>
                    <a:pt x="1959720" y="1888247"/>
                  </a:lnTo>
                  <a:lnTo>
                    <a:pt x="1959720" y="1885752"/>
                  </a:lnTo>
                  <a:lnTo>
                    <a:pt x="1960173" y="1883711"/>
                  </a:lnTo>
                  <a:lnTo>
                    <a:pt x="1959493" y="1884845"/>
                  </a:lnTo>
                  <a:lnTo>
                    <a:pt x="1958358" y="1888247"/>
                  </a:lnTo>
                  <a:lnTo>
                    <a:pt x="1956997" y="1893462"/>
                  </a:lnTo>
                  <a:lnTo>
                    <a:pt x="1956543" y="1896410"/>
                  </a:lnTo>
                  <a:lnTo>
                    <a:pt x="1956089" y="1900038"/>
                  </a:lnTo>
                  <a:lnTo>
                    <a:pt x="1955636" y="1903440"/>
                  </a:lnTo>
                  <a:lnTo>
                    <a:pt x="1955636" y="1907068"/>
                  </a:lnTo>
                  <a:lnTo>
                    <a:pt x="1955863" y="1911149"/>
                  </a:lnTo>
                  <a:lnTo>
                    <a:pt x="1956543" y="1915004"/>
                  </a:lnTo>
                  <a:lnTo>
                    <a:pt x="1957678" y="1918859"/>
                  </a:lnTo>
                  <a:lnTo>
                    <a:pt x="1958812" y="1922487"/>
                  </a:lnTo>
                  <a:lnTo>
                    <a:pt x="1960854" y="1926342"/>
                  </a:lnTo>
                  <a:lnTo>
                    <a:pt x="1961988" y="1927930"/>
                  </a:lnTo>
                  <a:lnTo>
                    <a:pt x="1963576" y="1929744"/>
                  </a:lnTo>
                  <a:lnTo>
                    <a:pt x="1978777" y="1948111"/>
                  </a:lnTo>
                  <a:lnTo>
                    <a:pt x="1992163" y="1964665"/>
                  </a:lnTo>
                  <a:lnTo>
                    <a:pt x="2003960" y="1980085"/>
                  </a:lnTo>
                  <a:lnTo>
                    <a:pt x="2013943" y="1993917"/>
                  </a:lnTo>
                  <a:lnTo>
                    <a:pt x="2022337" y="2006389"/>
                  </a:lnTo>
                  <a:lnTo>
                    <a:pt x="2029597" y="2017500"/>
                  </a:lnTo>
                  <a:lnTo>
                    <a:pt x="2035496" y="2027478"/>
                  </a:lnTo>
                  <a:lnTo>
                    <a:pt x="2040260" y="2035868"/>
                  </a:lnTo>
                  <a:lnTo>
                    <a:pt x="2043890" y="2043351"/>
                  </a:lnTo>
                  <a:lnTo>
                    <a:pt x="2046840" y="2049700"/>
                  </a:lnTo>
                  <a:lnTo>
                    <a:pt x="2048881" y="2054916"/>
                  </a:lnTo>
                  <a:lnTo>
                    <a:pt x="2050470" y="2058998"/>
                  </a:lnTo>
                  <a:lnTo>
                    <a:pt x="2051377" y="2062172"/>
                  </a:lnTo>
                  <a:lnTo>
                    <a:pt x="2051604" y="2064440"/>
                  </a:lnTo>
                  <a:lnTo>
                    <a:pt x="2051831" y="2066027"/>
                  </a:lnTo>
                  <a:lnTo>
                    <a:pt x="2051831" y="2091198"/>
                  </a:lnTo>
                  <a:lnTo>
                    <a:pt x="2051831" y="2092105"/>
                  </a:lnTo>
                  <a:lnTo>
                    <a:pt x="2051377" y="2092785"/>
                  </a:lnTo>
                  <a:lnTo>
                    <a:pt x="2050923" y="2093465"/>
                  </a:lnTo>
                  <a:lnTo>
                    <a:pt x="2050016" y="2093919"/>
                  </a:lnTo>
                  <a:lnTo>
                    <a:pt x="2048428" y="2094372"/>
                  </a:lnTo>
                  <a:lnTo>
                    <a:pt x="2046159" y="2094826"/>
                  </a:lnTo>
                  <a:lnTo>
                    <a:pt x="2045251" y="2095279"/>
                  </a:lnTo>
                  <a:lnTo>
                    <a:pt x="2044117" y="2095960"/>
                  </a:lnTo>
                  <a:lnTo>
                    <a:pt x="2043210" y="2096640"/>
                  </a:lnTo>
                  <a:lnTo>
                    <a:pt x="2042075" y="2097320"/>
                  </a:lnTo>
                  <a:lnTo>
                    <a:pt x="2041395" y="2098681"/>
                  </a:lnTo>
                  <a:lnTo>
                    <a:pt x="2040941" y="2100041"/>
                  </a:lnTo>
                  <a:lnTo>
                    <a:pt x="2040714" y="2101855"/>
                  </a:lnTo>
                  <a:lnTo>
                    <a:pt x="2040487" y="2104123"/>
                  </a:lnTo>
                  <a:lnTo>
                    <a:pt x="2040487" y="2110019"/>
                  </a:lnTo>
                  <a:lnTo>
                    <a:pt x="2040260" y="2113647"/>
                  </a:lnTo>
                  <a:lnTo>
                    <a:pt x="2040033" y="2117502"/>
                  </a:lnTo>
                  <a:lnTo>
                    <a:pt x="2039353" y="2121584"/>
                  </a:lnTo>
                  <a:lnTo>
                    <a:pt x="2038672" y="2125892"/>
                  </a:lnTo>
                  <a:lnTo>
                    <a:pt x="2037538" y="2130427"/>
                  </a:lnTo>
                  <a:lnTo>
                    <a:pt x="2036176" y="2134509"/>
                  </a:lnTo>
                  <a:lnTo>
                    <a:pt x="2034135" y="2138591"/>
                  </a:lnTo>
                  <a:lnTo>
                    <a:pt x="2032093" y="2142219"/>
                  </a:lnTo>
                  <a:lnTo>
                    <a:pt x="2030731" y="2144033"/>
                  </a:lnTo>
                  <a:lnTo>
                    <a:pt x="2029370" y="2145620"/>
                  </a:lnTo>
                  <a:lnTo>
                    <a:pt x="2027782" y="2147208"/>
                  </a:lnTo>
                  <a:lnTo>
                    <a:pt x="2025740" y="2148795"/>
                  </a:lnTo>
                  <a:lnTo>
                    <a:pt x="2024152" y="2149929"/>
                  </a:lnTo>
                  <a:lnTo>
                    <a:pt x="2022110" y="2150836"/>
                  </a:lnTo>
                  <a:lnTo>
                    <a:pt x="2019841" y="2151970"/>
                  </a:lnTo>
                  <a:lnTo>
                    <a:pt x="2017346" y="2152877"/>
                  </a:lnTo>
                  <a:lnTo>
                    <a:pt x="2014850" y="2153330"/>
                  </a:lnTo>
                  <a:lnTo>
                    <a:pt x="2012128" y="2153784"/>
                  </a:lnTo>
                  <a:lnTo>
                    <a:pt x="2009178" y="2154237"/>
                  </a:lnTo>
                  <a:lnTo>
                    <a:pt x="2006002" y="2153784"/>
                  </a:lnTo>
                  <a:lnTo>
                    <a:pt x="1999650" y="2153557"/>
                  </a:lnTo>
                  <a:lnTo>
                    <a:pt x="1993978" y="2153103"/>
                  </a:lnTo>
                  <a:lnTo>
                    <a:pt x="1988533" y="2152423"/>
                  </a:lnTo>
                  <a:lnTo>
                    <a:pt x="1983541" y="2151516"/>
                  </a:lnTo>
                  <a:lnTo>
                    <a:pt x="1979231" y="2150155"/>
                  </a:lnTo>
                  <a:lnTo>
                    <a:pt x="1975147" y="2148795"/>
                  </a:lnTo>
                  <a:lnTo>
                    <a:pt x="1971517" y="2146754"/>
                  </a:lnTo>
                  <a:lnTo>
                    <a:pt x="1968341" y="2144486"/>
                  </a:lnTo>
                  <a:lnTo>
                    <a:pt x="1966753" y="2142899"/>
                  </a:lnTo>
                  <a:lnTo>
                    <a:pt x="1965618" y="2141539"/>
                  </a:lnTo>
                  <a:lnTo>
                    <a:pt x="1964257" y="2139951"/>
                  </a:lnTo>
                  <a:lnTo>
                    <a:pt x="1963123" y="2138364"/>
                  </a:lnTo>
                  <a:lnTo>
                    <a:pt x="1961988" y="2136550"/>
                  </a:lnTo>
                  <a:lnTo>
                    <a:pt x="1961081" y="2134509"/>
                  </a:lnTo>
                  <a:lnTo>
                    <a:pt x="1959493" y="2130427"/>
                  </a:lnTo>
                  <a:lnTo>
                    <a:pt x="1958585" y="2125439"/>
                  </a:lnTo>
                  <a:lnTo>
                    <a:pt x="1957904" y="2119996"/>
                  </a:lnTo>
                  <a:lnTo>
                    <a:pt x="1957451" y="2113647"/>
                  </a:lnTo>
                  <a:lnTo>
                    <a:pt x="1957678" y="2107071"/>
                  </a:lnTo>
                  <a:lnTo>
                    <a:pt x="1957904" y="2103443"/>
                  </a:lnTo>
                  <a:lnTo>
                    <a:pt x="1958358" y="2100041"/>
                  </a:lnTo>
                  <a:lnTo>
                    <a:pt x="1958812" y="2097093"/>
                  </a:lnTo>
                  <a:lnTo>
                    <a:pt x="1959720" y="2094146"/>
                  </a:lnTo>
                  <a:lnTo>
                    <a:pt x="1960854" y="2091424"/>
                  </a:lnTo>
                  <a:lnTo>
                    <a:pt x="1961988" y="2088930"/>
                  </a:lnTo>
                  <a:lnTo>
                    <a:pt x="1963576" y="2086436"/>
                  </a:lnTo>
                  <a:lnTo>
                    <a:pt x="1964938" y="2084168"/>
                  </a:lnTo>
                  <a:lnTo>
                    <a:pt x="1966526" y="2082127"/>
                  </a:lnTo>
                  <a:lnTo>
                    <a:pt x="1968341" y="2080313"/>
                  </a:lnTo>
                  <a:lnTo>
                    <a:pt x="1970156" y="2078499"/>
                  </a:lnTo>
                  <a:lnTo>
                    <a:pt x="1972198" y="2076912"/>
                  </a:lnTo>
                  <a:lnTo>
                    <a:pt x="1976281" y="2074191"/>
                  </a:lnTo>
                  <a:lnTo>
                    <a:pt x="1980365" y="2071923"/>
                  </a:lnTo>
                  <a:lnTo>
                    <a:pt x="1984903" y="2070109"/>
                  </a:lnTo>
                  <a:lnTo>
                    <a:pt x="1988986" y="2068748"/>
                  </a:lnTo>
                  <a:lnTo>
                    <a:pt x="1993297" y="2067615"/>
                  </a:lnTo>
                  <a:lnTo>
                    <a:pt x="1997608" y="2067161"/>
                  </a:lnTo>
                  <a:lnTo>
                    <a:pt x="2001011" y="2066707"/>
                  </a:lnTo>
                  <a:lnTo>
                    <a:pt x="2004187" y="2066707"/>
                  </a:lnTo>
                  <a:lnTo>
                    <a:pt x="2006910" y="2066707"/>
                  </a:lnTo>
                  <a:lnTo>
                    <a:pt x="2008951" y="2066934"/>
                  </a:lnTo>
                  <a:lnTo>
                    <a:pt x="2010313" y="2066934"/>
                  </a:lnTo>
                  <a:lnTo>
                    <a:pt x="2011447" y="2066934"/>
                  </a:lnTo>
                  <a:lnTo>
                    <a:pt x="2012354" y="2066707"/>
                  </a:lnTo>
                  <a:lnTo>
                    <a:pt x="2012808" y="2065800"/>
                  </a:lnTo>
                  <a:lnTo>
                    <a:pt x="2013262" y="2065120"/>
                  </a:lnTo>
                  <a:lnTo>
                    <a:pt x="2013262" y="2063533"/>
                  </a:lnTo>
                  <a:lnTo>
                    <a:pt x="2012581" y="2062172"/>
                  </a:lnTo>
                  <a:lnTo>
                    <a:pt x="2011674" y="2059905"/>
                  </a:lnTo>
                  <a:lnTo>
                    <a:pt x="2008951" y="2054462"/>
                  </a:lnTo>
                  <a:lnTo>
                    <a:pt x="2004187" y="2046752"/>
                  </a:lnTo>
                  <a:lnTo>
                    <a:pt x="1997608" y="2036548"/>
                  </a:lnTo>
                  <a:lnTo>
                    <a:pt x="1988986" y="2023850"/>
                  </a:lnTo>
                  <a:lnTo>
                    <a:pt x="1984222" y="2017047"/>
                  </a:lnTo>
                  <a:lnTo>
                    <a:pt x="1978777" y="2010017"/>
                  </a:lnTo>
                  <a:lnTo>
                    <a:pt x="1972878" y="2002988"/>
                  </a:lnTo>
                  <a:lnTo>
                    <a:pt x="1966980" y="1995958"/>
                  </a:lnTo>
                  <a:lnTo>
                    <a:pt x="1960854" y="1988928"/>
                  </a:lnTo>
                  <a:lnTo>
                    <a:pt x="1954274" y="1982126"/>
                  </a:lnTo>
                  <a:lnTo>
                    <a:pt x="1947922" y="1975323"/>
                  </a:lnTo>
                  <a:lnTo>
                    <a:pt x="1941569" y="1968973"/>
                  </a:lnTo>
                  <a:lnTo>
                    <a:pt x="1928638" y="1956502"/>
                  </a:lnTo>
                  <a:lnTo>
                    <a:pt x="1916159" y="1945164"/>
                  </a:lnTo>
                  <a:lnTo>
                    <a:pt x="1904816" y="1935186"/>
                  </a:lnTo>
                  <a:lnTo>
                    <a:pt x="1894606" y="1926796"/>
                  </a:lnTo>
                  <a:lnTo>
                    <a:pt x="1891884" y="1924528"/>
                  </a:lnTo>
                  <a:lnTo>
                    <a:pt x="1889161" y="1922487"/>
                  </a:lnTo>
                  <a:lnTo>
                    <a:pt x="1883716" y="1919086"/>
                  </a:lnTo>
                  <a:lnTo>
                    <a:pt x="1878498" y="1916592"/>
                  </a:lnTo>
                  <a:lnTo>
                    <a:pt x="1873961" y="1914324"/>
                  </a:lnTo>
                  <a:lnTo>
                    <a:pt x="1870104" y="1912964"/>
                  </a:lnTo>
                  <a:lnTo>
                    <a:pt x="1867154" y="1912056"/>
                  </a:lnTo>
                  <a:lnTo>
                    <a:pt x="1864659" y="1911376"/>
                  </a:lnTo>
                  <a:lnTo>
                    <a:pt x="1864659" y="1948338"/>
                  </a:lnTo>
                  <a:lnTo>
                    <a:pt x="1889842" y="1949699"/>
                  </a:lnTo>
                  <a:lnTo>
                    <a:pt x="1893699" y="1950152"/>
                  </a:lnTo>
                  <a:lnTo>
                    <a:pt x="1897329" y="1950833"/>
                  </a:lnTo>
                  <a:lnTo>
                    <a:pt x="1900959" y="1951966"/>
                  </a:lnTo>
                  <a:lnTo>
                    <a:pt x="1904362" y="1953327"/>
                  </a:lnTo>
                  <a:lnTo>
                    <a:pt x="1907538" y="1954914"/>
                  </a:lnTo>
                  <a:lnTo>
                    <a:pt x="1910488" y="1956955"/>
                  </a:lnTo>
                  <a:lnTo>
                    <a:pt x="1913210" y="1959223"/>
                  </a:lnTo>
                  <a:lnTo>
                    <a:pt x="1915933" y="1961717"/>
                  </a:lnTo>
                  <a:lnTo>
                    <a:pt x="1918201" y="1964438"/>
                  </a:lnTo>
                  <a:lnTo>
                    <a:pt x="1920243" y="1967386"/>
                  </a:lnTo>
                  <a:lnTo>
                    <a:pt x="1922058" y="1970334"/>
                  </a:lnTo>
                  <a:lnTo>
                    <a:pt x="1923646" y="1973962"/>
                  </a:lnTo>
                  <a:lnTo>
                    <a:pt x="1924554" y="1977137"/>
                  </a:lnTo>
                  <a:lnTo>
                    <a:pt x="1925688" y="1980765"/>
                  </a:lnTo>
                  <a:lnTo>
                    <a:pt x="1926142" y="1984620"/>
                  </a:lnTo>
                  <a:lnTo>
                    <a:pt x="1926369" y="1988248"/>
                  </a:lnTo>
                  <a:lnTo>
                    <a:pt x="1926142" y="1992103"/>
                  </a:lnTo>
                  <a:lnTo>
                    <a:pt x="1925688" y="1996185"/>
                  </a:lnTo>
                  <a:lnTo>
                    <a:pt x="1924554" y="1999813"/>
                  </a:lnTo>
                  <a:lnTo>
                    <a:pt x="1923419" y="2003441"/>
                  </a:lnTo>
                  <a:lnTo>
                    <a:pt x="1921604" y="2006616"/>
                  </a:lnTo>
                  <a:lnTo>
                    <a:pt x="1919563" y="2009790"/>
                  </a:lnTo>
                  <a:lnTo>
                    <a:pt x="1917294" y="2012738"/>
                  </a:lnTo>
                  <a:lnTo>
                    <a:pt x="1915025" y="2015459"/>
                  </a:lnTo>
                  <a:lnTo>
                    <a:pt x="1912303" y="2017954"/>
                  </a:lnTo>
                  <a:lnTo>
                    <a:pt x="1909126" y="2020221"/>
                  </a:lnTo>
                  <a:lnTo>
                    <a:pt x="1905950" y="2022262"/>
                  </a:lnTo>
                  <a:lnTo>
                    <a:pt x="1902774" y="2023850"/>
                  </a:lnTo>
                  <a:lnTo>
                    <a:pt x="1899144" y="2025210"/>
                  </a:lnTo>
                  <a:lnTo>
                    <a:pt x="1895514" y="2026117"/>
                  </a:lnTo>
                  <a:lnTo>
                    <a:pt x="1891657" y="2026571"/>
                  </a:lnTo>
                  <a:lnTo>
                    <a:pt x="1887573" y="2027024"/>
                  </a:lnTo>
                  <a:lnTo>
                    <a:pt x="1883716" y="2026571"/>
                  </a:lnTo>
                  <a:lnTo>
                    <a:pt x="1879859" y="2026117"/>
                  </a:lnTo>
                  <a:lnTo>
                    <a:pt x="1876229" y="2025210"/>
                  </a:lnTo>
                  <a:lnTo>
                    <a:pt x="1872826" y="2023850"/>
                  </a:lnTo>
                  <a:lnTo>
                    <a:pt x="1869196" y="2022262"/>
                  </a:lnTo>
                  <a:lnTo>
                    <a:pt x="1866020" y="2020448"/>
                  </a:lnTo>
                  <a:lnTo>
                    <a:pt x="1863071" y="2018181"/>
                  </a:lnTo>
                  <a:lnTo>
                    <a:pt x="1860348" y="2015686"/>
                  </a:lnTo>
                  <a:lnTo>
                    <a:pt x="1857852" y="2012965"/>
                  </a:lnTo>
                  <a:lnTo>
                    <a:pt x="1855584" y="2010017"/>
                  </a:lnTo>
                  <a:lnTo>
                    <a:pt x="1853996" y="2006843"/>
                  </a:lnTo>
                  <a:lnTo>
                    <a:pt x="1852181" y="2003441"/>
                  </a:lnTo>
                  <a:lnTo>
                    <a:pt x="1850819" y="1999813"/>
                  </a:lnTo>
                  <a:lnTo>
                    <a:pt x="1849912" y="1996185"/>
                  </a:lnTo>
                  <a:lnTo>
                    <a:pt x="1849231" y="1992557"/>
                  </a:lnTo>
                  <a:lnTo>
                    <a:pt x="1849231" y="1988475"/>
                  </a:lnTo>
                  <a:lnTo>
                    <a:pt x="1849231" y="1982806"/>
                  </a:lnTo>
                  <a:lnTo>
                    <a:pt x="1831762" y="1982806"/>
                  </a:lnTo>
                  <a:lnTo>
                    <a:pt x="1831308" y="1949019"/>
                  </a:lnTo>
                  <a:lnTo>
                    <a:pt x="1768010" y="1948338"/>
                  </a:lnTo>
                  <a:lnTo>
                    <a:pt x="1768010" y="1895730"/>
                  </a:lnTo>
                  <a:lnTo>
                    <a:pt x="1765287" y="1895730"/>
                  </a:lnTo>
                  <a:lnTo>
                    <a:pt x="1755986" y="1896183"/>
                  </a:lnTo>
                  <a:lnTo>
                    <a:pt x="1754170" y="1896410"/>
                  </a:lnTo>
                  <a:lnTo>
                    <a:pt x="1752356" y="1897090"/>
                  </a:lnTo>
                  <a:lnTo>
                    <a:pt x="1748045" y="1898678"/>
                  </a:lnTo>
                  <a:lnTo>
                    <a:pt x="1743280" y="1900945"/>
                  </a:lnTo>
                  <a:lnTo>
                    <a:pt x="1737836" y="1903666"/>
                  </a:lnTo>
                  <a:lnTo>
                    <a:pt x="1726492" y="1909562"/>
                  </a:lnTo>
                  <a:lnTo>
                    <a:pt x="1720139" y="1912964"/>
                  </a:lnTo>
                  <a:lnTo>
                    <a:pt x="1714014" y="1915911"/>
                  </a:lnTo>
                  <a:lnTo>
                    <a:pt x="1710837" y="1917272"/>
                  </a:lnTo>
                  <a:lnTo>
                    <a:pt x="1706754" y="1919540"/>
                  </a:lnTo>
                  <a:lnTo>
                    <a:pt x="1697905" y="1924755"/>
                  </a:lnTo>
                  <a:lnTo>
                    <a:pt x="1687923" y="1930878"/>
                  </a:lnTo>
                  <a:lnTo>
                    <a:pt x="1677487" y="1937907"/>
                  </a:lnTo>
                  <a:lnTo>
                    <a:pt x="1667050" y="1945164"/>
                  </a:lnTo>
                  <a:lnTo>
                    <a:pt x="1657522" y="1951966"/>
                  </a:lnTo>
                  <a:lnTo>
                    <a:pt x="1648674" y="1958542"/>
                  </a:lnTo>
                  <a:lnTo>
                    <a:pt x="1642094" y="1963758"/>
                  </a:lnTo>
                  <a:lnTo>
                    <a:pt x="1638237" y="1966706"/>
                  </a:lnTo>
                  <a:lnTo>
                    <a:pt x="1633700" y="1971241"/>
                  </a:lnTo>
                  <a:lnTo>
                    <a:pt x="1620541" y="1983486"/>
                  </a:lnTo>
                  <a:lnTo>
                    <a:pt x="1587417" y="2015459"/>
                  </a:lnTo>
                  <a:lnTo>
                    <a:pt x="1555882" y="2046299"/>
                  </a:lnTo>
                  <a:lnTo>
                    <a:pt x="1544765" y="2056730"/>
                  </a:lnTo>
                  <a:lnTo>
                    <a:pt x="1541362" y="2060131"/>
                  </a:lnTo>
                  <a:lnTo>
                    <a:pt x="1539093" y="2061945"/>
                  </a:lnTo>
                  <a:lnTo>
                    <a:pt x="1536597" y="2063986"/>
                  </a:lnTo>
                  <a:lnTo>
                    <a:pt x="1534328" y="2066027"/>
                  </a:lnTo>
                  <a:lnTo>
                    <a:pt x="1532513" y="2068522"/>
                  </a:lnTo>
                  <a:lnTo>
                    <a:pt x="1530925" y="2071016"/>
                  </a:lnTo>
                  <a:lnTo>
                    <a:pt x="1530018" y="2073284"/>
                  </a:lnTo>
                  <a:lnTo>
                    <a:pt x="1529791" y="2074644"/>
                  </a:lnTo>
                  <a:lnTo>
                    <a:pt x="1529791" y="2075551"/>
                  </a:lnTo>
                  <a:lnTo>
                    <a:pt x="1530018" y="2076458"/>
                  </a:lnTo>
                  <a:lnTo>
                    <a:pt x="1530245" y="2077365"/>
                  </a:lnTo>
                  <a:lnTo>
                    <a:pt x="1530925" y="2077819"/>
                  </a:lnTo>
                  <a:lnTo>
                    <a:pt x="1531833" y="2078272"/>
                  </a:lnTo>
                  <a:lnTo>
                    <a:pt x="1534102" y="2079179"/>
                  </a:lnTo>
                  <a:lnTo>
                    <a:pt x="1536824" y="2080993"/>
                  </a:lnTo>
                  <a:lnTo>
                    <a:pt x="1538185" y="2081900"/>
                  </a:lnTo>
                  <a:lnTo>
                    <a:pt x="1539547" y="2083488"/>
                  </a:lnTo>
                  <a:lnTo>
                    <a:pt x="1541135" y="2084848"/>
                  </a:lnTo>
                  <a:lnTo>
                    <a:pt x="1542269" y="2086662"/>
                  </a:lnTo>
                  <a:lnTo>
                    <a:pt x="1543857" y="2088930"/>
                  </a:lnTo>
                  <a:lnTo>
                    <a:pt x="1544992" y="2091198"/>
                  </a:lnTo>
                  <a:lnTo>
                    <a:pt x="1546126" y="2093919"/>
                  </a:lnTo>
                  <a:lnTo>
                    <a:pt x="1547033" y="2096867"/>
                  </a:lnTo>
                  <a:lnTo>
                    <a:pt x="1547714" y="2100268"/>
                  </a:lnTo>
                  <a:lnTo>
                    <a:pt x="1548395" y="2103896"/>
                  </a:lnTo>
                  <a:lnTo>
                    <a:pt x="1548622" y="2107978"/>
                  </a:lnTo>
                  <a:lnTo>
                    <a:pt x="1548622" y="2112513"/>
                  </a:lnTo>
                  <a:lnTo>
                    <a:pt x="1548395" y="2114781"/>
                  </a:lnTo>
                  <a:lnTo>
                    <a:pt x="1548168" y="2117048"/>
                  </a:lnTo>
                  <a:lnTo>
                    <a:pt x="1547487" y="2119089"/>
                  </a:lnTo>
                  <a:lnTo>
                    <a:pt x="1546807" y="2121130"/>
                  </a:lnTo>
                  <a:lnTo>
                    <a:pt x="1546126" y="2123398"/>
                  </a:lnTo>
                  <a:lnTo>
                    <a:pt x="1544992" y="2125439"/>
                  </a:lnTo>
                  <a:lnTo>
                    <a:pt x="1544084" y="2127253"/>
                  </a:lnTo>
                  <a:lnTo>
                    <a:pt x="1542950" y="2129067"/>
                  </a:lnTo>
                  <a:lnTo>
                    <a:pt x="1539773" y="2132922"/>
                  </a:lnTo>
                  <a:lnTo>
                    <a:pt x="1536370" y="2136096"/>
                  </a:lnTo>
                  <a:lnTo>
                    <a:pt x="1532740" y="2139044"/>
                  </a:lnTo>
                  <a:lnTo>
                    <a:pt x="1528657" y="2141765"/>
                  </a:lnTo>
                  <a:lnTo>
                    <a:pt x="1524346" y="2144260"/>
                  </a:lnTo>
                  <a:lnTo>
                    <a:pt x="1519582" y="2146301"/>
                  </a:lnTo>
                  <a:lnTo>
                    <a:pt x="1514817" y="2147888"/>
                  </a:lnTo>
                  <a:lnTo>
                    <a:pt x="1509826" y="2149248"/>
                  </a:lnTo>
                  <a:lnTo>
                    <a:pt x="1504835" y="2150155"/>
                  </a:lnTo>
                  <a:lnTo>
                    <a:pt x="1499843" y="2150836"/>
                  </a:lnTo>
                  <a:lnTo>
                    <a:pt x="1494625" y="2151063"/>
                  </a:lnTo>
                  <a:lnTo>
                    <a:pt x="1490088" y="2150836"/>
                  </a:lnTo>
                  <a:lnTo>
                    <a:pt x="1485323" y="2150382"/>
                  </a:lnTo>
                  <a:lnTo>
                    <a:pt x="1481013" y="2149475"/>
                  </a:lnTo>
                  <a:lnTo>
                    <a:pt x="1477383" y="2147888"/>
                  </a:lnTo>
                  <a:lnTo>
                    <a:pt x="1474206" y="2146527"/>
                  </a:lnTo>
                  <a:lnTo>
                    <a:pt x="1471257" y="2144260"/>
                  </a:lnTo>
                  <a:lnTo>
                    <a:pt x="1468761" y="2141992"/>
                  </a:lnTo>
                  <a:lnTo>
                    <a:pt x="1466493" y="2139271"/>
                  </a:lnTo>
                  <a:lnTo>
                    <a:pt x="1464451" y="2136323"/>
                  </a:lnTo>
                  <a:lnTo>
                    <a:pt x="1462863" y="2133375"/>
                  </a:lnTo>
                  <a:lnTo>
                    <a:pt x="1461728" y="2129747"/>
                  </a:lnTo>
                  <a:lnTo>
                    <a:pt x="1460821" y="2126119"/>
                  </a:lnTo>
                  <a:lnTo>
                    <a:pt x="1459913" y="2122491"/>
                  </a:lnTo>
                  <a:lnTo>
                    <a:pt x="1459460" y="2118409"/>
                  </a:lnTo>
                  <a:lnTo>
                    <a:pt x="1459233" y="2114327"/>
                  </a:lnTo>
                  <a:lnTo>
                    <a:pt x="1459006" y="2110019"/>
                  </a:lnTo>
                  <a:lnTo>
                    <a:pt x="1459006" y="2105710"/>
                  </a:lnTo>
                  <a:lnTo>
                    <a:pt x="1459460" y="2101629"/>
                  </a:lnTo>
                  <a:lnTo>
                    <a:pt x="1460140" y="2097774"/>
                  </a:lnTo>
                  <a:lnTo>
                    <a:pt x="1461275" y="2094372"/>
                  </a:lnTo>
                  <a:lnTo>
                    <a:pt x="1462409" y="2091424"/>
                  </a:lnTo>
                  <a:lnTo>
                    <a:pt x="1464224" y="2088703"/>
                  </a:lnTo>
                  <a:lnTo>
                    <a:pt x="1466039" y="2086209"/>
                  </a:lnTo>
                  <a:lnTo>
                    <a:pt x="1467854" y="2084168"/>
                  </a:lnTo>
                  <a:lnTo>
                    <a:pt x="1469896" y="2082581"/>
                  </a:lnTo>
                  <a:lnTo>
                    <a:pt x="1472165" y="2080993"/>
                  </a:lnTo>
                  <a:lnTo>
                    <a:pt x="1474433" y="2079860"/>
                  </a:lnTo>
                  <a:lnTo>
                    <a:pt x="1476702" y="2078726"/>
                  </a:lnTo>
                  <a:lnTo>
                    <a:pt x="1478517" y="2077819"/>
                  </a:lnTo>
                  <a:lnTo>
                    <a:pt x="1482601" y="2076685"/>
                  </a:lnTo>
                  <a:lnTo>
                    <a:pt x="1485777" y="2076231"/>
                  </a:lnTo>
                  <a:lnTo>
                    <a:pt x="1487365" y="2076005"/>
                  </a:lnTo>
                  <a:lnTo>
                    <a:pt x="1488273" y="2075778"/>
                  </a:lnTo>
                  <a:lnTo>
                    <a:pt x="1489180" y="2075324"/>
                  </a:lnTo>
                  <a:lnTo>
                    <a:pt x="1490315" y="2074644"/>
                  </a:lnTo>
                  <a:lnTo>
                    <a:pt x="1491903" y="2073057"/>
                  </a:lnTo>
                  <a:lnTo>
                    <a:pt x="1493264" y="2071016"/>
                  </a:lnTo>
                  <a:lnTo>
                    <a:pt x="1494398" y="2068748"/>
                  </a:lnTo>
                  <a:lnTo>
                    <a:pt x="1495760" y="2066254"/>
                  </a:lnTo>
                  <a:lnTo>
                    <a:pt x="1496894" y="2063986"/>
                  </a:lnTo>
                  <a:lnTo>
                    <a:pt x="1498709" y="2061038"/>
                  </a:lnTo>
                  <a:lnTo>
                    <a:pt x="1502112" y="2056503"/>
                  </a:lnTo>
                  <a:lnTo>
                    <a:pt x="1508692" y="2048793"/>
                  </a:lnTo>
                  <a:lnTo>
                    <a:pt x="1526615" y="2027251"/>
                  </a:lnTo>
                  <a:lnTo>
                    <a:pt x="1547033" y="2003895"/>
                  </a:lnTo>
                  <a:lnTo>
                    <a:pt x="1555655" y="1993917"/>
                  </a:lnTo>
                  <a:lnTo>
                    <a:pt x="1562688" y="1986434"/>
                  </a:lnTo>
                  <a:lnTo>
                    <a:pt x="1565864" y="1983033"/>
                  </a:lnTo>
                  <a:lnTo>
                    <a:pt x="1570175" y="1979178"/>
                  </a:lnTo>
                  <a:lnTo>
                    <a:pt x="1581065" y="1969200"/>
                  </a:lnTo>
                  <a:lnTo>
                    <a:pt x="1593997" y="1957635"/>
                  </a:lnTo>
                  <a:lnTo>
                    <a:pt x="1608290" y="1945617"/>
                  </a:lnTo>
                  <a:lnTo>
                    <a:pt x="1622810" y="1933599"/>
                  </a:lnTo>
                  <a:lnTo>
                    <a:pt x="1636195" y="1923168"/>
                  </a:lnTo>
                  <a:lnTo>
                    <a:pt x="1647539" y="1914551"/>
                  </a:lnTo>
                  <a:lnTo>
                    <a:pt x="1652077" y="1911376"/>
                  </a:lnTo>
                  <a:lnTo>
                    <a:pt x="1655707" y="1909109"/>
                  </a:lnTo>
                  <a:lnTo>
                    <a:pt x="1661379" y="1905707"/>
                  </a:lnTo>
                  <a:lnTo>
                    <a:pt x="1664782" y="1902986"/>
                  </a:lnTo>
                  <a:lnTo>
                    <a:pt x="1666143" y="1901625"/>
                  </a:lnTo>
                  <a:lnTo>
                    <a:pt x="1667050" y="1900718"/>
                  </a:lnTo>
                  <a:lnTo>
                    <a:pt x="1667277" y="1899811"/>
                  </a:lnTo>
                  <a:lnTo>
                    <a:pt x="1667277" y="1898904"/>
                  </a:lnTo>
                  <a:lnTo>
                    <a:pt x="1667050" y="1898451"/>
                  </a:lnTo>
                  <a:lnTo>
                    <a:pt x="1666370" y="1897997"/>
                  </a:lnTo>
                  <a:lnTo>
                    <a:pt x="1665462" y="1897544"/>
                  </a:lnTo>
                  <a:lnTo>
                    <a:pt x="1663874" y="1897317"/>
                  </a:lnTo>
                  <a:lnTo>
                    <a:pt x="1660244" y="1897090"/>
                  </a:lnTo>
                  <a:lnTo>
                    <a:pt x="1655253" y="1897090"/>
                  </a:lnTo>
                  <a:lnTo>
                    <a:pt x="1649354" y="1897544"/>
                  </a:lnTo>
                  <a:lnTo>
                    <a:pt x="1642775" y="1898678"/>
                  </a:lnTo>
                  <a:lnTo>
                    <a:pt x="1635515" y="1900265"/>
                  </a:lnTo>
                  <a:lnTo>
                    <a:pt x="1628028" y="1901852"/>
                  </a:lnTo>
                  <a:lnTo>
                    <a:pt x="1611466" y="1906387"/>
                  </a:lnTo>
                  <a:lnTo>
                    <a:pt x="1593770" y="1911149"/>
                  </a:lnTo>
                  <a:lnTo>
                    <a:pt x="1589005" y="1912510"/>
                  </a:lnTo>
                  <a:lnTo>
                    <a:pt x="1583333" y="1914778"/>
                  </a:lnTo>
                  <a:lnTo>
                    <a:pt x="1576981" y="1917499"/>
                  </a:lnTo>
                  <a:lnTo>
                    <a:pt x="1570402" y="1920900"/>
                  </a:lnTo>
                  <a:lnTo>
                    <a:pt x="1563142" y="1924528"/>
                  </a:lnTo>
                  <a:lnTo>
                    <a:pt x="1555882" y="1928837"/>
                  </a:lnTo>
                  <a:lnTo>
                    <a:pt x="1541362" y="1937227"/>
                  </a:lnTo>
                  <a:lnTo>
                    <a:pt x="1527068" y="1945617"/>
                  </a:lnTo>
                  <a:lnTo>
                    <a:pt x="1514590" y="1953554"/>
                  </a:lnTo>
                  <a:lnTo>
                    <a:pt x="1504381" y="1959676"/>
                  </a:lnTo>
                  <a:lnTo>
                    <a:pt x="1498028" y="1963758"/>
                  </a:lnTo>
                  <a:lnTo>
                    <a:pt x="1493945" y="1966252"/>
                  </a:lnTo>
                  <a:lnTo>
                    <a:pt x="1490768" y="1968973"/>
                  </a:lnTo>
                  <a:lnTo>
                    <a:pt x="1489407" y="1970107"/>
                  </a:lnTo>
                  <a:lnTo>
                    <a:pt x="1488500" y="1971695"/>
                  </a:lnTo>
                  <a:lnTo>
                    <a:pt x="1487592" y="1972828"/>
                  </a:lnTo>
                  <a:lnTo>
                    <a:pt x="1486685" y="1974416"/>
                  </a:lnTo>
                  <a:lnTo>
                    <a:pt x="1486231" y="1975776"/>
                  </a:lnTo>
                  <a:lnTo>
                    <a:pt x="1485777" y="1977137"/>
                  </a:lnTo>
                  <a:lnTo>
                    <a:pt x="1485550" y="1978497"/>
                  </a:lnTo>
                  <a:lnTo>
                    <a:pt x="1485550" y="1980085"/>
                  </a:lnTo>
                  <a:lnTo>
                    <a:pt x="1485777" y="1983259"/>
                  </a:lnTo>
                  <a:lnTo>
                    <a:pt x="1486458" y="1986434"/>
                  </a:lnTo>
                  <a:lnTo>
                    <a:pt x="1487138" y="1988021"/>
                  </a:lnTo>
                  <a:lnTo>
                    <a:pt x="1487819" y="1989155"/>
                  </a:lnTo>
                  <a:lnTo>
                    <a:pt x="1488500" y="1990289"/>
                  </a:lnTo>
                  <a:lnTo>
                    <a:pt x="1489407" y="1990969"/>
                  </a:lnTo>
                  <a:lnTo>
                    <a:pt x="1490315" y="1991423"/>
                  </a:lnTo>
                  <a:lnTo>
                    <a:pt x="1491222" y="1991876"/>
                  </a:lnTo>
                  <a:lnTo>
                    <a:pt x="1493264" y="1992557"/>
                  </a:lnTo>
                  <a:lnTo>
                    <a:pt x="1495079" y="1992783"/>
                  </a:lnTo>
                  <a:lnTo>
                    <a:pt x="1496667" y="1992783"/>
                  </a:lnTo>
                  <a:lnTo>
                    <a:pt x="1498255" y="1993010"/>
                  </a:lnTo>
                  <a:lnTo>
                    <a:pt x="1499163" y="1993237"/>
                  </a:lnTo>
                  <a:lnTo>
                    <a:pt x="1499617" y="1993917"/>
                  </a:lnTo>
                  <a:lnTo>
                    <a:pt x="1499843" y="1995731"/>
                  </a:lnTo>
                  <a:lnTo>
                    <a:pt x="1499843" y="2001174"/>
                  </a:lnTo>
                  <a:lnTo>
                    <a:pt x="1499843" y="2009110"/>
                  </a:lnTo>
                  <a:lnTo>
                    <a:pt x="1499617" y="2018181"/>
                  </a:lnTo>
                  <a:lnTo>
                    <a:pt x="1498936" y="2036548"/>
                  </a:lnTo>
                  <a:lnTo>
                    <a:pt x="1498709" y="2048567"/>
                  </a:lnTo>
                  <a:lnTo>
                    <a:pt x="1498482" y="2051288"/>
                  </a:lnTo>
                  <a:lnTo>
                    <a:pt x="1498028" y="2053782"/>
                  </a:lnTo>
                  <a:lnTo>
                    <a:pt x="1496894" y="2056050"/>
                  </a:lnTo>
                  <a:lnTo>
                    <a:pt x="1495533" y="2057637"/>
                  </a:lnTo>
                  <a:lnTo>
                    <a:pt x="1493718" y="2059224"/>
                  </a:lnTo>
                  <a:lnTo>
                    <a:pt x="1491449" y="2060358"/>
                  </a:lnTo>
                  <a:lnTo>
                    <a:pt x="1488953" y="2060812"/>
                  </a:lnTo>
                  <a:lnTo>
                    <a:pt x="1485777" y="2061038"/>
                  </a:lnTo>
                  <a:lnTo>
                    <a:pt x="1479878" y="2060812"/>
                  </a:lnTo>
                  <a:lnTo>
                    <a:pt x="1477383" y="2060585"/>
                  </a:lnTo>
                  <a:lnTo>
                    <a:pt x="1474887" y="2060131"/>
                  </a:lnTo>
                  <a:lnTo>
                    <a:pt x="1472845" y="2059451"/>
                  </a:lnTo>
                  <a:lnTo>
                    <a:pt x="1471257" y="2058317"/>
                  </a:lnTo>
                  <a:lnTo>
                    <a:pt x="1469669" y="2056957"/>
                  </a:lnTo>
                  <a:lnTo>
                    <a:pt x="1468535" y="2055143"/>
                  </a:lnTo>
                  <a:lnTo>
                    <a:pt x="1466946" y="2051288"/>
                  </a:lnTo>
                  <a:lnTo>
                    <a:pt x="1465358" y="2048113"/>
                  </a:lnTo>
                  <a:lnTo>
                    <a:pt x="1464678" y="2046752"/>
                  </a:lnTo>
                  <a:lnTo>
                    <a:pt x="1463997" y="2045845"/>
                  </a:lnTo>
                  <a:lnTo>
                    <a:pt x="1462636" y="2045392"/>
                  </a:lnTo>
                  <a:lnTo>
                    <a:pt x="1461048" y="2044938"/>
                  </a:lnTo>
                  <a:lnTo>
                    <a:pt x="1457418" y="2045392"/>
                  </a:lnTo>
                  <a:lnTo>
                    <a:pt x="1455830" y="2045845"/>
                  </a:lnTo>
                  <a:lnTo>
                    <a:pt x="1454241" y="2046299"/>
                  </a:lnTo>
                  <a:lnTo>
                    <a:pt x="1452880" y="2046979"/>
                  </a:lnTo>
                  <a:lnTo>
                    <a:pt x="1451292" y="2048113"/>
                  </a:lnTo>
                  <a:lnTo>
                    <a:pt x="1450385" y="2049020"/>
                  </a:lnTo>
                  <a:lnTo>
                    <a:pt x="1449931" y="2050381"/>
                  </a:lnTo>
                  <a:lnTo>
                    <a:pt x="1449023" y="2051968"/>
                  </a:lnTo>
                  <a:lnTo>
                    <a:pt x="1448343" y="2053555"/>
                  </a:lnTo>
                  <a:lnTo>
                    <a:pt x="1447662" y="2054689"/>
                  </a:lnTo>
                  <a:lnTo>
                    <a:pt x="1446301" y="2056050"/>
                  </a:lnTo>
                  <a:lnTo>
                    <a:pt x="1444940" y="2056957"/>
                  </a:lnTo>
                  <a:lnTo>
                    <a:pt x="1443125" y="2057410"/>
                  </a:lnTo>
                  <a:lnTo>
                    <a:pt x="1441083" y="2057864"/>
                  </a:lnTo>
                  <a:lnTo>
                    <a:pt x="1438587" y="2057637"/>
                  </a:lnTo>
                  <a:lnTo>
                    <a:pt x="1432915" y="2057410"/>
                  </a:lnTo>
                  <a:lnTo>
                    <a:pt x="1427470" y="2057184"/>
                  </a:lnTo>
                  <a:lnTo>
                    <a:pt x="1425201" y="2056957"/>
                  </a:lnTo>
                  <a:lnTo>
                    <a:pt x="1423386" y="2056730"/>
                  </a:lnTo>
                  <a:lnTo>
                    <a:pt x="1421798" y="2056050"/>
                  </a:lnTo>
                  <a:lnTo>
                    <a:pt x="1421571" y="2055596"/>
                  </a:lnTo>
                  <a:lnTo>
                    <a:pt x="1421345" y="2055143"/>
                  </a:lnTo>
                  <a:lnTo>
                    <a:pt x="1421118" y="2051741"/>
                  </a:lnTo>
                  <a:lnTo>
                    <a:pt x="1420664" y="2044258"/>
                  </a:lnTo>
                  <a:lnTo>
                    <a:pt x="1420664" y="2034281"/>
                  </a:lnTo>
                  <a:lnTo>
                    <a:pt x="1420664" y="2023169"/>
                  </a:lnTo>
                  <a:lnTo>
                    <a:pt x="1420664" y="2012058"/>
                  </a:lnTo>
                  <a:lnTo>
                    <a:pt x="1421118" y="2002307"/>
                  </a:lnTo>
                  <a:lnTo>
                    <a:pt x="1421571" y="1998679"/>
                  </a:lnTo>
                  <a:lnTo>
                    <a:pt x="1422025" y="1995731"/>
                  </a:lnTo>
                  <a:lnTo>
                    <a:pt x="1422479" y="1993690"/>
                  </a:lnTo>
                  <a:lnTo>
                    <a:pt x="1422706" y="1993237"/>
                  </a:lnTo>
                  <a:lnTo>
                    <a:pt x="1423386" y="1993237"/>
                  </a:lnTo>
                  <a:lnTo>
                    <a:pt x="1424748" y="1993010"/>
                  </a:lnTo>
                  <a:lnTo>
                    <a:pt x="1426336" y="1992783"/>
                  </a:lnTo>
                  <a:lnTo>
                    <a:pt x="1427924" y="1992103"/>
                  </a:lnTo>
                  <a:lnTo>
                    <a:pt x="1429512" y="1991423"/>
                  </a:lnTo>
                  <a:lnTo>
                    <a:pt x="1430646" y="1990516"/>
                  </a:lnTo>
                  <a:lnTo>
                    <a:pt x="1431781" y="1989382"/>
                  </a:lnTo>
                  <a:lnTo>
                    <a:pt x="1432461" y="1988248"/>
                  </a:lnTo>
                  <a:lnTo>
                    <a:pt x="1432688" y="1987114"/>
                  </a:lnTo>
                  <a:lnTo>
                    <a:pt x="1432461" y="1986434"/>
                  </a:lnTo>
                  <a:lnTo>
                    <a:pt x="1432235" y="1985981"/>
                  </a:lnTo>
                  <a:lnTo>
                    <a:pt x="1431781" y="1985754"/>
                  </a:lnTo>
                  <a:lnTo>
                    <a:pt x="1431327" y="1985527"/>
                  </a:lnTo>
                  <a:lnTo>
                    <a:pt x="1429966" y="1985300"/>
                  </a:lnTo>
                  <a:lnTo>
                    <a:pt x="1428151" y="1985300"/>
                  </a:lnTo>
                  <a:lnTo>
                    <a:pt x="1424521" y="1985527"/>
                  </a:lnTo>
                  <a:lnTo>
                    <a:pt x="1421345" y="1985754"/>
                  </a:lnTo>
                  <a:lnTo>
                    <a:pt x="1420891" y="1985754"/>
                  </a:lnTo>
                  <a:lnTo>
                    <a:pt x="1420664" y="1985527"/>
                  </a:lnTo>
                  <a:lnTo>
                    <a:pt x="1420664" y="1985300"/>
                  </a:lnTo>
                  <a:lnTo>
                    <a:pt x="1420891" y="1984620"/>
                  </a:lnTo>
                  <a:lnTo>
                    <a:pt x="1422933" y="1982352"/>
                  </a:lnTo>
                  <a:lnTo>
                    <a:pt x="1427243" y="1978497"/>
                  </a:lnTo>
                  <a:lnTo>
                    <a:pt x="1444032" y="1964892"/>
                  </a:lnTo>
                  <a:lnTo>
                    <a:pt x="1474433" y="1940175"/>
                  </a:lnTo>
                  <a:lnTo>
                    <a:pt x="1479652" y="1936093"/>
                  </a:lnTo>
                  <a:lnTo>
                    <a:pt x="1485323" y="1932011"/>
                  </a:lnTo>
                  <a:lnTo>
                    <a:pt x="1490995" y="1927930"/>
                  </a:lnTo>
                  <a:lnTo>
                    <a:pt x="1496894" y="1924075"/>
                  </a:lnTo>
                  <a:lnTo>
                    <a:pt x="1503247" y="1919993"/>
                  </a:lnTo>
                  <a:lnTo>
                    <a:pt x="1509599" y="1916365"/>
                  </a:lnTo>
                  <a:lnTo>
                    <a:pt x="1522985" y="1908882"/>
                  </a:lnTo>
                  <a:lnTo>
                    <a:pt x="1536824" y="1901399"/>
                  </a:lnTo>
                  <a:lnTo>
                    <a:pt x="1551571" y="1894823"/>
                  </a:lnTo>
                  <a:lnTo>
                    <a:pt x="1566318" y="1888020"/>
                  </a:lnTo>
                  <a:lnTo>
                    <a:pt x="1581518" y="1882124"/>
                  </a:lnTo>
                  <a:lnTo>
                    <a:pt x="1596719" y="1876455"/>
                  </a:lnTo>
                  <a:lnTo>
                    <a:pt x="1611693" y="1871240"/>
                  </a:lnTo>
                  <a:lnTo>
                    <a:pt x="1626894" y="1866704"/>
                  </a:lnTo>
                  <a:lnTo>
                    <a:pt x="1641640" y="1862623"/>
                  </a:lnTo>
                  <a:lnTo>
                    <a:pt x="1655707" y="1858994"/>
                  </a:lnTo>
                  <a:lnTo>
                    <a:pt x="1669319" y="1856273"/>
                  </a:lnTo>
                  <a:lnTo>
                    <a:pt x="1682024" y="1854232"/>
                  </a:lnTo>
                  <a:lnTo>
                    <a:pt x="1688150" y="1853552"/>
                  </a:lnTo>
                  <a:lnTo>
                    <a:pt x="1694049" y="1853099"/>
                  </a:lnTo>
                  <a:lnTo>
                    <a:pt x="1709703" y="1851965"/>
                  </a:lnTo>
                  <a:lnTo>
                    <a:pt x="1723996" y="1851285"/>
                  </a:lnTo>
                  <a:lnTo>
                    <a:pt x="1736020" y="1851285"/>
                  </a:lnTo>
                  <a:lnTo>
                    <a:pt x="1746230" y="1851511"/>
                  </a:lnTo>
                  <a:lnTo>
                    <a:pt x="1754170" y="1852192"/>
                  </a:lnTo>
                  <a:lnTo>
                    <a:pt x="1760069" y="1852418"/>
                  </a:lnTo>
                  <a:lnTo>
                    <a:pt x="1765060" y="1853099"/>
                  </a:lnTo>
                  <a:lnTo>
                    <a:pt x="1764153" y="1649467"/>
                  </a:lnTo>
                  <a:lnTo>
                    <a:pt x="1782303" y="1649921"/>
                  </a:lnTo>
                  <a:lnTo>
                    <a:pt x="1780942" y="1522481"/>
                  </a:lnTo>
                  <a:lnTo>
                    <a:pt x="1740785" y="1517492"/>
                  </a:lnTo>
                  <a:lnTo>
                    <a:pt x="1740785" y="1492549"/>
                  </a:lnTo>
                  <a:lnTo>
                    <a:pt x="1626440" y="1456267"/>
                  </a:lnTo>
                  <a:lnTo>
                    <a:pt x="1541362" y="1429056"/>
                  </a:lnTo>
                  <a:lnTo>
                    <a:pt x="1488500" y="1412275"/>
                  </a:lnTo>
                  <a:lnTo>
                    <a:pt x="1482374" y="1410235"/>
                  </a:lnTo>
                  <a:lnTo>
                    <a:pt x="1476475" y="1407740"/>
                  </a:lnTo>
                  <a:lnTo>
                    <a:pt x="1470350" y="1405019"/>
                  </a:lnTo>
                  <a:lnTo>
                    <a:pt x="1464224" y="1402071"/>
                  </a:lnTo>
                  <a:lnTo>
                    <a:pt x="1458325" y="1398896"/>
                  </a:lnTo>
                  <a:lnTo>
                    <a:pt x="1452200" y="1394815"/>
                  </a:lnTo>
                  <a:lnTo>
                    <a:pt x="1446301" y="1390733"/>
                  </a:lnTo>
                  <a:lnTo>
                    <a:pt x="1440629" y="1386198"/>
                  </a:lnTo>
                  <a:lnTo>
                    <a:pt x="1434957" y="1380982"/>
                  </a:lnTo>
                  <a:lnTo>
                    <a:pt x="1429512" y="1375313"/>
                  </a:lnTo>
                  <a:lnTo>
                    <a:pt x="1424067" y="1368964"/>
                  </a:lnTo>
                  <a:lnTo>
                    <a:pt x="1419076" y="1362161"/>
                  </a:lnTo>
                  <a:lnTo>
                    <a:pt x="1416050" y="1357624"/>
                  </a:lnTo>
                  <a:lnTo>
                    <a:pt x="1416050" y="2132486"/>
                  </a:lnTo>
                  <a:lnTo>
                    <a:pt x="1416050" y="2135206"/>
                  </a:lnTo>
                  <a:lnTo>
                    <a:pt x="1415591" y="2137698"/>
                  </a:lnTo>
                  <a:lnTo>
                    <a:pt x="1414903" y="2140418"/>
                  </a:lnTo>
                  <a:lnTo>
                    <a:pt x="1413986" y="2142684"/>
                  </a:lnTo>
                  <a:lnTo>
                    <a:pt x="1412839" y="2145177"/>
                  </a:lnTo>
                  <a:lnTo>
                    <a:pt x="1411463" y="2147443"/>
                  </a:lnTo>
                  <a:lnTo>
                    <a:pt x="1409857" y="2149482"/>
                  </a:lnTo>
                  <a:lnTo>
                    <a:pt x="1408022" y="2151295"/>
                  </a:lnTo>
                  <a:lnTo>
                    <a:pt x="1406187" y="2153108"/>
                  </a:lnTo>
                  <a:lnTo>
                    <a:pt x="1403893" y="2154694"/>
                  </a:lnTo>
                  <a:lnTo>
                    <a:pt x="1401600" y="2155828"/>
                  </a:lnTo>
                  <a:lnTo>
                    <a:pt x="1399076" y="2157187"/>
                  </a:lnTo>
                  <a:lnTo>
                    <a:pt x="1396553" y="2157867"/>
                  </a:lnTo>
                  <a:lnTo>
                    <a:pt x="1393801" y="2158547"/>
                  </a:lnTo>
                  <a:lnTo>
                    <a:pt x="1391048" y="2159000"/>
                  </a:lnTo>
                  <a:lnTo>
                    <a:pt x="1388296" y="2159000"/>
                  </a:lnTo>
                  <a:lnTo>
                    <a:pt x="1383479" y="2159000"/>
                  </a:lnTo>
                  <a:lnTo>
                    <a:pt x="1380727" y="2159000"/>
                  </a:lnTo>
                  <a:lnTo>
                    <a:pt x="1377974" y="2158547"/>
                  </a:lnTo>
                  <a:lnTo>
                    <a:pt x="1375222" y="2157867"/>
                  </a:lnTo>
                  <a:lnTo>
                    <a:pt x="1372699" y="2157187"/>
                  </a:lnTo>
                  <a:lnTo>
                    <a:pt x="1370175" y="2155828"/>
                  </a:lnTo>
                  <a:lnTo>
                    <a:pt x="1368111" y="2154694"/>
                  </a:lnTo>
                  <a:lnTo>
                    <a:pt x="1365817" y="2153108"/>
                  </a:lnTo>
                  <a:lnTo>
                    <a:pt x="1363753" y="2151295"/>
                  </a:lnTo>
                  <a:lnTo>
                    <a:pt x="1361918" y="2149482"/>
                  </a:lnTo>
                  <a:lnTo>
                    <a:pt x="1360542" y="2147443"/>
                  </a:lnTo>
                  <a:lnTo>
                    <a:pt x="1358936" y="2145177"/>
                  </a:lnTo>
                  <a:lnTo>
                    <a:pt x="1358019" y="2142684"/>
                  </a:lnTo>
                  <a:lnTo>
                    <a:pt x="1356872" y="2140418"/>
                  </a:lnTo>
                  <a:lnTo>
                    <a:pt x="1356184" y="2137698"/>
                  </a:lnTo>
                  <a:lnTo>
                    <a:pt x="1355725" y="2135206"/>
                  </a:lnTo>
                  <a:lnTo>
                    <a:pt x="1355725" y="2132486"/>
                  </a:lnTo>
                  <a:lnTo>
                    <a:pt x="1355725" y="2013431"/>
                  </a:lnTo>
                  <a:lnTo>
                    <a:pt x="1304925" y="2029316"/>
                  </a:lnTo>
                  <a:lnTo>
                    <a:pt x="1304925" y="2172607"/>
                  </a:lnTo>
                  <a:lnTo>
                    <a:pt x="1304696" y="2175329"/>
                  </a:lnTo>
                  <a:lnTo>
                    <a:pt x="1304468" y="2178050"/>
                  </a:lnTo>
                  <a:lnTo>
                    <a:pt x="1303554" y="2180772"/>
                  </a:lnTo>
                  <a:lnTo>
                    <a:pt x="1302640" y="2183266"/>
                  </a:lnTo>
                  <a:lnTo>
                    <a:pt x="1301497" y="2185761"/>
                  </a:lnTo>
                  <a:lnTo>
                    <a:pt x="1300126" y="2188029"/>
                  </a:lnTo>
                  <a:lnTo>
                    <a:pt x="1298298" y="2190070"/>
                  </a:lnTo>
                  <a:lnTo>
                    <a:pt x="1296699" y="2192111"/>
                  </a:lnTo>
                  <a:lnTo>
                    <a:pt x="1294642" y="2193698"/>
                  </a:lnTo>
                  <a:lnTo>
                    <a:pt x="1292586" y="2195513"/>
                  </a:lnTo>
                  <a:lnTo>
                    <a:pt x="1290301" y="2196647"/>
                  </a:lnTo>
                  <a:lnTo>
                    <a:pt x="1287787" y="2198007"/>
                  </a:lnTo>
                  <a:lnTo>
                    <a:pt x="1285502" y="2198914"/>
                  </a:lnTo>
                  <a:lnTo>
                    <a:pt x="1282760" y="2199368"/>
                  </a:lnTo>
                  <a:lnTo>
                    <a:pt x="1280018" y="2200048"/>
                  </a:lnTo>
                  <a:lnTo>
                    <a:pt x="1277048" y="2200275"/>
                  </a:lnTo>
                  <a:lnTo>
                    <a:pt x="1272477" y="2200275"/>
                  </a:lnTo>
                  <a:lnTo>
                    <a:pt x="1269507" y="2200048"/>
                  </a:lnTo>
                  <a:lnTo>
                    <a:pt x="1266765" y="2199368"/>
                  </a:lnTo>
                  <a:lnTo>
                    <a:pt x="1264251" y="2198914"/>
                  </a:lnTo>
                  <a:lnTo>
                    <a:pt x="1261509" y="2198007"/>
                  </a:lnTo>
                  <a:lnTo>
                    <a:pt x="1259224" y="2196647"/>
                  </a:lnTo>
                  <a:lnTo>
                    <a:pt x="1256939" y="2195513"/>
                  </a:lnTo>
                  <a:lnTo>
                    <a:pt x="1254654" y="2193698"/>
                  </a:lnTo>
                  <a:lnTo>
                    <a:pt x="1252598" y="2192111"/>
                  </a:lnTo>
                  <a:lnTo>
                    <a:pt x="1250998" y="2190070"/>
                  </a:lnTo>
                  <a:lnTo>
                    <a:pt x="1249399" y="2188029"/>
                  </a:lnTo>
                  <a:lnTo>
                    <a:pt x="1248028" y="2185761"/>
                  </a:lnTo>
                  <a:lnTo>
                    <a:pt x="1246657" y="2183266"/>
                  </a:lnTo>
                  <a:lnTo>
                    <a:pt x="1245971" y="2180772"/>
                  </a:lnTo>
                  <a:lnTo>
                    <a:pt x="1245286" y="2178050"/>
                  </a:lnTo>
                  <a:lnTo>
                    <a:pt x="1244600" y="2175329"/>
                  </a:lnTo>
                  <a:lnTo>
                    <a:pt x="1244600" y="2172607"/>
                  </a:lnTo>
                  <a:lnTo>
                    <a:pt x="1244600" y="1055127"/>
                  </a:lnTo>
                  <a:lnTo>
                    <a:pt x="1243701" y="1055127"/>
                  </a:lnTo>
                  <a:lnTo>
                    <a:pt x="1240979" y="1054900"/>
                  </a:lnTo>
                  <a:lnTo>
                    <a:pt x="1238710" y="1054673"/>
                  </a:lnTo>
                  <a:lnTo>
                    <a:pt x="1236441" y="1054220"/>
                  </a:lnTo>
                  <a:lnTo>
                    <a:pt x="1234173" y="1053313"/>
                  </a:lnTo>
                  <a:lnTo>
                    <a:pt x="1232584" y="1052633"/>
                  </a:lnTo>
                  <a:lnTo>
                    <a:pt x="1230543" y="1051725"/>
                  </a:lnTo>
                  <a:lnTo>
                    <a:pt x="1228954" y="1050365"/>
                  </a:lnTo>
                  <a:lnTo>
                    <a:pt x="1227593" y="1049231"/>
                  </a:lnTo>
                  <a:lnTo>
                    <a:pt x="1226232" y="1047871"/>
                  </a:lnTo>
                  <a:lnTo>
                    <a:pt x="1225324" y="1046510"/>
                  </a:lnTo>
                  <a:lnTo>
                    <a:pt x="1224417" y="1044923"/>
                  </a:lnTo>
                  <a:lnTo>
                    <a:pt x="1223509" y="1043562"/>
                  </a:lnTo>
                  <a:lnTo>
                    <a:pt x="1223056" y="1041748"/>
                  </a:lnTo>
                  <a:lnTo>
                    <a:pt x="1222602" y="1040161"/>
                  </a:lnTo>
                  <a:lnTo>
                    <a:pt x="1222375" y="1038573"/>
                  </a:lnTo>
                  <a:lnTo>
                    <a:pt x="1222375" y="1036759"/>
                  </a:lnTo>
                  <a:lnTo>
                    <a:pt x="1222375" y="1034945"/>
                  </a:lnTo>
                  <a:lnTo>
                    <a:pt x="1222602" y="1033358"/>
                  </a:lnTo>
                  <a:lnTo>
                    <a:pt x="1223056" y="1031771"/>
                  </a:lnTo>
                  <a:lnTo>
                    <a:pt x="1223509" y="1030183"/>
                  </a:lnTo>
                  <a:lnTo>
                    <a:pt x="1224417" y="1028596"/>
                  </a:lnTo>
                  <a:lnTo>
                    <a:pt x="1225324" y="1027009"/>
                  </a:lnTo>
                  <a:lnTo>
                    <a:pt x="1226232" y="1025648"/>
                  </a:lnTo>
                  <a:lnTo>
                    <a:pt x="1227593" y="1024287"/>
                  </a:lnTo>
                  <a:lnTo>
                    <a:pt x="1228954" y="1023154"/>
                  </a:lnTo>
                  <a:lnTo>
                    <a:pt x="1230543" y="1022247"/>
                  </a:lnTo>
                  <a:lnTo>
                    <a:pt x="1232358" y="1021113"/>
                  </a:lnTo>
                  <a:lnTo>
                    <a:pt x="1234173" y="1020206"/>
                  </a:lnTo>
                  <a:lnTo>
                    <a:pt x="1236441" y="1019752"/>
                  </a:lnTo>
                  <a:lnTo>
                    <a:pt x="1238710" y="1019072"/>
                  </a:lnTo>
                  <a:lnTo>
                    <a:pt x="1240979" y="1018618"/>
                  </a:lnTo>
                  <a:lnTo>
                    <a:pt x="1243701" y="1018618"/>
                  </a:lnTo>
                  <a:lnTo>
                    <a:pt x="1244600" y="1018614"/>
                  </a:lnTo>
                  <a:lnTo>
                    <a:pt x="1244600" y="1011209"/>
                  </a:lnTo>
                  <a:lnTo>
                    <a:pt x="861069" y="1002064"/>
                  </a:lnTo>
                  <a:lnTo>
                    <a:pt x="862657" y="935396"/>
                  </a:lnTo>
                  <a:lnTo>
                    <a:pt x="857893" y="934262"/>
                  </a:lnTo>
                  <a:lnTo>
                    <a:pt x="852674" y="933128"/>
                  </a:lnTo>
                  <a:lnTo>
                    <a:pt x="845867" y="931541"/>
                  </a:lnTo>
                  <a:lnTo>
                    <a:pt x="837926" y="930407"/>
                  </a:lnTo>
                  <a:lnTo>
                    <a:pt x="829304" y="929046"/>
                  </a:lnTo>
                  <a:lnTo>
                    <a:pt x="819774" y="928366"/>
                  </a:lnTo>
                  <a:lnTo>
                    <a:pt x="815009" y="928139"/>
                  </a:lnTo>
                  <a:lnTo>
                    <a:pt x="810471" y="928139"/>
                  </a:lnTo>
                  <a:lnTo>
                    <a:pt x="805933" y="928139"/>
                  </a:lnTo>
                  <a:lnTo>
                    <a:pt x="801849" y="928819"/>
                  </a:lnTo>
                  <a:lnTo>
                    <a:pt x="798446" y="929500"/>
                  </a:lnTo>
                  <a:lnTo>
                    <a:pt x="795269" y="931087"/>
                  </a:lnTo>
                  <a:lnTo>
                    <a:pt x="792320" y="932901"/>
                  </a:lnTo>
                  <a:lnTo>
                    <a:pt x="789370" y="934715"/>
                  </a:lnTo>
                  <a:lnTo>
                    <a:pt x="786874" y="937436"/>
                  </a:lnTo>
                  <a:lnTo>
                    <a:pt x="784151" y="940611"/>
                  </a:lnTo>
                  <a:lnTo>
                    <a:pt x="781429" y="944013"/>
                  </a:lnTo>
                  <a:lnTo>
                    <a:pt x="778252" y="947868"/>
                  </a:lnTo>
                  <a:lnTo>
                    <a:pt x="772126" y="957165"/>
                  </a:lnTo>
                  <a:lnTo>
                    <a:pt x="764638" y="968503"/>
                  </a:lnTo>
                  <a:lnTo>
                    <a:pt x="760327" y="975079"/>
                  </a:lnTo>
                  <a:lnTo>
                    <a:pt x="755109" y="981882"/>
                  </a:lnTo>
                  <a:lnTo>
                    <a:pt x="752613" y="985737"/>
                  </a:lnTo>
                  <a:lnTo>
                    <a:pt x="750117" y="989365"/>
                  </a:lnTo>
                  <a:lnTo>
                    <a:pt x="747848" y="993220"/>
                  </a:lnTo>
                  <a:lnTo>
                    <a:pt x="745806" y="997302"/>
                  </a:lnTo>
                  <a:lnTo>
                    <a:pt x="744218" y="1001610"/>
                  </a:lnTo>
                  <a:lnTo>
                    <a:pt x="742403" y="1005465"/>
                  </a:lnTo>
                  <a:lnTo>
                    <a:pt x="740588" y="1009774"/>
                  </a:lnTo>
                  <a:lnTo>
                    <a:pt x="739453" y="1013855"/>
                  </a:lnTo>
                  <a:lnTo>
                    <a:pt x="736957" y="1022019"/>
                  </a:lnTo>
                  <a:lnTo>
                    <a:pt x="735142" y="1030182"/>
                  </a:lnTo>
                  <a:lnTo>
                    <a:pt x="733781" y="1038346"/>
                  </a:lnTo>
                  <a:lnTo>
                    <a:pt x="732646" y="1045829"/>
                  </a:lnTo>
                  <a:lnTo>
                    <a:pt x="732192" y="1053312"/>
                  </a:lnTo>
                  <a:lnTo>
                    <a:pt x="731965" y="1059888"/>
                  </a:lnTo>
                  <a:lnTo>
                    <a:pt x="731965" y="1065784"/>
                  </a:lnTo>
                  <a:lnTo>
                    <a:pt x="732192" y="1071000"/>
                  </a:lnTo>
                  <a:lnTo>
                    <a:pt x="732419" y="1075081"/>
                  </a:lnTo>
                  <a:lnTo>
                    <a:pt x="733100" y="1078029"/>
                  </a:lnTo>
                  <a:lnTo>
                    <a:pt x="733781" y="1080070"/>
                  </a:lnTo>
                  <a:lnTo>
                    <a:pt x="734008" y="1080524"/>
                  </a:lnTo>
                  <a:lnTo>
                    <a:pt x="734234" y="1080750"/>
                  </a:lnTo>
                  <a:lnTo>
                    <a:pt x="749890" y="1081204"/>
                  </a:lnTo>
                  <a:lnTo>
                    <a:pt x="764865" y="1081884"/>
                  </a:lnTo>
                  <a:lnTo>
                    <a:pt x="772353" y="1082111"/>
                  </a:lnTo>
                  <a:lnTo>
                    <a:pt x="779840" y="1082791"/>
                  </a:lnTo>
                  <a:lnTo>
                    <a:pt x="787328" y="1083698"/>
                  </a:lnTo>
                  <a:lnTo>
                    <a:pt x="794589" y="1084832"/>
                  </a:lnTo>
                  <a:lnTo>
                    <a:pt x="801849" y="1085966"/>
                  </a:lnTo>
                  <a:lnTo>
                    <a:pt x="809110" y="1087553"/>
                  </a:lnTo>
                  <a:lnTo>
                    <a:pt x="816598" y="1089367"/>
                  </a:lnTo>
                  <a:lnTo>
                    <a:pt x="824085" y="1091635"/>
                  </a:lnTo>
                  <a:lnTo>
                    <a:pt x="831346" y="1093903"/>
                  </a:lnTo>
                  <a:lnTo>
                    <a:pt x="838833" y="1097077"/>
                  </a:lnTo>
                  <a:lnTo>
                    <a:pt x="846321" y="1100252"/>
                  </a:lnTo>
                  <a:lnTo>
                    <a:pt x="854035" y="1103880"/>
                  </a:lnTo>
                  <a:lnTo>
                    <a:pt x="858573" y="1106374"/>
                  </a:lnTo>
                  <a:lnTo>
                    <a:pt x="862657" y="1109096"/>
                  </a:lnTo>
                  <a:lnTo>
                    <a:pt x="867195" y="1111590"/>
                  </a:lnTo>
                  <a:lnTo>
                    <a:pt x="871052" y="1114538"/>
                  </a:lnTo>
                  <a:lnTo>
                    <a:pt x="878994" y="1120434"/>
                  </a:lnTo>
                  <a:lnTo>
                    <a:pt x="886708" y="1126783"/>
                  </a:lnTo>
                  <a:lnTo>
                    <a:pt x="893742" y="1133132"/>
                  </a:lnTo>
                  <a:lnTo>
                    <a:pt x="900095" y="1139935"/>
                  </a:lnTo>
                  <a:lnTo>
                    <a:pt x="906448" y="1146511"/>
                  </a:lnTo>
                  <a:lnTo>
                    <a:pt x="911894" y="1153314"/>
                  </a:lnTo>
                  <a:lnTo>
                    <a:pt x="916885" y="1159664"/>
                  </a:lnTo>
                  <a:lnTo>
                    <a:pt x="921196" y="1166240"/>
                  </a:lnTo>
                  <a:lnTo>
                    <a:pt x="925507" y="1172136"/>
                  </a:lnTo>
                  <a:lnTo>
                    <a:pt x="928684" y="1177578"/>
                  </a:lnTo>
                  <a:lnTo>
                    <a:pt x="931634" y="1182793"/>
                  </a:lnTo>
                  <a:lnTo>
                    <a:pt x="934130" y="1187329"/>
                  </a:lnTo>
                  <a:lnTo>
                    <a:pt x="935945" y="1190957"/>
                  </a:lnTo>
                  <a:lnTo>
                    <a:pt x="937079" y="1193905"/>
                  </a:lnTo>
                  <a:lnTo>
                    <a:pt x="938667" y="1198440"/>
                  </a:lnTo>
                  <a:lnTo>
                    <a:pt x="939802" y="1202068"/>
                  </a:lnTo>
                  <a:lnTo>
                    <a:pt x="941390" y="1207511"/>
                  </a:lnTo>
                  <a:lnTo>
                    <a:pt x="942071" y="1209325"/>
                  </a:lnTo>
                  <a:lnTo>
                    <a:pt x="942525" y="1210232"/>
                  </a:lnTo>
                  <a:lnTo>
                    <a:pt x="943432" y="1211139"/>
                  </a:lnTo>
                  <a:lnTo>
                    <a:pt x="944340" y="1211366"/>
                  </a:lnTo>
                  <a:lnTo>
                    <a:pt x="959769" y="1212499"/>
                  </a:lnTo>
                  <a:lnTo>
                    <a:pt x="974744" y="1213860"/>
                  </a:lnTo>
                  <a:lnTo>
                    <a:pt x="989946" y="1215220"/>
                  </a:lnTo>
                  <a:lnTo>
                    <a:pt x="1005148" y="1217035"/>
                  </a:lnTo>
                  <a:lnTo>
                    <a:pt x="1019896" y="1218849"/>
                  </a:lnTo>
                  <a:lnTo>
                    <a:pt x="1034644" y="1220663"/>
                  </a:lnTo>
                  <a:lnTo>
                    <a:pt x="1063460" y="1224971"/>
                  </a:lnTo>
                  <a:lnTo>
                    <a:pt x="1090688" y="1229507"/>
                  </a:lnTo>
                  <a:lnTo>
                    <a:pt x="1116327" y="1234042"/>
                  </a:lnTo>
                  <a:lnTo>
                    <a:pt x="1139470" y="1238804"/>
                  </a:lnTo>
                  <a:lnTo>
                    <a:pt x="1160571" y="1243793"/>
                  </a:lnTo>
                  <a:lnTo>
                    <a:pt x="1163067" y="1244473"/>
                  </a:lnTo>
                  <a:lnTo>
                    <a:pt x="1165336" y="1245380"/>
                  </a:lnTo>
                  <a:lnTo>
                    <a:pt x="1167605" y="1246287"/>
                  </a:lnTo>
                  <a:lnTo>
                    <a:pt x="1169647" y="1247194"/>
                  </a:lnTo>
                  <a:lnTo>
                    <a:pt x="1171462" y="1248555"/>
                  </a:lnTo>
                  <a:lnTo>
                    <a:pt x="1173504" y="1249688"/>
                  </a:lnTo>
                  <a:lnTo>
                    <a:pt x="1175320" y="1251276"/>
                  </a:lnTo>
                  <a:lnTo>
                    <a:pt x="1176908" y="1252863"/>
                  </a:lnTo>
                  <a:lnTo>
                    <a:pt x="1180311" y="1256491"/>
                  </a:lnTo>
                  <a:lnTo>
                    <a:pt x="1183034" y="1260119"/>
                  </a:lnTo>
                  <a:lnTo>
                    <a:pt x="1185530" y="1264655"/>
                  </a:lnTo>
                  <a:lnTo>
                    <a:pt x="1187799" y="1269417"/>
                  </a:lnTo>
                  <a:lnTo>
                    <a:pt x="1189387" y="1274179"/>
                  </a:lnTo>
                  <a:lnTo>
                    <a:pt x="1190975" y="1279848"/>
                  </a:lnTo>
                  <a:lnTo>
                    <a:pt x="1192110" y="1285290"/>
                  </a:lnTo>
                  <a:lnTo>
                    <a:pt x="1193244" y="1291186"/>
                  </a:lnTo>
                  <a:lnTo>
                    <a:pt x="1193925" y="1297309"/>
                  </a:lnTo>
                  <a:lnTo>
                    <a:pt x="1194152" y="1303885"/>
                  </a:lnTo>
                  <a:lnTo>
                    <a:pt x="1194379" y="1310461"/>
                  </a:lnTo>
                  <a:lnTo>
                    <a:pt x="1194379" y="1317264"/>
                  </a:lnTo>
                  <a:lnTo>
                    <a:pt x="1194152" y="1324066"/>
                  </a:lnTo>
                  <a:lnTo>
                    <a:pt x="1193925" y="1331096"/>
                  </a:lnTo>
                  <a:lnTo>
                    <a:pt x="1193244" y="1338353"/>
                  </a:lnTo>
                  <a:lnTo>
                    <a:pt x="1192337" y="1345382"/>
                  </a:lnTo>
                  <a:lnTo>
                    <a:pt x="1190748" y="1359895"/>
                  </a:lnTo>
                  <a:lnTo>
                    <a:pt x="1188253" y="1374181"/>
                  </a:lnTo>
                  <a:lnTo>
                    <a:pt x="1185530" y="1388014"/>
                  </a:lnTo>
                  <a:lnTo>
                    <a:pt x="1182580" y="1401846"/>
                  </a:lnTo>
                  <a:lnTo>
                    <a:pt x="1179177" y="1414545"/>
                  </a:lnTo>
                  <a:lnTo>
                    <a:pt x="1176000" y="1426563"/>
                  </a:lnTo>
                  <a:lnTo>
                    <a:pt x="1172597" y="1438582"/>
                  </a:lnTo>
                  <a:lnTo>
                    <a:pt x="1168513" y="1451734"/>
                  </a:lnTo>
                  <a:lnTo>
                    <a:pt x="1164202" y="1466020"/>
                  </a:lnTo>
                  <a:lnTo>
                    <a:pt x="1159210" y="1480986"/>
                  </a:lnTo>
                  <a:lnTo>
                    <a:pt x="1153991" y="1496633"/>
                  </a:lnTo>
                  <a:lnTo>
                    <a:pt x="1148546" y="1512733"/>
                  </a:lnTo>
                  <a:lnTo>
                    <a:pt x="1142647" y="1529513"/>
                  </a:lnTo>
                  <a:lnTo>
                    <a:pt x="1136294" y="1546067"/>
                  </a:lnTo>
                  <a:lnTo>
                    <a:pt x="1129940" y="1562847"/>
                  </a:lnTo>
                  <a:lnTo>
                    <a:pt x="1123360" y="1579628"/>
                  </a:lnTo>
                  <a:lnTo>
                    <a:pt x="1116554" y="1595955"/>
                  </a:lnTo>
                  <a:lnTo>
                    <a:pt x="1109520" y="1612055"/>
                  </a:lnTo>
                  <a:lnTo>
                    <a:pt x="1102486" y="1627475"/>
                  </a:lnTo>
                  <a:lnTo>
                    <a:pt x="1095452" y="1641988"/>
                  </a:lnTo>
                  <a:lnTo>
                    <a:pt x="1088192" y="1655593"/>
                  </a:lnTo>
                  <a:lnTo>
                    <a:pt x="1081158" y="1668519"/>
                  </a:lnTo>
                  <a:lnTo>
                    <a:pt x="1074124" y="1680991"/>
                  </a:lnTo>
                  <a:lnTo>
                    <a:pt x="1066864" y="1694143"/>
                  </a:lnTo>
                  <a:lnTo>
                    <a:pt x="1059830" y="1707975"/>
                  </a:lnTo>
                  <a:lnTo>
                    <a:pt x="1053023" y="1721808"/>
                  </a:lnTo>
                  <a:lnTo>
                    <a:pt x="1046216" y="1736094"/>
                  </a:lnTo>
                  <a:lnTo>
                    <a:pt x="1039863" y="1750153"/>
                  </a:lnTo>
                  <a:lnTo>
                    <a:pt x="1033737" y="1763986"/>
                  </a:lnTo>
                  <a:lnTo>
                    <a:pt x="1027610" y="1777592"/>
                  </a:lnTo>
                  <a:lnTo>
                    <a:pt x="1016946" y="1802989"/>
                  </a:lnTo>
                  <a:lnTo>
                    <a:pt x="1008324" y="1825212"/>
                  </a:lnTo>
                  <a:lnTo>
                    <a:pt x="1001971" y="1842672"/>
                  </a:lnTo>
                  <a:lnTo>
                    <a:pt x="999702" y="1849022"/>
                  </a:lnTo>
                  <a:lnTo>
                    <a:pt x="998114" y="1854010"/>
                  </a:lnTo>
                  <a:lnTo>
                    <a:pt x="997660" y="1856278"/>
                  </a:lnTo>
                  <a:lnTo>
                    <a:pt x="997206" y="1858772"/>
                  </a:lnTo>
                  <a:lnTo>
                    <a:pt x="997206" y="1861494"/>
                  </a:lnTo>
                  <a:lnTo>
                    <a:pt x="997206" y="1864668"/>
                  </a:lnTo>
                  <a:lnTo>
                    <a:pt x="997660" y="1871925"/>
                  </a:lnTo>
                  <a:lnTo>
                    <a:pt x="998795" y="1879861"/>
                  </a:lnTo>
                  <a:lnTo>
                    <a:pt x="1000383" y="1888705"/>
                  </a:lnTo>
                  <a:lnTo>
                    <a:pt x="1002425" y="1898229"/>
                  </a:lnTo>
                  <a:lnTo>
                    <a:pt x="1004921" y="1907753"/>
                  </a:lnTo>
                  <a:lnTo>
                    <a:pt x="1007644" y="1917731"/>
                  </a:lnTo>
                  <a:lnTo>
                    <a:pt x="1010593" y="1927935"/>
                  </a:lnTo>
                  <a:lnTo>
                    <a:pt x="1013543" y="1937686"/>
                  </a:lnTo>
                  <a:lnTo>
                    <a:pt x="1016946" y="1947210"/>
                  </a:lnTo>
                  <a:lnTo>
                    <a:pt x="1020123" y="1956280"/>
                  </a:lnTo>
                  <a:lnTo>
                    <a:pt x="1023526" y="1964671"/>
                  </a:lnTo>
                  <a:lnTo>
                    <a:pt x="1026930" y="1972154"/>
                  </a:lnTo>
                  <a:lnTo>
                    <a:pt x="1029879" y="1978503"/>
                  </a:lnTo>
                  <a:lnTo>
                    <a:pt x="1032829" y="1983719"/>
                  </a:lnTo>
                  <a:lnTo>
                    <a:pt x="1036006" y="1988027"/>
                  </a:lnTo>
                  <a:lnTo>
                    <a:pt x="1039863" y="1992336"/>
                  </a:lnTo>
                  <a:lnTo>
                    <a:pt x="1044401" y="1996644"/>
                  </a:lnTo>
                  <a:lnTo>
                    <a:pt x="1049619" y="2000953"/>
                  </a:lnTo>
                  <a:lnTo>
                    <a:pt x="1055065" y="2004808"/>
                  </a:lnTo>
                  <a:lnTo>
                    <a:pt x="1061418" y="2008889"/>
                  </a:lnTo>
                  <a:lnTo>
                    <a:pt x="1068225" y="2012517"/>
                  </a:lnTo>
                  <a:lnTo>
                    <a:pt x="1075259" y="2015919"/>
                  </a:lnTo>
                  <a:lnTo>
                    <a:pt x="1083200" y="2019774"/>
                  </a:lnTo>
                  <a:lnTo>
                    <a:pt x="1091368" y="2022949"/>
                  </a:lnTo>
                  <a:lnTo>
                    <a:pt x="1100217" y="2026123"/>
                  </a:lnTo>
                  <a:lnTo>
                    <a:pt x="1109520" y="2029071"/>
                  </a:lnTo>
                  <a:lnTo>
                    <a:pt x="1119276" y="2032019"/>
                  </a:lnTo>
                  <a:lnTo>
                    <a:pt x="1129033" y="2034740"/>
                  </a:lnTo>
                  <a:lnTo>
                    <a:pt x="1139470" y="2037235"/>
                  </a:lnTo>
                  <a:lnTo>
                    <a:pt x="1150588" y="2039729"/>
                  </a:lnTo>
                  <a:lnTo>
                    <a:pt x="1160571" y="2041997"/>
                  </a:lnTo>
                  <a:lnTo>
                    <a:pt x="1169420" y="2044491"/>
                  </a:lnTo>
                  <a:lnTo>
                    <a:pt x="1173278" y="2046078"/>
                  </a:lnTo>
                  <a:lnTo>
                    <a:pt x="1176681" y="2047212"/>
                  </a:lnTo>
                  <a:lnTo>
                    <a:pt x="1179858" y="2048573"/>
                  </a:lnTo>
                  <a:lnTo>
                    <a:pt x="1182580" y="2049933"/>
                  </a:lnTo>
                  <a:lnTo>
                    <a:pt x="1184849" y="2051521"/>
                  </a:lnTo>
                  <a:lnTo>
                    <a:pt x="1186891" y="2052654"/>
                  </a:lnTo>
                  <a:lnTo>
                    <a:pt x="1188933" y="2054242"/>
                  </a:lnTo>
                  <a:lnTo>
                    <a:pt x="1190068" y="2055602"/>
                  </a:lnTo>
                  <a:lnTo>
                    <a:pt x="1191429" y="2057190"/>
                  </a:lnTo>
                  <a:lnTo>
                    <a:pt x="1192337" y="2058550"/>
                  </a:lnTo>
                  <a:lnTo>
                    <a:pt x="1192790" y="2060138"/>
                  </a:lnTo>
                  <a:lnTo>
                    <a:pt x="1193244" y="2061498"/>
                  </a:lnTo>
                  <a:lnTo>
                    <a:pt x="1193244" y="2063086"/>
                  </a:lnTo>
                  <a:lnTo>
                    <a:pt x="1192790" y="2064446"/>
                  </a:lnTo>
                  <a:lnTo>
                    <a:pt x="1192337" y="2065807"/>
                  </a:lnTo>
                  <a:lnTo>
                    <a:pt x="1191656" y="2067394"/>
                  </a:lnTo>
                  <a:lnTo>
                    <a:pt x="1190748" y="2068755"/>
                  </a:lnTo>
                  <a:lnTo>
                    <a:pt x="1189387" y="2070342"/>
                  </a:lnTo>
                  <a:lnTo>
                    <a:pt x="1188026" y="2071702"/>
                  </a:lnTo>
                  <a:lnTo>
                    <a:pt x="1186211" y="2073063"/>
                  </a:lnTo>
                  <a:lnTo>
                    <a:pt x="1182126" y="2075784"/>
                  </a:lnTo>
                  <a:lnTo>
                    <a:pt x="1177588" y="2078505"/>
                  </a:lnTo>
                  <a:lnTo>
                    <a:pt x="1171916" y="2081000"/>
                  </a:lnTo>
                  <a:lnTo>
                    <a:pt x="1165563" y="2083267"/>
                  </a:lnTo>
                  <a:lnTo>
                    <a:pt x="1137428" y="2093245"/>
                  </a:lnTo>
                  <a:lnTo>
                    <a:pt x="1122226" y="2098914"/>
                  </a:lnTo>
                  <a:lnTo>
                    <a:pt x="1107024" y="2103676"/>
                  </a:lnTo>
                  <a:lnTo>
                    <a:pt x="1092503" y="2108211"/>
                  </a:lnTo>
                  <a:lnTo>
                    <a:pt x="1085469" y="2110252"/>
                  </a:lnTo>
                  <a:lnTo>
                    <a:pt x="1078889" y="2111839"/>
                  </a:lnTo>
                  <a:lnTo>
                    <a:pt x="1072309" y="2113200"/>
                  </a:lnTo>
                  <a:lnTo>
                    <a:pt x="1066410" y="2114107"/>
                  </a:lnTo>
                  <a:lnTo>
                    <a:pt x="1060737" y="2115014"/>
                  </a:lnTo>
                  <a:lnTo>
                    <a:pt x="1055746" y="2115241"/>
                  </a:lnTo>
                  <a:lnTo>
                    <a:pt x="1050754" y="2115014"/>
                  </a:lnTo>
                  <a:lnTo>
                    <a:pt x="1045762" y="2114107"/>
                  </a:lnTo>
                  <a:lnTo>
                    <a:pt x="1040770" y="2112973"/>
                  </a:lnTo>
                  <a:lnTo>
                    <a:pt x="1035552" y="2111159"/>
                  </a:lnTo>
                  <a:lnTo>
                    <a:pt x="1030106" y="2109118"/>
                  </a:lnTo>
                  <a:lnTo>
                    <a:pt x="1024888" y="2106851"/>
                  </a:lnTo>
                  <a:lnTo>
                    <a:pt x="1019442" y="2103903"/>
                  </a:lnTo>
                  <a:lnTo>
                    <a:pt x="1013997" y="2100955"/>
                  </a:lnTo>
                  <a:lnTo>
                    <a:pt x="1008551" y="2097780"/>
                  </a:lnTo>
                  <a:lnTo>
                    <a:pt x="1003106" y="2094379"/>
                  </a:lnTo>
                  <a:lnTo>
                    <a:pt x="992215" y="2086896"/>
                  </a:lnTo>
                  <a:lnTo>
                    <a:pt x="981551" y="2079186"/>
                  </a:lnTo>
                  <a:lnTo>
                    <a:pt x="971114" y="2071249"/>
                  </a:lnTo>
                  <a:lnTo>
                    <a:pt x="960222" y="2062632"/>
                  </a:lnTo>
                  <a:lnTo>
                    <a:pt x="947743" y="2053335"/>
                  </a:lnTo>
                  <a:lnTo>
                    <a:pt x="922558" y="2035420"/>
                  </a:lnTo>
                  <a:lnTo>
                    <a:pt x="902364" y="2021134"/>
                  </a:lnTo>
                  <a:lnTo>
                    <a:pt x="894196" y="2015465"/>
                  </a:lnTo>
                  <a:lnTo>
                    <a:pt x="894196" y="2145173"/>
                  </a:lnTo>
                  <a:lnTo>
                    <a:pt x="893969" y="2146081"/>
                  </a:lnTo>
                  <a:lnTo>
                    <a:pt x="893742" y="2146988"/>
                  </a:lnTo>
                  <a:lnTo>
                    <a:pt x="893061" y="2147441"/>
                  </a:lnTo>
                  <a:lnTo>
                    <a:pt x="892154" y="2147895"/>
                  </a:lnTo>
                  <a:lnTo>
                    <a:pt x="890339" y="2148348"/>
                  </a:lnTo>
                  <a:lnTo>
                    <a:pt x="888070" y="2149255"/>
                  </a:lnTo>
                  <a:lnTo>
                    <a:pt x="886935" y="2149482"/>
                  </a:lnTo>
                  <a:lnTo>
                    <a:pt x="885801" y="2149935"/>
                  </a:lnTo>
                  <a:lnTo>
                    <a:pt x="884893" y="2150616"/>
                  </a:lnTo>
                  <a:lnTo>
                    <a:pt x="883986" y="2151523"/>
                  </a:lnTo>
                  <a:lnTo>
                    <a:pt x="883305" y="2152883"/>
                  </a:lnTo>
                  <a:lnTo>
                    <a:pt x="882624" y="2154244"/>
                  </a:lnTo>
                  <a:lnTo>
                    <a:pt x="882397" y="2156285"/>
                  </a:lnTo>
                  <a:lnTo>
                    <a:pt x="882170" y="2158779"/>
                  </a:lnTo>
                  <a:lnTo>
                    <a:pt x="882170" y="2165129"/>
                  </a:lnTo>
                  <a:lnTo>
                    <a:pt x="881717" y="2168757"/>
                  </a:lnTo>
                  <a:lnTo>
                    <a:pt x="881490" y="2172838"/>
                  </a:lnTo>
                  <a:lnTo>
                    <a:pt x="881036" y="2177147"/>
                  </a:lnTo>
                  <a:lnTo>
                    <a:pt x="880128" y="2181909"/>
                  </a:lnTo>
                  <a:lnTo>
                    <a:pt x="878994" y="2186444"/>
                  </a:lnTo>
                  <a:lnTo>
                    <a:pt x="877632" y="2190753"/>
                  </a:lnTo>
                  <a:lnTo>
                    <a:pt x="875590" y="2195061"/>
                  </a:lnTo>
                  <a:lnTo>
                    <a:pt x="874456" y="2197102"/>
                  </a:lnTo>
                  <a:lnTo>
                    <a:pt x="873095" y="2198916"/>
                  </a:lnTo>
                  <a:lnTo>
                    <a:pt x="871960" y="2200730"/>
                  </a:lnTo>
                  <a:lnTo>
                    <a:pt x="870145" y="2202544"/>
                  </a:lnTo>
                  <a:lnTo>
                    <a:pt x="868557" y="2204132"/>
                  </a:lnTo>
                  <a:lnTo>
                    <a:pt x="866741" y="2205719"/>
                  </a:lnTo>
                  <a:lnTo>
                    <a:pt x="864699" y="2207080"/>
                  </a:lnTo>
                  <a:lnTo>
                    <a:pt x="862430" y="2208213"/>
                  </a:lnTo>
                  <a:lnTo>
                    <a:pt x="860162" y="2209120"/>
                  </a:lnTo>
                  <a:lnTo>
                    <a:pt x="857666" y="2210254"/>
                  </a:lnTo>
                  <a:lnTo>
                    <a:pt x="854943" y="2210708"/>
                  </a:lnTo>
                  <a:lnTo>
                    <a:pt x="851993" y="2211161"/>
                  </a:lnTo>
                  <a:lnTo>
                    <a:pt x="849044" y="2211388"/>
                  </a:lnTo>
                  <a:lnTo>
                    <a:pt x="845640" y="2211388"/>
                  </a:lnTo>
                  <a:lnTo>
                    <a:pt x="839060" y="2211161"/>
                  </a:lnTo>
                  <a:lnTo>
                    <a:pt x="832934" y="2210481"/>
                  </a:lnTo>
                  <a:lnTo>
                    <a:pt x="827262" y="2209574"/>
                  </a:lnTo>
                  <a:lnTo>
                    <a:pt x="822043" y="2208667"/>
                  </a:lnTo>
                  <a:lnTo>
                    <a:pt x="817278" y="2207533"/>
                  </a:lnTo>
                  <a:lnTo>
                    <a:pt x="813194" y="2205719"/>
                  </a:lnTo>
                  <a:lnTo>
                    <a:pt x="809110" y="2203678"/>
                  </a:lnTo>
                  <a:lnTo>
                    <a:pt x="807295" y="2202544"/>
                  </a:lnTo>
                  <a:lnTo>
                    <a:pt x="805933" y="2201184"/>
                  </a:lnTo>
                  <a:lnTo>
                    <a:pt x="804345" y="2199823"/>
                  </a:lnTo>
                  <a:lnTo>
                    <a:pt x="802984" y="2198236"/>
                  </a:lnTo>
                  <a:lnTo>
                    <a:pt x="801622" y="2196649"/>
                  </a:lnTo>
                  <a:lnTo>
                    <a:pt x="800488" y="2194834"/>
                  </a:lnTo>
                  <a:lnTo>
                    <a:pt x="799353" y="2193020"/>
                  </a:lnTo>
                  <a:lnTo>
                    <a:pt x="798446" y="2190753"/>
                  </a:lnTo>
                  <a:lnTo>
                    <a:pt x="797538" y="2188712"/>
                  </a:lnTo>
                  <a:lnTo>
                    <a:pt x="796631" y="2186444"/>
                  </a:lnTo>
                  <a:lnTo>
                    <a:pt x="795496" y="2181229"/>
                  </a:lnTo>
                  <a:lnTo>
                    <a:pt x="794816" y="2175333"/>
                  </a:lnTo>
                  <a:lnTo>
                    <a:pt x="794589" y="2168984"/>
                  </a:lnTo>
                  <a:lnTo>
                    <a:pt x="794589" y="2161727"/>
                  </a:lnTo>
                  <a:lnTo>
                    <a:pt x="794816" y="2158099"/>
                  </a:lnTo>
                  <a:lnTo>
                    <a:pt x="795269" y="2154697"/>
                  </a:lnTo>
                  <a:lnTo>
                    <a:pt x="795950" y="2151296"/>
                  </a:lnTo>
                  <a:lnTo>
                    <a:pt x="796858" y="2148121"/>
                  </a:lnTo>
                  <a:lnTo>
                    <a:pt x="797992" y="2145400"/>
                  </a:lnTo>
                  <a:lnTo>
                    <a:pt x="799127" y="2142679"/>
                  </a:lnTo>
                  <a:lnTo>
                    <a:pt x="800715" y="2140185"/>
                  </a:lnTo>
                  <a:lnTo>
                    <a:pt x="802530" y="2137690"/>
                  </a:lnTo>
                  <a:lnTo>
                    <a:pt x="804118" y="2135423"/>
                  </a:lnTo>
                  <a:lnTo>
                    <a:pt x="805933" y="2133609"/>
                  </a:lnTo>
                  <a:lnTo>
                    <a:pt x="807976" y="2131794"/>
                  </a:lnTo>
                  <a:lnTo>
                    <a:pt x="809791" y="2129980"/>
                  </a:lnTo>
                  <a:lnTo>
                    <a:pt x="812060" y="2128620"/>
                  </a:lnTo>
                  <a:lnTo>
                    <a:pt x="814329" y="2127032"/>
                  </a:lnTo>
                  <a:lnTo>
                    <a:pt x="818866" y="2124765"/>
                  </a:lnTo>
                  <a:lnTo>
                    <a:pt x="823178" y="2122951"/>
                  </a:lnTo>
                  <a:lnTo>
                    <a:pt x="827942" y="2121363"/>
                  </a:lnTo>
                  <a:lnTo>
                    <a:pt x="832480" y="2120456"/>
                  </a:lnTo>
                  <a:lnTo>
                    <a:pt x="836564" y="2119549"/>
                  </a:lnTo>
                  <a:lnTo>
                    <a:pt x="840422" y="2119096"/>
                  </a:lnTo>
                  <a:lnTo>
                    <a:pt x="843825" y="2119096"/>
                  </a:lnTo>
                  <a:lnTo>
                    <a:pt x="846548" y="2119096"/>
                  </a:lnTo>
                  <a:lnTo>
                    <a:pt x="848590" y="2119323"/>
                  </a:lnTo>
                  <a:lnTo>
                    <a:pt x="850405" y="2119323"/>
                  </a:lnTo>
                  <a:lnTo>
                    <a:pt x="851539" y="2119323"/>
                  </a:lnTo>
                  <a:lnTo>
                    <a:pt x="852447" y="2119096"/>
                  </a:lnTo>
                  <a:lnTo>
                    <a:pt x="853128" y="2118415"/>
                  </a:lnTo>
                  <a:lnTo>
                    <a:pt x="853355" y="2117508"/>
                  </a:lnTo>
                  <a:lnTo>
                    <a:pt x="853355" y="2116148"/>
                  </a:lnTo>
                  <a:lnTo>
                    <a:pt x="852674" y="2114334"/>
                  </a:lnTo>
                  <a:lnTo>
                    <a:pt x="851766" y="2112293"/>
                  </a:lnTo>
                  <a:lnTo>
                    <a:pt x="850632" y="2109572"/>
                  </a:lnTo>
                  <a:lnTo>
                    <a:pt x="848590" y="2106170"/>
                  </a:lnTo>
                  <a:lnTo>
                    <a:pt x="843825" y="2098007"/>
                  </a:lnTo>
                  <a:lnTo>
                    <a:pt x="837018" y="2087576"/>
                  </a:lnTo>
                  <a:lnTo>
                    <a:pt x="827715" y="2074197"/>
                  </a:lnTo>
                  <a:lnTo>
                    <a:pt x="822497" y="2066714"/>
                  </a:lnTo>
                  <a:lnTo>
                    <a:pt x="816824" y="2059457"/>
                  </a:lnTo>
                  <a:lnTo>
                    <a:pt x="810925" y="2051974"/>
                  </a:lnTo>
                  <a:lnTo>
                    <a:pt x="804572" y="2044491"/>
                  </a:lnTo>
                  <a:lnTo>
                    <a:pt x="797992" y="2037235"/>
                  </a:lnTo>
                  <a:lnTo>
                    <a:pt x="791185" y="2029978"/>
                  </a:lnTo>
                  <a:lnTo>
                    <a:pt x="784605" y="2022949"/>
                  </a:lnTo>
                  <a:lnTo>
                    <a:pt x="777571" y="2015919"/>
                  </a:lnTo>
                  <a:lnTo>
                    <a:pt x="763958" y="2002767"/>
                  </a:lnTo>
                  <a:lnTo>
                    <a:pt x="750798" y="1990975"/>
                  </a:lnTo>
                  <a:lnTo>
                    <a:pt x="738772" y="1980544"/>
                  </a:lnTo>
                  <a:lnTo>
                    <a:pt x="728335" y="1971700"/>
                  </a:lnTo>
                  <a:lnTo>
                    <a:pt x="725385" y="1969206"/>
                  </a:lnTo>
                  <a:lnTo>
                    <a:pt x="722209" y="1967165"/>
                  </a:lnTo>
                  <a:lnTo>
                    <a:pt x="716537" y="1963310"/>
                  </a:lnTo>
                  <a:lnTo>
                    <a:pt x="711091" y="1960589"/>
                  </a:lnTo>
                  <a:lnTo>
                    <a:pt x="706326" y="1958548"/>
                  </a:lnTo>
                  <a:lnTo>
                    <a:pt x="702242" y="1956961"/>
                  </a:lnTo>
                  <a:lnTo>
                    <a:pt x="699066" y="1956054"/>
                  </a:lnTo>
                  <a:lnTo>
                    <a:pt x="696343" y="1955147"/>
                  </a:lnTo>
                  <a:lnTo>
                    <a:pt x="696343" y="1994150"/>
                  </a:lnTo>
                  <a:lnTo>
                    <a:pt x="723116" y="1995964"/>
                  </a:lnTo>
                  <a:lnTo>
                    <a:pt x="726974" y="1996191"/>
                  </a:lnTo>
                  <a:lnTo>
                    <a:pt x="731058" y="1996871"/>
                  </a:lnTo>
                  <a:lnTo>
                    <a:pt x="734688" y="1998231"/>
                  </a:lnTo>
                  <a:lnTo>
                    <a:pt x="738318" y="1999592"/>
                  </a:lnTo>
                  <a:lnTo>
                    <a:pt x="741722" y="2001406"/>
                  </a:lnTo>
                  <a:lnTo>
                    <a:pt x="744898" y="2003674"/>
                  </a:lnTo>
                  <a:lnTo>
                    <a:pt x="747848" y="2005715"/>
                  </a:lnTo>
                  <a:lnTo>
                    <a:pt x="750571" y="2008436"/>
                  </a:lnTo>
                  <a:lnTo>
                    <a:pt x="753067" y="2011384"/>
                  </a:lnTo>
                  <a:lnTo>
                    <a:pt x="755109" y="2014558"/>
                  </a:lnTo>
                  <a:lnTo>
                    <a:pt x="756924" y="2017733"/>
                  </a:lnTo>
                  <a:lnTo>
                    <a:pt x="758512" y="2021134"/>
                  </a:lnTo>
                  <a:lnTo>
                    <a:pt x="759647" y="2024763"/>
                  </a:lnTo>
                  <a:lnTo>
                    <a:pt x="760781" y="2028618"/>
                  </a:lnTo>
                  <a:lnTo>
                    <a:pt x="761235" y="2032246"/>
                  </a:lnTo>
                  <a:lnTo>
                    <a:pt x="761462" y="2036554"/>
                  </a:lnTo>
                  <a:lnTo>
                    <a:pt x="761235" y="2040863"/>
                  </a:lnTo>
                  <a:lnTo>
                    <a:pt x="760781" y="2044718"/>
                  </a:lnTo>
                  <a:lnTo>
                    <a:pt x="759647" y="2048799"/>
                  </a:lnTo>
                  <a:lnTo>
                    <a:pt x="758285" y="2052428"/>
                  </a:lnTo>
                  <a:lnTo>
                    <a:pt x="756470" y="2055829"/>
                  </a:lnTo>
                  <a:lnTo>
                    <a:pt x="754655" y="2059457"/>
                  </a:lnTo>
                  <a:lnTo>
                    <a:pt x="752386" y="2062405"/>
                  </a:lnTo>
                  <a:lnTo>
                    <a:pt x="749663" y="2065353"/>
                  </a:lnTo>
                  <a:lnTo>
                    <a:pt x="746714" y="2068074"/>
                  </a:lnTo>
                  <a:lnTo>
                    <a:pt x="743537" y="2070342"/>
                  </a:lnTo>
                  <a:lnTo>
                    <a:pt x="740134" y="2072383"/>
                  </a:lnTo>
                  <a:lnTo>
                    <a:pt x="736730" y="2073970"/>
                  </a:lnTo>
                  <a:lnTo>
                    <a:pt x="732873" y="2075557"/>
                  </a:lnTo>
                  <a:lnTo>
                    <a:pt x="729016" y="2076464"/>
                  </a:lnTo>
                  <a:lnTo>
                    <a:pt x="724932" y="2076918"/>
                  </a:lnTo>
                  <a:lnTo>
                    <a:pt x="720848" y="2077145"/>
                  </a:lnTo>
                  <a:lnTo>
                    <a:pt x="716537" y="2076918"/>
                  </a:lnTo>
                  <a:lnTo>
                    <a:pt x="712679" y="2076464"/>
                  </a:lnTo>
                  <a:lnTo>
                    <a:pt x="708595" y="2075557"/>
                  </a:lnTo>
                  <a:lnTo>
                    <a:pt x="704965" y="2073970"/>
                  </a:lnTo>
                  <a:lnTo>
                    <a:pt x="701561" y="2072383"/>
                  </a:lnTo>
                  <a:lnTo>
                    <a:pt x="697931" y="2070342"/>
                  </a:lnTo>
                  <a:lnTo>
                    <a:pt x="694981" y="2068074"/>
                  </a:lnTo>
                  <a:lnTo>
                    <a:pt x="692032" y="2065353"/>
                  </a:lnTo>
                  <a:lnTo>
                    <a:pt x="689309" y="2062632"/>
                  </a:lnTo>
                  <a:lnTo>
                    <a:pt x="687040" y="2059457"/>
                  </a:lnTo>
                  <a:lnTo>
                    <a:pt x="684998" y="2056056"/>
                  </a:lnTo>
                  <a:lnTo>
                    <a:pt x="683410" y="2052428"/>
                  </a:lnTo>
                  <a:lnTo>
                    <a:pt x="681822" y="2048799"/>
                  </a:lnTo>
                  <a:lnTo>
                    <a:pt x="680914" y="2044945"/>
                  </a:lnTo>
                  <a:lnTo>
                    <a:pt x="680233" y="2040863"/>
                  </a:lnTo>
                  <a:lnTo>
                    <a:pt x="679779" y="2036781"/>
                  </a:lnTo>
                  <a:lnTo>
                    <a:pt x="679779" y="2030658"/>
                  </a:lnTo>
                  <a:lnTo>
                    <a:pt x="661855" y="2030658"/>
                  </a:lnTo>
                  <a:lnTo>
                    <a:pt x="661174" y="1994830"/>
                  </a:lnTo>
                  <a:lnTo>
                    <a:pt x="594467" y="1994150"/>
                  </a:lnTo>
                  <a:lnTo>
                    <a:pt x="594467" y="1938593"/>
                  </a:lnTo>
                  <a:lnTo>
                    <a:pt x="591517" y="1938820"/>
                  </a:lnTo>
                  <a:lnTo>
                    <a:pt x="581534" y="1939273"/>
                  </a:lnTo>
                  <a:lnTo>
                    <a:pt x="579945" y="1939500"/>
                  </a:lnTo>
                  <a:lnTo>
                    <a:pt x="577903" y="1940180"/>
                  </a:lnTo>
                  <a:lnTo>
                    <a:pt x="573365" y="1941768"/>
                  </a:lnTo>
                  <a:lnTo>
                    <a:pt x="568147" y="1944035"/>
                  </a:lnTo>
                  <a:lnTo>
                    <a:pt x="562474" y="1946983"/>
                  </a:lnTo>
                  <a:lnTo>
                    <a:pt x="550449" y="1953559"/>
                  </a:lnTo>
                  <a:lnTo>
                    <a:pt x="543869" y="1956961"/>
                  </a:lnTo>
                  <a:lnTo>
                    <a:pt x="537516" y="1959909"/>
                  </a:lnTo>
                  <a:lnTo>
                    <a:pt x="534112" y="1961723"/>
                  </a:lnTo>
                  <a:lnTo>
                    <a:pt x="529801" y="1963990"/>
                  </a:lnTo>
                  <a:lnTo>
                    <a:pt x="520726" y="1969433"/>
                  </a:lnTo>
                  <a:lnTo>
                    <a:pt x="509835" y="1976009"/>
                  </a:lnTo>
                  <a:lnTo>
                    <a:pt x="498944" y="1983265"/>
                  </a:lnTo>
                  <a:lnTo>
                    <a:pt x="487826" y="1990975"/>
                  </a:lnTo>
                  <a:lnTo>
                    <a:pt x="477615" y="1998458"/>
                  </a:lnTo>
                  <a:lnTo>
                    <a:pt x="468540" y="2005034"/>
                  </a:lnTo>
                  <a:lnTo>
                    <a:pt x="461279" y="2010477"/>
                  </a:lnTo>
                  <a:lnTo>
                    <a:pt x="457649" y="2013651"/>
                  </a:lnTo>
                  <a:lnTo>
                    <a:pt x="452430" y="2018413"/>
                  </a:lnTo>
                  <a:lnTo>
                    <a:pt x="438816" y="2031339"/>
                  </a:lnTo>
                  <a:lnTo>
                    <a:pt x="421799" y="2047439"/>
                  </a:lnTo>
                  <a:lnTo>
                    <a:pt x="403874" y="2065126"/>
                  </a:lnTo>
                  <a:lnTo>
                    <a:pt x="370521" y="2097553"/>
                  </a:lnTo>
                  <a:lnTo>
                    <a:pt x="358949" y="2108665"/>
                  </a:lnTo>
                  <a:lnTo>
                    <a:pt x="355092" y="2112293"/>
                  </a:lnTo>
                  <a:lnTo>
                    <a:pt x="352823" y="2114107"/>
                  </a:lnTo>
                  <a:lnTo>
                    <a:pt x="350100" y="2116148"/>
                  </a:lnTo>
                  <a:lnTo>
                    <a:pt x="348058" y="2118642"/>
                  </a:lnTo>
                  <a:lnTo>
                    <a:pt x="345789" y="2121137"/>
                  </a:lnTo>
                  <a:lnTo>
                    <a:pt x="344201" y="2123858"/>
                  </a:lnTo>
                  <a:lnTo>
                    <a:pt x="343293" y="2126352"/>
                  </a:lnTo>
                  <a:lnTo>
                    <a:pt x="343066" y="2127486"/>
                  </a:lnTo>
                  <a:lnTo>
                    <a:pt x="343066" y="2128620"/>
                  </a:lnTo>
                  <a:lnTo>
                    <a:pt x="343066" y="2129527"/>
                  </a:lnTo>
                  <a:lnTo>
                    <a:pt x="343520" y="2130207"/>
                  </a:lnTo>
                  <a:lnTo>
                    <a:pt x="344201" y="2131114"/>
                  </a:lnTo>
                  <a:lnTo>
                    <a:pt x="344881" y="2131568"/>
                  </a:lnTo>
                  <a:lnTo>
                    <a:pt x="347377" y="2132475"/>
                  </a:lnTo>
                  <a:lnTo>
                    <a:pt x="350327" y="2134289"/>
                  </a:lnTo>
                  <a:lnTo>
                    <a:pt x="351915" y="2135423"/>
                  </a:lnTo>
                  <a:lnTo>
                    <a:pt x="353503" y="2137010"/>
                  </a:lnTo>
                  <a:lnTo>
                    <a:pt x="354865" y="2138371"/>
                  </a:lnTo>
                  <a:lnTo>
                    <a:pt x="356453" y="2140411"/>
                  </a:lnTo>
                  <a:lnTo>
                    <a:pt x="357588" y="2142679"/>
                  </a:lnTo>
                  <a:lnTo>
                    <a:pt x="358949" y="2145173"/>
                  </a:lnTo>
                  <a:lnTo>
                    <a:pt x="360083" y="2147895"/>
                  </a:lnTo>
                  <a:lnTo>
                    <a:pt x="360991" y="2151069"/>
                  </a:lnTo>
                  <a:lnTo>
                    <a:pt x="361899" y="2154697"/>
                  </a:lnTo>
                  <a:lnTo>
                    <a:pt x="362352" y="2158552"/>
                  </a:lnTo>
                  <a:lnTo>
                    <a:pt x="362806" y="2162861"/>
                  </a:lnTo>
                  <a:lnTo>
                    <a:pt x="362806" y="2167396"/>
                  </a:lnTo>
                  <a:lnTo>
                    <a:pt x="362579" y="2169891"/>
                  </a:lnTo>
                  <a:lnTo>
                    <a:pt x="362352" y="2172158"/>
                  </a:lnTo>
                  <a:lnTo>
                    <a:pt x="361672" y="2174653"/>
                  </a:lnTo>
                  <a:lnTo>
                    <a:pt x="360991" y="2176920"/>
                  </a:lnTo>
                  <a:lnTo>
                    <a:pt x="360083" y="2178961"/>
                  </a:lnTo>
                  <a:lnTo>
                    <a:pt x="359176" y="2181229"/>
                  </a:lnTo>
                  <a:lnTo>
                    <a:pt x="357814" y="2183043"/>
                  </a:lnTo>
                  <a:lnTo>
                    <a:pt x="356680" y="2185084"/>
                  </a:lnTo>
                  <a:lnTo>
                    <a:pt x="353730" y="2188712"/>
                  </a:lnTo>
                  <a:lnTo>
                    <a:pt x="349873" y="2192340"/>
                  </a:lnTo>
                  <a:lnTo>
                    <a:pt x="346243" y="2195515"/>
                  </a:lnTo>
                  <a:lnTo>
                    <a:pt x="341705" y="2198463"/>
                  </a:lnTo>
                  <a:lnTo>
                    <a:pt x="336940" y="2200957"/>
                  </a:lnTo>
                  <a:lnTo>
                    <a:pt x="332402" y="2203225"/>
                  </a:lnTo>
                  <a:lnTo>
                    <a:pt x="327184" y="2205039"/>
                  </a:lnTo>
                  <a:lnTo>
                    <a:pt x="321965" y="2206399"/>
                  </a:lnTo>
                  <a:lnTo>
                    <a:pt x="316746" y="2207533"/>
                  </a:lnTo>
                  <a:lnTo>
                    <a:pt x="311301" y="2208213"/>
                  </a:lnTo>
                  <a:lnTo>
                    <a:pt x="306082" y="2208440"/>
                  </a:lnTo>
                  <a:lnTo>
                    <a:pt x="300864" y="2208213"/>
                  </a:lnTo>
                  <a:lnTo>
                    <a:pt x="295872" y="2207760"/>
                  </a:lnTo>
                  <a:lnTo>
                    <a:pt x="291561" y="2206399"/>
                  </a:lnTo>
                  <a:lnTo>
                    <a:pt x="287704" y="2205266"/>
                  </a:lnTo>
                  <a:lnTo>
                    <a:pt x="284300" y="2203225"/>
                  </a:lnTo>
                  <a:lnTo>
                    <a:pt x="280897" y="2201184"/>
                  </a:lnTo>
                  <a:lnTo>
                    <a:pt x="278401" y="2198689"/>
                  </a:lnTo>
                  <a:lnTo>
                    <a:pt x="275905" y="2195742"/>
                  </a:lnTo>
                  <a:lnTo>
                    <a:pt x="274090" y="2192794"/>
                  </a:lnTo>
                  <a:lnTo>
                    <a:pt x="272502" y="2189392"/>
                  </a:lnTo>
                  <a:lnTo>
                    <a:pt x="271140" y="2185764"/>
                  </a:lnTo>
                  <a:lnTo>
                    <a:pt x="270006" y="2182136"/>
                  </a:lnTo>
                  <a:lnTo>
                    <a:pt x="269325" y="2177827"/>
                  </a:lnTo>
                  <a:lnTo>
                    <a:pt x="268871" y="2173972"/>
                  </a:lnTo>
                  <a:lnTo>
                    <a:pt x="268418" y="2169437"/>
                  </a:lnTo>
                  <a:lnTo>
                    <a:pt x="268418" y="2165129"/>
                  </a:lnTo>
                  <a:lnTo>
                    <a:pt x="268418" y="2160367"/>
                  </a:lnTo>
                  <a:lnTo>
                    <a:pt x="268644" y="2156058"/>
                  </a:lnTo>
                  <a:lnTo>
                    <a:pt x="269325" y="2152203"/>
                  </a:lnTo>
                  <a:lnTo>
                    <a:pt x="270460" y="2148348"/>
                  </a:lnTo>
                  <a:lnTo>
                    <a:pt x="272048" y="2145173"/>
                  </a:lnTo>
                  <a:lnTo>
                    <a:pt x="273636" y="2142452"/>
                  </a:lnTo>
                  <a:lnTo>
                    <a:pt x="275451" y="2139958"/>
                  </a:lnTo>
                  <a:lnTo>
                    <a:pt x="277493" y="2137690"/>
                  </a:lnTo>
                  <a:lnTo>
                    <a:pt x="279762" y="2135649"/>
                  </a:lnTo>
                  <a:lnTo>
                    <a:pt x="282258" y="2134289"/>
                  </a:lnTo>
                  <a:lnTo>
                    <a:pt x="284527" y="2132928"/>
                  </a:lnTo>
                  <a:lnTo>
                    <a:pt x="286569" y="2131794"/>
                  </a:lnTo>
                  <a:lnTo>
                    <a:pt x="288838" y="2131114"/>
                  </a:lnTo>
                  <a:lnTo>
                    <a:pt x="293149" y="2129754"/>
                  </a:lnTo>
                  <a:lnTo>
                    <a:pt x="296553" y="2129300"/>
                  </a:lnTo>
                  <a:lnTo>
                    <a:pt x="298141" y="2129073"/>
                  </a:lnTo>
                  <a:lnTo>
                    <a:pt x="299275" y="2128847"/>
                  </a:lnTo>
                  <a:lnTo>
                    <a:pt x="300410" y="2128393"/>
                  </a:lnTo>
                  <a:lnTo>
                    <a:pt x="301317" y="2127486"/>
                  </a:lnTo>
                  <a:lnTo>
                    <a:pt x="303133" y="2125899"/>
                  </a:lnTo>
                  <a:lnTo>
                    <a:pt x="304267" y="2123858"/>
                  </a:lnTo>
                  <a:lnTo>
                    <a:pt x="305855" y="2121590"/>
                  </a:lnTo>
                  <a:lnTo>
                    <a:pt x="306990" y="2118869"/>
                  </a:lnTo>
                  <a:lnTo>
                    <a:pt x="308351" y="2116148"/>
                  </a:lnTo>
                  <a:lnTo>
                    <a:pt x="309940" y="2113427"/>
                  </a:lnTo>
                  <a:lnTo>
                    <a:pt x="313797" y="2108438"/>
                  </a:lnTo>
                  <a:lnTo>
                    <a:pt x="320377" y="2100274"/>
                  </a:lnTo>
                  <a:lnTo>
                    <a:pt x="339663" y="2077372"/>
                  </a:lnTo>
                  <a:lnTo>
                    <a:pt x="360991" y="2052881"/>
                  </a:lnTo>
                  <a:lnTo>
                    <a:pt x="370521" y="2042223"/>
                  </a:lnTo>
                  <a:lnTo>
                    <a:pt x="377781" y="2034513"/>
                  </a:lnTo>
                  <a:lnTo>
                    <a:pt x="380958" y="2030885"/>
                  </a:lnTo>
                  <a:lnTo>
                    <a:pt x="385723" y="2026577"/>
                  </a:lnTo>
                  <a:lnTo>
                    <a:pt x="397067" y="2016146"/>
                  </a:lnTo>
                  <a:lnTo>
                    <a:pt x="410681" y="2004127"/>
                  </a:lnTo>
                  <a:lnTo>
                    <a:pt x="425883" y="1991429"/>
                  </a:lnTo>
                  <a:lnTo>
                    <a:pt x="441085" y="1978957"/>
                  </a:lnTo>
                  <a:lnTo>
                    <a:pt x="455153" y="1967618"/>
                  </a:lnTo>
                  <a:lnTo>
                    <a:pt x="467178" y="1958775"/>
                  </a:lnTo>
                  <a:lnTo>
                    <a:pt x="471943" y="1955147"/>
                  </a:lnTo>
                  <a:lnTo>
                    <a:pt x="476027" y="1952652"/>
                  </a:lnTo>
                  <a:lnTo>
                    <a:pt x="481700" y="1949251"/>
                  </a:lnTo>
                  <a:lnTo>
                    <a:pt x="485557" y="1946303"/>
                  </a:lnTo>
                  <a:lnTo>
                    <a:pt x="486918" y="1945169"/>
                  </a:lnTo>
                  <a:lnTo>
                    <a:pt x="487826" y="1944035"/>
                  </a:lnTo>
                  <a:lnTo>
                    <a:pt x="488053" y="1943128"/>
                  </a:lnTo>
                  <a:lnTo>
                    <a:pt x="488053" y="1942221"/>
                  </a:lnTo>
                  <a:lnTo>
                    <a:pt x="487826" y="1941541"/>
                  </a:lnTo>
                  <a:lnTo>
                    <a:pt x="487145" y="1941087"/>
                  </a:lnTo>
                  <a:lnTo>
                    <a:pt x="485784" y="1940634"/>
                  </a:lnTo>
                  <a:lnTo>
                    <a:pt x="484422" y="1940407"/>
                  </a:lnTo>
                  <a:lnTo>
                    <a:pt x="480338" y="1940180"/>
                  </a:lnTo>
                  <a:lnTo>
                    <a:pt x="475120" y="1940180"/>
                  </a:lnTo>
                  <a:lnTo>
                    <a:pt x="468993" y="1940634"/>
                  </a:lnTo>
                  <a:lnTo>
                    <a:pt x="461960" y="1941768"/>
                  </a:lnTo>
                  <a:lnTo>
                    <a:pt x="454699" y="1943582"/>
                  </a:lnTo>
                  <a:lnTo>
                    <a:pt x="446758" y="1945623"/>
                  </a:lnTo>
                  <a:lnTo>
                    <a:pt x="429060" y="1949931"/>
                  </a:lnTo>
                  <a:lnTo>
                    <a:pt x="410454" y="1954920"/>
                  </a:lnTo>
                  <a:lnTo>
                    <a:pt x="405236" y="1956507"/>
                  </a:lnTo>
                  <a:lnTo>
                    <a:pt x="399336" y="1959002"/>
                  </a:lnTo>
                  <a:lnTo>
                    <a:pt x="392756" y="1961949"/>
                  </a:lnTo>
                  <a:lnTo>
                    <a:pt x="385723" y="1965351"/>
                  </a:lnTo>
                  <a:lnTo>
                    <a:pt x="378235" y="1969433"/>
                  </a:lnTo>
                  <a:lnTo>
                    <a:pt x="370521" y="1973514"/>
                  </a:lnTo>
                  <a:lnTo>
                    <a:pt x="355092" y="1982585"/>
                  </a:lnTo>
                  <a:lnTo>
                    <a:pt x="340117" y="1991429"/>
                  </a:lnTo>
                  <a:lnTo>
                    <a:pt x="326957" y="1999819"/>
                  </a:lnTo>
                  <a:lnTo>
                    <a:pt x="316293" y="2006395"/>
                  </a:lnTo>
                  <a:lnTo>
                    <a:pt x="309259" y="2010477"/>
                  </a:lnTo>
                  <a:lnTo>
                    <a:pt x="304948" y="2013198"/>
                  </a:lnTo>
                  <a:lnTo>
                    <a:pt x="303360" y="2014558"/>
                  </a:lnTo>
                  <a:lnTo>
                    <a:pt x="301771" y="2015919"/>
                  </a:lnTo>
                  <a:lnTo>
                    <a:pt x="300637" y="2017506"/>
                  </a:lnTo>
                  <a:lnTo>
                    <a:pt x="299275" y="2018640"/>
                  </a:lnTo>
                  <a:lnTo>
                    <a:pt x="298368" y="2020227"/>
                  </a:lnTo>
                  <a:lnTo>
                    <a:pt x="297687" y="2021588"/>
                  </a:lnTo>
                  <a:lnTo>
                    <a:pt x="297006" y="2023175"/>
                  </a:lnTo>
                  <a:lnTo>
                    <a:pt x="296553" y="2024763"/>
                  </a:lnTo>
                  <a:lnTo>
                    <a:pt x="296326" y="2026350"/>
                  </a:lnTo>
                  <a:lnTo>
                    <a:pt x="296326" y="2027937"/>
                  </a:lnTo>
                  <a:lnTo>
                    <a:pt x="296553" y="2031112"/>
                  </a:lnTo>
                  <a:lnTo>
                    <a:pt x="297233" y="2034513"/>
                  </a:lnTo>
                  <a:lnTo>
                    <a:pt x="297914" y="2036101"/>
                  </a:lnTo>
                  <a:lnTo>
                    <a:pt x="298595" y="2037235"/>
                  </a:lnTo>
                  <a:lnTo>
                    <a:pt x="299275" y="2038595"/>
                  </a:lnTo>
                  <a:lnTo>
                    <a:pt x="300410" y="2039275"/>
                  </a:lnTo>
                  <a:lnTo>
                    <a:pt x="301317" y="2039956"/>
                  </a:lnTo>
                  <a:lnTo>
                    <a:pt x="302225" y="2040636"/>
                  </a:lnTo>
                  <a:lnTo>
                    <a:pt x="304267" y="2041090"/>
                  </a:lnTo>
                  <a:lnTo>
                    <a:pt x="306309" y="2041316"/>
                  </a:lnTo>
                  <a:lnTo>
                    <a:pt x="308351" y="2041316"/>
                  </a:lnTo>
                  <a:lnTo>
                    <a:pt x="309713" y="2041316"/>
                  </a:lnTo>
                  <a:lnTo>
                    <a:pt x="310847" y="2041543"/>
                  </a:lnTo>
                  <a:lnTo>
                    <a:pt x="311074" y="2042223"/>
                  </a:lnTo>
                  <a:lnTo>
                    <a:pt x="311301" y="2044264"/>
                  </a:lnTo>
                  <a:lnTo>
                    <a:pt x="311528" y="2050160"/>
                  </a:lnTo>
                  <a:lnTo>
                    <a:pt x="311528" y="2058323"/>
                  </a:lnTo>
                  <a:lnTo>
                    <a:pt x="311301" y="2068074"/>
                  </a:lnTo>
                  <a:lnTo>
                    <a:pt x="310393" y="2087349"/>
                  </a:lnTo>
                  <a:lnTo>
                    <a:pt x="309940" y="2100048"/>
                  </a:lnTo>
                  <a:lnTo>
                    <a:pt x="309713" y="2102996"/>
                  </a:lnTo>
                  <a:lnTo>
                    <a:pt x="309259" y="2105490"/>
                  </a:lnTo>
                  <a:lnTo>
                    <a:pt x="308351" y="2107984"/>
                  </a:lnTo>
                  <a:lnTo>
                    <a:pt x="306763" y="2109799"/>
                  </a:lnTo>
                  <a:lnTo>
                    <a:pt x="304721" y="2111386"/>
                  </a:lnTo>
                  <a:lnTo>
                    <a:pt x="302452" y="2112520"/>
                  </a:lnTo>
                  <a:lnTo>
                    <a:pt x="299729" y="2113200"/>
                  </a:lnTo>
                  <a:lnTo>
                    <a:pt x="296553" y="2113427"/>
                  </a:lnTo>
                  <a:lnTo>
                    <a:pt x="290200" y="2113200"/>
                  </a:lnTo>
                  <a:lnTo>
                    <a:pt x="287477" y="2112973"/>
                  </a:lnTo>
                  <a:lnTo>
                    <a:pt x="284981" y="2112293"/>
                  </a:lnTo>
                  <a:lnTo>
                    <a:pt x="282939" y="2111386"/>
                  </a:lnTo>
                  <a:lnTo>
                    <a:pt x="280897" y="2110479"/>
                  </a:lnTo>
                  <a:lnTo>
                    <a:pt x="279535" y="2108891"/>
                  </a:lnTo>
                  <a:lnTo>
                    <a:pt x="278174" y="2107077"/>
                  </a:lnTo>
                  <a:lnTo>
                    <a:pt x="277266" y="2105037"/>
                  </a:lnTo>
                  <a:lnTo>
                    <a:pt x="276586" y="2102996"/>
                  </a:lnTo>
                  <a:lnTo>
                    <a:pt x="274998" y="2099594"/>
                  </a:lnTo>
                  <a:lnTo>
                    <a:pt x="274317" y="2098234"/>
                  </a:lnTo>
                  <a:lnTo>
                    <a:pt x="273182" y="2097327"/>
                  </a:lnTo>
                  <a:lnTo>
                    <a:pt x="272048" y="2096646"/>
                  </a:lnTo>
                  <a:lnTo>
                    <a:pt x="270460" y="2096420"/>
                  </a:lnTo>
                  <a:lnTo>
                    <a:pt x="268644" y="2096646"/>
                  </a:lnTo>
                  <a:lnTo>
                    <a:pt x="266602" y="2096646"/>
                  </a:lnTo>
                  <a:lnTo>
                    <a:pt x="264787" y="2097100"/>
                  </a:lnTo>
                  <a:lnTo>
                    <a:pt x="263199" y="2097553"/>
                  </a:lnTo>
                  <a:lnTo>
                    <a:pt x="261611" y="2098234"/>
                  </a:lnTo>
                  <a:lnTo>
                    <a:pt x="260022" y="2099367"/>
                  </a:lnTo>
                  <a:lnTo>
                    <a:pt x="259115" y="2100501"/>
                  </a:lnTo>
                  <a:lnTo>
                    <a:pt x="258434" y="2102089"/>
                  </a:lnTo>
                  <a:lnTo>
                    <a:pt x="257980" y="2103449"/>
                  </a:lnTo>
                  <a:lnTo>
                    <a:pt x="257073" y="2105263"/>
                  </a:lnTo>
                  <a:lnTo>
                    <a:pt x="256165" y="2106397"/>
                  </a:lnTo>
                  <a:lnTo>
                    <a:pt x="255031" y="2107758"/>
                  </a:lnTo>
                  <a:lnTo>
                    <a:pt x="253442" y="2108665"/>
                  </a:lnTo>
                  <a:lnTo>
                    <a:pt x="251400" y="2109572"/>
                  </a:lnTo>
                  <a:lnTo>
                    <a:pt x="249131" y="2110025"/>
                  </a:lnTo>
                  <a:lnTo>
                    <a:pt x="246636" y="2109799"/>
                  </a:lnTo>
                  <a:lnTo>
                    <a:pt x="240736" y="2109572"/>
                  </a:lnTo>
                  <a:lnTo>
                    <a:pt x="235064" y="2109118"/>
                  </a:lnTo>
                  <a:lnTo>
                    <a:pt x="232568" y="2108891"/>
                  </a:lnTo>
                  <a:lnTo>
                    <a:pt x="230299" y="2108438"/>
                  </a:lnTo>
                  <a:lnTo>
                    <a:pt x="229165" y="2107984"/>
                  </a:lnTo>
                  <a:lnTo>
                    <a:pt x="228711" y="2107531"/>
                  </a:lnTo>
                  <a:lnTo>
                    <a:pt x="228484" y="2107077"/>
                  </a:lnTo>
                  <a:lnTo>
                    <a:pt x="228030" y="2103222"/>
                  </a:lnTo>
                  <a:lnTo>
                    <a:pt x="227803" y="2095513"/>
                  </a:lnTo>
                  <a:lnTo>
                    <a:pt x="227576" y="2085081"/>
                  </a:lnTo>
                  <a:lnTo>
                    <a:pt x="227576" y="2073290"/>
                  </a:lnTo>
                  <a:lnTo>
                    <a:pt x="227576" y="2061498"/>
                  </a:lnTo>
                  <a:lnTo>
                    <a:pt x="228030" y="2051521"/>
                  </a:lnTo>
                  <a:lnTo>
                    <a:pt x="228711" y="2047439"/>
                  </a:lnTo>
                  <a:lnTo>
                    <a:pt x="229165" y="2044264"/>
                  </a:lnTo>
                  <a:lnTo>
                    <a:pt x="229618" y="2042223"/>
                  </a:lnTo>
                  <a:lnTo>
                    <a:pt x="230072" y="2041770"/>
                  </a:lnTo>
                  <a:lnTo>
                    <a:pt x="230299" y="2041543"/>
                  </a:lnTo>
                  <a:lnTo>
                    <a:pt x="232114" y="2041543"/>
                  </a:lnTo>
                  <a:lnTo>
                    <a:pt x="233929" y="2041090"/>
                  </a:lnTo>
                  <a:lnTo>
                    <a:pt x="235518" y="2040636"/>
                  </a:lnTo>
                  <a:lnTo>
                    <a:pt x="237106" y="2039729"/>
                  </a:lnTo>
                  <a:lnTo>
                    <a:pt x="238240" y="2038822"/>
                  </a:lnTo>
                  <a:lnTo>
                    <a:pt x="239375" y="2037915"/>
                  </a:lnTo>
                  <a:lnTo>
                    <a:pt x="240056" y="2036554"/>
                  </a:lnTo>
                  <a:lnTo>
                    <a:pt x="240283" y="2035420"/>
                  </a:lnTo>
                  <a:lnTo>
                    <a:pt x="240283" y="2034513"/>
                  </a:lnTo>
                  <a:lnTo>
                    <a:pt x="240056" y="2034060"/>
                  </a:lnTo>
                  <a:lnTo>
                    <a:pt x="239602" y="2033833"/>
                  </a:lnTo>
                  <a:lnTo>
                    <a:pt x="239148" y="2033606"/>
                  </a:lnTo>
                  <a:lnTo>
                    <a:pt x="237560" y="2033380"/>
                  </a:lnTo>
                  <a:lnTo>
                    <a:pt x="235518" y="2033153"/>
                  </a:lnTo>
                  <a:lnTo>
                    <a:pt x="231660" y="2033606"/>
                  </a:lnTo>
                  <a:lnTo>
                    <a:pt x="228484" y="2033833"/>
                  </a:lnTo>
                  <a:lnTo>
                    <a:pt x="227803" y="2033833"/>
                  </a:lnTo>
                  <a:lnTo>
                    <a:pt x="227576" y="2033606"/>
                  </a:lnTo>
                  <a:lnTo>
                    <a:pt x="227576" y="2033153"/>
                  </a:lnTo>
                  <a:lnTo>
                    <a:pt x="228030" y="2032699"/>
                  </a:lnTo>
                  <a:lnTo>
                    <a:pt x="230299" y="2030205"/>
                  </a:lnTo>
                  <a:lnTo>
                    <a:pt x="234837" y="2026123"/>
                  </a:lnTo>
                  <a:lnTo>
                    <a:pt x="252535" y="2011837"/>
                  </a:lnTo>
                  <a:lnTo>
                    <a:pt x="284754" y="1985759"/>
                  </a:lnTo>
                  <a:lnTo>
                    <a:pt x="290200" y="1981224"/>
                  </a:lnTo>
                  <a:lnTo>
                    <a:pt x="295872" y="1977143"/>
                  </a:lnTo>
                  <a:lnTo>
                    <a:pt x="301771" y="1972834"/>
                  </a:lnTo>
                  <a:lnTo>
                    <a:pt x="308351" y="1968526"/>
                  </a:lnTo>
                  <a:lnTo>
                    <a:pt x="314704" y="1964671"/>
                  </a:lnTo>
                  <a:lnTo>
                    <a:pt x="321738" y="1960362"/>
                  </a:lnTo>
                  <a:lnTo>
                    <a:pt x="328545" y="1956507"/>
                  </a:lnTo>
                  <a:lnTo>
                    <a:pt x="335806" y="1952425"/>
                  </a:lnTo>
                  <a:lnTo>
                    <a:pt x="350327" y="1944715"/>
                  </a:lnTo>
                  <a:lnTo>
                    <a:pt x="365756" y="1937686"/>
                  </a:lnTo>
                  <a:lnTo>
                    <a:pt x="381639" y="1930656"/>
                  </a:lnTo>
                  <a:lnTo>
                    <a:pt x="397521" y="1924307"/>
                  </a:lnTo>
                  <a:lnTo>
                    <a:pt x="413631" y="1918184"/>
                  </a:lnTo>
                  <a:lnTo>
                    <a:pt x="429514" y="1912742"/>
                  </a:lnTo>
                  <a:lnTo>
                    <a:pt x="445396" y="1908207"/>
                  </a:lnTo>
                  <a:lnTo>
                    <a:pt x="460825" y="1903898"/>
                  </a:lnTo>
                  <a:lnTo>
                    <a:pt x="476027" y="1900270"/>
                  </a:lnTo>
                  <a:lnTo>
                    <a:pt x="490095" y="1897095"/>
                  </a:lnTo>
                  <a:lnTo>
                    <a:pt x="497128" y="1895962"/>
                  </a:lnTo>
                  <a:lnTo>
                    <a:pt x="503708" y="1895054"/>
                  </a:lnTo>
                  <a:lnTo>
                    <a:pt x="510288" y="1894147"/>
                  </a:lnTo>
                  <a:lnTo>
                    <a:pt x="516415" y="1893694"/>
                  </a:lnTo>
                  <a:lnTo>
                    <a:pt x="532978" y="1892560"/>
                  </a:lnTo>
                  <a:lnTo>
                    <a:pt x="547953" y="1892107"/>
                  </a:lnTo>
                  <a:lnTo>
                    <a:pt x="560659" y="1892107"/>
                  </a:lnTo>
                  <a:lnTo>
                    <a:pt x="571550" y="1892333"/>
                  </a:lnTo>
                  <a:lnTo>
                    <a:pt x="579945" y="1892787"/>
                  </a:lnTo>
                  <a:lnTo>
                    <a:pt x="586072" y="1893014"/>
                  </a:lnTo>
                  <a:lnTo>
                    <a:pt x="591290" y="1893694"/>
                  </a:lnTo>
                  <a:lnTo>
                    <a:pt x="590383" y="1678723"/>
                  </a:lnTo>
                  <a:lnTo>
                    <a:pt x="609442" y="1679403"/>
                  </a:lnTo>
                  <a:lnTo>
                    <a:pt x="608080" y="1544933"/>
                  </a:lnTo>
                  <a:lnTo>
                    <a:pt x="565651" y="1539718"/>
                  </a:lnTo>
                  <a:lnTo>
                    <a:pt x="565424" y="1513413"/>
                  </a:lnTo>
                  <a:lnTo>
                    <a:pt x="444942" y="1474864"/>
                  </a:lnTo>
                  <a:lnTo>
                    <a:pt x="355092" y="1446065"/>
                  </a:lnTo>
                  <a:lnTo>
                    <a:pt x="299275" y="1428377"/>
                  </a:lnTo>
                  <a:lnTo>
                    <a:pt x="292922" y="1426110"/>
                  </a:lnTo>
                  <a:lnTo>
                    <a:pt x="286342" y="1423615"/>
                  </a:lnTo>
                  <a:lnTo>
                    <a:pt x="280216" y="1420894"/>
                  </a:lnTo>
                  <a:lnTo>
                    <a:pt x="273863" y="1417719"/>
                  </a:lnTo>
                  <a:lnTo>
                    <a:pt x="267283" y="1414091"/>
                  </a:lnTo>
                  <a:lnTo>
                    <a:pt x="261157" y="1410236"/>
                  </a:lnTo>
                  <a:lnTo>
                    <a:pt x="255031" y="1405701"/>
                  </a:lnTo>
                  <a:lnTo>
                    <a:pt x="248678" y="1400712"/>
                  </a:lnTo>
                  <a:lnTo>
                    <a:pt x="242778" y="1395270"/>
                  </a:lnTo>
                  <a:lnTo>
                    <a:pt x="237106" y="1389374"/>
                  </a:lnTo>
                  <a:lnTo>
                    <a:pt x="231434" y="1382571"/>
                  </a:lnTo>
                  <a:lnTo>
                    <a:pt x="225988" y="1375542"/>
                  </a:lnTo>
                  <a:lnTo>
                    <a:pt x="220769" y="1367832"/>
                  </a:lnTo>
                  <a:lnTo>
                    <a:pt x="218274" y="1363523"/>
                  </a:lnTo>
                  <a:lnTo>
                    <a:pt x="216005" y="1358988"/>
                  </a:lnTo>
                  <a:lnTo>
                    <a:pt x="213509" y="1354679"/>
                  </a:lnTo>
                  <a:lnTo>
                    <a:pt x="211240" y="1349917"/>
                  </a:lnTo>
                  <a:lnTo>
                    <a:pt x="208971" y="1344929"/>
                  </a:lnTo>
                  <a:lnTo>
                    <a:pt x="207156" y="1339713"/>
                  </a:lnTo>
                  <a:lnTo>
                    <a:pt x="202391" y="1327241"/>
                  </a:lnTo>
                  <a:lnTo>
                    <a:pt x="196492" y="1310914"/>
                  </a:lnTo>
                  <a:lnTo>
                    <a:pt x="181970" y="1269643"/>
                  </a:lnTo>
                  <a:lnTo>
                    <a:pt x="165407" y="1220663"/>
                  </a:lnTo>
                  <a:lnTo>
                    <a:pt x="148390" y="1169414"/>
                  </a:lnTo>
                  <a:lnTo>
                    <a:pt x="118893" y="1079616"/>
                  </a:lnTo>
                  <a:lnTo>
                    <a:pt x="106414" y="1040613"/>
                  </a:lnTo>
                  <a:lnTo>
                    <a:pt x="69203" y="1040840"/>
                  </a:lnTo>
                  <a:lnTo>
                    <a:pt x="40841" y="1041294"/>
                  </a:lnTo>
                  <a:lnTo>
                    <a:pt x="22463" y="1041294"/>
                  </a:lnTo>
                  <a:lnTo>
                    <a:pt x="19740" y="1040840"/>
                  </a:lnTo>
                  <a:lnTo>
                    <a:pt x="17244" y="1040613"/>
                  </a:lnTo>
                  <a:lnTo>
                    <a:pt x="14748" y="1040160"/>
                  </a:lnTo>
                  <a:lnTo>
                    <a:pt x="12479" y="1039706"/>
                  </a:lnTo>
                  <a:lnTo>
                    <a:pt x="10664" y="1039253"/>
                  </a:lnTo>
                  <a:lnTo>
                    <a:pt x="8622" y="1038346"/>
                  </a:lnTo>
                  <a:lnTo>
                    <a:pt x="7034" y="1037439"/>
                  </a:lnTo>
                  <a:lnTo>
                    <a:pt x="5672" y="1036532"/>
                  </a:lnTo>
                  <a:lnTo>
                    <a:pt x="4084" y="1035398"/>
                  </a:lnTo>
                  <a:lnTo>
                    <a:pt x="3177" y="1034491"/>
                  </a:lnTo>
                  <a:lnTo>
                    <a:pt x="2042" y="1033357"/>
                  </a:lnTo>
                  <a:lnTo>
                    <a:pt x="1361" y="1031996"/>
                  </a:lnTo>
                  <a:lnTo>
                    <a:pt x="681" y="1030863"/>
                  </a:lnTo>
                  <a:lnTo>
                    <a:pt x="227" y="1029502"/>
                  </a:lnTo>
                  <a:lnTo>
                    <a:pt x="0" y="1028368"/>
                  </a:lnTo>
                  <a:lnTo>
                    <a:pt x="0" y="1027008"/>
                  </a:lnTo>
                  <a:lnTo>
                    <a:pt x="0" y="1025647"/>
                  </a:lnTo>
                  <a:lnTo>
                    <a:pt x="227" y="1024286"/>
                  </a:lnTo>
                  <a:lnTo>
                    <a:pt x="681" y="1023153"/>
                  </a:lnTo>
                  <a:lnTo>
                    <a:pt x="1134" y="1021792"/>
                  </a:lnTo>
                  <a:lnTo>
                    <a:pt x="2042" y="1020658"/>
                  </a:lnTo>
                  <a:lnTo>
                    <a:pt x="3177" y="1019298"/>
                  </a:lnTo>
                  <a:lnTo>
                    <a:pt x="4084" y="1018391"/>
                  </a:lnTo>
                  <a:lnTo>
                    <a:pt x="5672" y="1017484"/>
                  </a:lnTo>
                  <a:lnTo>
                    <a:pt x="7034" y="1016350"/>
                  </a:lnTo>
                  <a:lnTo>
                    <a:pt x="8622" y="1015670"/>
                  </a:lnTo>
                  <a:lnTo>
                    <a:pt x="10664" y="1014989"/>
                  </a:lnTo>
                  <a:lnTo>
                    <a:pt x="12479" y="1014082"/>
                  </a:lnTo>
                  <a:lnTo>
                    <a:pt x="14748" y="1013629"/>
                  </a:lnTo>
                  <a:lnTo>
                    <a:pt x="17017" y="1013175"/>
                  </a:lnTo>
                  <a:lnTo>
                    <a:pt x="19740" y="1012948"/>
                  </a:lnTo>
                  <a:lnTo>
                    <a:pt x="22463" y="1012948"/>
                  </a:lnTo>
                  <a:lnTo>
                    <a:pt x="97338" y="1012722"/>
                  </a:lnTo>
                  <a:lnTo>
                    <a:pt x="89170" y="984603"/>
                  </a:lnTo>
                  <a:lnTo>
                    <a:pt x="86674" y="973265"/>
                  </a:lnTo>
                  <a:lnTo>
                    <a:pt x="81909" y="949455"/>
                  </a:lnTo>
                  <a:lnTo>
                    <a:pt x="75783" y="917255"/>
                  </a:lnTo>
                  <a:lnTo>
                    <a:pt x="69203" y="880519"/>
                  </a:lnTo>
                  <a:lnTo>
                    <a:pt x="62169" y="843103"/>
                  </a:lnTo>
                  <a:lnTo>
                    <a:pt x="56270" y="808862"/>
                  </a:lnTo>
                  <a:lnTo>
                    <a:pt x="51732" y="781877"/>
                  </a:lnTo>
                  <a:lnTo>
                    <a:pt x="50371" y="772127"/>
                  </a:lnTo>
                  <a:lnTo>
                    <a:pt x="49463" y="766004"/>
                  </a:lnTo>
                  <a:lnTo>
                    <a:pt x="49236" y="761922"/>
                  </a:lnTo>
                  <a:lnTo>
                    <a:pt x="49463" y="758748"/>
                  </a:lnTo>
                  <a:lnTo>
                    <a:pt x="49690" y="757614"/>
                  </a:lnTo>
                  <a:lnTo>
                    <a:pt x="50371" y="756480"/>
                  </a:lnTo>
                  <a:lnTo>
                    <a:pt x="50825" y="755573"/>
                  </a:lnTo>
                  <a:lnTo>
                    <a:pt x="51278" y="754666"/>
                  </a:lnTo>
                  <a:lnTo>
                    <a:pt x="51959" y="754212"/>
                  </a:lnTo>
                  <a:lnTo>
                    <a:pt x="52640" y="753759"/>
                  </a:lnTo>
                  <a:lnTo>
                    <a:pt x="53774" y="753532"/>
                  </a:lnTo>
                  <a:lnTo>
                    <a:pt x="54682" y="753532"/>
                  </a:lnTo>
                  <a:lnTo>
                    <a:pt x="56951" y="753759"/>
                  </a:lnTo>
                  <a:lnTo>
                    <a:pt x="59900" y="754212"/>
                  </a:lnTo>
                  <a:lnTo>
                    <a:pt x="63304" y="755346"/>
                  </a:lnTo>
                  <a:lnTo>
                    <a:pt x="67161" y="756480"/>
                  </a:lnTo>
                  <a:lnTo>
                    <a:pt x="76464" y="759428"/>
                  </a:lnTo>
                  <a:lnTo>
                    <a:pt x="81909" y="761242"/>
                  </a:lnTo>
                  <a:lnTo>
                    <a:pt x="88262" y="763056"/>
                  </a:lnTo>
                  <a:lnTo>
                    <a:pt x="94842" y="764417"/>
                  </a:lnTo>
                  <a:lnTo>
                    <a:pt x="102103" y="766004"/>
                  </a:lnTo>
                  <a:lnTo>
                    <a:pt x="111179" y="767138"/>
                  </a:lnTo>
                  <a:lnTo>
                    <a:pt x="122977" y="768498"/>
                  </a:lnTo>
                  <a:lnTo>
                    <a:pt x="137272" y="769405"/>
                  </a:lnTo>
                  <a:lnTo>
                    <a:pt x="153381" y="770312"/>
                  </a:lnTo>
                  <a:lnTo>
                    <a:pt x="171079" y="771220"/>
                  </a:lnTo>
                  <a:lnTo>
                    <a:pt x="189912" y="771673"/>
                  </a:lnTo>
                  <a:lnTo>
                    <a:pt x="209425" y="772127"/>
                  </a:lnTo>
                  <a:lnTo>
                    <a:pt x="229392" y="772580"/>
                  </a:lnTo>
                  <a:lnTo>
                    <a:pt x="267964" y="772807"/>
                  </a:lnTo>
                  <a:lnTo>
                    <a:pt x="286115" y="772580"/>
                  </a:lnTo>
                  <a:lnTo>
                    <a:pt x="302906" y="772353"/>
                  </a:lnTo>
                  <a:lnTo>
                    <a:pt x="317654" y="771900"/>
                  </a:lnTo>
                  <a:lnTo>
                    <a:pt x="330360" y="771446"/>
                  </a:lnTo>
                  <a:lnTo>
                    <a:pt x="340570" y="770539"/>
                  </a:lnTo>
                  <a:lnTo>
                    <a:pt x="344201" y="770086"/>
                  </a:lnTo>
                  <a:lnTo>
                    <a:pt x="347377" y="769632"/>
                  </a:lnTo>
                  <a:lnTo>
                    <a:pt x="354411" y="768272"/>
                  </a:lnTo>
                  <a:lnTo>
                    <a:pt x="361672" y="766004"/>
                  </a:lnTo>
                  <a:lnTo>
                    <a:pt x="368705" y="763510"/>
                  </a:lnTo>
                  <a:lnTo>
                    <a:pt x="375285" y="761015"/>
                  </a:lnTo>
                  <a:lnTo>
                    <a:pt x="381412" y="758521"/>
                  </a:lnTo>
                  <a:lnTo>
                    <a:pt x="386403" y="756026"/>
                  </a:lnTo>
                  <a:lnTo>
                    <a:pt x="392756" y="753079"/>
                  </a:lnTo>
                  <a:lnTo>
                    <a:pt x="393891" y="752852"/>
                  </a:lnTo>
                  <a:lnTo>
                    <a:pt x="394572" y="753305"/>
                  </a:lnTo>
                  <a:lnTo>
                    <a:pt x="395479" y="753986"/>
                  </a:lnTo>
                  <a:lnTo>
                    <a:pt x="396614" y="755119"/>
                  </a:lnTo>
                  <a:lnTo>
                    <a:pt x="398656" y="758294"/>
                  </a:lnTo>
                  <a:lnTo>
                    <a:pt x="400471" y="762376"/>
                  </a:lnTo>
                  <a:lnTo>
                    <a:pt x="402513" y="767365"/>
                  </a:lnTo>
                  <a:lnTo>
                    <a:pt x="404555" y="772353"/>
                  </a:lnTo>
                  <a:lnTo>
                    <a:pt x="407958" y="781877"/>
                  </a:lnTo>
                  <a:lnTo>
                    <a:pt x="408866" y="783691"/>
                  </a:lnTo>
                  <a:lnTo>
                    <a:pt x="410000" y="785506"/>
                  </a:lnTo>
                  <a:lnTo>
                    <a:pt x="410908" y="786866"/>
                  </a:lnTo>
                  <a:lnTo>
                    <a:pt x="412269" y="787773"/>
                  </a:lnTo>
                  <a:lnTo>
                    <a:pt x="413404" y="788453"/>
                  </a:lnTo>
                  <a:lnTo>
                    <a:pt x="414538" y="788907"/>
                  </a:lnTo>
                  <a:lnTo>
                    <a:pt x="415673" y="789587"/>
                  </a:lnTo>
                  <a:lnTo>
                    <a:pt x="416807" y="789814"/>
                  </a:lnTo>
                  <a:lnTo>
                    <a:pt x="419076" y="789814"/>
                  </a:lnTo>
                  <a:lnTo>
                    <a:pt x="420891" y="789814"/>
                  </a:lnTo>
                  <a:lnTo>
                    <a:pt x="422480" y="789134"/>
                  </a:lnTo>
                  <a:lnTo>
                    <a:pt x="424522" y="757841"/>
                  </a:lnTo>
                  <a:lnTo>
                    <a:pt x="426110" y="733350"/>
                  </a:lnTo>
                  <a:lnTo>
                    <a:pt x="426564" y="723373"/>
                  </a:lnTo>
                  <a:lnTo>
                    <a:pt x="426791" y="716343"/>
                  </a:lnTo>
                  <a:lnTo>
                    <a:pt x="426791" y="707953"/>
                  </a:lnTo>
                  <a:lnTo>
                    <a:pt x="426791" y="705005"/>
                  </a:lnTo>
                  <a:lnTo>
                    <a:pt x="426337" y="702737"/>
                  </a:lnTo>
                  <a:lnTo>
                    <a:pt x="425883" y="702057"/>
                  </a:lnTo>
                  <a:lnTo>
                    <a:pt x="425656" y="701377"/>
                  </a:lnTo>
                  <a:lnTo>
                    <a:pt x="424749" y="700923"/>
                  </a:lnTo>
                  <a:lnTo>
                    <a:pt x="424068" y="700923"/>
                  </a:lnTo>
                  <a:lnTo>
                    <a:pt x="423160" y="700923"/>
                  </a:lnTo>
                  <a:lnTo>
                    <a:pt x="422026" y="701150"/>
                  </a:lnTo>
                  <a:lnTo>
                    <a:pt x="419076" y="702510"/>
                  </a:lnTo>
                  <a:lnTo>
                    <a:pt x="417488" y="703191"/>
                  </a:lnTo>
                  <a:lnTo>
                    <a:pt x="415219" y="703644"/>
                  </a:lnTo>
                  <a:lnTo>
                    <a:pt x="412950" y="704098"/>
                  </a:lnTo>
                  <a:lnTo>
                    <a:pt x="410454" y="704098"/>
                  </a:lnTo>
                  <a:lnTo>
                    <a:pt x="405236" y="704098"/>
                  </a:lnTo>
                  <a:lnTo>
                    <a:pt x="399563" y="703644"/>
                  </a:lnTo>
                  <a:lnTo>
                    <a:pt x="393664" y="702964"/>
                  </a:lnTo>
                  <a:lnTo>
                    <a:pt x="387992" y="701603"/>
                  </a:lnTo>
                  <a:lnTo>
                    <a:pt x="382546" y="700470"/>
                  </a:lnTo>
                  <a:lnTo>
                    <a:pt x="377554" y="699336"/>
                  </a:lnTo>
                  <a:lnTo>
                    <a:pt x="375285" y="698429"/>
                  </a:lnTo>
                  <a:lnTo>
                    <a:pt x="373697" y="697522"/>
                  </a:lnTo>
                  <a:lnTo>
                    <a:pt x="372563" y="696161"/>
                  </a:lnTo>
                  <a:lnTo>
                    <a:pt x="371655" y="695027"/>
                  </a:lnTo>
                  <a:lnTo>
                    <a:pt x="371201" y="693440"/>
                  </a:lnTo>
                  <a:lnTo>
                    <a:pt x="370974" y="692079"/>
                  </a:lnTo>
                  <a:lnTo>
                    <a:pt x="371201" y="690492"/>
                  </a:lnTo>
                  <a:lnTo>
                    <a:pt x="371428" y="688905"/>
                  </a:lnTo>
                  <a:lnTo>
                    <a:pt x="372336" y="687317"/>
                  </a:lnTo>
                  <a:lnTo>
                    <a:pt x="373016" y="685503"/>
                  </a:lnTo>
                  <a:lnTo>
                    <a:pt x="373924" y="683916"/>
                  </a:lnTo>
                  <a:lnTo>
                    <a:pt x="375285" y="682329"/>
                  </a:lnTo>
                  <a:lnTo>
                    <a:pt x="377781" y="679381"/>
                  </a:lnTo>
                  <a:lnTo>
                    <a:pt x="380731" y="676886"/>
                  </a:lnTo>
                  <a:lnTo>
                    <a:pt x="383454" y="674619"/>
                  </a:lnTo>
                  <a:lnTo>
                    <a:pt x="385950" y="671898"/>
                  </a:lnTo>
                  <a:lnTo>
                    <a:pt x="387992" y="668950"/>
                  </a:lnTo>
                  <a:lnTo>
                    <a:pt x="389580" y="665775"/>
                  </a:lnTo>
                  <a:lnTo>
                    <a:pt x="391395" y="662600"/>
                  </a:lnTo>
                  <a:lnTo>
                    <a:pt x="392756" y="658745"/>
                  </a:lnTo>
                  <a:lnTo>
                    <a:pt x="395933" y="651262"/>
                  </a:lnTo>
                  <a:lnTo>
                    <a:pt x="397294" y="647634"/>
                  </a:lnTo>
                  <a:lnTo>
                    <a:pt x="398656" y="644006"/>
                  </a:lnTo>
                  <a:lnTo>
                    <a:pt x="399336" y="640151"/>
                  </a:lnTo>
                  <a:lnTo>
                    <a:pt x="399563" y="638790"/>
                  </a:lnTo>
                  <a:lnTo>
                    <a:pt x="399790" y="636976"/>
                  </a:lnTo>
                  <a:lnTo>
                    <a:pt x="399563" y="635842"/>
                  </a:lnTo>
                  <a:lnTo>
                    <a:pt x="399336" y="634482"/>
                  </a:lnTo>
                  <a:lnTo>
                    <a:pt x="398883" y="633575"/>
                  </a:lnTo>
                  <a:lnTo>
                    <a:pt x="397975" y="632441"/>
                  </a:lnTo>
                  <a:lnTo>
                    <a:pt x="396841" y="631987"/>
                  </a:lnTo>
                  <a:lnTo>
                    <a:pt x="395479" y="631761"/>
                  </a:lnTo>
                  <a:lnTo>
                    <a:pt x="393891" y="631534"/>
                  </a:lnTo>
                  <a:lnTo>
                    <a:pt x="391849" y="631761"/>
                  </a:lnTo>
                  <a:lnTo>
                    <a:pt x="387992" y="633121"/>
                  </a:lnTo>
                  <a:lnTo>
                    <a:pt x="384361" y="634255"/>
                  </a:lnTo>
                  <a:lnTo>
                    <a:pt x="381865" y="635389"/>
                  </a:lnTo>
                  <a:lnTo>
                    <a:pt x="380050" y="636523"/>
                  </a:lnTo>
                  <a:lnTo>
                    <a:pt x="378916" y="637203"/>
                  </a:lnTo>
                  <a:lnTo>
                    <a:pt x="378689" y="637203"/>
                  </a:lnTo>
                  <a:lnTo>
                    <a:pt x="378462" y="637203"/>
                  </a:lnTo>
                  <a:lnTo>
                    <a:pt x="378689" y="636296"/>
                  </a:lnTo>
                  <a:lnTo>
                    <a:pt x="379596" y="634028"/>
                  </a:lnTo>
                  <a:lnTo>
                    <a:pt x="380504" y="632668"/>
                  </a:lnTo>
                  <a:lnTo>
                    <a:pt x="381412" y="631534"/>
                  </a:lnTo>
                  <a:lnTo>
                    <a:pt x="382773" y="630400"/>
                  </a:lnTo>
                  <a:lnTo>
                    <a:pt x="383907" y="629039"/>
                  </a:lnTo>
                  <a:lnTo>
                    <a:pt x="387311" y="626772"/>
                  </a:lnTo>
                  <a:lnTo>
                    <a:pt x="391395" y="624504"/>
                  </a:lnTo>
                  <a:lnTo>
                    <a:pt x="395479" y="622010"/>
                  </a:lnTo>
                  <a:lnTo>
                    <a:pt x="399790" y="619515"/>
                  </a:lnTo>
                  <a:lnTo>
                    <a:pt x="404101" y="616341"/>
                  </a:lnTo>
                  <a:lnTo>
                    <a:pt x="405916" y="614980"/>
                  </a:lnTo>
                  <a:lnTo>
                    <a:pt x="407958" y="612939"/>
                  </a:lnTo>
                  <a:lnTo>
                    <a:pt x="409774" y="611125"/>
                  </a:lnTo>
                  <a:lnTo>
                    <a:pt x="411135" y="608858"/>
                  </a:lnTo>
                  <a:lnTo>
                    <a:pt x="412269" y="607043"/>
                  </a:lnTo>
                  <a:lnTo>
                    <a:pt x="412950" y="604776"/>
                  </a:lnTo>
                  <a:lnTo>
                    <a:pt x="413404" y="602281"/>
                  </a:lnTo>
                  <a:lnTo>
                    <a:pt x="413631" y="599560"/>
                  </a:lnTo>
                  <a:lnTo>
                    <a:pt x="413858" y="596839"/>
                  </a:lnTo>
                  <a:lnTo>
                    <a:pt x="413631" y="593891"/>
                  </a:lnTo>
                  <a:lnTo>
                    <a:pt x="413404" y="590943"/>
                  </a:lnTo>
                  <a:lnTo>
                    <a:pt x="412723" y="587542"/>
                  </a:lnTo>
                  <a:lnTo>
                    <a:pt x="411135" y="580512"/>
                  </a:lnTo>
                  <a:lnTo>
                    <a:pt x="409320" y="572576"/>
                  </a:lnTo>
                  <a:lnTo>
                    <a:pt x="407051" y="563505"/>
                  </a:lnTo>
                  <a:lnTo>
                    <a:pt x="404782" y="554435"/>
                  </a:lnTo>
                  <a:lnTo>
                    <a:pt x="402967" y="545818"/>
                  </a:lnTo>
                  <a:lnTo>
                    <a:pt x="402286" y="541509"/>
                  </a:lnTo>
                  <a:lnTo>
                    <a:pt x="402059" y="537654"/>
                  </a:lnTo>
                  <a:lnTo>
                    <a:pt x="401832" y="533572"/>
                  </a:lnTo>
                  <a:lnTo>
                    <a:pt x="401832" y="529717"/>
                  </a:lnTo>
                  <a:lnTo>
                    <a:pt x="402059" y="525862"/>
                  </a:lnTo>
                  <a:lnTo>
                    <a:pt x="402513" y="522008"/>
                  </a:lnTo>
                  <a:lnTo>
                    <a:pt x="403420" y="518153"/>
                  </a:lnTo>
                  <a:lnTo>
                    <a:pt x="404555" y="514751"/>
                  </a:lnTo>
                  <a:lnTo>
                    <a:pt x="405916" y="511123"/>
                  </a:lnTo>
                  <a:lnTo>
                    <a:pt x="407732" y="507268"/>
                  </a:lnTo>
                  <a:lnTo>
                    <a:pt x="410000" y="503867"/>
                  </a:lnTo>
                  <a:lnTo>
                    <a:pt x="412496" y="500238"/>
                  </a:lnTo>
                  <a:lnTo>
                    <a:pt x="415219" y="496837"/>
                  </a:lnTo>
                  <a:lnTo>
                    <a:pt x="417715" y="493889"/>
                  </a:lnTo>
                  <a:lnTo>
                    <a:pt x="422707" y="488900"/>
                  </a:lnTo>
                  <a:lnTo>
                    <a:pt x="430875" y="480737"/>
                  </a:lnTo>
                  <a:lnTo>
                    <a:pt x="432463" y="478696"/>
                  </a:lnTo>
                  <a:lnTo>
                    <a:pt x="434278" y="476882"/>
                  </a:lnTo>
                  <a:lnTo>
                    <a:pt x="435867" y="474841"/>
                  </a:lnTo>
                  <a:lnTo>
                    <a:pt x="437001" y="472800"/>
                  </a:lnTo>
                  <a:lnTo>
                    <a:pt x="437909" y="470306"/>
                  </a:lnTo>
                  <a:lnTo>
                    <a:pt x="439043" y="467811"/>
                  </a:lnTo>
                  <a:lnTo>
                    <a:pt x="439724" y="465090"/>
                  </a:lnTo>
                  <a:lnTo>
                    <a:pt x="440178" y="461915"/>
                  </a:lnTo>
                  <a:lnTo>
                    <a:pt x="440404" y="458741"/>
                  </a:lnTo>
                  <a:lnTo>
                    <a:pt x="440631" y="455566"/>
                  </a:lnTo>
                  <a:lnTo>
                    <a:pt x="440631" y="452165"/>
                  </a:lnTo>
                  <a:lnTo>
                    <a:pt x="440404" y="449217"/>
                  </a:lnTo>
                  <a:lnTo>
                    <a:pt x="439724" y="443094"/>
                  </a:lnTo>
                  <a:lnTo>
                    <a:pt x="438589" y="436518"/>
                  </a:lnTo>
                  <a:lnTo>
                    <a:pt x="437001" y="429715"/>
                  </a:lnTo>
                  <a:lnTo>
                    <a:pt x="434959" y="421779"/>
                  </a:lnTo>
                  <a:lnTo>
                    <a:pt x="432463" y="412708"/>
                  </a:lnTo>
                  <a:lnTo>
                    <a:pt x="430421" y="402504"/>
                  </a:lnTo>
                  <a:lnTo>
                    <a:pt x="429514" y="399783"/>
                  </a:lnTo>
                  <a:lnTo>
                    <a:pt x="429287" y="396608"/>
                  </a:lnTo>
                  <a:lnTo>
                    <a:pt x="429060" y="390712"/>
                  </a:lnTo>
                  <a:lnTo>
                    <a:pt x="429060" y="384363"/>
                  </a:lnTo>
                  <a:lnTo>
                    <a:pt x="429740" y="377787"/>
                  </a:lnTo>
                  <a:lnTo>
                    <a:pt x="430875" y="371210"/>
                  </a:lnTo>
                  <a:lnTo>
                    <a:pt x="432236" y="364408"/>
                  </a:lnTo>
                  <a:lnTo>
                    <a:pt x="434278" y="357831"/>
                  </a:lnTo>
                  <a:lnTo>
                    <a:pt x="436320" y="351029"/>
                  </a:lnTo>
                  <a:lnTo>
                    <a:pt x="438589" y="344452"/>
                  </a:lnTo>
                  <a:lnTo>
                    <a:pt x="440631" y="337876"/>
                  </a:lnTo>
                  <a:lnTo>
                    <a:pt x="443127" y="331981"/>
                  </a:lnTo>
                  <a:lnTo>
                    <a:pt x="445623" y="326085"/>
                  </a:lnTo>
                  <a:lnTo>
                    <a:pt x="450388" y="315880"/>
                  </a:lnTo>
                  <a:lnTo>
                    <a:pt x="454699" y="307490"/>
                  </a:lnTo>
                  <a:lnTo>
                    <a:pt x="456514" y="303862"/>
                  </a:lnTo>
                  <a:lnTo>
                    <a:pt x="458783" y="300687"/>
                  </a:lnTo>
                  <a:lnTo>
                    <a:pt x="461052" y="297739"/>
                  </a:lnTo>
                  <a:lnTo>
                    <a:pt x="463548" y="295018"/>
                  </a:lnTo>
                  <a:lnTo>
                    <a:pt x="466271" y="292297"/>
                  </a:lnTo>
                  <a:lnTo>
                    <a:pt x="468993" y="289803"/>
                  </a:lnTo>
                  <a:lnTo>
                    <a:pt x="471716" y="287535"/>
                  </a:lnTo>
                  <a:lnTo>
                    <a:pt x="474439" y="285267"/>
                  </a:lnTo>
                  <a:lnTo>
                    <a:pt x="480338" y="281413"/>
                  </a:lnTo>
                  <a:lnTo>
                    <a:pt x="486237" y="277558"/>
                  </a:lnTo>
                  <a:lnTo>
                    <a:pt x="497128" y="271208"/>
                  </a:lnTo>
                  <a:lnTo>
                    <a:pt x="501666" y="268034"/>
                  </a:lnTo>
                  <a:lnTo>
                    <a:pt x="505524" y="265086"/>
                  </a:lnTo>
                  <a:lnTo>
                    <a:pt x="508473" y="262364"/>
                  </a:lnTo>
                  <a:lnTo>
                    <a:pt x="510742" y="259643"/>
                  </a:lnTo>
                  <a:lnTo>
                    <a:pt x="512784" y="257149"/>
                  </a:lnTo>
                  <a:lnTo>
                    <a:pt x="514146" y="254655"/>
                  </a:lnTo>
                  <a:lnTo>
                    <a:pt x="516641" y="250800"/>
                  </a:lnTo>
                  <a:lnTo>
                    <a:pt x="517776" y="249212"/>
                  </a:lnTo>
                  <a:lnTo>
                    <a:pt x="518910" y="246718"/>
                  </a:lnTo>
                  <a:lnTo>
                    <a:pt x="519364" y="243543"/>
                  </a:lnTo>
                  <a:lnTo>
                    <a:pt x="519818" y="239235"/>
                  </a:lnTo>
                  <a:lnTo>
                    <a:pt x="520045" y="234246"/>
                  </a:lnTo>
                  <a:lnTo>
                    <a:pt x="519818" y="228123"/>
                  </a:lnTo>
                  <a:lnTo>
                    <a:pt x="519137" y="221094"/>
                  </a:lnTo>
                  <a:lnTo>
                    <a:pt x="517549" y="212703"/>
                  </a:lnTo>
                  <a:lnTo>
                    <a:pt x="517095" y="207941"/>
                  </a:lnTo>
                  <a:lnTo>
                    <a:pt x="516641" y="202953"/>
                  </a:lnTo>
                  <a:lnTo>
                    <a:pt x="516415" y="197284"/>
                  </a:lnTo>
                  <a:lnTo>
                    <a:pt x="516415" y="191614"/>
                  </a:lnTo>
                  <a:lnTo>
                    <a:pt x="516641" y="185719"/>
                  </a:lnTo>
                  <a:lnTo>
                    <a:pt x="516868" y="179369"/>
                  </a:lnTo>
                  <a:lnTo>
                    <a:pt x="518230" y="166671"/>
                  </a:lnTo>
                  <a:lnTo>
                    <a:pt x="519818" y="153972"/>
                  </a:lnTo>
                  <a:lnTo>
                    <a:pt x="521860" y="141727"/>
                  </a:lnTo>
                  <a:lnTo>
                    <a:pt x="524356" y="130842"/>
                  </a:lnTo>
                  <a:lnTo>
                    <a:pt x="525717" y="125853"/>
                  </a:lnTo>
                  <a:lnTo>
                    <a:pt x="527079" y="121091"/>
                  </a:lnTo>
                  <a:lnTo>
                    <a:pt x="529801" y="112928"/>
                  </a:lnTo>
                  <a:lnTo>
                    <a:pt x="532978" y="104991"/>
                  </a:lnTo>
                  <a:lnTo>
                    <a:pt x="536835" y="97735"/>
                  </a:lnTo>
                  <a:lnTo>
                    <a:pt x="540919" y="90025"/>
                  </a:lnTo>
                  <a:lnTo>
                    <a:pt x="545911" y="82088"/>
                  </a:lnTo>
                  <a:lnTo>
                    <a:pt x="551583" y="73471"/>
                  </a:lnTo>
                  <a:lnTo>
                    <a:pt x="558390" y="64627"/>
                  </a:lnTo>
                  <a:lnTo>
                    <a:pt x="565651" y="54650"/>
                  </a:lnTo>
                  <a:lnTo>
                    <a:pt x="567920" y="51929"/>
                  </a:lnTo>
                  <a:lnTo>
                    <a:pt x="570189" y="49434"/>
                  </a:lnTo>
                  <a:lnTo>
                    <a:pt x="575180" y="44672"/>
                  </a:lnTo>
                  <a:lnTo>
                    <a:pt x="580853" y="39910"/>
                  </a:lnTo>
                  <a:lnTo>
                    <a:pt x="586752" y="35375"/>
                  </a:lnTo>
                  <a:lnTo>
                    <a:pt x="593332" y="31067"/>
                  </a:lnTo>
                  <a:lnTo>
                    <a:pt x="599912" y="27212"/>
                  </a:lnTo>
                  <a:lnTo>
                    <a:pt x="606946" y="23583"/>
                  </a:lnTo>
                  <a:lnTo>
                    <a:pt x="614207" y="19728"/>
                  </a:lnTo>
                  <a:lnTo>
                    <a:pt x="621240" y="16554"/>
                  </a:lnTo>
                  <a:lnTo>
                    <a:pt x="628728" y="13606"/>
                  </a:lnTo>
                  <a:lnTo>
                    <a:pt x="635989" y="10884"/>
                  </a:lnTo>
                  <a:lnTo>
                    <a:pt x="643022" y="8390"/>
                  </a:lnTo>
                  <a:lnTo>
                    <a:pt x="649829" y="6122"/>
                  </a:lnTo>
                  <a:lnTo>
                    <a:pt x="656636" y="4308"/>
                  </a:lnTo>
                  <a:lnTo>
                    <a:pt x="662762" y="2721"/>
                  </a:lnTo>
                  <a:lnTo>
                    <a:pt x="668662" y="1360"/>
                  </a:lnTo>
                  <a:lnTo>
                    <a:pt x="674334" y="453"/>
                  </a:lnTo>
                  <a:lnTo>
                    <a:pt x="680233"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
        <p:nvSpPr>
          <p:cNvPr id="40" name="矩形 39"/>
          <p:cNvSpPr/>
          <p:nvPr/>
        </p:nvSpPr>
        <p:spPr>
          <a:xfrm>
            <a:off x="6756167" y="1994868"/>
            <a:ext cx="1706880" cy="398780"/>
          </a:xfrm>
          <a:prstGeom prst="rect">
            <a:avLst/>
          </a:prstGeom>
        </p:spPr>
        <p:txBody>
          <a:bodyPr wrap="none">
            <a:spAutoFit/>
          </a:bodyPr>
          <a:lstStyle/>
          <a:p>
            <a:r>
              <a:rPr lang="zh-CN" altLang="en-US" sz="2000" b="1" dirty="0">
                <a:solidFill>
                  <a:srgbClr val="333333"/>
                </a:solidFill>
                <a:latin typeface="微软雅黑" panose="020B0503020204020204" pitchFamily="34" charset="-122"/>
                <a:ea typeface="微软雅黑" panose="020B0503020204020204" pitchFamily="34" charset="-122"/>
              </a:rPr>
              <a:t>财务报表说明</a:t>
            </a:r>
            <a:endParaRPr lang="zh-CN" altLang="en-US" sz="2000" b="1" dirty="0"/>
          </a:p>
        </p:txBody>
      </p:sp>
      <p:grpSp>
        <p:nvGrpSpPr>
          <p:cNvPr id="2" name="组合 1"/>
          <p:cNvGrpSpPr/>
          <p:nvPr/>
        </p:nvGrpSpPr>
        <p:grpSpPr>
          <a:xfrm>
            <a:off x="930275" y="4538980"/>
            <a:ext cx="3196590" cy="1145540"/>
            <a:chOff x="1465" y="7148"/>
            <a:chExt cx="5034" cy="1804"/>
          </a:xfrm>
        </p:grpSpPr>
        <p:sp>
          <p:nvSpPr>
            <p:cNvPr id="219" name=" 219"/>
            <p:cNvSpPr/>
            <p:nvPr/>
          </p:nvSpPr>
          <p:spPr>
            <a:xfrm>
              <a:off x="1465" y="7148"/>
              <a:ext cx="5035" cy="1804"/>
            </a:xfrm>
            <a:prstGeom prst="roundRect">
              <a:avLst>
                <a:gd name="adj" fmla="val 5000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2" name="文本框 41"/>
            <p:cNvSpPr txBox="1"/>
            <p:nvPr/>
          </p:nvSpPr>
          <p:spPr>
            <a:xfrm>
              <a:off x="2077" y="7687"/>
              <a:ext cx="3812" cy="725"/>
            </a:xfrm>
            <a:prstGeom prst="rect">
              <a:avLst/>
            </a:prstGeom>
            <a:noFill/>
          </p:spPr>
          <p:txBody>
            <a:bodyPr wrap="none" rtlCol="0">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2018</a:t>
              </a:r>
              <a:r>
                <a:rPr lang="zh-CN" altLang="en-US" sz="2400" dirty="0">
                  <a:solidFill>
                    <a:schemeClr val="bg1"/>
                  </a:solidFill>
                  <a:latin typeface="微软雅黑" panose="020B0503020204020204" pitchFamily="34" charset="-122"/>
                  <a:ea typeface="微软雅黑" panose="020B0503020204020204" pitchFamily="34" charset="-122"/>
                </a:rPr>
                <a:t>资产负债表</a:t>
              </a:r>
            </a:p>
          </p:txBody>
        </p:sp>
      </p:grpSp>
      <p:sp>
        <p:nvSpPr>
          <p:cNvPr id="39" name="矩形 38"/>
          <p:cNvSpPr/>
          <p:nvPr/>
        </p:nvSpPr>
        <p:spPr>
          <a:xfrm>
            <a:off x="1496081" y="395116"/>
            <a:ext cx="2926080" cy="645160"/>
          </a:xfrm>
          <a:prstGeom prst="rect">
            <a:avLst/>
          </a:prstGeom>
        </p:spPr>
        <p:txBody>
          <a:bodyPr wrap="none">
            <a:spAutoFit/>
          </a:bodyPr>
          <a:lstStyle/>
          <a:p>
            <a:pPr fontAlgn="auto">
              <a:spcBef>
                <a:spcPts val="0"/>
              </a:spcBef>
              <a:spcAft>
                <a:spcPts val="0"/>
              </a:spcAft>
              <a:defRPr/>
            </a:pPr>
            <a:r>
              <a:rPr lang="zh-CN" altLang="en-US" sz="3600" b="1" dirty="0">
                <a:solidFill>
                  <a:srgbClr val="383F4E"/>
                </a:solidFill>
                <a:latin typeface="微软雅黑" panose="020B0503020204020204" pitchFamily="34" charset="-122"/>
                <a:ea typeface="微软雅黑" panose="020B0503020204020204" pitchFamily="34" charset="-122"/>
              </a:rPr>
              <a:t>年度财务报表</a:t>
            </a:r>
          </a:p>
        </p:txBody>
      </p:sp>
      <p:grpSp>
        <p:nvGrpSpPr>
          <p:cNvPr id="7" name="组合 6"/>
          <p:cNvGrpSpPr/>
          <p:nvPr/>
        </p:nvGrpSpPr>
        <p:grpSpPr>
          <a:xfrm>
            <a:off x="4475480" y="4538980"/>
            <a:ext cx="3197225" cy="1145540"/>
            <a:chOff x="1465" y="7019"/>
            <a:chExt cx="5035" cy="1804"/>
          </a:xfrm>
        </p:grpSpPr>
        <p:sp>
          <p:nvSpPr>
            <p:cNvPr id="8" name=" 219"/>
            <p:cNvSpPr/>
            <p:nvPr/>
          </p:nvSpPr>
          <p:spPr>
            <a:xfrm>
              <a:off x="1465" y="7019"/>
              <a:ext cx="5035" cy="1804"/>
            </a:xfrm>
            <a:prstGeom prst="roundRect">
              <a:avLst>
                <a:gd name="adj" fmla="val 5000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 name="文本框 8"/>
            <p:cNvSpPr txBox="1"/>
            <p:nvPr/>
          </p:nvSpPr>
          <p:spPr>
            <a:xfrm>
              <a:off x="2077" y="7559"/>
              <a:ext cx="3812" cy="725"/>
            </a:xfrm>
            <a:prstGeom prst="rect">
              <a:avLst/>
            </a:prstGeom>
            <a:noFill/>
          </p:spPr>
          <p:txBody>
            <a:bodyPr wrap="none" rtlCol="0">
              <a:spAutoFit/>
            </a:bodyPr>
            <a:lstStyle/>
            <a:p>
              <a:pPr algn="ctr"/>
              <a:r>
                <a:rPr sz="2400" dirty="0">
                  <a:solidFill>
                    <a:schemeClr val="bg1"/>
                  </a:solidFill>
                  <a:latin typeface="微软雅黑" panose="020B0503020204020204" pitchFamily="34" charset="-122"/>
                  <a:ea typeface="微软雅黑" panose="020B0503020204020204" pitchFamily="34" charset="-122"/>
                </a:rPr>
                <a:t>2018销售利润表</a:t>
              </a:r>
            </a:p>
          </p:txBody>
        </p:sp>
      </p:grpSp>
      <p:grpSp>
        <p:nvGrpSpPr>
          <p:cNvPr id="10" name="组合 9"/>
          <p:cNvGrpSpPr/>
          <p:nvPr/>
        </p:nvGrpSpPr>
        <p:grpSpPr>
          <a:xfrm>
            <a:off x="8080375" y="4539615"/>
            <a:ext cx="3197225" cy="1145540"/>
            <a:chOff x="1465" y="7019"/>
            <a:chExt cx="5035" cy="1804"/>
          </a:xfrm>
        </p:grpSpPr>
        <p:sp>
          <p:nvSpPr>
            <p:cNvPr id="11" name=" 219"/>
            <p:cNvSpPr/>
            <p:nvPr/>
          </p:nvSpPr>
          <p:spPr>
            <a:xfrm>
              <a:off x="1465" y="7019"/>
              <a:ext cx="5035" cy="1804"/>
            </a:xfrm>
            <a:prstGeom prst="roundRect">
              <a:avLst>
                <a:gd name="adj" fmla="val 50000"/>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6" name="文本框 15"/>
            <p:cNvSpPr txBox="1"/>
            <p:nvPr/>
          </p:nvSpPr>
          <p:spPr>
            <a:xfrm>
              <a:off x="2077" y="7559"/>
              <a:ext cx="3812" cy="725"/>
            </a:xfrm>
            <a:prstGeom prst="rect">
              <a:avLst/>
            </a:prstGeom>
            <a:noFill/>
          </p:spPr>
          <p:txBody>
            <a:bodyPr wrap="none" rtlCol="0">
              <a:spAutoFit/>
            </a:bodyPr>
            <a:lstStyle/>
            <a:p>
              <a:pPr algn="ctr"/>
              <a:r>
                <a:rPr sz="2400" dirty="0">
                  <a:solidFill>
                    <a:schemeClr val="bg1"/>
                  </a:solidFill>
                  <a:latin typeface="微软雅黑" panose="020B0503020204020204" pitchFamily="34" charset="-122"/>
                  <a:ea typeface="微软雅黑" panose="020B0503020204020204" pitchFamily="34" charset="-122"/>
                </a:rPr>
                <a:t>2018成本核算表</a:t>
              </a: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par>
                                <p:cTn id="16" presetID="22" presetClass="entr" presetSubtype="8"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550501" y="1587116"/>
          <a:ext cx="9037981" cy="3150062"/>
        </p:xfrm>
        <a:graphic>
          <a:graphicData uri="http://schemas.openxmlformats.org/drawingml/2006/table">
            <a:tbl>
              <a:tblPr>
                <a:tableStyleId>{5C22544A-7EE6-4342-B048-85BDC9FD1C3A}</a:tableStyleId>
              </a:tblPr>
              <a:tblGrid>
                <a:gridCol w="2341641"/>
                <a:gridCol w="1169741"/>
                <a:gridCol w="1051071"/>
                <a:gridCol w="1101929"/>
                <a:gridCol w="1000213"/>
                <a:gridCol w="1237552"/>
                <a:gridCol w="1135834"/>
              </a:tblGrid>
              <a:tr h="400957">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主要指标</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E8432E"/>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预算</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383F4E"/>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实绩</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E8432E"/>
                    </a:solidFill>
                  </a:tcPr>
                </a:tc>
                <a:tc grid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增幅</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383F4E"/>
                    </a:solidFill>
                  </a:tcPr>
                </a:tc>
                <a:tc hMerge="1">
                  <a:txBody>
                    <a:bodyPr/>
                    <a:lstStyle/>
                    <a:p>
                      <a:endParaRPr lang="zh-CN"/>
                    </a:p>
                  </a:txBody>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完成</a:t>
                      </a:r>
                      <a:endParaRPr kumimoji="0" lang="en-US" altLang="zh-CN"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预算</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E8432E"/>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与时</a:t>
                      </a:r>
                      <a:endParaRPr kumimoji="0" lang="en-US" altLang="zh-CN"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序差</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383F4E"/>
                    </a:solidFill>
                  </a:tcPr>
                </a:tc>
              </a:tr>
              <a:tr h="412735">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账面</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383F4E"/>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可比</a:t>
                      </a:r>
                      <a:endPar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solidFill>
                      <a:srgbClr val="383F4E"/>
                    </a:solidFill>
                  </a:tcPr>
                </a:tc>
                <a:tc vMerge="1">
                  <a:txBody>
                    <a:bodyPr/>
                    <a:lstStyle/>
                    <a:p>
                      <a:endParaRPr lang="zh-CN"/>
                    </a:p>
                  </a:txBody>
                  <a:tcPr/>
                </a:tc>
                <a:tc vMerge="1">
                  <a:txBody>
                    <a:bodyPr/>
                    <a:lstStyle/>
                    <a:p>
                      <a:endParaRPr lang="zh-CN"/>
                    </a:p>
                  </a:txBody>
                  <a:tcPr/>
                </a:tc>
              </a:tr>
              <a:tr h="471696">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预算口径收入</a:t>
                      </a:r>
                      <a:r>
                        <a:rPr kumimoji="0" lang="en-US" altLang="zh-CN" sz="1100" u="none" strike="noStrike" cap="none" normalizeH="0" baseline="0" dirty="0">
                          <a:ln>
                            <a:noFill/>
                          </a:ln>
                          <a:effectLst/>
                          <a:latin typeface="微软雅黑" panose="020B0503020204020204" pitchFamily="34" charset="-122"/>
                          <a:ea typeface="微软雅黑" panose="020B0503020204020204" pitchFamily="34" charset="-122"/>
                        </a:rPr>
                        <a:t>-</a:t>
                      </a: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当月</a:t>
                      </a:r>
                      <a:endParaRPr kumimoji="0" lang="zh-CN" altLang="en-US" sz="11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6,848 </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6,553</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-3.31%</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3.86%</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7.97%</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-0.36%</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r>
              <a:tr h="495281">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预算口径收入</a:t>
                      </a:r>
                      <a:r>
                        <a:rPr kumimoji="0" lang="en-US" altLang="zh-CN" sz="1100" u="none" strike="noStrike" cap="none" normalizeH="0" baseline="0" dirty="0">
                          <a:ln>
                            <a:noFill/>
                          </a:ln>
                          <a:effectLst/>
                          <a:latin typeface="微软雅黑" panose="020B0503020204020204" pitchFamily="34" charset="-122"/>
                          <a:ea typeface="微软雅黑" panose="020B0503020204020204" pitchFamily="34" charset="-122"/>
                        </a:rPr>
                        <a:t>-</a:t>
                      </a: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累计</a:t>
                      </a:r>
                      <a:endParaRPr kumimoji="0" lang="zh-CN" altLang="en-US" sz="11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solidFill>
                      <a:schemeClr val="bg1">
                        <a:lumMod val="95000"/>
                      </a:schemeClr>
                    </a:solidFill>
                  </a:tcPr>
                </a:tc>
                <a:tc>
                  <a:txBody>
                    <a:bodyPr/>
                    <a:lstStyle/>
                    <a:p>
                      <a:pPr algn="ctr" fontAlgn="ctr"/>
                      <a:r>
                        <a:rPr lang="zh-CN" altLang="en-US" sz="1100" u="none" strike="noStrike" dirty="0">
                          <a:latin typeface="微软雅黑" panose="020B0503020204020204" pitchFamily="34" charset="-122"/>
                          <a:ea typeface="微软雅黑" panose="020B0503020204020204" pitchFamily="34" charset="-122"/>
                        </a:rPr>
                        <a:t> </a:t>
                      </a:r>
                      <a:r>
                        <a:rPr lang="en-US" altLang="zh-CN" sz="1100" u="none" strike="noStrike" dirty="0">
                          <a:latin typeface="微软雅黑" panose="020B0503020204020204" pitchFamily="34" charset="-122"/>
                          <a:ea typeface="微软雅黑" panose="020B0503020204020204" pitchFamily="34" charset="-122"/>
                        </a:rPr>
                        <a:t>82,181 </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26,826</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-4.72%</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2.34%</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32.64%</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-0.69%</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r>
              <a:tr h="495281">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考核口径收入</a:t>
                      </a:r>
                      <a:r>
                        <a:rPr kumimoji="0" lang="en-US" altLang="zh-CN" sz="1100" u="none" strike="noStrike" cap="none" normalizeH="0" baseline="0" dirty="0">
                          <a:ln>
                            <a:noFill/>
                          </a:ln>
                          <a:effectLst/>
                          <a:latin typeface="微软雅黑" panose="020B0503020204020204" pitchFamily="34" charset="-122"/>
                          <a:ea typeface="微软雅黑" panose="020B0503020204020204" pitchFamily="34" charset="-122"/>
                        </a:rPr>
                        <a:t>-</a:t>
                      </a: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累计</a:t>
                      </a:r>
                      <a:endParaRPr kumimoji="0" lang="zh-CN" altLang="en-US" sz="11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solidFill>
                      <a:schemeClr val="bg1">
                        <a:lumMod val="95000"/>
                      </a:schemeClr>
                    </a:solidFill>
                  </a:tcPr>
                </a:tc>
                <a:tc>
                  <a:txBody>
                    <a:bodyPr/>
                    <a:lstStyle/>
                    <a:p>
                      <a:pPr algn="ctr" fontAlgn="ctr"/>
                      <a:r>
                        <a:rPr lang="zh-CN" altLang="en-US" sz="1100" u="none" strike="noStrike" dirty="0">
                          <a:latin typeface="微软雅黑" panose="020B0503020204020204" pitchFamily="34" charset="-122"/>
                          <a:ea typeface="微软雅黑" panose="020B0503020204020204" pitchFamily="34" charset="-122"/>
                        </a:rPr>
                        <a:t> </a:t>
                      </a:r>
                      <a:r>
                        <a:rPr lang="en-US" altLang="zh-CN" sz="1100" u="none" strike="noStrike" dirty="0">
                          <a:latin typeface="微软雅黑" panose="020B0503020204020204" pitchFamily="34" charset="-122"/>
                          <a:ea typeface="微软雅黑" panose="020B0503020204020204" pitchFamily="34" charset="-122"/>
                        </a:rPr>
                        <a:t>82,181 </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26,654</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32.43%</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ctr"/>
                      <a:r>
                        <a:rPr lang="en-US" altLang="zh-CN" sz="1100" u="none" strike="noStrike" dirty="0">
                          <a:latin typeface="微软雅黑" panose="020B0503020204020204" pitchFamily="34" charset="-122"/>
                          <a:ea typeface="微软雅黑" panose="020B0503020204020204" pitchFamily="34" charset="-122"/>
                        </a:rPr>
                        <a:t>-0.90%</a:t>
                      </a:r>
                      <a:endParaRPr lang="en-US" altLang="zh-CN" sz="11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r>
              <a:tr h="44663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净利润</a:t>
                      </a:r>
                      <a:endParaRPr kumimoji="0" lang="zh-CN" altLang="en-US" sz="11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微软雅黑" panose="020B0503020204020204" pitchFamily="34" charset="-122"/>
                          <a:ea typeface="微软雅黑" panose="020B0503020204020204" pitchFamily="34" charset="-122"/>
                        </a:rPr>
                        <a:t>11,543</a:t>
                      </a:r>
                      <a:endParaRPr lang="en-US" altLang="zh-CN" sz="1100" b="0" i="0"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0" marR="0" marT="0" marB="0" anchor="ctr" horzOverflow="overflow">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微软雅黑" panose="020B0503020204020204" pitchFamily="34" charset="-122"/>
                          <a:ea typeface="微软雅黑" panose="020B0503020204020204" pitchFamily="34" charset="-122"/>
                        </a:rPr>
                        <a:t>3,935</a:t>
                      </a:r>
                      <a:endParaRPr lang="en-US" altLang="zh-CN" sz="1100" b="0" i="0"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0" marR="0" marT="0" marB="0" anchor="ctr" horzOverflow="overflow">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微软雅黑" panose="020B0503020204020204" pitchFamily="34" charset="-122"/>
                          <a:ea typeface="微软雅黑" panose="020B0503020204020204" pitchFamily="34" charset="-122"/>
                        </a:rPr>
                        <a:t>-20.77%</a:t>
                      </a:r>
                      <a:endParaRPr lang="en-US" altLang="zh-CN" sz="1100" b="0" i="0"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0" marR="0" marT="0" marB="0" anchor="ctr" horzOverflow="overflow">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endParaRPr lang="en-US" altLang="zh-CN" sz="1100" b="0" i="0"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0" marR="0" marT="0" marB="0" anchor="ctr" horzOverflow="overflow">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微软雅黑" panose="020B0503020204020204" pitchFamily="34" charset="-122"/>
                          <a:ea typeface="微软雅黑" panose="020B0503020204020204" pitchFamily="34" charset="-122"/>
                        </a:rPr>
                        <a:t>34.09%</a:t>
                      </a:r>
                      <a:endParaRPr lang="en-US" altLang="zh-CN" sz="1100" b="0" i="0"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0" marR="0" marT="0" marB="0" anchor="ctr" horzOverflow="overflow">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微软雅黑" panose="020B0503020204020204" pitchFamily="34" charset="-122"/>
                          <a:ea typeface="微软雅黑" panose="020B0503020204020204" pitchFamily="34" charset="-122"/>
                        </a:rPr>
                        <a:t>0.76%</a:t>
                      </a:r>
                      <a:endParaRPr lang="en-US" altLang="zh-CN" sz="1100" b="0" i="0"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0" marR="0" marT="0" marB="0" anchor="ctr" horzOverflow="overflow">
                    <a:solidFill>
                      <a:schemeClr val="bg1">
                        <a:lumMod val="95000"/>
                      </a:schemeClr>
                    </a:solidFill>
                  </a:tcPr>
                </a:tc>
              </a:tr>
              <a:tr h="42747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微软雅黑" panose="020B0503020204020204" pitchFamily="34" charset="-122"/>
                          <a:ea typeface="微软雅黑" panose="020B0503020204020204" pitchFamily="34" charset="-122"/>
                        </a:rPr>
                        <a:t>资本性支出</a:t>
                      </a:r>
                      <a:endParaRPr kumimoji="0" lang="zh-CN" altLang="en-US" sz="11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solidFill>
                      <a:schemeClr val="bg1">
                        <a:lumMod val="95000"/>
                      </a:schemeClr>
                    </a:solidFill>
                  </a:tcPr>
                </a:tc>
                <a:tc>
                  <a:txBody>
                    <a:bodyPr/>
                    <a:lstStyle/>
                    <a:p>
                      <a:pPr algn="ctr" fontAlgn="b"/>
                      <a:r>
                        <a:rPr lang="en-US" altLang="zh-CN" sz="1100" u="none" strike="noStrike" dirty="0">
                          <a:latin typeface="微软雅黑" panose="020B0503020204020204" pitchFamily="34" charset="-122"/>
                          <a:ea typeface="微软雅黑" panose="020B0503020204020204" pitchFamily="34" charset="-122"/>
                        </a:rPr>
                        <a:t>30,266</a:t>
                      </a:r>
                      <a:endParaRPr lang="en-US" altLang="zh-CN" sz="11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b"/>
                      <a:r>
                        <a:rPr lang="en-US" altLang="zh-CN" sz="1100" u="none" strike="noStrike" dirty="0">
                          <a:latin typeface="微软雅黑" panose="020B0503020204020204" pitchFamily="34" charset="-122"/>
                          <a:ea typeface="微软雅黑" panose="020B0503020204020204" pitchFamily="34" charset="-122"/>
                        </a:rPr>
                        <a:t>4,700</a:t>
                      </a:r>
                      <a:endParaRPr lang="en-US" altLang="zh-CN" sz="11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b"/>
                      <a:r>
                        <a:rPr lang="en-US" altLang="zh-CN" sz="1100" u="none" strike="noStrike" dirty="0">
                          <a:latin typeface="微软雅黑" panose="020B0503020204020204" pitchFamily="34" charset="-122"/>
                          <a:ea typeface="微软雅黑" panose="020B0503020204020204" pitchFamily="34" charset="-122"/>
                        </a:rPr>
                        <a:t>4.14% </a:t>
                      </a:r>
                      <a:endParaRPr lang="en-US" altLang="zh-CN" sz="11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endParaRPr kumimoji="0" lang="en-US" altLang="zh-CN" sz="11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solidFill>
                      <a:schemeClr val="bg1">
                        <a:lumMod val="95000"/>
                      </a:schemeClr>
                    </a:solidFill>
                  </a:tcPr>
                </a:tc>
                <a:tc>
                  <a:txBody>
                    <a:bodyPr/>
                    <a:lstStyle/>
                    <a:p>
                      <a:pPr algn="ctr" fontAlgn="b"/>
                      <a:r>
                        <a:rPr lang="en-US" altLang="zh-CN" sz="1100" u="none" strike="noStrike" dirty="0">
                          <a:latin typeface="微软雅黑" panose="020B0503020204020204" pitchFamily="34" charset="-122"/>
                          <a:ea typeface="微软雅黑" panose="020B0503020204020204" pitchFamily="34" charset="-122"/>
                        </a:rPr>
                        <a:t>15.53% </a:t>
                      </a:r>
                      <a:endParaRPr lang="en-US" altLang="zh-CN" sz="11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c>
                  <a:txBody>
                    <a:bodyPr/>
                    <a:lstStyle/>
                    <a:p>
                      <a:pPr algn="ctr" fontAlgn="b"/>
                      <a:r>
                        <a:rPr lang="en-US" altLang="zh-CN" sz="1100" u="none" strike="noStrike" dirty="0">
                          <a:latin typeface="微软雅黑" panose="020B0503020204020204" pitchFamily="34" charset="-122"/>
                          <a:ea typeface="微软雅黑" panose="020B0503020204020204" pitchFamily="34" charset="-122"/>
                        </a:rPr>
                        <a:t>-17.80 %</a:t>
                      </a:r>
                      <a:endParaRPr lang="en-US" altLang="zh-CN" sz="11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95000"/>
                      </a:schemeClr>
                    </a:solidFill>
                  </a:tcPr>
                </a:tc>
              </a:tr>
            </a:tbl>
          </a:graphicData>
        </a:graphic>
      </p:graphicFrame>
      <p:sp>
        <p:nvSpPr>
          <p:cNvPr id="5" name="TextBox 10"/>
          <p:cNvSpPr txBox="1"/>
          <p:nvPr/>
        </p:nvSpPr>
        <p:spPr>
          <a:xfrm>
            <a:off x="1537249" y="4923586"/>
            <a:ext cx="9435548" cy="1060450"/>
          </a:xfrm>
          <a:prstGeom prst="rect">
            <a:avLst/>
          </a:prstGeom>
          <a:noFill/>
        </p:spPr>
        <p:txBody>
          <a:bodyPr wrap="square">
            <a:spAutoFit/>
          </a:bodyPr>
          <a:lstStyle/>
          <a:p>
            <a:pPr marL="214630" indent="-214630">
              <a:lnSpc>
                <a:spcPct val="150000"/>
              </a:lnSpc>
              <a:buClr>
                <a:srgbClr val="FF0000"/>
              </a:buClr>
              <a:buFont typeface="Wingdings" panose="05000000000000000000" pitchFamily="2" charset="2"/>
              <a:buChar char="p"/>
              <a:defRPr/>
            </a:pPr>
            <a:r>
              <a:rPr lang="zh-CN" altLang="en-US" sz="1400" dirty="0">
                <a:latin typeface="微软雅黑" panose="020B0503020204020204" pitchFamily="34" charset="-122"/>
                <a:ea typeface="微软雅黑" panose="020B0503020204020204" pitchFamily="34" charset="-122"/>
              </a:rPr>
              <a:t>预算口径收入累计缺口</a:t>
            </a:r>
            <a:r>
              <a:rPr lang="en-US" altLang="zh-CN" sz="1400" dirty="0">
                <a:latin typeface="微软雅黑" panose="020B0503020204020204" pitchFamily="34" charset="-122"/>
                <a:ea typeface="微软雅黑" panose="020B0503020204020204" pitchFamily="34" charset="-122"/>
              </a:rPr>
              <a:t>568</a:t>
            </a:r>
            <a:r>
              <a:rPr lang="zh-CN" altLang="en-US" sz="1400" dirty="0">
                <a:latin typeface="微软雅黑" panose="020B0503020204020204" pitchFamily="34" charset="-122"/>
                <a:ea typeface="微软雅黑" panose="020B0503020204020204" pitchFamily="34" charset="-122"/>
              </a:rPr>
              <a:t>万元，可比增幅低于目标增幅</a:t>
            </a:r>
            <a:r>
              <a:rPr lang="en-US" altLang="zh-CN" sz="1400" dirty="0">
                <a:latin typeface="微软雅黑" panose="020B0503020204020204" pitchFamily="34" charset="-122"/>
                <a:ea typeface="微软雅黑" panose="020B0503020204020204" pitchFamily="34" charset="-122"/>
              </a:rPr>
              <a:t>(9.13%)6.79%,</a:t>
            </a:r>
            <a:r>
              <a:rPr lang="zh-CN" altLang="en-US" sz="1400" dirty="0">
                <a:latin typeface="微软雅黑" panose="020B0503020204020204" pitchFamily="34" charset="-122"/>
                <a:ea typeface="微软雅黑" panose="020B0503020204020204" pitchFamily="34" charset="-122"/>
              </a:rPr>
              <a:t>账面增幅低于目标增幅（</a:t>
            </a:r>
            <a:r>
              <a:rPr lang="en-US" altLang="zh-CN" sz="1400" dirty="0">
                <a:latin typeface="微软雅黑" panose="020B0503020204020204" pitchFamily="34" charset="-122"/>
                <a:ea typeface="微软雅黑" panose="020B0503020204020204" pitchFamily="34" charset="-122"/>
              </a:rPr>
              <a:t>5.70%</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10.43%</a:t>
            </a:r>
            <a:r>
              <a:rPr lang="zh-CN" altLang="en-US" sz="1400" dirty="0">
                <a:latin typeface="微软雅黑" panose="020B0503020204020204" pitchFamily="34" charset="-122"/>
                <a:ea typeface="微软雅黑" panose="020B0503020204020204" pitchFamily="34" charset="-122"/>
              </a:rPr>
              <a:t>，考核口径收入缺口</a:t>
            </a:r>
            <a:r>
              <a:rPr lang="en-US" altLang="zh-CN" sz="1400" dirty="0">
                <a:latin typeface="微软雅黑" panose="020B0503020204020204" pitchFamily="34" charset="-122"/>
                <a:ea typeface="微软雅黑" panose="020B0503020204020204" pitchFamily="34" charset="-122"/>
              </a:rPr>
              <a:t>740</a:t>
            </a:r>
            <a:r>
              <a:rPr lang="zh-CN" altLang="en-US" sz="1400" dirty="0">
                <a:latin typeface="微软雅黑" panose="020B0503020204020204" pitchFamily="34" charset="-122"/>
                <a:ea typeface="微软雅黑" panose="020B0503020204020204" pitchFamily="34" charset="-122"/>
              </a:rPr>
              <a:t>万元。</a:t>
            </a:r>
          </a:p>
          <a:p>
            <a:pPr marL="214630" indent="-214630">
              <a:lnSpc>
                <a:spcPct val="150000"/>
              </a:lnSpc>
              <a:buClr>
                <a:srgbClr val="FF0000"/>
              </a:buClr>
              <a:buFont typeface="Wingdings" panose="05000000000000000000" pitchFamily="2" charset="2"/>
              <a:buChar char="p"/>
              <a:defRPr/>
            </a:pPr>
            <a:r>
              <a:rPr lang="zh-CN" altLang="en-US" sz="1400" dirty="0">
                <a:latin typeface="微软雅黑" panose="020B0503020204020204" pitchFamily="34" charset="-122"/>
                <a:ea typeface="微软雅黑" panose="020B0503020204020204" pitchFamily="34" charset="-122"/>
              </a:rPr>
              <a:t>净利润累计完成</a:t>
            </a:r>
            <a:r>
              <a:rPr lang="en-US" altLang="zh-CN" sz="1400" dirty="0">
                <a:latin typeface="微软雅黑" panose="020B0503020204020204" pitchFamily="34" charset="-122"/>
                <a:ea typeface="微软雅黑" panose="020B0503020204020204" pitchFamily="34" charset="-122"/>
              </a:rPr>
              <a:t>3,935.36</a:t>
            </a:r>
            <a:r>
              <a:rPr lang="zh-CN" altLang="en-US" sz="1400" dirty="0">
                <a:latin typeface="微软雅黑" panose="020B0503020204020204" pitchFamily="34" charset="-122"/>
                <a:ea typeface="微软雅黑" panose="020B0503020204020204" pitchFamily="34" charset="-122"/>
              </a:rPr>
              <a:t>万元，高于时序进度</a:t>
            </a:r>
            <a:r>
              <a:rPr lang="en-US" altLang="zh-CN" sz="1400" dirty="0">
                <a:latin typeface="微软雅黑" panose="020B0503020204020204" pitchFamily="34" charset="-122"/>
                <a:ea typeface="微软雅黑" panose="020B0503020204020204" pitchFamily="34" charset="-122"/>
              </a:rPr>
              <a:t>87.69</a:t>
            </a:r>
            <a:r>
              <a:rPr lang="zh-CN" altLang="en-US" sz="1400" dirty="0">
                <a:latin typeface="微软雅黑" panose="020B0503020204020204" pitchFamily="34" charset="-122"/>
                <a:ea typeface="微软雅黑" panose="020B0503020204020204" pitchFamily="34" charset="-122"/>
              </a:rPr>
              <a:t>万元（</a:t>
            </a:r>
            <a:r>
              <a:rPr lang="en-US" altLang="zh-CN" sz="1400" dirty="0">
                <a:latin typeface="微软雅黑" panose="020B0503020204020204" pitchFamily="34" charset="-122"/>
                <a:ea typeface="微软雅黑" panose="020B0503020204020204" pitchFamily="34" charset="-122"/>
              </a:rPr>
              <a:t>0.76%</a:t>
            </a:r>
            <a:r>
              <a:rPr lang="zh-CN" altLang="en-US" sz="1400" dirty="0">
                <a:latin typeface="微软雅黑" panose="020B0503020204020204" pitchFamily="34" charset="-122"/>
                <a:ea typeface="微软雅黑" panose="020B0503020204020204" pitchFamily="34" charset="-122"/>
              </a:rPr>
              <a:t>） 。</a:t>
            </a:r>
            <a:endParaRPr lang="en-US" altLang="zh-CN" sz="1400" dirty="0">
              <a:latin typeface="微软雅黑" panose="020B0503020204020204" pitchFamily="34" charset="-122"/>
              <a:ea typeface="微软雅黑" panose="020B0503020204020204" pitchFamily="34" charset="-122"/>
            </a:endParaRPr>
          </a:p>
        </p:txBody>
      </p:sp>
      <p:sp>
        <p:nvSpPr>
          <p:cNvPr id="6" name="TextBox 14"/>
          <p:cNvSpPr txBox="1"/>
          <p:nvPr/>
        </p:nvSpPr>
        <p:spPr>
          <a:xfrm>
            <a:off x="9679955" y="1250928"/>
            <a:ext cx="944880" cy="275590"/>
          </a:xfrm>
          <a:prstGeom prst="rect">
            <a:avLst/>
          </a:prstGeom>
          <a:noFill/>
        </p:spPr>
        <p:txBody>
          <a:bodyPr wrap="none" rtlCol="0">
            <a:spAutoFit/>
          </a:bodyPr>
          <a:lstStyle/>
          <a:p>
            <a:pPr algn="r"/>
            <a:r>
              <a:rPr lang="zh-CN" altLang="en-US" sz="1200" dirty="0">
                <a:latin typeface="微软雅黑" panose="020B0503020204020204" pitchFamily="34" charset="-122"/>
                <a:ea typeface="微软雅黑" panose="020B0503020204020204" pitchFamily="34" charset="-122"/>
              </a:rPr>
              <a:t>单位：万元</a:t>
            </a:r>
          </a:p>
        </p:txBody>
      </p:sp>
      <p:sp>
        <p:nvSpPr>
          <p:cNvPr id="21" name="矩形 20"/>
          <p:cNvSpPr/>
          <p:nvPr/>
        </p:nvSpPr>
        <p:spPr>
          <a:xfrm>
            <a:off x="1537356" y="365906"/>
            <a:ext cx="3840480" cy="645160"/>
          </a:xfrm>
          <a:prstGeom prst="rect">
            <a:avLst/>
          </a:prstGeom>
        </p:spPr>
        <p:txBody>
          <a:bodyPr wrap="none">
            <a:spAutoFit/>
          </a:bodyPr>
          <a:lstStyle/>
          <a:p>
            <a:pPr lvl="0" algn="l">
              <a:spcBef>
                <a:spcPts val="0"/>
              </a:spcBef>
              <a:spcAft>
                <a:spcPts val="0"/>
              </a:spcAft>
              <a:defRPr/>
            </a:pPr>
            <a:r>
              <a:rPr lang="zh-CN" altLang="en-US" sz="3600" b="1" dirty="0">
                <a:solidFill>
                  <a:srgbClr val="383F4E"/>
                </a:solidFill>
                <a:latin typeface="微软雅黑" panose="020B0503020204020204" pitchFamily="34" charset="-122"/>
                <a:ea typeface="微软雅黑" panose="020B0503020204020204" pitchFamily="34" charset="-122"/>
                <a:sym typeface="+mn-ea"/>
              </a:rPr>
              <a:t>主要指标完成情况</a:t>
            </a:r>
          </a:p>
        </p:txBody>
      </p:sp>
      <p:sp>
        <p:nvSpPr>
          <p:cNvPr id="22" name="文本框 21"/>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1500"/>
                                  </p:stCondLst>
                                  <p:childTnLst>
                                    <p:animEffect transition="out" filter="fade">
                                      <p:cBhvr>
                                        <p:cTn id="19" dur="500"/>
                                        <p:tgtEl>
                                          <p:spTgt spid="22"/>
                                        </p:tgtEl>
                                      </p:cBhvr>
                                    </p:animEffect>
                                    <p:set>
                                      <p:cBhvr>
                                        <p:cTn id="20"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55435" y="3086739"/>
            <a:ext cx="3988645" cy="2346652"/>
          </a:xfrm>
          <a:prstGeom prst="rect">
            <a:avLst/>
          </a:prstGeom>
          <a:solidFill>
            <a:schemeClr val="bg1">
              <a:lumMod val="95000"/>
            </a:schemeClr>
          </a:solidFill>
          <a:ln w="34925">
            <a:solidFill>
              <a:srgbClr val="E8432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矩形 3"/>
          <p:cNvSpPr/>
          <p:nvPr/>
        </p:nvSpPr>
        <p:spPr>
          <a:xfrm>
            <a:off x="2405050" y="4174123"/>
            <a:ext cx="1609873" cy="337185"/>
          </a:xfrm>
          <a:prstGeom prst="rect">
            <a:avLst/>
          </a:prstGeom>
        </p:spPr>
        <p:txBody>
          <a:bodyPr wrap="square">
            <a:spAutoFit/>
          </a:bodyPr>
          <a:lstStyle/>
          <a:p>
            <a:pPr algn="ctr" fontAlgn="ctr"/>
            <a:r>
              <a:rPr lang="zh-CN" altLang="en-US" sz="1600" dirty="0">
                <a:latin typeface="微软雅黑" panose="020B0503020204020204" pitchFamily="34" charset="-122"/>
                <a:ea typeface="微软雅黑" panose="020B0503020204020204" pitchFamily="34" charset="-122"/>
              </a:rPr>
              <a:t>应收账款增加额</a:t>
            </a:r>
          </a:p>
        </p:txBody>
      </p:sp>
      <p:sp>
        <p:nvSpPr>
          <p:cNvPr id="5" name="矩形 4"/>
          <p:cNvSpPr/>
          <p:nvPr/>
        </p:nvSpPr>
        <p:spPr>
          <a:xfrm>
            <a:off x="2074718" y="4634948"/>
            <a:ext cx="1730531" cy="337185"/>
          </a:xfrm>
          <a:prstGeom prst="rect">
            <a:avLst/>
          </a:prstGeom>
        </p:spPr>
        <p:txBody>
          <a:bodyPr wrap="square">
            <a:spAutoFit/>
          </a:bodyPr>
          <a:lstStyle/>
          <a:p>
            <a:pPr fontAlgn="ct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、考核口径收入</a:t>
            </a:r>
          </a:p>
        </p:txBody>
      </p:sp>
      <p:sp>
        <p:nvSpPr>
          <p:cNvPr id="6" name="矩形 5"/>
          <p:cNvSpPr/>
          <p:nvPr/>
        </p:nvSpPr>
        <p:spPr>
          <a:xfrm>
            <a:off x="1855435" y="3086739"/>
            <a:ext cx="3988645" cy="517191"/>
          </a:xfrm>
          <a:prstGeom prst="rect">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考核口径收入计算过程</a:t>
            </a:r>
          </a:p>
        </p:txBody>
      </p:sp>
      <p:sp>
        <p:nvSpPr>
          <p:cNvPr id="8" name="矩形 7"/>
          <p:cNvSpPr/>
          <p:nvPr/>
        </p:nvSpPr>
        <p:spPr>
          <a:xfrm>
            <a:off x="2074719" y="3826653"/>
            <a:ext cx="1724395" cy="583565"/>
          </a:xfrm>
          <a:prstGeom prst="rect">
            <a:avLst/>
          </a:prstGeom>
        </p:spPr>
        <p:txBody>
          <a:bodyPr wrap="square">
            <a:spAutoFit/>
          </a:bodyPr>
          <a:lstStyle/>
          <a:p>
            <a:pPr fontAlgn="ct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、预算口径收入</a:t>
            </a:r>
          </a:p>
        </p:txBody>
      </p:sp>
      <p:sp>
        <p:nvSpPr>
          <p:cNvPr id="9" name="矩形 8"/>
          <p:cNvSpPr/>
          <p:nvPr/>
        </p:nvSpPr>
        <p:spPr>
          <a:xfrm>
            <a:off x="6334539" y="3088199"/>
            <a:ext cx="4028662" cy="2358444"/>
          </a:xfrm>
          <a:prstGeom prst="rect">
            <a:avLst/>
          </a:prstGeom>
          <a:solidFill>
            <a:schemeClr val="bg1">
              <a:lumMod val="95000"/>
            </a:schemeClr>
          </a:solidFill>
          <a:ln w="28575">
            <a:solidFill>
              <a:srgbClr val="383F4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矩形 9"/>
          <p:cNvSpPr/>
          <p:nvPr/>
        </p:nvSpPr>
        <p:spPr>
          <a:xfrm>
            <a:off x="6429544" y="4246844"/>
            <a:ext cx="3748127" cy="337185"/>
          </a:xfrm>
          <a:prstGeom prst="rect">
            <a:avLst/>
          </a:prstGeom>
        </p:spPr>
        <p:txBody>
          <a:bodyPr wrap="square">
            <a:spAutoFit/>
          </a:bodyPr>
          <a:lstStyle/>
          <a:p>
            <a:pPr fontAlgn="ct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、应收账款增加额抵减收入</a:t>
            </a:r>
            <a:r>
              <a:rPr lang="en-US" altLang="zh-CN" sz="1600" dirty="0">
                <a:latin typeface="微软雅黑" panose="020B0503020204020204" pitchFamily="34" charset="-122"/>
                <a:ea typeface="微软雅黑" panose="020B0503020204020204" pitchFamily="34" charset="-122"/>
              </a:rPr>
              <a:t>172</a:t>
            </a:r>
            <a:r>
              <a:rPr lang="zh-CN" altLang="en-US" sz="1600" dirty="0">
                <a:latin typeface="微软雅黑" panose="020B0503020204020204" pitchFamily="34" charset="-122"/>
                <a:ea typeface="微软雅黑" panose="020B0503020204020204" pitchFamily="34" charset="-122"/>
              </a:rPr>
              <a:t>万元</a:t>
            </a:r>
          </a:p>
        </p:txBody>
      </p:sp>
      <p:sp>
        <p:nvSpPr>
          <p:cNvPr id="11" name="矩形 10"/>
          <p:cNvSpPr/>
          <p:nvPr/>
        </p:nvSpPr>
        <p:spPr>
          <a:xfrm>
            <a:off x="6756917" y="4788887"/>
            <a:ext cx="2850909" cy="337185"/>
          </a:xfrm>
          <a:prstGeom prst="rect">
            <a:avLst/>
          </a:prstGeom>
        </p:spPr>
        <p:txBody>
          <a:bodyPr wrap="square">
            <a:spAutoFit/>
          </a:bodyPr>
          <a:lstStyle/>
          <a:p>
            <a:pPr fontAlgn="ctr"/>
            <a:r>
              <a:rPr lang="zh-CN" altLang="en-US" sz="1600" dirty="0">
                <a:latin typeface="微软雅黑" panose="020B0503020204020204" pitchFamily="34" charset="-122"/>
                <a:ea typeface="微软雅黑" panose="020B0503020204020204" pitchFamily="34" charset="-122"/>
              </a:rPr>
              <a:t>考核口径收入缺口</a:t>
            </a:r>
            <a:r>
              <a:rPr lang="en-US" altLang="zh-CN" sz="1600" dirty="0">
                <a:latin typeface="微软雅黑" panose="020B0503020204020204" pitchFamily="34" charset="-122"/>
                <a:ea typeface="微软雅黑" panose="020B0503020204020204" pitchFamily="34" charset="-122"/>
              </a:rPr>
              <a:t>740</a:t>
            </a:r>
            <a:r>
              <a:rPr lang="zh-CN" altLang="en-US" sz="1600" dirty="0">
                <a:latin typeface="微软雅黑" panose="020B0503020204020204" pitchFamily="34" charset="-122"/>
                <a:ea typeface="微软雅黑" panose="020B0503020204020204" pitchFamily="34" charset="-122"/>
              </a:rPr>
              <a:t>万元</a:t>
            </a:r>
          </a:p>
        </p:txBody>
      </p:sp>
      <p:sp>
        <p:nvSpPr>
          <p:cNvPr id="12" name="矩形 11"/>
          <p:cNvSpPr/>
          <p:nvPr/>
        </p:nvSpPr>
        <p:spPr>
          <a:xfrm>
            <a:off x="6334539" y="3088199"/>
            <a:ext cx="4028662" cy="517191"/>
          </a:xfrm>
          <a:prstGeom prst="rect">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考核口径收入缺口构成</a:t>
            </a:r>
          </a:p>
        </p:txBody>
      </p:sp>
      <p:sp>
        <p:nvSpPr>
          <p:cNvPr id="14" name="矩形 13"/>
          <p:cNvSpPr/>
          <p:nvPr/>
        </p:nvSpPr>
        <p:spPr>
          <a:xfrm>
            <a:off x="6438452" y="3768557"/>
            <a:ext cx="3328401" cy="337185"/>
          </a:xfrm>
          <a:prstGeom prst="rect">
            <a:avLst/>
          </a:prstGeom>
        </p:spPr>
        <p:txBody>
          <a:bodyPr wrap="square">
            <a:spAutoFit/>
          </a:bodyPr>
          <a:lstStyle/>
          <a:p>
            <a:pPr fontAlgn="ct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、预算口径收入缺口</a:t>
            </a:r>
            <a:r>
              <a:rPr lang="en-US" altLang="zh-CN" sz="1600" dirty="0">
                <a:latin typeface="微软雅黑" panose="020B0503020204020204" pitchFamily="34" charset="-122"/>
                <a:ea typeface="微软雅黑" panose="020B0503020204020204" pitchFamily="34" charset="-122"/>
              </a:rPr>
              <a:t>568</a:t>
            </a:r>
            <a:r>
              <a:rPr lang="zh-CN" altLang="en-US" sz="1600" dirty="0">
                <a:latin typeface="微软雅黑" panose="020B0503020204020204" pitchFamily="34" charset="-122"/>
                <a:ea typeface="微软雅黑" panose="020B0503020204020204" pitchFamily="34" charset="-122"/>
              </a:rPr>
              <a:t>万元</a:t>
            </a:r>
          </a:p>
        </p:txBody>
      </p:sp>
      <p:sp>
        <p:nvSpPr>
          <p:cNvPr id="16" name="TextBox 2"/>
          <p:cNvSpPr txBox="1"/>
          <p:nvPr/>
        </p:nvSpPr>
        <p:spPr bwMode="auto">
          <a:xfrm>
            <a:off x="1808563" y="5446615"/>
            <a:ext cx="8574155" cy="805815"/>
          </a:xfrm>
          <a:prstGeom prst="rect">
            <a:avLst/>
          </a:prstGeom>
          <a:noFill/>
          <a:ln>
            <a:noFill/>
          </a:ln>
        </p:spPr>
        <p:txBody>
          <a:bodyPr wrap="square" lIns="68543" tIns="34271" rIns="68543" bIns="34271">
            <a:spAutoFit/>
          </a:bodyPr>
          <a:lstStyle/>
          <a:p>
            <a:pPr>
              <a:lnSpc>
                <a:spcPct val="150000"/>
              </a:lnSpc>
              <a:buClr>
                <a:schemeClr val="accent1">
                  <a:lumMod val="75000"/>
                </a:schemeClr>
              </a:buClr>
              <a:defRPr/>
            </a:pPr>
            <a:r>
              <a:rPr lang="zh-CN" altLang="en-US" sz="1600" dirty="0">
                <a:latin typeface="微软雅黑" panose="020B0503020204020204" pitchFamily="34" charset="-122"/>
                <a:ea typeface="微软雅黑" panose="020B0503020204020204" pitchFamily="34" charset="-122"/>
              </a:rPr>
              <a:t>备注：</a:t>
            </a:r>
            <a:endParaRPr lang="en-US" altLang="zh-CN" sz="1600" dirty="0">
              <a:latin typeface="微软雅黑" panose="020B0503020204020204" pitchFamily="34" charset="-122"/>
              <a:ea typeface="微软雅黑" panose="020B0503020204020204" pitchFamily="34" charset="-122"/>
            </a:endParaRPr>
          </a:p>
          <a:p>
            <a:pPr>
              <a:lnSpc>
                <a:spcPct val="150000"/>
              </a:lnSpc>
              <a:buClr>
                <a:schemeClr val="accent1">
                  <a:lumMod val="75000"/>
                </a:schemeClr>
              </a:buClr>
              <a:defRPr/>
            </a:pPr>
            <a:r>
              <a:rPr lang="zh-CN" altLang="en-US" sz="1600" dirty="0">
                <a:latin typeface="微软雅黑" panose="020B0503020204020204" pitchFamily="34" charset="-122"/>
                <a:ea typeface="微软雅黑" panose="020B0503020204020204" pitchFamily="34" charset="-122"/>
              </a:rPr>
              <a:t>应收账款占收比基准值暂按省公司上年下达目标</a:t>
            </a:r>
            <a:r>
              <a:rPr lang="en-US" altLang="zh-CN" sz="1600" dirty="0">
                <a:latin typeface="微软雅黑" panose="020B0503020204020204" pitchFamily="34" charset="-122"/>
                <a:ea typeface="微软雅黑" panose="020B0503020204020204" pitchFamily="34" charset="-122"/>
              </a:rPr>
              <a:t>8.06%</a:t>
            </a:r>
            <a:r>
              <a:rPr lang="zh-CN" altLang="en-US" sz="1600" dirty="0">
                <a:latin typeface="微软雅黑" panose="020B0503020204020204" pitchFamily="34" charset="-122"/>
                <a:ea typeface="微软雅黑" panose="020B0503020204020204" pitchFamily="34" charset="-122"/>
              </a:rPr>
              <a:t>。</a:t>
            </a:r>
          </a:p>
        </p:txBody>
      </p:sp>
      <p:sp>
        <p:nvSpPr>
          <p:cNvPr id="17" name="矩形 16"/>
          <p:cNvSpPr/>
          <p:nvPr/>
        </p:nvSpPr>
        <p:spPr>
          <a:xfrm>
            <a:off x="1639591" y="395116"/>
            <a:ext cx="3840480" cy="645160"/>
          </a:xfrm>
          <a:prstGeom prst="rect">
            <a:avLst/>
          </a:prstGeom>
        </p:spPr>
        <p:txBody>
          <a:bodyPr wrap="none">
            <a:spAutoFit/>
          </a:bodyPr>
          <a:lstStyle/>
          <a:p>
            <a:pPr lvl="0" algn="l">
              <a:spcBef>
                <a:spcPts val="0"/>
              </a:spcBef>
              <a:spcAft>
                <a:spcPts val="0"/>
              </a:spcAft>
              <a:defRPr/>
            </a:pPr>
            <a:r>
              <a:rPr lang="zh-CN" altLang="en-US" sz="3600" b="1" dirty="0">
                <a:solidFill>
                  <a:srgbClr val="383F4E"/>
                </a:solidFill>
                <a:latin typeface="微软雅黑" panose="020B0503020204020204" pitchFamily="34" charset="-122"/>
                <a:ea typeface="微软雅黑" panose="020B0503020204020204" pitchFamily="34" charset="-122"/>
                <a:sym typeface="+mn-ea"/>
              </a:rPr>
              <a:t>主要指标考核情况</a:t>
            </a:r>
          </a:p>
        </p:txBody>
      </p:sp>
      <p:sp>
        <p:nvSpPr>
          <p:cNvPr id="19" name="矩形 18"/>
          <p:cNvSpPr/>
          <p:nvPr/>
        </p:nvSpPr>
        <p:spPr>
          <a:xfrm>
            <a:off x="1855305" y="1725572"/>
            <a:ext cx="3988905" cy="1364974"/>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337853" y="1729408"/>
            <a:ext cx="4022035" cy="1364974"/>
          </a:xfrm>
          <a:prstGeom prst="rect">
            <a:avLst/>
          </a:prstGeom>
          <a:blipFill dpi="0" rotWithShape="1">
            <a:blip r:embed="rId4" cstate="print">
              <a:grayscl/>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a:ext>
              </a:extLst>
            </a:blip>
            <a:srcRect/>
            <a:stretch>
              <a:fillRect/>
            </a:stretch>
          </a:bli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1000"/>
                                        <p:tgtEl>
                                          <p:spTgt spid="20"/>
                                        </p:tgtEl>
                                      </p:cBhvr>
                                    </p:animEffect>
                                    <p:anim calcmode="lin" valueType="num">
                                      <p:cBhvr>
                                        <p:cTn id="65" dur="1000" fill="hold"/>
                                        <p:tgtEl>
                                          <p:spTgt spid="20"/>
                                        </p:tgtEl>
                                        <p:attrNameLst>
                                          <p:attrName>ppt_x</p:attrName>
                                        </p:attrNameLst>
                                      </p:cBhvr>
                                      <p:tavLst>
                                        <p:tav tm="0">
                                          <p:val>
                                            <p:strVal val="#ppt_x"/>
                                          </p:val>
                                        </p:tav>
                                        <p:tav tm="100000">
                                          <p:val>
                                            <p:strVal val="#ppt_x"/>
                                          </p:val>
                                        </p:tav>
                                      </p:tavLst>
                                    </p:anim>
                                    <p:anim calcmode="lin" valueType="num">
                                      <p:cBhvr>
                                        <p:cTn id="6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0" nodeType="clickEffect">
                                  <p:stCondLst>
                                    <p:cond delay="1500"/>
                                  </p:stCondLst>
                                  <p:childTnLst>
                                    <p:animEffect transition="out" filter="fade">
                                      <p:cBhvr>
                                        <p:cTn id="75" dur="500"/>
                                        <p:tgtEl>
                                          <p:spTgt spid="21"/>
                                        </p:tgtEl>
                                      </p:cBhvr>
                                    </p:animEffect>
                                    <p:set>
                                      <p:cBhvr>
                                        <p:cTn id="76"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p:bldP spid="5" grpId="0"/>
      <p:bldP spid="6" grpId="0" bldLvl="0" animBg="1"/>
      <p:bldP spid="8" grpId="0"/>
      <p:bldP spid="9" grpId="0" bldLvl="0" animBg="1"/>
      <p:bldP spid="10" grpId="0"/>
      <p:bldP spid="11" grpId="0"/>
      <p:bldP spid="12" grpId="0" bldLvl="0" animBg="1"/>
      <p:bldP spid="14" grpId="0"/>
      <p:bldP spid="16" grpId="0"/>
      <p:bldP spid="19" grpId="0" animBg="1"/>
      <p:bldP spid="20"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5304" y="449091"/>
            <a:ext cx="2926080" cy="645160"/>
          </a:xfrm>
          <a:prstGeom prst="rect">
            <a:avLst/>
          </a:prstGeom>
        </p:spPr>
        <p:txBody>
          <a:bodyPr wrap="none">
            <a:spAutoFit/>
          </a:bodyPr>
          <a:lstStyle/>
          <a:p>
            <a:pPr algn="ctr"/>
            <a:r>
              <a:rPr lang="zh-CN" altLang="en-US" sz="3600" b="1" dirty="0">
                <a:solidFill>
                  <a:srgbClr val="383F4E"/>
                </a:solidFill>
                <a:latin typeface="微软雅黑" panose="020B0503020204020204" pitchFamily="34" charset="-122"/>
                <a:ea typeface="微软雅黑" panose="020B0503020204020204" pitchFamily="34" charset="-122"/>
              </a:rPr>
              <a:t>销售费用情况</a:t>
            </a:r>
          </a:p>
        </p:txBody>
      </p:sp>
      <p:graphicFrame>
        <p:nvGraphicFramePr>
          <p:cNvPr id="23" name="表格 22"/>
          <p:cNvGraphicFramePr>
            <a:graphicFrameLocks noGrp="1"/>
          </p:cNvGraphicFramePr>
          <p:nvPr/>
        </p:nvGraphicFramePr>
        <p:xfrm>
          <a:off x="1457325" y="1489710"/>
          <a:ext cx="9912985" cy="4805045"/>
        </p:xfrm>
        <a:graphic>
          <a:graphicData uri="http://schemas.openxmlformats.org/drawingml/2006/table">
            <a:tbl>
              <a:tblPr>
                <a:tableStyleId>{21E4AEA4-8DFA-4A89-87EB-49C32662AFE0}</a:tableStyleId>
              </a:tblPr>
              <a:tblGrid>
                <a:gridCol w="2275205"/>
                <a:gridCol w="1391920"/>
                <a:gridCol w="831215"/>
                <a:gridCol w="922655"/>
                <a:gridCol w="730885"/>
                <a:gridCol w="642620"/>
                <a:gridCol w="740410"/>
                <a:gridCol w="701675"/>
                <a:gridCol w="799465"/>
                <a:gridCol w="876935"/>
              </a:tblGrid>
              <a:tr h="280670">
                <a:tc row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项目</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row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成本预算分配额度</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本年累计</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row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占比</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en-US" altLang="zh-CN"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预算</a:t>
                      </a:r>
                      <a:br>
                        <a:rPr lang="zh-CN" altLang="en-US" sz="1400" b="1" u="none" strike="noStrike" dirty="0">
                          <a:solidFill>
                            <a:schemeClr val="bg1"/>
                          </a:solidFill>
                          <a:latin typeface="微软雅黑" panose="020B0503020204020204" pitchFamily="34" charset="-122"/>
                          <a:ea typeface="微软雅黑" panose="020B0503020204020204" pitchFamily="34" charset="-122"/>
                        </a:rPr>
                      </a:br>
                      <a:r>
                        <a:rPr lang="zh-CN" altLang="en-US" sz="1400" b="1" u="none" strike="noStrike" dirty="0">
                          <a:solidFill>
                            <a:schemeClr val="bg1"/>
                          </a:solidFill>
                          <a:latin typeface="微软雅黑" panose="020B0503020204020204" pitchFamily="34" charset="-122"/>
                          <a:ea typeface="微软雅黑" panose="020B0503020204020204" pitchFamily="34" charset="-122"/>
                        </a:rPr>
                        <a:t>进度</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en-US" altLang="zh-CN"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grid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与预算目标值比</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c row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上年同期</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grid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与上年同期比</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r>
              <a:tr h="28067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增幅</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en-US" altLang="zh-CN"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金额</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vMerge="1">
                  <a:txBody>
                    <a:bodyPr/>
                    <a:lstStyle/>
                    <a:p>
                      <a:endParaRPr lang="zh-CN"/>
                    </a:p>
                  </a:txBody>
                  <a:tcPr/>
                </a:tc>
                <a:tc>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增幅</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en-US" altLang="zh-CN"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金额</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r>
              <a:tr h="427355">
                <a:tc>
                  <a:txBody>
                    <a:bodyPr/>
                    <a:lstStyle/>
                    <a:p>
                      <a:pPr marL="71755" algn="l" fontAlgn="ctr"/>
                      <a:r>
                        <a:rPr lang="zh-CN" altLang="en-US" sz="1400" u="none" strike="noStrike" dirty="0">
                          <a:latin typeface="微软雅黑" panose="020B0503020204020204" pitchFamily="34" charset="-122"/>
                          <a:ea typeface="微软雅黑" panose="020B0503020204020204" pitchFamily="34" charset="-122"/>
                        </a:rPr>
                        <a:t>一、销售费用（含坏账、积分兑换）</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10,422.0</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3,082.66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100.00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29.58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-3.75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-391.34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4,757.44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-35.20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-1,674.78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280035">
                <a:tc>
                  <a:txBody>
                    <a:bodyPr/>
                    <a:lstStyle/>
                    <a:p>
                      <a:pPr marL="71755" algn="l" fontAlgn="ctr"/>
                      <a:r>
                        <a:rPr lang="en-US" altLang="zh-CN" sz="1400" u="none" strike="noStrike" dirty="0">
                          <a:latin typeface="微软雅黑" panose="020B0503020204020204" pitchFamily="34" charset="-122"/>
                          <a:ea typeface="微软雅黑" panose="020B0503020204020204" pitchFamily="34" charset="-122"/>
                        </a:rPr>
                        <a:t>1</a:t>
                      </a:r>
                      <a:r>
                        <a:rPr lang="zh-CN" altLang="en-US" sz="1400" u="none" strike="noStrike" dirty="0">
                          <a:latin typeface="微软雅黑" panose="020B0503020204020204" pitchFamily="34" charset="-122"/>
                          <a:ea typeface="微软雅黑" panose="020B0503020204020204" pitchFamily="34" charset="-122"/>
                        </a:rPr>
                        <a:t>、宣传及客户服务费</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305.0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99.96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3.24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32.77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-0.56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-1.71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358.42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-72.11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-258.46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26720">
                <a:tc>
                  <a:txBody>
                    <a:bodyPr/>
                    <a:lstStyle/>
                    <a:p>
                      <a:pPr marL="71755" algn="l" fontAlgn="ctr"/>
                      <a:r>
                        <a:rPr lang="zh-CN" altLang="en-US" sz="1400" u="none" strike="noStrike" dirty="0">
                          <a:latin typeface="微软雅黑" panose="020B0503020204020204" pitchFamily="34" charset="-122"/>
                          <a:ea typeface="微软雅黑" panose="020B0503020204020204" pitchFamily="34" charset="-122"/>
                        </a:rPr>
                        <a:t>其中：客户服务费（不含终端）</a:t>
                      </a:r>
                      <a:endParaRPr lang="zh-CN" altLang="en-US" sz="1400" b="0" i="0" u="none" strike="noStrike" dirty="0">
                        <a:latin typeface="微软雅黑" panose="020B0503020204020204" pitchFamily="34" charset="-122"/>
                        <a:ea typeface="微软雅黑" panose="020B0503020204020204" pitchFamily="34" charset="-122"/>
                      </a:endParaRPr>
                    </a:p>
                  </a:txBody>
                  <a:tcPr marL="11430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196.0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51.64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1.68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26.35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-6.98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-13.69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99.24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-47.96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-47.59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280670">
                <a:tc>
                  <a:txBody>
                    <a:bodyPr/>
                    <a:lstStyle/>
                    <a:p>
                      <a:pPr marL="71755" algn="l" fontAlgn="ctr"/>
                      <a:r>
                        <a:rPr lang="en-US" altLang="zh-CN" sz="1400" u="none" strike="noStrike" dirty="0">
                          <a:latin typeface="微软雅黑" panose="020B0503020204020204" pitchFamily="34" charset="-122"/>
                          <a:ea typeface="微软雅黑" panose="020B0503020204020204" pitchFamily="34" charset="-122"/>
                        </a:rPr>
                        <a:t>2</a:t>
                      </a:r>
                      <a:r>
                        <a:rPr lang="zh-CN" altLang="en-US" sz="1400" u="none" strike="noStrike" dirty="0">
                          <a:latin typeface="微软雅黑" panose="020B0503020204020204" pitchFamily="34" charset="-122"/>
                          <a:ea typeface="微软雅黑" panose="020B0503020204020204" pitchFamily="34" charset="-122"/>
                        </a:rPr>
                        <a:t>、展览广告费</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110</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6.75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0.22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6.14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-27.19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-29.91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129.74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-94.79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-122.99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26720">
                <a:tc>
                  <a:txBody>
                    <a:bodyPr/>
                    <a:lstStyle/>
                    <a:p>
                      <a:pPr marL="71755" algn="l" fontAlgn="ctr"/>
                      <a:r>
                        <a:rPr lang="en-US" altLang="zh-CN" sz="1400" u="none" strike="noStrike" dirty="0">
                          <a:latin typeface="微软雅黑" panose="020B0503020204020204" pitchFamily="34" charset="-122"/>
                          <a:ea typeface="微软雅黑" panose="020B0503020204020204" pitchFamily="34" charset="-122"/>
                        </a:rPr>
                        <a:t>3</a:t>
                      </a:r>
                      <a:r>
                        <a:rPr lang="zh-CN" altLang="en-US" sz="1400" u="none" strike="noStrike" dirty="0">
                          <a:latin typeface="微软雅黑" panose="020B0503020204020204" pitchFamily="34" charset="-122"/>
                          <a:ea typeface="微软雅黑" panose="020B0503020204020204" pitchFamily="34" charset="-122"/>
                        </a:rPr>
                        <a:t>、代办费</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6,822</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2,180.01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70.72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31.96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-1.38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-93.99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2,480.84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-12.13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-300.83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280670">
                <a:tc>
                  <a:txBody>
                    <a:bodyPr/>
                    <a:lstStyle/>
                    <a:p>
                      <a:pPr marL="71755" algn="l" fontAlgn="ctr"/>
                      <a:r>
                        <a:rPr lang="zh-CN" altLang="en-US" sz="1400" u="none" strike="noStrike" dirty="0">
                          <a:latin typeface="微软雅黑" panose="020B0503020204020204" pitchFamily="34" charset="-122"/>
                          <a:ea typeface="微软雅黑" panose="020B0503020204020204" pitchFamily="34" charset="-122"/>
                        </a:rPr>
                        <a:t>其中：实业代办费</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2,560</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780.53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25.32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30.49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-2.84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-72.80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796.75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-2.04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-16.22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26720">
                <a:tc>
                  <a:txBody>
                    <a:bodyPr/>
                    <a:lstStyle/>
                    <a:p>
                      <a:pPr marL="71755" algn="l" fontAlgn="ctr"/>
                      <a:r>
                        <a:rPr lang="zh-CN" altLang="en-US" sz="1400" u="none" strike="noStrike" dirty="0">
                          <a:latin typeface="微软雅黑" panose="020B0503020204020204" pitchFamily="34" charset="-122"/>
                          <a:ea typeface="微软雅黑" panose="020B0503020204020204" pitchFamily="34" charset="-122"/>
                        </a:rPr>
                        <a:t>其中：社会代办费（含渠道补贴）</a:t>
                      </a:r>
                      <a:endParaRPr lang="zh-CN" altLang="en-US" sz="1400" b="0" i="0" u="none" strike="noStrike" dirty="0">
                        <a:latin typeface="微软雅黑" panose="020B0503020204020204" pitchFamily="34" charset="-122"/>
                        <a:ea typeface="微软雅黑" panose="020B0503020204020204" pitchFamily="34" charset="-122"/>
                      </a:endParaRPr>
                    </a:p>
                  </a:txBody>
                  <a:tcPr marL="11430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4,262</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1,399.48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45.40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32.84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-0.50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-21.19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1,684.09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-16.90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-284.61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26720">
                <a:tc>
                  <a:txBody>
                    <a:bodyPr/>
                    <a:lstStyle/>
                    <a:p>
                      <a:pPr marL="71755" algn="l" fontAlgn="ctr"/>
                      <a:r>
                        <a:rPr lang="en-US" altLang="zh-CN" sz="1400" u="none" strike="noStrike" dirty="0">
                          <a:latin typeface="微软雅黑" panose="020B0503020204020204" pitchFamily="34" charset="-122"/>
                          <a:ea typeface="微软雅黑" panose="020B0503020204020204" pitchFamily="34" charset="-122"/>
                        </a:rPr>
                        <a:t>4</a:t>
                      </a:r>
                      <a:r>
                        <a:rPr lang="zh-CN" altLang="en-US" sz="1400" u="none" strike="noStrike" dirty="0">
                          <a:latin typeface="微软雅黑" panose="020B0503020204020204" pitchFamily="34" charset="-122"/>
                          <a:ea typeface="微软雅黑" panose="020B0503020204020204" pitchFamily="34" charset="-122"/>
                        </a:rPr>
                        <a:t>、终端促销费</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795.00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379.69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12.32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47.76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14.43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114.69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1,510.16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-74.86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-1,130.47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26720">
                <a:tc>
                  <a:txBody>
                    <a:bodyPr/>
                    <a:lstStyle/>
                    <a:p>
                      <a:pPr marL="71755" algn="l" fontAlgn="ctr"/>
                      <a:r>
                        <a:rPr lang="zh-CN" altLang="en-US" sz="1400" u="none" strike="noStrike" dirty="0">
                          <a:latin typeface="微软雅黑" panose="020B0503020204020204" pitchFamily="34" charset="-122"/>
                          <a:ea typeface="微软雅黑" panose="020B0503020204020204" pitchFamily="34" charset="-122"/>
                        </a:rPr>
                        <a:t>（</a:t>
                      </a:r>
                      <a:r>
                        <a:rPr lang="en-US" altLang="zh-CN" sz="1400" u="none" strike="noStrike" dirty="0">
                          <a:latin typeface="微软雅黑" panose="020B0503020204020204" pitchFamily="34" charset="-122"/>
                          <a:ea typeface="微软雅黑" panose="020B0503020204020204" pitchFamily="34" charset="-122"/>
                        </a:rPr>
                        <a:t>1</a:t>
                      </a:r>
                      <a:r>
                        <a:rPr lang="zh-CN" altLang="en-US" sz="1400" u="none" strike="noStrike" dirty="0">
                          <a:latin typeface="微软雅黑" panose="020B0503020204020204" pitchFamily="34" charset="-122"/>
                          <a:ea typeface="微软雅黑" panose="020B0503020204020204" pitchFamily="34" charset="-122"/>
                        </a:rPr>
                        <a:t>）手机终端费用</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735</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357.15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11.59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48.59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15.26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112.15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1,415.26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-74.76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-1,058.11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280670">
                <a:tc>
                  <a:txBody>
                    <a:bodyPr/>
                    <a:lstStyle/>
                    <a:p>
                      <a:pPr marL="71755" algn="l" fontAlgn="ctr"/>
                      <a:r>
                        <a:rPr lang="zh-CN" altLang="en-US" sz="1400" u="none" strike="noStrike" dirty="0">
                          <a:latin typeface="微软雅黑" panose="020B0503020204020204" pitchFamily="34" charset="-122"/>
                          <a:ea typeface="微软雅黑" panose="020B0503020204020204" pitchFamily="34" charset="-122"/>
                        </a:rPr>
                        <a:t>（</a:t>
                      </a:r>
                      <a:r>
                        <a:rPr lang="en-US" altLang="zh-CN" sz="1400" u="none" strike="noStrike" dirty="0">
                          <a:latin typeface="微软雅黑" panose="020B0503020204020204" pitchFamily="34" charset="-122"/>
                          <a:ea typeface="微软雅黑" panose="020B0503020204020204" pitchFamily="34" charset="-122"/>
                        </a:rPr>
                        <a:t>2</a:t>
                      </a:r>
                      <a:r>
                        <a:rPr lang="zh-CN" altLang="en-US" sz="1400" u="none" strike="noStrike" dirty="0">
                          <a:latin typeface="微软雅黑" panose="020B0503020204020204" pitchFamily="34" charset="-122"/>
                          <a:ea typeface="微软雅黑" panose="020B0503020204020204" pitchFamily="34" charset="-122"/>
                        </a:rPr>
                        <a:t>）其他终端费用</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60.00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22.55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0.73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37.58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4.24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2.55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94.90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-76.24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-72.36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280035">
                <a:tc>
                  <a:txBody>
                    <a:bodyPr/>
                    <a:lstStyle/>
                    <a:p>
                      <a:pPr marL="71755" algn="l" fontAlgn="ctr"/>
                      <a:r>
                        <a:rPr lang="en-US" altLang="zh-CN" sz="1400" u="none" strike="noStrike" dirty="0">
                          <a:latin typeface="微软雅黑" panose="020B0503020204020204" pitchFamily="34" charset="-122"/>
                          <a:ea typeface="微软雅黑" panose="020B0503020204020204" pitchFamily="34" charset="-122"/>
                        </a:rPr>
                        <a:t>5</a:t>
                      </a:r>
                      <a:r>
                        <a:rPr lang="zh-CN" altLang="en-US" sz="1400" u="none" strike="noStrike" dirty="0">
                          <a:latin typeface="微软雅黑" panose="020B0503020204020204" pitchFamily="34" charset="-122"/>
                          <a:ea typeface="微软雅黑" panose="020B0503020204020204" pitchFamily="34" charset="-122"/>
                        </a:rPr>
                        <a:t>、坏账准备</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1,300</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384.65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12.48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29.59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-3.74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-48.68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349.94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9.92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34.71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280670">
                <a:tc>
                  <a:txBody>
                    <a:bodyPr/>
                    <a:lstStyle/>
                    <a:p>
                      <a:pPr marL="71755" algn="l" fontAlgn="ctr"/>
                      <a:r>
                        <a:rPr lang="en-US" altLang="zh-CN" sz="1400" u="none" strike="noStrike" dirty="0">
                          <a:latin typeface="微软雅黑" panose="020B0503020204020204" pitchFamily="34" charset="-122"/>
                          <a:ea typeface="微软雅黑" panose="020B0503020204020204" pitchFamily="34" charset="-122"/>
                        </a:rPr>
                        <a:t>6</a:t>
                      </a:r>
                      <a:r>
                        <a:rPr lang="zh-CN" altLang="en-US" sz="1400" u="none" strike="noStrike" dirty="0">
                          <a:latin typeface="微软雅黑" panose="020B0503020204020204" pitchFamily="34" charset="-122"/>
                          <a:ea typeface="微软雅黑" panose="020B0503020204020204" pitchFamily="34" charset="-122"/>
                        </a:rPr>
                        <a:t>、积分兑换支出</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60</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14.88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0.48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24.80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-8.53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-5.12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58.07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-74.37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-43.19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2"/>
                    </a:solidFill>
                  </a:tcPr>
                </a:tc>
              </a:tr>
            </a:tbl>
          </a:graphicData>
        </a:graphic>
      </p:graphicFrame>
      <p:sp>
        <p:nvSpPr>
          <p:cNvPr id="24" name="Text Box 14" descr="蓝色砂纸"/>
          <p:cNvSpPr txBox="1">
            <a:spLocks noChangeArrowheads="1"/>
          </p:cNvSpPr>
          <p:nvPr/>
        </p:nvSpPr>
        <p:spPr bwMode="auto">
          <a:xfrm>
            <a:off x="10256257" y="1094215"/>
            <a:ext cx="1139573" cy="274320"/>
          </a:xfrm>
          <a:prstGeom prst="rect">
            <a:avLst/>
          </a:prstGeom>
          <a:noFill/>
          <a:ln w="9525" algn="ctr">
            <a:noFill/>
            <a:miter lim="800000"/>
          </a:ln>
        </p:spPr>
        <p:txBody>
          <a:bodyPr wrap="square" lIns="91391" tIns="45695" rIns="91391" bIns="45695">
            <a:spAutoFit/>
          </a:bodyPr>
          <a:lstStyle/>
          <a:p>
            <a:pPr algn="r">
              <a:spcBef>
                <a:spcPct val="50000"/>
              </a:spcBef>
            </a:pPr>
            <a:r>
              <a:rPr lang="zh-CN" altLang="en-US" sz="1200" dirty="0">
                <a:latin typeface="微软雅黑" panose="020B0503020204020204" pitchFamily="34" charset="-122"/>
                <a:ea typeface="微软雅黑" panose="020B0503020204020204" pitchFamily="34" charset="-122"/>
              </a:rPr>
              <a:t>单位：万元</a:t>
            </a:r>
          </a:p>
        </p:txBody>
      </p:sp>
      <p:sp>
        <p:nvSpPr>
          <p:cNvPr id="25" name="文本框 24"/>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1500"/>
                                  </p:stCondLst>
                                  <p:childTnLst>
                                    <p:animEffect transition="out" filter="fade">
                                      <p:cBhvr>
                                        <p:cTn id="14" dur="500"/>
                                        <p:tgtEl>
                                          <p:spTgt spid="25"/>
                                        </p:tgtEl>
                                      </p:cBhvr>
                                    </p:animEffect>
                                    <p:set>
                                      <p:cBhvr>
                                        <p:cTn id="15"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28575"/>
            <a:ext cx="12195810" cy="7325360"/>
            <a:chOff x="-3" y="-45"/>
            <a:chExt cx="19206" cy="11536"/>
          </a:xfrm>
        </p:grpSpPr>
        <p:sp>
          <p:nvSpPr>
            <p:cNvPr id="12" name="矩形 11"/>
            <p:cNvSpPr/>
            <p:nvPr/>
          </p:nvSpPr>
          <p:spPr>
            <a:xfrm>
              <a:off x="-3" y="-25"/>
              <a:ext cx="19206" cy="11516"/>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 y="-45"/>
              <a:ext cx="19200" cy="10889"/>
            </a:xfrm>
            <a:prstGeom prst="rect">
              <a:avLst/>
            </a:prstGeom>
            <a:solidFill>
              <a:srgbClr val="383F4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mn-ea"/>
                <a:sym typeface="+mn-lt"/>
              </a:endParaRPr>
            </a:p>
          </p:txBody>
        </p:sp>
      </p:grpSp>
      <p:sp>
        <p:nvSpPr>
          <p:cNvPr id="14" name="矩形 13"/>
          <p:cNvSpPr/>
          <p:nvPr/>
        </p:nvSpPr>
        <p:spPr>
          <a:xfrm>
            <a:off x="610235" y="3808095"/>
            <a:ext cx="5239385" cy="922020"/>
          </a:xfrm>
          <a:prstGeom prst="rect">
            <a:avLst/>
          </a:prstGeom>
          <a:ln w="25400">
            <a:solidFill>
              <a:schemeClr val="bg1"/>
            </a:solidFill>
          </a:ln>
        </p:spPr>
        <p:txBody>
          <a:bodyPr wrap="square">
            <a:spAutoFit/>
          </a:bodyPr>
          <a:lstStyle/>
          <a:p>
            <a:pPr algn="ct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p>
        </p:txBody>
      </p:sp>
      <p:sp>
        <p:nvSpPr>
          <p:cNvPr id="15" name="文本框 14"/>
          <p:cNvSpPr txBox="1"/>
          <p:nvPr/>
        </p:nvSpPr>
        <p:spPr>
          <a:xfrm>
            <a:off x="12769516" y="6373505"/>
            <a:ext cx="415498" cy="369332"/>
          </a:xfrm>
          <a:prstGeom prst="rect">
            <a:avLst/>
          </a:prstGeom>
          <a:noFill/>
        </p:spPr>
        <p:txBody>
          <a:bodyPr wrap="none" rtlCol="0">
            <a:spAutoFit/>
          </a:bodyPr>
          <a:lstStyle/>
          <a:p>
            <a:r>
              <a:rPr lang="zh-CN" altLang="en-US" dirty="0"/>
              <a:t>。</a:t>
            </a:r>
          </a:p>
        </p:txBody>
      </p:sp>
      <p:sp>
        <p:nvSpPr>
          <p:cNvPr id="16" name="Rectangle 6"/>
          <p:cNvSpPr>
            <a:spLocks noChangeArrowheads="1"/>
          </p:cNvSpPr>
          <p:nvPr/>
        </p:nvSpPr>
        <p:spPr bwMode="auto">
          <a:xfrm>
            <a:off x="-1779" y="1858608"/>
            <a:ext cx="12195564" cy="1731433"/>
          </a:xfrm>
          <a:prstGeom prst="rect">
            <a:avLst/>
          </a:prstGeom>
          <a:solidFill>
            <a:srgbClr val="E8432E"/>
          </a:solidFill>
          <a:ln w="0">
            <a:noFill/>
            <a:prstDash val="solid"/>
            <a:miter lim="800000"/>
          </a:ln>
        </p:spPr>
        <p:txBody>
          <a:bodyPr vert="horz" wrap="square" lIns="121911" tIns="60956" rIns="121911" bIns="60956"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7" name="Freeform 7"/>
          <p:cNvSpPr/>
          <p:nvPr/>
        </p:nvSpPr>
        <p:spPr bwMode="auto">
          <a:xfrm>
            <a:off x="610345" y="1858607"/>
            <a:ext cx="3376283" cy="1731435"/>
          </a:xfrm>
          <a:custGeom>
            <a:avLst/>
            <a:gdLst>
              <a:gd name="T0" fmla="*/ 579 w 1583"/>
              <a:gd name="T1" fmla="*/ 0 h 1325"/>
              <a:gd name="T2" fmla="*/ 1583 w 1583"/>
              <a:gd name="T3" fmla="*/ 0 h 1325"/>
              <a:gd name="T4" fmla="*/ 1004 w 1583"/>
              <a:gd name="T5" fmla="*/ 1325 h 1325"/>
              <a:gd name="T6" fmla="*/ 0 w 1583"/>
              <a:gd name="T7" fmla="*/ 1325 h 1325"/>
              <a:gd name="T8" fmla="*/ 579 w 1583"/>
              <a:gd name="T9" fmla="*/ 0 h 1325"/>
            </a:gdLst>
            <a:ahLst/>
            <a:cxnLst>
              <a:cxn ang="0">
                <a:pos x="T0" y="T1"/>
              </a:cxn>
              <a:cxn ang="0">
                <a:pos x="T2" y="T3"/>
              </a:cxn>
              <a:cxn ang="0">
                <a:pos x="T4" y="T5"/>
              </a:cxn>
              <a:cxn ang="0">
                <a:pos x="T6" y="T7"/>
              </a:cxn>
              <a:cxn ang="0">
                <a:pos x="T8" y="T9"/>
              </a:cxn>
            </a:cxnLst>
            <a:rect l="0" t="0" r="r" b="b"/>
            <a:pathLst>
              <a:path w="1583" h="1325">
                <a:moveTo>
                  <a:pt x="579" y="0"/>
                </a:moveTo>
                <a:lnTo>
                  <a:pt x="1583" y="0"/>
                </a:lnTo>
                <a:lnTo>
                  <a:pt x="1004" y="1325"/>
                </a:lnTo>
                <a:lnTo>
                  <a:pt x="0" y="1325"/>
                </a:lnTo>
                <a:lnTo>
                  <a:pt x="579" y="0"/>
                </a:lnTo>
                <a:close/>
              </a:path>
            </a:pathLst>
          </a:custGeom>
          <a:solidFill>
            <a:srgbClr val="383F4E"/>
          </a:solidFill>
          <a:ln w="0">
            <a:noFill/>
            <a:prstDash val="solid"/>
            <a:round/>
          </a:ln>
        </p:spPr>
        <p:txBody>
          <a:bodyPr vert="horz" wrap="square" lIns="121911" tIns="60956" rIns="121911" bIns="60956" numCol="1" anchor="ctr" anchorCtr="1" compatLnSpc="1"/>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rPr>
              <a:t>02</a:t>
            </a:r>
            <a:endParaRPr kumimoji="0" lang="zh-CN" altLang="en-US"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endParaRPr>
          </a:p>
        </p:txBody>
      </p:sp>
      <p:sp>
        <p:nvSpPr>
          <p:cNvPr id="18" name="TextBox 48"/>
          <p:cNvSpPr txBox="1"/>
          <p:nvPr/>
        </p:nvSpPr>
        <p:spPr>
          <a:xfrm>
            <a:off x="3986629" y="2114465"/>
            <a:ext cx="6733508" cy="828675"/>
          </a:xfrm>
          <a:prstGeom prst="rect">
            <a:avLst/>
          </a:prstGeom>
          <a:noFill/>
        </p:spPr>
        <p:txBody>
          <a:bodyPr wrap="square" lIns="91439" tIns="45719" rIns="91439" bIns="45719"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收入完成状况分析</a:t>
            </a:r>
          </a:p>
        </p:txBody>
      </p:sp>
      <p:sp>
        <p:nvSpPr>
          <p:cNvPr id="19" name="TextBox 49"/>
          <p:cNvSpPr txBox="1"/>
          <p:nvPr/>
        </p:nvSpPr>
        <p:spPr>
          <a:xfrm>
            <a:off x="3986629" y="2983011"/>
            <a:ext cx="4100719" cy="420562"/>
          </a:xfrm>
          <a:prstGeom prst="rect">
            <a:avLst/>
          </a:prstGeom>
          <a:noFill/>
        </p:spPr>
        <p:txBody>
          <a:bodyPr wrap="square" lIns="91439" tIns="45719" rIns="91439" bIns="45719" rtlCol="0">
            <a:spAutoFit/>
          </a:bodyPr>
          <a:lstStyle/>
          <a:p>
            <a:pPr marL="0" marR="0" lvl="0" indent="0" algn="l" defTabSz="1218565" rtl="0" eaLnBrk="0" fontAlgn="auto" latinLnBrk="0" hangingPunct="0">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点击此处添加副标题文本内容</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200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childTnLst>
                          </p:cTn>
                        </p:par>
                        <p:par>
                          <p:cTn id="25" fill="hold">
                            <p:stCondLst>
                              <p:cond delay="500"/>
                            </p:stCondLst>
                            <p:childTnLst>
                              <p:par>
                                <p:cTn id="26" presetID="22" presetClass="entr" presetSubtype="8" fill="hold" grpId="0" nodeType="afterEffect">
                                  <p:stCondLst>
                                    <p:cond delay="0"/>
                                  </p:stCondLst>
                                  <p:iterate type="lt">
                                    <p:tmPct val="30000"/>
                                  </p:iterate>
                                  <p:childTnLst>
                                    <p:set>
                                      <p:cBhvr>
                                        <p:cTn id="27" dur="1" fill="hold">
                                          <p:stCondLst>
                                            <p:cond delay="0"/>
                                          </p:stCondLst>
                                        </p:cTn>
                                        <p:tgtEl>
                                          <p:spTgt spid="18"/>
                                        </p:tgtEl>
                                        <p:attrNameLst>
                                          <p:attrName>style.visibility</p:attrName>
                                        </p:attrNameLst>
                                      </p:cBhvr>
                                      <p:to>
                                        <p:strVal val="visible"/>
                                      </p:to>
                                    </p:set>
                                    <p:animEffect transition="in" filter="wipe(left)">
                                      <p:cBhvr>
                                        <p:cTn id="28" dur="200"/>
                                        <p:tgtEl>
                                          <p:spTgt spid="18"/>
                                        </p:tgtEl>
                                      </p:cBhvr>
                                    </p:animEffect>
                                  </p:childTnLst>
                                </p:cTn>
                              </p:par>
                              <p:par>
                                <p:cTn id="29" presetID="36" presetClass="emph" presetSubtype="0" fill="hold" grpId="1" nodeType="withEffect">
                                  <p:stCondLst>
                                    <p:cond delay="0"/>
                                  </p:stCondLst>
                                  <p:iterate type="lt">
                                    <p:tmPct val="30000"/>
                                  </p:iterate>
                                  <p:childTnLst>
                                    <p:animScale>
                                      <p:cBhvr>
                                        <p:cTn id="30" dur="50" autoRev="1" fill="hold">
                                          <p:stCondLst>
                                            <p:cond delay="0"/>
                                          </p:stCondLst>
                                        </p:cTn>
                                        <p:tgtEl>
                                          <p:spTgt spid="18"/>
                                        </p:tgtEl>
                                      </p:cBhvr>
                                      <p:to x="80000" y="100000"/>
                                    </p:animScale>
                                    <p:anim by="(#ppt_w*0.10)" calcmode="lin" valueType="num">
                                      <p:cBhvr>
                                        <p:cTn id="31" dur="50" autoRev="1" fill="hold">
                                          <p:stCondLst>
                                            <p:cond delay="0"/>
                                          </p:stCondLst>
                                        </p:cTn>
                                        <p:tgtEl>
                                          <p:spTgt spid="18"/>
                                        </p:tgtEl>
                                        <p:attrNameLst>
                                          <p:attrName>ppt_x</p:attrName>
                                        </p:attrNameLst>
                                      </p:cBhvr>
                                    </p:anim>
                                    <p:anim by="(-#ppt_w*0.10)" calcmode="lin" valueType="num">
                                      <p:cBhvr>
                                        <p:cTn id="32" dur="50" autoRev="1" fill="hold">
                                          <p:stCondLst>
                                            <p:cond delay="0"/>
                                          </p:stCondLst>
                                        </p:cTn>
                                        <p:tgtEl>
                                          <p:spTgt spid="18"/>
                                        </p:tgtEl>
                                        <p:attrNameLst>
                                          <p:attrName>ppt_y</p:attrName>
                                        </p:attrNameLst>
                                      </p:cBhvr>
                                    </p:anim>
                                    <p:animRot by="-480000">
                                      <p:cBhvr>
                                        <p:cTn id="33" dur="50" autoRev="1" fill="hold">
                                          <p:stCondLst>
                                            <p:cond delay="0"/>
                                          </p:stCondLst>
                                        </p:cTn>
                                        <p:tgtEl>
                                          <p:spTgt spid="18"/>
                                        </p:tgtEl>
                                        <p:attrNameLst>
                                          <p:attrName>r</p:attrName>
                                        </p:attrNameLst>
                                      </p:cBhvr>
                                    </p:animRot>
                                  </p:childTnLst>
                                </p:cTn>
                              </p:par>
                            </p:childTnLst>
                          </p:cTn>
                        </p:par>
                        <p:par>
                          <p:cTn id="34" fill="hold">
                            <p:stCondLst>
                              <p:cond delay="1120"/>
                            </p:stCondLst>
                            <p:childTnLst>
                              <p:par>
                                <p:cTn id="35" presetID="22" presetClass="entr" presetSubtype="8" fill="hold" grpId="0" nodeType="afterEffect">
                                  <p:stCondLst>
                                    <p:cond delay="0"/>
                                  </p:stCondLst>
                                  <p:iterate type="lt">
                                    <p:tmPct val="30000"/>
                                  </p:iterate>
                                  <p:childTnLst>
                                    <p:set>
                                      <p:cBhvr>
                                        <p:cTn id="36" dur="1" fill="hold">
                                          <p:stCondLst>
                                            <p:cond delay="0"/>
                                          </p:stCondLst>
                                        </p:cTn>
                                        <p:tgtEl>
                                          <p:spTgt spid="19"/>
                                        </p:tgtEl>
                                        <p:attrNameLst>
                                          <p:attrName>style.visibility</p:attrName>
                                        </p:attrNameLst>
                                      </p:cBhvr>
                                      <p:to>
                                        <p:strVal val="visible"/>
                                      </p:to>
                                    </p:set>
                                    <p:animEffect transition="in" filter="wipe(left)">
                                      <p:cBhvr>
                                        <p:cTn id="37" dur="200"/>
                                        <p:tgtEl>
                                          <p:spTgt spid="19"/>
                                        </p:tgtEl>
                                      </p:cBhvr>
                                    </p:animEffect>
                                  </p:childTnLst>
                                </p:cTn>
                              </p:par>
                              <p:par>
                                <p:cTn id="38" presetID="36" presetClass="emph" presetSubtype="0" fill="hold" grpId="1" nodeType="withEffect">
                                  <p:stCondLst>
                                    <p:cond delay="0"/>
                                  </p:stCondLst>
                                  <p:iterate type="lt">
                                    <p:tmPct val="30000"/>
                                  </p:iterate>
                                  <p:childTnLst>
                                    <p:animScale>
                                      <p:cBhvr>
                                        <p:cTn id="39" dur="50" autoRev="1" fill="hold">
                                          <p:stCondLst>
                                            <p:cond delay="0"/>
                                          </p:stCondLst>
                                        </p:cTn>
                                        <p:tgtEl>
                                          <p:spTgt spid="19"/>
                                        </p:tgtEl>
                                      </p:cBhvr>
                                      <p:to x="80000" y="100000"/>
                                    </p:animScale>
                                    <p:anim by="(#ppt_w*0.10)" calcmode="lin" valueType="num">
                                      <p:cBhvr>
                                        <p:cTn id="40" dur="50" autoRev="1" fill="hold">
                                          <p:stCondLst>
                                            <p:cond delay="0"/>
                                          </p:stCondLst>
                                        </p:cTn>
                                        <p:tgtEl>
                                          <p:spTgt spid="19"/>
                                        </p:tgtEl>
                                        <p:attrNameLst>
                                          <p:attrName>ppt_x</p:attrName>
                                        </p:attrNameLst>
                                      </p:cBhvr>
                                    </p:anim>
                                    <p:anim by="(-#ppt_w*0.10)" calcmode="lin" valueType="num">
                                      <p:cBhvr>
                                        <p:cTn id="41" dur="50" autoRev="1" fill="hold">
                                          <p:stCondLst>
                                            <p:cond delay="0"/>
                                          </p:stCondLst>
                                        </p:cTn>
                                        <p:tgtEl>
                                          <p:spTgt spid="19"/>
                                        </p:tgtEl>
                                        <p:attrNameLst>
                                          <p:attrName>ppt_y</p:attrName>
                                        </p:attrNameLst>
                                      </p:cBhvr>
                                    </p:anim>
                                    <p:animRot by="-480000">
                                      <p:cBhvr>
                                        <p:cTn id="42" dur="50" autoRev="1" fill="hold">
                                          <p:stCondLst>
                                            <p:cond delay="0"/>
                                          </p:stCondLst>
                                        </p:cTn>
                                        <p:tgtEl>
                                          <p:spTgt spid="19"/>
                                        </p:tgtEl>
                                        <p:attrNameLst>
                                          <p:attrName>r</p:attrName>
                                        </p:attrNameLst>
                                      </p:cBhvr>
                                    </p:animRot>
                                  </p:childTnLst>
                                </p:cTn>
                              </p:par>
                              <p:par>
                                <p:cTn id="43" presetID="2" presetClass="entr" presetSubtype="8"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0-#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P spid="16" grpId="0" bldLvl="0" animBg="1"/>
      <p:bldP spid="17" grpId="0" bldLvl="0" animBg="1"/>
      <p:bldP spid="18" grpId="0"/>
      <p:bldP spid="18" grpId="1"/>
      <p:bldP spid="19" grpId="0"/>
      <p:bldP spid="19"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p:cNvSpPr txBox="1"/>
          <p:nvPr/>
        </p:nvSpPr>
        <p:spPr>
          <a:xfrm>
            <a:off x="6700520" y="2069465"/>
            <a:ext cx="4895850" cy="2321560"/>
          </a:xfrm>
          <a:prstGeom prst="roundRect">
            <a:avLst/>
          </a:prstGeom>
          <a:solidFill>
            <a:schemeClr val="bg1">
              <a:lumMod val="95000"/>
            </a:schemeClr>
          </a:solidFill>
          <a:ln w="31750">
            <a:solidFill>
              <a:srgbClr val="E8432E"/>
            </a:solidFill>
          </a:ln>
        </p:spPr>
        <p:txBody>
          <a:bodyPr wrap="square" rtlCol="0" anchor="ctr">
            <a:noAutofit/>
          </a:bodyPr>
          <a:lstStyle/>
          <a:p>
            <a:pPr marL="342900" indent="-342900">
              <a:lnSpc>
                <a:spcPts val="2500"/>
              </a:lnSpc>
              <a:buAutoNum type="arabicPeriod" startAt="2"/>
            </a:pP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SP</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分成环比增</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40.3</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万元，主要是</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本月补列</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2010</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年</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3-5</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月网吧联盟分成</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16.3</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某某学院上年学生宽带分成</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14.6</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省级固话畅打包</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4.7</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万元及</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ITV</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平台省级电路费用分摊</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4.8</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2009</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年</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12</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月</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-2010</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年</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月）。</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5" name="圆角矩形 4"/>
          <p:cNvSpPr/>
          <p:nvPr/>
        </p:nvSpPr>
        <p:spPr>
          <a:xfrm>
            <a:off x="551180" y="2069465"/>
            <a:ext cx="5873750" cy="3681095"/>
          </a:xfrm>
          <a:prstGeom prst="roundRect">
            <a:avLst/>
          </a:prstGeom>
          <a:solidFill>
            <a:schemeClr val="bg1">
              <a:lumMod val="95000"/>
            </a:schemeClr>
          </a:solidFill>
          <a:ln w="47625">
            <a:solidFill>
              <a:srgbClr val="383F4E"/>
            </a:solidFill>
          </a:ln>
        </p:spPr>
        <p:txBody>
          <a:bodyPr wrap="square" anchor="ctr">
            <a:noAutofit/>
          </a:bodyPr>
          <a:lstStyle/>
          <a:p>
            <a:pPr marL="342900" indent="-342900">
              <a:lnSpc>
                <a:spcPts val="2500"/>
              </a:lnSpc>
              <a:buAutoNum type="arabicPeriod"/>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脱机收入环比减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295.6</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万元，分别为：</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a:lnSpc>
                <a:spcPts val="2500"/>
              </a:lnSpc>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固网宽带减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100.7</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万元，其中</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终端用户收入减收</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50.1</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万元（主要是春节结束停保用户上升：</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月份停保用户净增</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2.2</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装移机收入减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27.1</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万元（新装减少</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1804</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户）、</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专线收入减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22.8</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万元（主要是上月仙游校校通半年出账引起）；</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a:lnSpc>
                <a:spcPts val="2500"/>
              </a:lnSpc>
            </a:pP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移动用户减收</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60.9</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万元（主要是通话费减收</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58.1</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电信传媒减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56.9</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ts val="2500"/>
              </a:lnSpc>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ICT</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63.6</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6" name="圆角矩形 5"/>
          <p:cNvSpPr/>
          <p:nvPr/>
        </p:nvSpPr>
        <p:spPr>
          <a:xfrm>
            <a:off x="6700520" y="4653280"/>
            <a:ext cx="4895215" cy="1097280"/>
          </a:xfrm>
          <a:prstGeom prst="roundRect">
            <a:avLst/>
          </a:prstGeom>
          <a:solidFill>
            <a:schemeClr val="bg1">
              <a:lumMod val="95000"/>
            </a:schemeClr>
          </a:solidFill>
          <a:ln w="41275">
            <a:solidFill>
              <a:srgbClr val="E8432E"/>
            </a:solidFill>
          </a:ln>
        </p:spPr>
        <p:txBody>
          <a:bodyPr wrap="square" anchor="ctr">
            <a:noAutofit/>
          </a:bodyPr>
          <a:lstStyle/>
          <a:p>
            <a:pPr>
              <a:lnSpc>
                <a:spcPts val="2500"/>
              </a:lnSpc>
            </a:pP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1400" kern="0" dirty="0">
                <a:solidFill>
                  <a:srgbClr val="000000"/>
                </a:solidFill>
                <a:latin typeface="微软雅黑" panose="020B0503020204020204" pitchFamily="34" charset="-122"/>
                <a:ea typeface="微软雅黑" panose="020B0503020204020204" pitchFamily="34" charset="-122"/>
              </a:rPr>
              <a:t>受计费天数及假期等因素影响，</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网间结算环比减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18.2</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万元，漫游结算环比减</a:t>
            </a:r>
            <a:r>
              <a:rPr lang="en-US" altLang="zh-CN" sz="1400" dirty="0">
                <a:latin typeface="微软雅黑" panose="020B0503020204020204" pitchFamily="34" charset="-122"/>
                <a:ea typeface="微软雅黑" panose="020B0503020204020204" pitchFamily="34" charset="-122"/>
                <a:sym typeface="Wingdings" panose="05000000000000000000" pitchFamily="2" charset="2"/>
              </a:rPr>
              <a:t>22.2</a:t>
            </a:r>
            <a:r>
              <a:rPr lang="zh-CN" altLang="en-US" sz="1400"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sz="1400"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7" name="矩形 6"/>
          <p:cNvSpPr/>
          <p:nvPr/>
        </p:nvSpPr>
        <p:spPr>
          <a:xfrm>
            <a:off x="1626891" y="423691"/>
            <a:ext cx="2926080" cy="645160"/>
          </a:xfrm>
          <a:prstGeom prst="rect">
            <a:avLst/>
          </a:prstGeom>
        </p:spPr>
        <p:txBody>
          <a:bodyPr wrap="none">
            <a:spAutoFit/>
          </a:bodyPr>
          <a:lstStyle/>
          <a:p>
            <a:r>
              <a:rPr lang="zh-CN" altLang="en-US" sz="3600" b="1" dirty="0">
                <a:solidFill>
                  <a:srgbClr val="383F4E"/>
                </a:solidFill>
                <a:latin typeface="微软雅黑" panose="020B0503020204020204" pitchFamily="34" charset="-122"/>
                <a:ea typeface="微软雅黑" panose="020B0503020204020204" pitchFamily="34" charset="-122"/>
              </a:rPr>
              <a:t>环比数据分析</a:t>
            </a:r>
          </a:p>
        </p:txBody>
      </p:sp>
      <p:sp>
        <p:nvSpPr>
          <p:cNvPr id="9" name="文本框 8"/>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0" nodeType="clickEffect">
                                  <p:stCondLst>
                                    <p:cond delay="1500"/>
                                  </p:stCondLst>
                                  <p:childTnLst>
                                    <p:animEffect transition="out" filter="fade">
                                      <p:cBhvr>
                                        <p:cTn id="17" dur="500"/>
                                        <p:tgtEl>
                                          <p:spTgt spid="9"/>
                                        </p:tgtEl>
                                      </p:cBhvr>
                                    </p:animEffect>
                                    <p:set>
                                      <p:cBhvr>
                                        <p:cTn id="18"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13556" y="380511"/>
            <a:ext cx="2926080" cy="645160"/>
          </a:xfrm>
          <a:prstGeom prst="rect">
            <a:avLst/>
          </a:prstGeom>
        </p:spPr>
        <p:txBody>
          <a:bodyPr wrap="none">
            <a:spAutoFit/>
          </a:bodyPr>
          <a:lstStyle/>
          <a:p>
            <a:pPr lvl="0">
              <a:defRPr/>
            </a:pPr>
            <a:r>
              <a:rPr lang="zh-CN" altLang="en-US" sz="3600" b="1" dirty="0">
                <a:solidFill>
                  <a:srgbClr val="383F4E"/>
                </a:solidFill>
                <a:latin typeface="微软雅黑" panose="020B0503020204020204" pitchFamily="34" charset="-122"/>
                <a:ea typeface="微软雅黑" panose="020B0503020204020204" pitchFamily="34" charset="-122"/>
              </a:rPr>
              <a:t>指标完成进度</a:t>
            </a:r>
          </a:p>
        </p:txBody>
      </p:sp>
      <p:sp>
        <p:nvSpPr>
          <p:cNvPr id="5" name="Text Box 2"/>
          <p:cNvSpPr txBox="1">
            <a:spLocks noChangeArrowheads="1"/>
          </p:cNvSpPr>
          <p:nvPr/>
        </p:nvSpPr>
        <p:spPr bwMode="auto">
          <a:xfrm>
            <a:off x="937260" y="3079750"/>
            <a:ext cx="3449320" cy="1336675"/>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dirty="0">
                <a:latin typeface="微软雅黑" panose="020B0503020204020204" pitchFamily="34" charset="-122"/>
                <a:ea typeface="微软雅黑" panose="020B0503020204020204" pitchFamily="34" charset="-122"/>
              </a:rPr>
              <a:t>完成预算口径收入</a:t>
            </a:r>
            <a:r>
              <a:rPr lang="en-US" altLang="zh-CN" dirty="0">
                <a:latin typeface="微软雅黑" panose="020B0503020204020204" pitchFamily="34" charset="-122"/>
                <a:ea typeface="微软雅黑" panose="020B0503020204020204" pitchFamily="34" charset="-122"/>
              </a:rPr>
              <a:t>6553</a:t>
            </a:r>
            <a:r>
              <a:rPr lang="zh-CN" altLang="en-US" dirty="0">
                <a:latin typeface="微软雅黑" panose="020B0503020204020204" pitchFamily="34" charset="-122"/>
                <a:ea typeface="微软雅黑" panose="020B0503020204020204" pitchFamily="34" charset="-122"/>
              </a:rPr>
              <a:t>万元，当月预算进度</a:t>
            </a:r>
            <a:r>
              <a:rPr lang="en-US" altLang="zh-CN" dirty="0">
                <a:latin typeface="微软雅黑" panose="020B0503020204020204" pitchFamily="34" charset="-122"/>
                <a:ea typeface="微软雅黑" panose="020B0503020204020204" pitchFamily="34" charset="-122"/>
              </a:rPr>
              <a:t>95.7%</a:t>
            </a:r>
            <a:r>
              <a:rPr lang="zh-CN" altLang="en-US" dirty="0">
                <a:latin typeface="微软雅黑" panose="020B0503020204020204" pitchFamily="34" charset="-122"/>
                <a:ea typeface="微软雅黑" panose="020B0503020204020204" pitchFamily="34" charset="-122"/>
              </a:rPr>
              <a:t>，缺口</a:t>
            </a:r>
            <a:r>
              <a:rPr lang="en-US" altLang="zh-CN" dirty="0">
                <a:latin typeface="微软雅黑" panose="020B0503020204020204" pitchFamily="34" charset="-122"/>
                <a:ea typeface="微软雅黑" panose="020B0503020204020204" pitchFamily="34" charset="-122"/>
              </a:rPr>
              <a:t>295.4</a:t>
            </a:r>
            <a:r>
              <a:rPr lang="zh-CN" altLang="en-US" dirty="0">
                <a:latin typeface="微软雅黑" panose="020B0503020204020204" pitchFamily="34" charset="-122"/>
                <a:ea typeface="微软雅黑" panose="020B0503020204020204" pitchFamily="34" charset="-122"/>
              </a:rPr>
              <a:t>万元。</a:t>
            </a:r>
          </a:p>
        </p:txBody>
      </p:sp>
      <p:graphicFrame>
        <p:nvGraphicFramePr>
          <p:cNvPr id="6" name="表格 5"/>
          <p:cNvGraphicFramePr>
            <a:graphicFrameLocks noGrp="1"/>
          </p:cNvGraphicFramePr>
          <p:nvPr/>
        </p:nvGraphicFramePr>
        <p:xfrm>
          <a:off x="5101810" y="2246183"/>
          <a:ext cx="5685182" cy="2750994"/>
        </p:xfrm>
        <a:graphic>
          <a:graphicData uri="http://schemas.openxmlformats.org/drawingml/2006/table">
            <a:tbl>
              <a:tblPr>
                <a:tableStyleId>{21E4AEA4-8DFA-4A89-87EB-49C32662AFE0}</a:tableStyleId>
              </a:tblPr>
              <a:tblGrid>
                <a:gridCol w="1768724"/>
                <a:gridCol w="685831"/>
                <a:gridCol w="884361"/>
                <a:gridCol w="758024"/>
                <a:gridCol w="794121"/>
                <a:gridCol w="794121"/>
              </a:tblGrid>
              <a:tr h="1023627">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项目</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当月</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完成</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月度进度</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完成</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缺口</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账面</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增幅</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可比</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增幅</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r>
              <a:tr h="575789">
                <a:tc>
                  <a:txBody>
                    <a:bodyPr/>
                    <a:lstStyle/>
                    <a:p>
                      <a:pPr marL="107950" algn="l" fontAlgn="ctr"/>
                      <a:r>
                        <a:rPr lang="zh-CN" altLang="en-US" sz="1400" u="none" strike="noStrike" kern="1200" dirty="0">
                          <a:latin typeface="微软雅黑" panose="020B0503020204020204" pitchFamily="34" charset="-122"/>
                          <a:ea typeface="微软雅黑" panose="020B0503020204020204" pitchFamily="34" charset="-122"/>
                        </a:rPr>
                        <a:t> 预算口径收入</a:t>
                      </a:r>
                      <a:endParaRPr lang="zh-CN" altLang="en-US" sz="14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0" marR="0" marT="0" marB="0" anchor="ctr">
                    <a:solidFill>
                      <a:schemeClr val="bg2"/>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6,553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95.7%</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-295.4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-3.3%</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3.9%</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575789">
                <a:tc>
                  <a:txBody>
                    <a:bodyPr/>
                    <a:lstStyle/>
                    <a:p>
                      <a:pPr marL="107950" algn="l" fontAlgn="ctr"/>
                      <a:r>
                        <a:rPr lang="zh-CN" altLang="en-US" sz="1400" u="none" strike="noStrike" dirty="0">
                          <a:latin typeface="微软雅黑" panose="020B0503020204020204" pitchFamily="34" charset="-122"/>
                          <a:ea typeface="微软雅黑" panose="020B0503020204020204" pitchFamily="34" charset="-122"/>
                        </a:rPr>
                        <a:t> 其中：云协同收入</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53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79.2%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-13.9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-8.8%</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-3.4%</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575789">
                <a:tc>
                  <a:txBody>
                    <a:bodyPr/>
                    <a:lstStyle/>
                    <a:p>
                      <a:pPr marL="107950" algn="l" fontAlgn="ctr"/>
                      <a:r>
                        <a:rPr lang="zh-CN" altLang="en-US" sz="1400" u="none" strike="noStrike" dirty="0">
                          <a:latin typeface="微软雅黑" panose="020B0503020204020204" pitchFamily="34" charset="-122"/>
                          <a:ea typeface="微软雅黑" panose="020B0503020204020204" pitchFamily="34" charset="-122"/>
                        </a:rPr>
                        <a:t> 其中：导航协同收入</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43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89.8%</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-4.9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10.1%</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bl>
          </a:graphicData>
        </a:graphic>
      </p:graphicFrame>
      <p:sp>
        <p:nvSpPr>
          <p:cNvPr id="7" name="TextBox 13"/>
          <p:cNvSpPr txBox="1"/>
          <p:nvPr/>
        </p:nvSpPr>
        <p:spPr>
          <a:xfrm>
            <a:off x="9755180" y="1950024"/>
            <a:ext cx="1071570" cy="275590"/>
          </a:xfrm>
          <a:prstGeom prst="rect">
            <a:avLst/>
          </a:prstGeom>
          <a:noFill/>
        </p:spPr>
        <p:txBody>
          <a:bodyPr wrap="square" rtlCol="0">
            <a:spAutoFit/>
          </a:bodyPr>
          <a:lstStyle/>
          <a:p>
            <a:pPr algn="r"/>
            <a:r>
              <a:rPr lang="zh-CN" altLang="en-US" sz="1200" dirty="0">
                <a:latin typeface="微软雅黑" panose="020B0503020204020204" pitchFamily="34" charset="-122"/>
                <a:ea typeface="微软雅黑" panose="020B0503020204020204" pitchFamily="34" charset="-122"/>
              </a:rPr>
              <a:t>单位：万元</a:t>
            </a:r>
          </a:p>
        </p:txBody>
      </p:sp>
      <p:sp>
        <p:nvSpPr>
          <p:cNvPr id="9" name="圆角矩形 8"/>
          <p:cNvSpPr/>
          <p:nvPr/>
        </p:nvSpPr>
        <p:spPr>
          <a:xfrm>
            <a:off x="1029868" y="2245701"/>
            <a:ext cx="3228304" cy="572291"/>
          </a:xfrm>
          <a:prstGeom prst="roundRect">
            <a:avLst/>
          </a:prstGeom>
          <a:solidFill>
            <a:srgbClr val="E8432E"/>
          </a:solidFill>
          <a:ln>
            <a:noFill/>
          </a:ln>
        </p:spPr>
        <p:txBody>
          <a:bodyPr wrap="square" anchor="ctr">
            <a:noAutofit/>
          </a:bodyPr>
          <a:lstStyle/>
          <a:p>
            <a:pPr marL="107950" lvl="0" algn="ctr"/>
            <a:r>
              <a:rPr lang="en-US" altLang="zh-CN" sz="2400" b="1" dirty="0">
                <a:solidFill>
                  <a:schemeClr val="bg1"/>
                </a:solidFill>
                <a:latin typeface="微软雅黑" panose="020B0503020204020204" pitchFamily="34" charset="-122"/>
                <a:ea typeface="微软雅黑" panose="020B0503020204020204" pitchFamily="34" charset="-122"/>
                <a:sym typeface="+mn-ea"/>
              </a:rPr>
              <a:t>1）当月收入：</a:t>
            </a:r>
          </a:p>
        </p:txBody>
      </p:sp>
      <p:sp>
        <p:nvSpPr>
          <p:cNvPr id="10" name="文本框 9"/>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150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bldLvl="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70071" y="353206"/>
            <a:ext cx="2926080" cy="645160"/>
          </a:xfrm>
          <a:prstGeom prst="rect">
            <a:avLst/>
          </a:prstGeom>
        </p:spPr>
        <p:txBody>
          <a:bodyPr wrap="none">
            <a:spAutoFit/>
          </a:bodyPr>
          <a:lstStyle/>
          <a:p>
            <a:pPr lvl="0">
              <a:defRPr/>
            </a:pPr>
            <a:r>
              <a:rPr lang="zh-CN" altLang="en-US" sz="3600" b="1" dirty="0">
                <a:solidFill>
                  <a:srgbClr val="383F4E"/>
                </a:solidFill>
                <a:latin typeface="微软雅黑" panose="020B0503020204020204" pitchFamily="34" charset="-122"/>
                <a:ea typeface="微软雅黑" panose="020B0503020204020204" pitchFamily="34" charset="-122"/>
              </a:rPr>
              <a:t>指标完成进度</a:t>
            </a:r>
          </a:p>
        </p:txBody>
      </p:sp>
      <p:sp>
        <p:nvSpPr>
          <p:cNvPr id="5" name="Text Box 2"/>
          <p:cNvSpPr txBox="1">
            <a:spLocks noChangeArrowheads="1"/>
          </p:cNvSpPr>
          <p:nvPr/>
        </p:nvSpPr>
        <p:spPr bwMode="auto">
          <a:xfrm>
            <a:off x="844550" y="2513965"/>
            <a:ext cx="3458210" cy="1197610"/>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dirty="0">
                <a:latin typeface="微软雅黑" panose="020B0503020204020204" pitchFamily="34" charset="-122"/>
                <a:ea typeface="微软雅黑" panose="020B0503020204020204" pitchFamily="34" charset="-122"/>
              </a:rPr>
              <a:t>当月可比预算口径收入同比增加</a:t>
            </a:r>
            <a:r>
              <a:rPr lang="en-US" altLang="zh-CN" dirty="0">
                <a:latin typeface="微软雅黑" panose="020B0503020204020204" pitchFamily="34" charset="-122"/>
                <a:ea typeface="微软雅黑" panose="020B0503020204020204" pitchFamily="34" charset="-122"/>
              </a:rPr>
              <a:t>243.6</a:t>
            </a:r>
            <a:r>
              <a:rPr lang="zh-CN" altLang="en-US" dirty="0">
                <a:latin typeface="微软雅黑" panose="020B0503020204020204" pitchFamily="34" charset="-122"/>
                <a:ea typeface="微软雅黑" panose="020B0503020204020204" pitchFamily="34" charset="-122"/>
              </a:rPr>
              <a:t>万元，增幅</a:t>
            </a:r>
            <a:r>
              <a:rPr lang="en-US" altLang="zh-CN" dirty="0">
                <a:latin typeface="微软雅黑" panose="020B0503020204020204" pitchFamily="34" charset="-122"/>
                <a:ea typeface="微软雅黑" panose="020B0503020204020204" pitchFamily="34" charset="-122"/>
              </a:rPr>
              <a:t>3.9%</a:t>
            </a:r>
            <a:r>
              <a:rPr lang="zh-CN" altLang="en-US" dirty="0">
                <a:latin typeface="微软雅黑" panose="020B0503020204020204" pitchFamily="34" charset="-122"/>
                <a:ea typeface="微软雅黑" panose="020B0503020204020204" pitchFamily="34" charset="-122"/>
              </a:rPr>
              <a:t>；账面预算口径收入同比减少</a:t>
            </a:r>
            <a:r>
              <a:rPr lang="en-US" altLang="zh-CN" dirty="0">
                <a:latin typeface="微软雅黑" panose="020B0503020204020204" pitchFamily="34" charset="-122"/>
                <a:ea typeface="微软雅黑" panose="020B0503020204020204" pitchFamily="34" charset="-122"/>
              </a:rPr>
              <a:t>224.4</a:t>
            </a:r>
            <a:r>
              <a:rPr lang="zh-CN" altLang="en-US" dirty="0">
                <a:latin typeface="微软雅黑" panose="020B0503020204020204" pitchFamily="34" charset="-122"/>
                <a:ea typeface="微软雅黑" panose="020B0503020204020204" pitchFamily="34" charset="-122"/>
              </a:rPr>
              <a:t>万元，降幅</a:t>
            </a:r>
            <a:r>
              <a:rPr lang="en-US" altLang="zh-CN" dirty="0">
                <a:latin typeface="微软雅黑" panose="020B0503020204020204" pitchFamily="34" charset="-122"/>
                <a:ea typeface="微软雅黑" panose="020B0503020204020204" pitchFamily="34" charset="-122"/>
              </a:rPr>
              <a:t>3.3%</a:t>
            </a:r>
            <a:r>
              <a:rPr lang="zh-CN" altLang="en-US" dirty="0">
                <a:latin typeface="微软雅黑" panose="020B0503020204020204" pitchFamily="34" charset="-122"/>
                <a:ea typeface="微软雅黑" panose="020B0503020204020204" pitchFamily="34" charset="-122"/>
              </a:rPr>
              <a:t>。</a:t>
            </a:r>
          </a:p>
        </p:txBody>
      </p:sp>
      <p:sp>
        <p:nvSpPr>
          <p:cNvPr id="9" name="圆角矩形 8"/>
          <p:cNvSpPr/>
          <p:nvPr/>
        </p:nvSpPr>
        <p:spPr>
          <a:xfrm>
            <a:off x="4302658" y="1481796"/>
            <a:ext cx="3228304" cy="572291"/>
          </a:xfrm>
          <a:prstGeom prst="roundRect">
            <a:avLst/>
          </a:prstGeom>
          <a:solidFill>
            <a:srgbClr val="E8432E"/>
          </a:solidFill>
          <a:ln>
            <a:noFill/>
          </a:ln>
        </p:spPr>
        <p:txBody>
          <a:bodyPr wrap="square" anchor="ctr">
            <a:noAutofit/>
          </a:bodyPr>
          <a:lstStyle/>
          <a:p>
            <a:pPr marL="107950" lvl="0" algn="ctr"/>
            <a:r>
              <a:rPr lang="en-US" altLang="zh-CN" sz="2400" b="1" dirty="0">
                <a:solidFill>
                  <a:schemeClr val="bg1"/>
                </a:solidFill>
                <a:latin typeface="微软雅黑" panose="020B0503020204020204" pitchFamily="34" charset="-122"/>
                <a:ea typeface="微软雅黑" panose="020B0503020204020204" pitchFamily="34" charset="-122"/>
                <a:sym typeface="+mn-ea"/>
              </a:rPr>
              <a:t>2）同比：</a:t>
            </a:r>
          </a:p>
        </p:txBody>
      </p:sp>
      <p:graphicFrame>
        <p:nvGraphicFramePr>
          <p:cNvPr id="11" name="图表 10"/>
          <p:cNvGraphicFramePr/>
          <p:nvPr/>
        </p:nvGraphicFramePr>
        <p:xfrm>
          <a:off x="4700270" y="2054225"/>
          <a:ext cx="6560185" cy="3988435"/>
        </p:xfrm>
        <a:graphic>
          <a:graphicData uri="http://schemas.openxmlformats.org/drawingml/2006/chart">
            <c:chart xmlns:c="http://schemas.openxmlformats.org/drawingml/2006/chart" xmlns:r="http://schemas.openxmlformats.org/officeDocument/2006/relationships" r:id="rId3"/>
          </a:graphicData>
        </a:graphic>
      </p:graphicFrame>
      <p:sp>
        <p:nvSpPr>
          <p:cNvPr id="13" name="文本框 12"/>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bldLvl="0" animBg="1"/>
      <p:bldGraphic spid="11" grpId="0">
        <p:bldAsOne/>
      </p:bldGraphic>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55466" y="423056"/>
            <a:ext cx="2926080" cy="645160"/>
          </a:xfrm>
          <a:prstGeom prst="rect">
            <a:avLst/>
          </a:prstGeom>
        </p:spPr>
        <p:txBody>
          <a:bodyPr wrap="none">
            <a:spAutoFit/>
          </a:bodyPr>
          <a:lstStyle/>
          <a:p>
            <a:pPr lvl="0">
              <a:defRPr/>
            </a:pPr>
            <a:r>
              <a:rPr lang="zh-CN" altLang="en-US" sz="3600" b="1" dirty="0">
                <a:solidFill>
                  <a:srgbClr val="383F4E"/>
                </a:solidFill>
                <a:latin typeface="微软雅黑" panose="020B0503020204020204" pitchFamily="34" charset="-122"/>
                <a:ea typeface="微软雅黑" panose="020B0503020204020204" pitchFamily="34" charset="-122"/>
              </a:rPr>
              <a:t>指标完成进度</a:t>
            </a:r>
          </a:p>
        </p:txBody>
      </p:sp>
      <p:sp>
        <p:nvSpPr>
          <p:cNvPr id="5" name="Text Box 2"/>
          <p:cNvSpPr txBox="1">
            <a:spLocks noChangeArrowheads="1"/>
          </p:cNvSpPr>
          <p:nvPr/>
        </p:nvSpPr>
        <p:spPr bwMode="auto">
          <a:xfrm>
            <a:off x="6962140" y="3220720"/>
            <a:ext cx="4640580" cy="920750"/>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accent1">
                  <a:lumMod val="75000"/>
                </a:schemeClr>
              </a:buClr>
              <a:defRPr/>
            </a:pPr>
            <a:r>
              <a:rPr lang="zh-CN" altLang="en-US" dirty="0">
                <a:latin typeface="微软雅黑" panose="020B0503020204020204" pitchFamily="34" charset="-122"/>
                <a:ea typeface="微软雅黑" panose="020B0503020204020204" pitchFamily="34" charset="-122"/>
              </a:rPr>
              <a:t>环比减少</a:t>
            </a:r>
            <a:r>
              <a:rPr lang="en-US" altLang="zh-CN" dirty="0">
                <a:latin typeface="微软雅黑" panose="020B0503020204020204" pitchFamily="34" charset="-122"/>
                <a:ea typeface="微软雅黑" panose="020B0503020204020204" pitchFamily="34" charset="-122"/>
              </a:rPr>
              <a:t>349.4</a:t>
            </a:r>
            <a:r>
              <a:rPr lang="zh-CN" altLang="en-US" dirty="0">
                <a:latin typeface="微软雅黑" panose="020B0503020204020204" pitchFamily="34" charset="-122"/>
                <a:ea typeface="微软雅黑" panose="020B0503020204020204" pitchFamily="34" charset="-122"/>
              </a:rPr>
              <a:t>万元，降幅</a:t>
            </a:r>
            <a:r>
              <a:rPr lang="en-US" altLang="zh-CN" dirty="0">
                <a:latin typeface="微软雅黑" panose="020B0503020204020204" pitchFamily="34" charset="-122"/>
                <a:ea typeface="微软雅黑" panose="020B0503020204020204" pitchFamily="34" charset="-122"/>
              </a:rPr>
              <a:t>5.1%</a:t>
            </a:r>
            <a:r>
              <a:rPr lang="zh-CN" altLang="en-US" dirty="0">
                <a:latin typeface="微软雅黑" panose="020B0503020204020204" pitchFamily="34" charset="-122"/>
                <a:ea typeface="微软雅黑" panose="020B0503020204020204" pitchFamily="34" charset="-122"/>
              </a:rPr>
              <a:t>，剔除上月省公司计费报表跑错多计收入</a:t>
            </a:r>
            <a:r>
              <a:rPr lang="en-US" altLang="zh-CN" dirty="0">
                <a:latin typeface="微软雅黑" panose="020B0503020204020204" pitchFamily="34" charset="-122"/>
                <a:ea typeface="微软雅黑" panose="020B0503020204020204" pitchFamily="34" charset="-122"/>
              </a:rPr>
              <a:t>50</a:t>
            </a:r>
            <a:r>
              <a:rPr lang="zh-CN" altLang="en-US" dirty="0">
                <a:latin typeface="微软雅黑" panose="020B0503020204020204" pitchFamily="34" charset="-122"/>
                <a:ea typeface="微软雅黑" panose="020B0503020204020204" pitchFamily="34" charset="-122"/>
              </a:rPr>
              <a:t>万元，实际环比减收</a:t>
            </a:r>
            <a:r>
              <a:rPr lang="en-US" altLang="zh-CN" dirty="0">
                <a:latin typeface="微软雅黑" panose="020B0503020204020204" pitchFamily="34" charset="-122"/>
                <a:ea typeface="微软雅黑" panose="020B0503020204020204" pitchFamily="34" charset="-122"/>
              </a:rPr>
              <a:t>300</a:t>
            </a:r>
            <a:r>
              <a:rPr lang="zh-CN" altLang="en-US" dirty="0">
                <a:latin typeface="微软雅黑" panose="020B0503020204020204" pitchFamily="34" charset="-122"/>
                <a:ea typeface="微软雅黑" panose="020B0503020204020204" pitchFamily="34" charset="-122"/>
              </a:rPr>
              <a:t>万元，降幅</a:t>
            </a:r>
            <a:r>
              <a:rPr lang="en-US" altLang="zh-CN" dirty="0">
                <a:latin typeface="微软雅黑" panose="020B0503020204020204" pitchFamily="34" charset="-122"/>
                <a:ea typeface="微软雅黑" panose="020B0503020204020204" pitchFamily="34" charset="-122"/>
              </a:rPr>
              <a:t>4.4%</a:t>
            </a:r>
            <a:r>
              <a:rPr lang="zh-CN" altLang="en-US" dirty="0">
                <a:latin typeface="微软雅黑" panose="020B0503020204020204" pitchFamily="34" charset="-122"/>
                <a:ea typeface="微软雅黑" panose="020B0503020204020204" pitchFamily="34" charset="-122"/>
              </a:rPr>
              <a:t>。</a:t>
            </a:r>
          </a:p>
        </p:txBody>
      </p:sp>
      <p:sp>
        <p:nvSpPr>
          <p:cNvPr id="9" name="圆角矩形 8"/>
          <p:cNvSpPr/>
          <p:nvPr/>
        </p:nvSpPr>
        <p:spPr>
          <a:xfrm>
            <a:off x="4212488" y="1481796"/>
            <a:ext cx="3228304" cy="572291"/>
          </a:xfrm>
          <a:prstGeom prst="roundRect">
            <a:avLst/>
          </a:prstGeom>
          <a:solidFill>
            <a:srgbClr val="E8432E"/>
          </a:solidFill>
          <a:ln>
            <a:noFill/>
          </a:ln>
        </p:spPr>
        <p:txBody>
          <a:bodyPr wrap="square" anchor="ctr">
            <a:noAutofit/>
          </a:bodyPr>
          <a:lstStyle/>
          <a:p>
            <a:pPr marL="107950" algn="ctr"/>
            <a:r>
              <a:rPr lang="en-US" altLang="zh-CN" sz="2400" b="1" dirty="0">
                <a:solidFill>
                  <a:schemeClr val="bg1"/>
                </a:solidFill>
                <a:latin typeface="微软雅黑" panose="020B0503020204020204" pitchFamily="34" charset="-122"/>
                <a:ea typeface="微软雅黑" panose="020B0503020204020204" pitchFamily="34" charset="-122"/>
              </a:rPr>
              <a:t>3</a:t>
            </a:r>
            <a:r>
              <a:rPr lang="zh-CN" altLang="en-US" sz="2400" b="1" dirty="0">
                <a:solidFill>
                  <a:schemeClr val="bg1"/>
                </a:solidFill>
                <a:latin typeface="微软雅黑" panose="020B0503020204020204" pitchFamily="34" charset="-122"/>
                <a:ea typeface="微软雅黑" panose="020B0503020204020204" pitchFamily="34" charset="-122"/>
              </a:rPr>
              <a:t>）环比：</a:t>
            </a:r>
            <a:endParaRPr lang="zh-CN" altLang="en-US" sz="2400" dirty="0">
              <a:solidFill>
                <a:schemeClr val="bg1"/>
              </a:solidFill>
            </a:endParaRPr>
          </a:p>
        </p:txBody>
      </p:sp>
      <p:graphicFrame>
        <p:nvGraphicFramePr>
          <p:cNvPr id="8" name="图表 7"/>
          <p:cNvGraphicFramePr/>
          <p:nvPr/>
        </p:nvGraphicFramePr>
        <p:xfrm>
          <a:off x="626602" y="2170209"/>
          <a:ext cx="5891404" cy="3021495"/>
        </p:xfrm>
        <a:graphic>
          <a:graphicData uri="http://schemas.openxmlformats.org/drawingml/2006/chart">
            <c:chart xmlns:c="http://schemas.openxmlformats.org/drawingml/2006/chart" xmlns:r="http://schemas.openxmlformats.org/officeDocument/2006/relationships" r:id="rId3"/>
          </a:graphicData>
        </a:graphic>
      </p:graphicFrame>
      <p:sp>
        <p:nvSpPr>
          <p:cNvPr id="10" name="文本框 9"/>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bldLvl="0" animBg="1"/>
      <p:bldGraphic spid="8" grpId="0">
        <p:bldAsOne/>
      </p:bldGraphic>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29431" y="395116"/>
            <a:ext cx="2926080" cy="645160"/>
          </a:xfrm>
          <a:prstGeom prst="rect">
            <a:avLst/>
          </a:prstGeom>
        </p:spPr>
        <p:txBody>
          <a:bodyPr wrap="none">
            <a:spAutoFit/>
          </a:bodyPr>
          <a:lstStyle/>
          <a:p>
            <a:pPr lvl="0">
              <a:defRPr/>
            </a:pPr>
            <a:r>
              <a:rPr lang="zh-CN" altLang="en-US" sz="3600" b="1" dirty="0">
                <a:solidFill>
                  <a:srgbClr val="383F4E"/>
                </a:solidFill>
                <a:latin typeface="微软雅黑" panose="020B0503020204020204" pitchFamily="34" charset="-122"/>
                <a:ea typeface="微软雅黑" panose="020B0503020204020204" pitchFamily="34" charset="-122"/>
              </a:rPr>
              <a:t>指标完成进度</a:t>
            </a:r>
          </a:p>
        </p:txBody>
      </p:sp>
      <p:sp>
        <p:nvSpPr>
          <p:cNvPr id="5" name="Text Box 2"/>
          <p:cNvSpPr txBox="1">
            <a:spLocks noChangeArrowheads="1"/>
          </p:cNvSpPr>
          <p:nvPr/>
        </p:nvSpPr>
        <p:spPr bwMode="auto">
          <a:xfrm>
            <a:off x="1571625" y="3101340"/>
            <a:ext cx="3042285" cy="1751965"/>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accent1">
                  <a:lumMod val="75000"/>
                </a:schemeClr>
              </a:buClr>
              <a:defRPr/>
            </a:pPr>
            <a:r>
              <a:rPr lang="zh-CN" altLang="en-US" dirty="0">
                <a:latin typeface="微软雅黑" panose="020B0503020204020204" pitchFamily="34" charset="-122"/>
                <a:ea typeface="微软雅黑" panose="020B0503020204020204" pitchFamily="34" charset="-122"/>
                <a:sym typeface="Wingdings" panose="05000000000000000000" pitchFamily="2" charset="2"/>
              </a:rPr>
              <a:t>累计完成</a:t>
            </a:r>
            <a:r>
              <a:rPr lang="zh-CN" altLang="en-US" dirty="0">
                <a:latin typeface="微软雅黑" panose="020B0503020204020204" pitchFamily="34" charset="-122"/>
                <a:ea typeface="微软雅黑" panose="020B0503020204020204" pitchFamily="34" charset="-122"/>
              </a:rPr>
              <a:t>预算口径收入</a:t>
            </a:r>
            <a:r>
              <a:rPr lang="en-US" altLang="zh-CN" dirty="0">
                <a:latin typeface="微软雅黑" panose="020B0503020204020204" pitchFamily="34" charset="-122"/>
                <a:ea typeface="微软雅黑" panose="020B0503020204020204" pitchFamily="34" charset="-122"/>
                <a:sym typeface="Wingdings" panose="05000000000000000000" pitchFamily="2" charset="2"/>
              </a:rPr>
              <a:t>26826</a:t>
            </a:r>
            <a:r>
              <a:rPr lang="zh-CN" altLang="en-US" dirty="0">
                <a:latin typeface="微软雅黑" panose="020B0503020204020204" pitchFamily="34" charset="-122"/>
                <a:ea typeface="微软雅黑" panose="020B0503020204020204" pitchFamily="34" charset="-122"/>
                <a:sym typeface="Wingdings" panose="05000000000000000000" pitchFamily="2" charset="2"/>
              </a:rPr>
              <a:t>万元，预算进度缺口</a:t>
            </a:r>
            <a:r>
              <a:rPr lang="en-US" altLang="zh-CN" dirty="0">
                <a:latin typeface="微软雅黑" panose="020B0503020204020204" pitchFamily="34" charset="-122"/>
                <a:ea typeface="微软雅黑" panose="020B0503020204020204" pitchFamily="34" charset="-122"/>
                <a:sym typeface="Wingdings" panose="05000000000000000000" pitchFamily="2" charset="2"/>
              </a:rPr>
              <a:t>567.9</a:t>
            </a:r>
            <a:r>
              <a:rPr lang="zh-CN" altLang="en-US" dirty="0">
                <a:latin typeface="微软雅黑" panose="020B0503020204020204" pitchFamily="34" charset="-122"/>
                <a:ea typeface="微软雅黑" panose="020B0503020204020204" pitchFamily="34" charset="-122"/>
                <a:sym typeface="Wingdings" panose="05000000000000000000" pitchFamily="2" charset="2"/>
              </a:rPr>
              <a:t>万元；可比口径累计同比增加</a:t>
            </a:r>
            <a:r>
              <a:rPr lang="en-US" altLang="zh-CN" dirty="0">
                <a:latin typeface="微软雅黑" panose="020B0503020204020204" pitchFamily="34" charset="-122"/>
                <a:ea typeface="微软雅黑" panose="020B0503020204020204" pitchFamily="34" charset="-122"/>
                <a:sym typeface="Wingdings" panose="05000000000000000000" pitchFamily="2" charset="2"/>
              </a:rPr>
              <a:t>613.7</a:t>
            </a:r>
            <a:r>
              <a:rPr lang="zh-CN" altLang="en-US" dirty="0">
                <a:latin typeface="微软雅黑" panose="020B0503020204020204" pitchFamily="34" charset="-122"/>
                <a:ea typeface="微软雅黑" panose="020B0503020204020204" pitchFamily="34" charset="-122"/>
                <a:sym typeface="Wingdings" panose="05000000000000000000" pitchFamily="2" charset="2"/>
              </a:rPr>
              <a:t>万元，</a:t>
            </a:r>
            <a:endParaRPr lang="en-US" altLang="zh-CN" dirty="0">
              <a:latin typeface="微软雅黑" panose="020B0503020204020204" pitchFamily="34" charset="-122"/>
              <a:ea typeface="微软雅黑" panose="020B0503020204020204" pitchFamily="34" charset="-122"/>
              <a:sym typeface="Wingdings" panose="05000000000000000000" pitchFamily="2" charset="2"/>
            </a:endParaRPr>
          </a:p>
          <a:p>
            <a:pPr>
              <a:buClr>
                <a:schemeClr val="accent1">
                  <a:lumMod val="75000"/>
                </a:schemeClr>
              </a:buClr>
              <a:defRPr/>
            </a:pPr>
            <a:r>
              <a:rPr lang="zh-CN" altLang="en-US" dirty="0">
                <a:latin typeface="微软雅黑" panose="020B0503020204020204" pitchFamily="34" charset="-122"/>
                <a:ea typeface="微软雅黑" panose="020B0503020204020204" pitchFamily="34" charset="-122"/>
                <a:sym typeface="Wingdings" panose="05000000000000000000" pitchFamily="2" charset="2"/>
              </a:rPr>
              <a:t>增幅</a:t>
            </a:r>
            <a:r>
              <a:rPr lang="en-US" altLang="zh-CN" dirty="0">
                <a:latin typeface="微软雅黑" panose="020B0503020204020204" pitchFamily="34" charset="-122"/>
                <a:ea typeface="微软雅黑" panose="020B0503020204020204" pitchFamily="34" charset="-122"/>
                <a:sym typeface="Wingdings" panose="05000000000000000000" pitchFamily="2" charset="2"/>
              </a:rPr>
              <a:t>2.3%</a:t>
            </a:r>
            <a:r>
              <a:rPr lang="zh-CN" altLang="en-US" dirty="0">
                <a:latin typeface="微软雅黑" panose="020B0503020204020204" pitchFamily="34" charset="-122"/>
                <a:ea typeface="微软雅黑" panose="020B0503020204020204" pitchFamily="34" charset="-122"/>
                <a:sym typeface="Wingdings" panose="05000000000000000000" pitchFamily="2" charset="2"/>
              </a:rPr>
              <a:t>（较上月提升</a:t>
            </a:r>
            <a:r>
              <a:rPr lang="en-US" altLang="zh-CN" dirty="0">
                <a:latin typeface="微软雅黑" panose="020B0503020204020204" pitchFamily="34" charset="-122"/>
                <a:ea typeface="微软雅黑" panose="020B0503020204020204" pitchFamily="34" charset="-122"/>
                <a:sym typeface="Wingdings" panose="05000000000000000000" pitchFamily="2" charset="2"/>
              </a:rPr>
              <a:t>0.5</a:t>
            </a:r>
            <a:r>
              <a:rPr lang="zh-CN" altLang="en-US" dirty="0">
                <a:latin typeface="微软雅黑" panose="020B0503020204020204" pitchFamily="34" charset="-122"/>
                <a:ea typeface="微软雅黑" panose="020B0503020204020204" pitchFamily="34" charset="-122"/>
                <a:sym typeface="Wingdings" panose="05000000000000000000" pitchFamily="2" charset="2"/>
              </a:rPr>
              <a:t>个百分点）。</a:t>
            </a:r>
            <a:endParaRPr lang="zh-CN" altLang="en-US" dirty="0">
              <a:latin typeface="微软雅黑" panose="020B0503020204020204" pitchFamily="34" charset="-122"/>
              <a:ea typeface="微软雅黑" panose="020B0503020204020204" pitchFamily="34" charset="-122"/>
            </a:endParaRPr>
          </a:p>
        </p:txBody>
      </p:sp>
      <p:sp>
        <p:nvSpPr>
          <p:cNvPr id="9" name="圆角矩形 8"/>
          <p:cNvSpPr/>
          <p:nvPr/>
        </p:nvSpPr>
        <p:spPr>
          <a:xfrm>
            <a:off x="4314723" y="1439251"/>
            <a:ext cx="3228304" cy="572291"/>
          </a:xfrm>
          <a:prstGeom prst="roundRect">
            <a:avLst/>
          </a:prstGeom>
          <a:solidFill>
            <a:srgbClr val="E8432E"/>
          </a:solidFill>
          <a:ln>
            <a:noFill/>
          </a:ln>
        </p:spPr>
        <p:txBody>
          <a:bodyPr wrap="square" anchor="ctr">
            <a:noAutofit/>
          </a:bodyPr>
          <a:lstStyle/>
          <a:p>
            <a:pPr marL="107950" lvl="0" algn="ctr"/>
            <a:r>
              <a:rPr lang="en-US" altLang="zh-CN" sz="2400" b="1" dirty="0">
                <a:solidFill>
                  <a:schemeClr val="bg1"/>
                </a:solidFill>
                <a:latin typeface="微软雅黑" panose="020B0503020204020204" pitchFamily="34" charset="-122"/>
                <a:ea typeface="微软雅黑" panose="020B0503020204020204" pitchFamily="34" charset="-122"/>
                <a:sym typeface="+mn-ea"/>
              </a:rPr>
              <a:t>4）累计收入完成：</a:t>
            </a:r>
          </a:p>
        </p:txBody>
      </p:sp>
      <p:graphicFrame>
        <p:nvGraphicFramePr>
          <p:cNvPr id="7" name="表格 6"/>
          <p:cNvGraphicFramePr>
            <a:graphicFrameLocks noGrp="1"/>
          </p:cNvGraphicFramePr>
          <p:nvPr/>
        </p:nvGraphicFramePr>
        <p:xfrm>
          <a:off x="5631013" y="2846700"/>
          <a:ext cx="5646531" cy="2260935"/>
        </p:xfrm>
        <a:graphic>
          <a:graphicData uri="http://schemas.openxmlformats.org/drawingml/2006/table">
            <a:tbl>
              <a:tblPr>
                <a:tableStyleId>{21E4AEA4-8DFA-4A89-87EB-49C32662AFE0}</a:tableStyleId>
              </a:tblPr>
              <a:tblGrid>
                <a:gridCol w="1803401"/>
                <a:gridCol w="892662"/>
                <a:gridCol w="733733"/>
                <a:gridCol w="722378"/>
                <a:gridCol w="822583"/>
                <a:gridCol w="671774"/>
              </a:tblGrid>
              <a:tr h="904374">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项目</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累计</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完成</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预算</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进度</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缺口</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账面</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增幅</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可比</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增幅</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r>
              <a:tr h="452187">
                <a:tc>
                  <a:txBody>
                    <a:bodyPr/>
                    <a:lstStyle/>
                    <a:p>
                      <a:pPr marL="107950" algn="l" fontAlgn="ctr"/>
                      <a:r>
                        <a:rPr lang="zh-CN" altLang="en-US" sz="1400" u="none" strike="noStrike" kern="1200" dirty="0">
                          <a:latin typeface="微软雅黑" panose="020B0503020204020204" pitchFamily="34" charset="-122"/>
                          <a:ea typeface="微软雅黑" panose="020B0503020204020204" pitchFamily="34" charset="-122"/>
                        </a:rPr>
                        <a:t> 预算口径收入</a:t>
                      </a:r>
                      <a:endParaRPr lang="zh-CN" altLang="en-US" sz="14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0" marR="0" marT="0" marB="0" anchor="ctr">
                    <a:solidFill>
                      <a:schemeClr val="bg2"/>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26,826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32.6%</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-567.9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-4.7%</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2.3%</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52187">
                <a:tc>
                  <a:txBody>
                    <a:bodyPr/>
                    <a:lstStyle/>
                    <a:p>
                      <a:pPr marL="107950" algn="l" fontAlgn="ctr"/>
                      <a:r>
                        <a:rPr lang="zh-CN" altLang="en-US" sz="1400" u="none" strike="noStrike" dirty="0">
                          <a:latin typeface="微软雅黑" panose="020B0503020204020204" pitchFamily="34" charset="-122"/>
                          <a:ea typeface="微软雅黑" panose="020B0503020204020204" pitchFamily="34" charset="-122"/>
                        </a:rPr>
                        <a:t> 其中：云协同收入</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257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32.0%</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-10.4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-1.9%</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3.9%</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52187">
                <a:tc>
                  <a:txBody>
                    <a:bodyPr/>
                    <a:lstStyle/>
                    <a:p>
                      <a:pPr marL="107950" algn="l" fontAlgn="ctr"/>
                      <a:r>
                        <a:rPr lang="zh-CN" altLang="en-US" sz="1400" u="none" strike="noStrike" dirty="0">
                          <a:latin typeface="微软雅黑" panose="020B0503020204020204" pitchFamily="34" charset="-122"/>
                          <a:ea typeface="微软雅黑" panose="020B0503020204020204" pitchFamily="34" charset="-122"/>
                        </a:rPr>
                        <a:t> 其中：导航协同收入</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165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28.5%</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-28.0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0.2%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6.3%</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bl>
          </a:graphicData>
        </a:graphic>
      </p:graphicFrame>
      <p:sp>
        <p:nvSpPr>
          <p:cNvPr id="10" name="TextBox 3"/>
          <p:cNvSpPr txBox="1">
            <a:spLocks noChangeArrowheads="1"/>
          </p:cNvSpPr>
          <p:nvPr/>
        </p:nvSpPr>
        <p:spPr bwMode="auto">
          <a:xfrm>
            <a:off x="5627701" y="5367536"/>
            <a:ext cx="4258366" cy="305435"/>
          </a:xfrm>
          <a:prstGeom prst="rect">
            <a:avLst/>
          </a:prstGeom>
          <a:noFill/>
          <a:ln w="9525">
            <a:noFill/>
            <a:miter lim="800000"/>
          </a:ln>
        </p:spPr>
        <p:txBody>
          <a:bodyPr wrap="square" lIns="91391" tIns="45695" rIns="91391" bIns="45695">
            <a:spAutoFit/>
          </a:bodyPr>
          <a:lstStyle/>
          <a:p>
            <a:pPr>
              <a:buClr>
                <a:srgbClr val="72BFC5"/>
              </a:buClr>
            </a:pPr>
            <a:r>
              <a:rPr lang="zh-CN" altLang="en-US" sz="1400" dirty="0">
                <a:latin typeface="微软雅黑" panose="020B0503020204020204" pitchFamily="34" charset="-122"/>
                <a:ea typeface="微软雅黑" panose="020B0503020204020204" pitchFamily="34" charset="-122"/>
              </a:rPr>
              <a:t>注：为保持可比，同比及趋势图均采用可比口径。</a:t>
            </a:r>
          </a:p>
        </p:txBody>
      </p:sp>
      <p:sp>
        <p:nvSpPr>
          <p:cNvPr id="11" name="文本框 10"/>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1500"/>
                                  </p:stCondLst>
                                  <p:childTnLst>
                                    <p:animEffect transition="out" filter="fade">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bldLvl="0" animBg="1"/>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42436" y="395116"/>
            <a:ext cx="4297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收入结构及变化情况</a:t>
            </a:r>
          </a:p>
        </p:txBody>
      </p:sp>
      <p:graphicFrame>
        <p:nvGraphicFramePr>
          <p:cNvPr id="3" name="表格 2"/>
          <p:cNvGraphicFramePr>
            <a:graphicFrameLocks noGrp="1"/>
          </p:cNvGraphicFramePr>
          <p:nvPr/>
        </p:nvGraphicFramePr>
        <p:xfrm>
          <a:off x="1046921" y="1579764"/>
          <a:ext cx="10124663" cy="4688511"/>
        </p:xfrm>
        <a:graphic>
          <a:graphicData uri="http://schemas.openxmlformats.org/drawingml/2006/table">
            <a:tbl>
              <a:tblPr>
                <a:tableStyleId>{21E4AEA4-8DFA-4A89-87EB-49C32662AFE0}</a:tableStyleId>
              </a:tblPr>
              <a:tblGrid>
                <a:gridCol w="3878360"/>
                <a:gridCol w="2035311"/>
                <a:gridCol w="2140587"/>
                <a:gridCol w="2070405"/>
              </a:tblGrid>
              <a:tr h="448611">
                <a:tc>
                  <a:txBody>
                    <a:bodyPr/>
                    <a:lstStyle/>
                    <a:p>
                      <a:pPr marL="107950" algn="l" fontAlgn="ctr"/>
                      <a:r>
                        <a:rPr lang="zh-CN" altLang="en-US" sz="1800" b="1" u="none" strike="noStrike" dirty="0">
                          <a:solidFill>
                            <a:schemeClr val="bg1"/>
                          </a:solidFill>
                          <a:latin typeface="微软雅黑" panose="020B0503020204020204" pitchFamily="34" charset="-122"/>
                          <a:ea typeface="微软雅黑" panose="020B0503020204020204" pitchFamily="34" charset="-122"/>
                        </a:rPr>
                        <a:t> 业务</a:t>
                      </a:r>
                      <a:endParaRPr lang="zh-CN" altLang="en-US" sz="18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E8432E"/>
                    </a:solidFill>
                  </a:tcPr>
                </a:tc>
                <a:tc>
                  <a:txBody>
                    <a:bodyPr/>
                    <a:lstStyle/>
                    <a:p>
                      <a:pPr algn="ctr" fontAlgn="b"/>
                      <a:r>
                        <a:rPr lang="zh-CN" altLang="en-US" sz="1800" b="1" u="none" strike="noStrike" dirty="0">
                          <a:solidFill>
                            <a:schemeClr val="bg1"/>
                          </a:solidFill>
                          <a:latin typeface="微软雅黑" panose="020B0503020204020204" pitchFamily="34" charset="-122"/>
                          <a:ea typeface="微软雅黑" panose="020B0503020204020204" pitchFamily="34" charset="-122"/>
                        </a:rPr>
                        <a:t>同比增量</a:t>
                      </a:r>
                      <a:endParaRPr lang="zh-CN" altLang="en-US" sz="18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383F4E"/>
                    </a:solidFill>
                  </a:tcPr>
                </a:tc>
                <a:tc>
                  <a:txBody>
                    <a:bodyPr/>
                    <a:lstStyle/>
                    <a:p>
                      <a:pPr algn="ctr" fontAlgn="b"/>
                      <a:r>
                        <a:rPr lang="zh-CN" altLang="en-US" sz="1800" b="1" u="none" strike="noStrike" dirty="0">
                          <a:solidFill>
                            <a:schemeClr val="bg1"/>
                          </a:solidFill>
                          <a:latin typeface="微软雅黑" panose="020B0503020204020204" pitchFamily="34" charset="-122"/>
                          <a:ea typeface="微软雅黑" panose="020B0503020204020204" pitchFamily="34" charset="-122"/>
                        </a:rPr>
                        <a:t>同比增幅</a:t>
                      </a:r>
                      <a:endParaRPr lang="zh-CN" altLang="en-US" sz="18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E8432E"/>
                    </a:solidFill>
                  </a:tcPr>
                </a:tc>
                <a:tc>
                  <a:txBody>
                    <a:bodyPr/>
                    <a:lstStyle/>
                    <a:p>
                      <a:pPr algn="ctr" fontAlgn="b"/>
                      <a:r>
                        <a:rPr lang="zh-CN" altLang="en-US" sz="1800" b="1" u="none" strike="noStrike" dirty="0">
                          <a:solidFill>
                            <a:schemeClr val="bg1"/>
                          </a:solidFill>
                          <a:latin typeface="微软雅黑" panose="020B0503020204020204" pitchFamily="34" charset="-122"/>
                          <a:ea typeface="微软雅黑" panose="020B0503020204020204" pitchFamily="34" charset="-122"/>
                        </a:rPr>
                        <a:t>拉动</a:t>
                      </a:r>
                      <a:endParaRPr lang="zh-CN" altLang="en-US" sz="18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383F4E"/>
                    </a:solidFill>
                  </a:tcPr>
                </a:tc>
              </a:tr>
              <a:tr h="353325">
                <a:tc>
                  <a:txBody>
                    <a:bodyPr/>
                    <a:lstStyle/>
                    <a:p>
                      <a:pPr marL="393700" indent="-285750" algn="l" rtl="0" fontAlgn="ctr">
                        <a:buFont typeface="Wingdings" panose="05000000000000000000" pitchFamily="2" charset="2"/>
                        <a:buChar char="l"/>
                      </a:pPr>
                      <a:r>
                        <a:rPr lang="zh-CN" altLang="en-US" sz="1400" b="1" u="none" strike="noStrike" dirty="0">
                          <a:solidFill>
                            <a:schemeClr val="bg1"/>
                          </a:solidFill>
                          <a:latin typeface="微软雅黑" panose="020B0503020204020204" pitchFamily="34" charset="-122"/>
                          <a:ea typeface="微软雅黑" panose="020B0503020204020204" pitchFamily="34" charset="-122"/>
                        </a:rPr>
                        <a:t> 号码型业务 </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383F4E"/>
                    </a:solidFill>
                  </a:tcPr>
                </a:tc>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 </a:t>
                      </a:r>
                      <a:r>
                        <a:rPr lang="en-US" altLang="zh-CN" sz="1400" u="none" strike="noStrike" dirty="0">
                          <a:solidFill>
                            <a:schemeClr val="bg1"/>
                          </a:solidFill>
                          <a:latin typeface="微软雅黑" panose="020B0503020204020204" pitchFamily="34" charset="-122"/>
                          <a:ea typeface="微软雅黑" panose="020B0503020204020204" pitchFamily="34" charset="-122"/>
                        </a:rPr>
                        <a:t>573.2 </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383F4E"/>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2.4%</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383F4E"/>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2.13%</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383F4E"/>
                    </a:solidFill>
                  </a:tcPr>
                </a:tc>
              </a:tr>
              <a:tr h="353325">
                <a:tc>
                  <a:txBody>
                    <a:bodyPr/>
                    <a:lstStyle/>
                    <a:p>
                      <a:pPr marL="107950" algn="l" rtl="0" fontAlgn="ctr"/>
                      <a:r>
                        <a:rPr lang="zh-CN" altLang="en-US" sz="1400" u="none" strike="noStrike" dirty="0">
                          <a:latin typeface="微软雅黑" panose="020B0503020204020204" pitchFamily="34" charset="-122"/>
                          <a:ea typeface="微软雅黑" panose="020B0503020204020204" pitchFamily="34" charset="-122"/>
                        </a:rPr>
                        <a:t>   固定电话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-189.1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-6.6%</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-0.7%</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b"/>
                      <a:r>
                        <a:rPr lang="zh-CN" altLang="en-US" sz="1400" u="none" strike="noStrike" dirty="0">
                          <a:latin typeface="微软雅黑" panose="020B0503020204020204" pitchFamily="34" charset="-122"/>
                          <a:ea typeface="微软雅黑" panose="020B0503020204020204" pitchFamily="34" charset="-122"/>
                        </a:rPr>
                        <a:t>   移动电话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-147.3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a:latin typeface="微软雅黑" panose="020B0503020204020204" pitchFamily="34" charset="-122"/>
                          <a:ea typeface="微软雅黑" panose="020B0503020204020204" pitchFamily="34" charset="-122"/>
                        </a:rPr>
                        <a:t>-1.2%</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-0.5%</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b"/>
                      <a:r>
                        <a:rPr lang="zh-CN" altLang="en-US" sz="1400" u="none" strike="noStrike" kern="1200" dirty="0">
                          <a:latin typeface="微软雅黑" panose="020B0503020204020204" pitchFamily="34" charset="-122"/>
                          <a:ea typeface="微软雅黑" panose="020B0503020204020204" pitchFamily="34" charset="-122"/>
                        </a:rPr>
                        <a:t>   其中，流量收入</a:t>
                      </a:r>
                      <a:endParaRPr lang="zh-CN" altLang="en-US" sz="1400" b="1" u="none" strike="noStrike"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275.3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9.8%</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1.0%</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ctr"/>
                      <a:r>
                        <a:rPr lang="zh-CN" altLang="en-US" sz="1400" u="none" strike="noStrike" dirty="0">
                          <a:latin typeface="微软雅黑" panose="020B0503020204020204" pitchFamily="34" charset="-122"/>
                          <a:ea typeface="微软雅黑" panose="020B0503020204020204" pitchFamily="34" charset="-122"/>
                        </a:rPr>
                        <a:t>   固网宽带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996.8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12.2%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3.7%</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ctr"/>
                      <a:r>
                        <a:rPr lang="en-US" sz="1400" u="none" strike="noStrike" dirty="0">
                          <a:latin typeface="微软雅黑" panose="020B0503020204020204" pitchFamily="34" charset="-122"/>
                          <a:ea typeface="微软雅黑" panose="020B0503020204020204" pitchFamily="34" charset="-122"/>
                        </a:rPr>
                        <a:t>   ITV </a:t>
                      </a:r>
                      <a:endParaRPr 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-87.3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-9.7%</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-0.3%</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393700" indent="-285750" algn="l" rtl="0" fontAlgn="ctr">
                        <a:buFont typeface="Wingdings" panose="05000000000000000000" pitchFamily="2" charset="2"/>
                        <a:buChar char="l"/>
                      </a:pPr>
                      <a:r>
                        <a:rPr lang="zh-CN" altLang="en-US" sz="1400" u="none" strike="noStrike" dirty="0">
                          <a:solidFill>
                            <a:schemeClr val="bg1"/>
                          </a:solidFill>
                          <a:latin typeface="微软雅黑" panose="020B0503020204020204" pitchFamily="34" charset="-122"/>
                          <a:ea typeface="微软雅黑" panose="020B0503020204020204" pitchFamily="34" charset="-122"/>
                        </a:rPr>
                        <a:t> 非号码型业务 </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E8432E"/>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78.7 </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E8432E"/>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2.5%</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E8432E"/>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0.3%</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solidFill>
                      <a:srgbClr val="E8432E"/>
                    </a:solidFill>
                  </a:tcPr>
                </a:tc>
              </a:tr>
              <a:tr h="353325">
                <a:tc>
                  <a:txBody>
                    <a:bodyPr/>
                    <a:lstStyle/>
                    <a:p>
                      <a:pPr marL="107950" algn="l" rtl="0" fontAlgn="ctr"/>
                      <a:r>
                        <a:rPr lang="zh-CN" altLang="en-US" sz="1400" u="none" strike="noStrike" dirty="0">
                          <a:latin typeface="微软雅黑" panose="020B0503020204020204" pitchFamily="34" charset="-122"/>
                          <a:ea typeface="微软雅黑" panose="020B0503020204020204" pitchFamily="34" charset="-122"/>
                        </a:rPr>
                        <a:t>  资源出租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-40.5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-6.5%</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ctr"/>
                      <a:r>
                        <a:rPr lang="zh-CN" altLang="en-US" sz="1400" u="none" strike="noStrike" dirty="0">
                          <a:latin typeface="微软雅黑" panose="020B0503020204020204" pitchFamily="34" charset="-122"/>
                          <a:ea typeface="微软雅黑" panose="020B0503020204020204" pitchFamily="34" charset="-122"/>
                        </a:rPr>
                        <a:t>  号百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88.4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17.3%</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0.3%</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ctr"/>
                      <a:r>
                        <a:rPr lang="en-US" sz="1400" u="none" strike="noStrike" dirty="0">
                          <a:latin typeface="微软雅黑" panose="020B0503020204020204" pitchFamily="34" charset="-122"/>
                          <a:ea typeface="微软雅黑" panose="020B0503020204020204" pitchFamily="34" charset="-122"/>
                        </a:rPr>
                        <a:t>  IDC+</a:t>
                      </a:r>
                      <a:r>
                        <a:rPr lang="zh-CN" altLang="en-US" sz="1400" u="none" strike="noStrike" dirty="0">
                          <a:latin typeface="微软雅黑" panose="020B0503020204020204" pitchFamily="34" charset="-122"/>
                          <a:ea typeface="微软雅黑" panose="020B0503020204020204" pitchFamily="34" charset="-122"/>
                        </a:rPr>
                        <a:t>云业务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59.7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6.7%</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ctr"/>
                      <a:r>
                        <a:rPr lang="en-US" sz="1400" u="none" strike="noStrike" dirty="0">
                          <a:latin typeface="微软雅黑" panose="020B0503020204020204" pitchFamily="34" charset="-122"/>
                          <a:ea typeface="微软雅黑" panose="020B0503020204020204" pitchFamily="34" charset="-122"/>
                        </a:rPr>
                        <a:t>  ICT </a:t>
                      </a:r>
                      <a:endParaRPr 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20.3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0.1%</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r h="353325">
                <a:tc>
                  <a:txBody>
                    <a:bodyPr/>
                    <a:lstStyle/>
                    <a:p>
                      <a:pPr marL="107950" algn="l" rtl="0" fontAlgn="ctr"/>
                      <a:r>
                        <a:rPr lang="zh-CN" altLang="en-US" sz="1400" u="none" strike="noStrike" dirty="0">
                          <a:latin typeface="微软雅黑" panose="020B0503020204020204" pitchFamily="34" charset="-122"/>
                          <a:ea typeface="微软雅黑" panose="020B0503020204020204" pitchFamily="34" charset="-122"/>
                        </a:rPr>
                        <a:t>  其他收入 </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-49.2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-28.9%</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-0.2%</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9525" marR="9525" marT="9525" marB="0" anchor="ctr">
                    <a:solidFill>
                      <a:schemeClr val="bg1">
                        <a:lumMod val="85000"/>
                      </a:schemeClr>
                    </a:solidFill>
                  </a:tcPr>
                </a:tc>
              </a:tr>
            </a:tbl>
          </a:graphicData>
        </a:graphic>
      </p:graphicFrame>
      <p:sp>
        <p:nvSpPr>
          <p:cNvPr id="4" name="文本框 3"/>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150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a:xfrm>
            <a:off x="5349240" y="2047875"/>
            <a:ext cx="5831840" cy="2931795"/>
          </a:xfrm>
          <a:prstGeom prst="roundRect">
            <a:avLst/>
          </a:prstGeom>
          <a:solidFill>
            <a:schemeClr val="bg1">
              <a:lumMod val="95000"/>
            </a:schemeClr>
          </a:solidFill>
          <a:ln w="47625">
            <a:solidFill>
              <a:srgbClr val="383F4E"/>
            </a:solidFill>
          </a:ln>
        </p:spPr>
        <p:txBody>
          <a:bodyPr wrap="square" anchor="ctr">
            <a:noAutofit/>
          </a:bodyPr>
          <a:lstStyle/>
          <a:p>
            <a:pPr marL="342900" indent="-342900">
              <a:lnSpc>
                <a:spcPts val="2500"/>
              </a:lnSpc>
              <a:buAutoNum type="arabicPeriod"/>
            </a:pPr>
            <a:r>
              <a:rPr dirty="0">
                <a:latin typeface="微软雅黑" panose="020B0503020204020204" pitchFamily="34" charset="-122"/>
                <a:ea typeface="微软雅黑" panose="020B0503020204020204" pitchFamily="34" charset="-122"/>
                <a:sym typeface="Wingdings" panose="05000000000000000000" pitchFamily="2" charset="2"/>
              </a:rPr>
              <a:t>号码型业务：固网宽带拉动仍为主要驱动因素，其余的号码型业务均负同比、负拉动，但其中移动流量收入保持正向拉动（1.0%）。</a:t>
            </a:r>
          </a:p>
          <a:p>
            <a:pPr marL="342900" indent="-342900">
              <a:lnSpc>
                <a:spcPts val="2500"/>
              </a:lnSpc>
              <a:buAutoNum type="arabicPeriod"/>
            </a:pPr>
            <a:r>
              <a:rPr dirty="0">
                <a:latin typeface="微软雅黑" panose="020B0503020204020204" pitchFamily="34" charset="-122"/>
                <a:ea typeface="微软雅黑" panose="020B0503020204020204" pitchFamily="34" charset="-122"/>
                <a:sym typeface="Wingdings" panose="05000000000000000000" pitchFamily="2" charset="2"/>
              </a:rPr>
              <a:t>非号码型业务：号百业务的收入拉动效果逐步凸显。</a:t>
            </a:r>
          </a:p>
        </p:txBody>
      </p:sp>
      <p:sp>
        <p:nvSpPr>
          <p:cNvPr id="10" name="圆角矩形 9"/>
          <p:cNvSpPr/>
          <p:nvPr/>
        </p:nvSpPr>
        <p:spPr>
          <a:xfrm>
            <a:off x="596265" y="1673225"/>
            <a:ext cx="3710305" cy="3681095"/>
          </a:xfrm>
          <a:prstGeom prst="roundRect">
            <a:avLst/>
          </a:prstGeom>
          <a:solidFill>
            <a:schemeClr val="bg1">
              <a:lumMod val="95000"/>
            </a:schemeClr>
          </a:solidFill>
          <a:ln w="47625">
            <a:solidFill>
              <a:srgbClr val="E8432E"/>
            </a:solidFill>
          </a:ln>
        </p:spPr>
        <p:txBody>
          <a:bodyPr wrap="square" anchor="ctr">
            <a:noAutofit/>
          </a:bodyPr>
          <a:lstStyle/>
          <a:p>
            <a:pPr marL="342900" indent="-342900">
              <a:lnSpc>
                <a:spcPts val="2500"/>
              </a:lnSpc>
              <a:buAutoNum type="arabicPeriod"/>
            </a:pPr>
            <a:r>
              <a:rPr dirty="0">
                <a:latin typeface="微软雅黑" panose="020B0503020204020204" pitchFamily="34" charset="-122"/>
                <a:ea typeface="微软雅黑" panose="020B0503020204020204" pitchFamily="34" charset="-122"/>
                <a:sym typeface="Wingdings" panose="05000000000000000000" pitchFamily="2" charset="2"/>
              </a:rPr>
              <a:t>号码型和非号码型收入总体占比与上年同期持平。</a:t>
            </a:r>
          </a:p>
          <a:p>
            <a:pPr marL="342900" indent="-342900">
              <a:lnSpc>
                <a:spcPts val="2500"/>
              </a:lnSpc>
              <a:buAutoNum type="arabicPeriod"/>
            </a:pPr>
            <a:r>
              <a:rPr dirty="0">
                <a:latin typeface="微软雅黑" panose="020B0503020204020204" pitchFamily="34" charset="-122"/>
                <a:ea typeface="微软雅黑" panose="020B0503020204020204" pitchFamily="34" charset="-122"/>
                <a:sym typeface="Wingdings" panose="05000000000000000000" pitchFamily="2" charset="2"/>
              </a:rPr>
              <a:t>固网宽带收入占比较去年同期提升2.9%；移动电话下降1.6%，其中流量收入占比同比提升0.8%。</a:t>
            </a:r>
          </a:p>
        </p:txBody>
      </p:sp>
      <p:sp>
        <p:nvSpPr>
          <p:cNvPr id="2" name="矩形 1"/>
          <p:cNvSpPr/>
          <p:nvPr/>
        </p:nvSpPr>
        <p:spPr>
          <a:xfrm>
            <a:off x="1704361" y="395116"/>
            <a:ext cx="4297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收入结构及变化情况</a:t>
            </a:r>
          </a:p>
        </p:txBody>
      </p:sp>
      <p:sp>
        <p:nvSpPr>
          <p:cNvPr id="4" name="矩形 3"/>
          <p:cNvSpPr/>
          <p:nvPr/>
        </p:nvSpPr>
        <p:spPr bwMode="auto">
          <a:xfrm>
            <a:off x="6985" y="2548890"/>
            <a:ext cx="770255" cy="1929130"/>
          </a:xfrm>
          <a:prstGeom prst="rect">
            <a:avLst/>
          </a:prstGeom>
          <a:solidFill>
            <a:srgbClr val="E8432E"/>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fontAlgn="base">
              <a:spcBef>
                <a:spcPct val="0"/>
              </a:spcBef>
              <a:spcAft>
                <a:spcPct val="0"/>
              </a:spcAft>
            </a:pPr>
            <a:r>
              <a:rPr lang="zh-CN" altLang="en-US" sz="2400" dirty="0">
                <a:solidFill>
                  <a:schemeClr val="bg1"/>
                </a:solidFill>
                <a:latin typeface="微软雅黑" panose="020B0503020204020204" pitchFamily="34" charset="-122"/>
                <a:ea typeface="微软雅黑" panose="020B0503020204020204" pitchFamily="34" charset="-122"/>
              </a:rPr>
              <a:t>结构变化</a:t>
            </a:r>
          </a:p>
        </p:txBody>
      </p:sp>
      <p:sp>
        <p:nvSpPr>
          <p:cNvPr id="6" name="矩形 5"/>
          <p:cNvSpPr/>
          <p:nvPr/>
        </p:nvSpPr>
        <p:spPr bwMode="auto">
          <a:xfrm>
            <a:off x="5120640" y="1652270"/>
            <a:ext cx="699135" cy="3672205"/>
          </a:xfrm>
          <a:prstGeom prst="rect">
            <a:avLst/>
          </a:prstGeom>
          <a:solidFill>
            <a:srgbClr val="383F4E"/>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fontAlgn="base">
              <a:spcBef>
                <a:spcPct val="0"/>
              </a:spcBef>
              <a:spcAft>
                <a:spcPct val="0"/>
              </a:spcAft>
            </a:pPr>
            <a:r>
              <a:rPr lang="zh-CN" altLang="en-US" sz="2400" dirty="0">
                <a:solidFill>
                  <a:schemeClr val="bg1"/>
                </a:solidFill>
                <a:latin typeface="微软雅黑" panose="020B0503020204020204" pitchFamily="34" charset="-122"/>
                <a:ea typeface="微软雅黑" panose="020B0503020204020204" pitchFamily="34" charset="-122"/>
              </a:rPr>
              <a:t>收入增幅及拉动</a:t>
            </a:r>
          </a:p>
        </p:txBody>
      </p:sp>
      <p:sp>
        <p:nvSpPr>
          <p:cNvPr id="8" name="TextBox 13"/>
          <p:cNvSpPr txBox="1"/>
          <p:nvPr/>
        </p:nvSpPr>
        <p:spPr>
          <a:xfrm>
            <a:off x="2947035" y="5633720"/>
            <a:ext cx="7544435" cy="460375"/>
          </a:xfrm>
          <a:prstGeom prst="rect">
            <a:avLst/>
          </a:prstGeom>
          <a:noFill/>
        </p:spPr>
        <p:txBody>
          <a:bodyPr wrap="square" rtlCol="0">
            <a:spAutoFit/>
          </a:bodyPr>
          <a:lstStyle/>
          <a:p>
            <a:pPr>
              <a:lnSpc>
                <a:spcPct val="150000"/>
              </a:lnSpc>
            </a:pPr>
            <a:r>
              <a:rPr lang="zh-CN" altLang="en-US" sz="1600" dirty="0">
                <a:solidFill>
                  <a:schemeClr val="tx2"/>
                </a:solidFill>
                <a:latin typeface="微软雅黑" panose="020B0503020204020204" pitchFamily="34" charset="-122"/>
                <a:ea typeface="微软雅黑" panose="020B0503020204020204" pitchFamily="34" charset="-122"/>
              </a:rPr>
              <a:t>备注：为保持可 比，</a:t>
            </a:r>
            <a:r>
              <a:rPr lang="en-US" altLang="zh-CN" sz="1600" dirty="0">
                <a:solidFill>
                  <a:schemeClr val="tx2"/>
                </a:solidFill>
                <a:latin typeface="微软雅黑" panose="020B0503020204020204" pitchFamily="34" charset="-122"/>
                <a:ea typeface="微软雅黑" panose="020B0503020204020204" pitchFamily="34" charset="-122"/>
              </a:rPr>
              <a:t>2018</a:t>
            </a:r>
            <a:r>
              <a:rPr lang="zh-CN" altLang="en-US" sz="1600" dirty="0">
                <a:solidFill>
                  <a:schemeClr val="tx2"/>
                </a:solidFill>
                <a:latin typeface="微软雅黑" panose="020B0503020204020204" pitchFamily="34" charset="-122"/>
                <a:ea typeface="微软雅黑" panose="020B0503020204020204" pitchFamily="34" charset="-122"/>
              </a:rPr>
              <a:t>年沿用可比口径报表，剔除营改增影响。</a:t>
            </a:r>
          </a:p>
        </p:txBody>
      </p:sp>
      <p:sp>
        <p:nvSpPr>
          <p:cNvPr id="9" name="文本框 8"/>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1500"/>
                                  </p:stCondLst>
                                  <p:childTnLst>
                                    <p:animEffect transition="out" filter="fade">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par>
                                <p:cTn id="28" presetID="22" presetClass="entr" presetSubtype="1"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500"/>
                                        <p:tgtEl>
                                          <p:spTgt spid="1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0" grpId="0" bldLvl="0" animBg="1"/>
      <p:bldP spid="4" grpId="0" bldLvl="0" animBg="1"/>
      <p:bldP spid="6" grpId="0" bldLvl="0" animBg="1"/>
      <p:bldP spid="8" grpId="0"/>
      <p:bldP spid="9" grpId="0"/>
      <p:bldP spid="9"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62121" y="381146"/>
            <a:ext cx="56692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全省预算口径收入对标分析</a:t>
            </a:r>
          </a:p>
        </p:txBody>
      </p:sp>
      <p:graphicFrame>
        <p:nvGraphicFramePr>
          <p:cNvPr id="3" name="Chart 2"/>
          <p:cNvGraphicFramePr/>
          <p:nvPr/>
        </p:nvGraphicFramePr>
        <p:xfrm>
          <a:off x="1697335" y="1510747"/>
          <a:ext cx="8847147" cy="2981739"/>
        </p:xfrm>
        <a:graphic>
          <a:graphicData uri="http://schemas.openxmlformats.org/drawingml/2006/chart">
            <c:chart xmlns:c="http://schemas.openxmlformats.org/drawingml/2006/chart" xmlns:r="http://schemas.openxmlformats.org/officeDocument/2006/relationships" r:id="rId3"/>
          </a:graphicData>
        </a:graphic>
      </p:graphicFrame>
      <p:grpSp>
        <p:nvGrpSpPr>
          <p:cNvPr id="4" name="组合 3"/>
          <p:cNvGrpSpPr/>
          <p:nvPr/>
        </p:nvGrpSpPr>
        <p:grpSpPr>
          <a:xfrm>
            <a:off x="701040" y="1811020"/>
            <a:ext cx="1024890" cy="997401"/>
            <a:chOff x="484132" y="1866901"/>
            <a:chExt cx="806712" cy="812800"/>
          </a:xfrm>
        </p:grpSpPr>
        <p:sp>
          <p:nvSpPr>
            <p:cNvPr id="5" name="椭圆 4"/>
            <p:cNvSpPr/>
            <p:nvPr/>
          </p:nvSpPr>
          <p:spPr bwMode="auto">
            <a:xfrm>
              <a:off x="484132" y="1866901"/>
              <a:ext cx="806712" cy="812800"/>
            </a:xfrm>
            <a:prstGeom prst="ellipse">
              <a:avLst/>
            </a:prstGeom>
            <a:solidFill>
              <a:srgbClr val="383F4E"/>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6" name="TextBox 8"/>
            <p:cNvSpPr txBox="1">
              <a:spLocks noChangeArrowheads="1"/>
            </p:cNvSpPr>
            <p:nvPr/>
          </p:nvSpPr>
          <p:spPr bwMode="auto">
            <a:xfrm>
              <a:off x="539032" y="1896988"/>
              <a:ext cx="696912" cy="753505"/>
            </a:xfrm>
            <a:prstGeom prst="ellipse">
              <a:avLst/>
            </a:prstGeom>
            <a:noFill/>
            <a:ln w="9525">
              <a:noFill/>
              <a:miter lim="800000"/>
            </a:ln>
          </p:spPr>
          <p:txBody>
            <a:bodyPr>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完成进度</a:t>
              </a:r>
            </a:p>
          </p:txBody>
        </p:sp>
      </p:grpSp>
      <p:sp>
        <p:nvSpPr>
          <p:cNvPr id="7" name="矩形 5"/>
          <p:cNvSpPr>
            <a:spLocks noChangeArrowheads="1"/>
          </p:cNvSpPr>
          <p:nvPr/>
        </p:nvSpPr>
        <p:spPr bwMode="auto">
          <a:xfrm>
            <a:off x="1835411" y="4965353"/>
            <a:ext cx="8572072" cy="931836"/>
          </a:xfrm>
          <a:prstGeom prst="rect">
            <a:avLst/>
          </a:prstGeom>
          <a:noFill/>
          <a:ln w="9525">
            <a:noFill/>
            <a:miter lim="800000"/>
          </a:ln>
        </p:spPr>
        <p:txBody>
          <a:bodyPr wrap="square" anchor="ctr">
            <a:noAutofit/>
          </a:bodyPr>
          <a:lstStyle/>
          <a:p>
            <a:pPr>
              <a:lnSpc>
                <a:spcPct val="150000"/>
              </a:lnSpc>
            </a:pPr>
            <a:r>
              <a:rPr lang="zh-CN" altLang="en-US" sz="1600" dirty="0">
                <a:latin typeface="微软雅黑" panose="020B0503020204020204" pitchFamily="34" charset="-122"/>
                <a:ea typeface="微软雅黑" panose="020B0503020204020204" pitchFamily="34" charset="-122"/>
              </a:rPr>
              <a:t>仅山东预算完成超时序进度，我司完成</a:t>
            </a:r>
            <a:r>
              <a:rPr lang="en-US" altLang="zh-CN" sz="1600" dirty="0">
                <a:latin typeface="微软雅黑" panose="020B0503020204020204" pitchFamily="34" charset="-122"/>
                <a:ea typeface="微软雅黑" panose="020B0503020204020204" pitchFamily="34" charset="-122"/>
              </a:rPr>
              <a:t>32.64%</a:t>
            </a:r>
            <a:r>
              <a:rPr lang="zh-CN" altLang="en-US" sz="1600" dirty="0">
                <a:latin typeface="微软雅黑" panose="020B0503020204020204" pitchFamily="34" charset="-122"/>
                <a:ea typeface="微软雅黑" panose="020B0503020204020204" pitchFamily="34" charset="-122"/>
              </a:rPr>
              <a:t>，排名第二（上月第二），超九地市综合进度</a:t>
            </a:r>
            <a:r>
              <a:rPr lang="en-US" altLang="zh-CN" sz="1600" dirty="0">
                <a:latin typeface="微软雅黑" panose="020B0503020204020204" pitchFamily="34" charset="-122"/>
                <a:ea typeface="微软雅黑" panose="020B0503020204020204" pitchFamily="34" charset="-122"/>
              </a:rPr>
              <a:t>0.55%</a:t>
            </a:r>
            <a:r>
              <a:rPr lang="zh-CN" altLang="en-US" sz="1600" dirty="0">
                <a:latin typeface="微软雅黑" panose="020B0503020204020204" pitchFamily="34" charset="-122"/>
                <a:ea typeface="微软雅黑" panose="020B0503020204020204" pitchFamily="34" charset="-122"/>
              </a:rPr>
              <a:t>，可比增幅</a:t>
            </a:r>
            <a:r>
              <a:rPr lang="en-US" altLang="zh-CN" sz="1600" dirty="0">
                <a:latin typeface="微软雅黑" panose="020B0503020204020204" pitchFamily="34" charset="-122"/>
                <a:ea typeface="微软雅黑" panose="020B0503020204020204" pitchFamily="34" charset="-122"/>
              </a:rPr>
              <a:t>.34%</a:t>
            </a:r>
            <a:r>
              <a:rPr lang="zh-CN" altLang="en-US" sz="1600" dirty="0">
                <a:latin typeface="微软雅黑" panose="020B0503020204020204" pitchFamily="34" charset="-122"/>
                <a:ea typeface="微软雅黑" panose="020B0503020204020204" pitchFamily="34" charset="-122"/>
              </a:rPr>
              <a:t>，排名第二，仅次于山东（</a:t>
            </a:r>
            <a:r>
              <a:rPr lang="en-US" altLang="zh-CN" sz="1600" dirty="0">
                <a:latin typeface="微软雅黑" panose="020B0503020204020204" pitchFamily="34" charset="-122"/>
                <a:ea typeface="微软雅黑" panose="020B0503020204020204" pitchFamily="34" charset="-122"/>
              </a:rPr>
              <a:t>3.87%</a:t>
            </a:r>
            <a:r>
              <a:rPr lang="zh-CN" altLang="en-US" sz="1600" dirty="0">
                <a:latin typeface="微软雅黑" panose="020B0503020204020204" pitchFamily="34" charset="-122"/>
                <a:ea typeface="微软雅黑" panose="020B0503020204020204" pitchFamily="34" charset="-122"/>
              </a:rPr>
              <a:t>）。</a:t>
            </a:r>
          </a:p>
        </p:txBody>
      </p:sp>
      <p:grpSp>
        <p:nvGrpSpPr>
          <p:cNvPr id="8" name="组合 7"/>
          <p:cNvGrpSpPr/>
          <p:nvPr/>
        </p:nvGrpSpPr>
        <p:grpSpPr>
          <a:xfrm>
            <a:off x="10585600" y="1959665"/>
            <a:ext cx="975995" cy="968375"/>
            <a:chOff x="484132" y="1866901"/>
            <a:chExt cx="975995" cy="968375"/>
          </a:xfrm>
        </p:grpSpPr>
        <p:sp>
          <p:nvSpPr>
            <p:cNvPr id="9" name="椭圆 8"/>
            <p:cNvSpPr/>
            <p:nvPr/>
          </p:nvSpPr>
          <p:spPr bwMode="auto">
            <a:xfrm>
              <a:off x="484132" y="1866901"/>
              <a:ext cx="975995" cy="968375"/>
            </a:xfrm>
            <a:prstGeom prst="ellipse">
              <a:avLst/>
            </a:prstGeom>
            <a:solidFill>
              <a:srgbClr val="E8432E"/>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0" name="TextBox 8"/>
            <p:cNvSpPr txBox="1">
              <a:spLocks noChangeArrowheads="1"/>
            </p:cNvSpPr>
            <p:nvPr/>
          </p:nvSpPr>
          <p:spPr bwMode="auto">
            <a:xfrm>
              <a:off x="623487" y="2058829"/>
              <a:ext cx="696912" cy="584775"/>
            </a:xfrm>
            <a:prstGeom prst="rect">
              <a:avLst/>
            </a:prstGeom>
            <a:noFill/>
            <a:ln w="9525">
              <a:noFill/>
              <a:miter lim="800000"/>
            </a:ln>
          </p:spPr>
          <p:txBody>
            <a:bodyPr>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同比增幅</a:t>
              </a:r>
            </a:p>
          </p:txBody>
        </p:sp>
      </p:grpSp>
      <p:sp>
        <p:nvSpPr>
          <p:cNvPr id="11" name="文本框 10"/>
          <p:cNvSpPr txBox="1"/>
          <p:nvPr/>
        </p:nvSpPr>
        <p:spPr>
          <a:xfrm>
            <a:off x="898811" y="2928230"/>
            <a:ext cx="630555" cy="645160"/>
          </a:xfrm>
          <a:prstGeom prst="rect">
            <a:avLst/>
          </a:prstGeom>
          <a:noFill/>
        </p:spPr>
        <p:txBody>
          <a:bodyPr wrap="none" rtlCol="0">
            <a:spAutoFit/>
          </a:bodyPr>
          <a:lstStyle/>
          <a:p>
            <a:r>
              <a:rPr lang="zh-CN" altLang="en-US" sz="3600" dirty="0">
                <a:solidFill>
                  <a:schemeClr val="tx2"/>
                </a:solidFill>
                <a:sym typeface="Wingdings" panose="05000000000000000000" pitchFamily="2" charset="2"/>
              </a:rPr>
              <a:t></a:t>
            </a:r>
          </a:p>
        </p:txBody>
      </p:sp>
      <p:sp>
        <p:nvSpPr>
          <p:cNvPr id="12" name="文本框 11"/>
          <p:cNvSpPr txBox="1"/>
          <p:nvPr/>
        </p:nvSpPr>
        <p:spPr>
          <a:xfrm>
            <a:off x="10758373" y="2927754"/>
            <a:ext cx="630555" cy="645160"/>
          </a:xfrm>
          <a:prstGeom prst="rect">
            <a:avLst/>
          </a:prstGeom>
          <a:noFill/>
        </p:spPr>
        <p:txBody>
          <a:bodyPr wrap="none" rtlCol="0">
            <a:spAutoFit/>
          </a:bodyPr>
          <a:lstStyle/>
          <a:p>
            <a:r>
              <a:rPr lang="zh-CN" altLang="en-US" sz="3600" dirty="0">
                <a:solidFill>
                  <a:schemeClr val="tx2"/>
                </a:solidFill>
                <a:sym typeface="Wingdings" panose="05000000000000000000" pitchFamily="2" charset="2"/>
              </a:rPr>
              <a:t></a:t>
            </a:r>
          </a:p>
        </p:txBody>
      </p:sp>
      <p:sp>
        <p:nvSpPr>
          <p:cNvPr id="13" name="文本框 12"/>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1500"/>
                                  </p:stCondLst>
                                  <p:childTnLst>
                                    <p:animEffect transition="out" filter="fade">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7" grpId="0"/>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7526" y="395116"/>
            <a:ext cx="56692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全省预算口径收入对标分析</a:t>
            </a:r>
          </a:p>
        </p:txBody>
      </p:sp>
      <p:graphicFrame>
        <p:nvGraphicFramePr>
          <p:cNvPr id="3" name="表格 2"/>
          <p:cNvGraphicFramePr>
            <a:graphicFrameLocks noGrp="1"/>
          </p:cNvGraphicFramePr>
          <p:nvPr/>
        </p:nvGraphicFramePr>
        <p:xfrm>
          <a:off x="1126436" y="1673234"/>
          <a:ext cx="9992138" cy="4369756"/>
        </p:xfrm>
        <a:graphic>
          <a:graphicData uri="http://schemas.openxmlformats.org/drawingml/2006/table">
            <a:tbl>
              <a:tblPr>
                <a:tableStyleId>{21E4AEA4-8DFA-4A89-87EB-49C32662AFE0}</a:tableStyleId>
              </a:tblPr>
              <a:tblGrid>
                <a:gridCol w="772000"/>
                <a:gridCol w="947456"/>
                <a:gridCol w="1000090"/>
                <a:gridCol w="1039568"/>
                <a:gridCol w="894818"/>
                <a:gridCol w="877272"/>
                <a:gridCol w="881660"/>
                <a:gridCol w="894818"/>
                <a:gridCol w="868501"/>
                <a:gridCol w="973773"/>
                <a:gridCol w="842182"/>
              </a:tblGrid>
              <a:tr h="492739">
                <a:tc rowSpan="2">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地市</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预算</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gridSpan="2">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本月完成</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c gridSpan="3">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累计完成</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c hMerge="1">
                  <a:txBody>
                    <a:bodyPr/>
                    <a:lstStyle/>
                    <a:p>
                      <a:endParaRPr lang="zh-CN"/>
                    </a:p>
                  </a:txBody>
                  <a:tcPr/>
                </a:tc>
                <a:tc gridSpan="2">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与时序进度比</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c gridSpan="2">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可比增幅</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r>
              <a:tr h="631462">
                <a:tc vMerge="1">
                  <a:txBody>
                    <a:bodyPr/>
                    <a:lstStyle/>
                    <a:p>
                      <a:endParaRPr lang="zh-CN"/>
                    </a:p>
                  </a:txBody>
                  <a:tcPr/>
                </a:tc>
                <a:tc vMerge="1">
                  <a:txBody>
                    <a:bodyPr/>
                    <a:lstStyle/>
                    <a:p>
                      <a:endParaRPr lang="zh-CN"/>
                    </a:p>
                  </a:txBody>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本月实绩</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时序进度</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累计实绩</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进度</a:t>
                      </a:r>
                      <a:r>
                        <a:rPr lang="en-US" altLang="zh-CN" sz="1400" u="none" strike="noStrike" dirty="0">
                          <a:solidFill>
                            <a:schemeClr val="bg1"/>
                          </a:solidFill>
                          <a:latin typeface="微软雅黑" panose="020B0503020204020204" pitchFamily="34" charset="-122"/>
                          <a:ea typeface="微软雅黑" panose="020B0503020204020204" pitchFamily="34" charset="-122"/>
                        </a:rPr>
                        <a:t>%</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进度</a:t>
                      </a:r>
                      <a:br>
                        <a:rPr lang="zh-CN" altLang="en-US" sz="1400" u="none" strike="noStrike" dirty="0">
                          <a:solidFill>
                            <a:schemeClr val="bg1"/>
                          </a:solidFill>
                          <a:latin typeface="微软雅黑" panose="020B0503020204020204" pitchFamily="34" charset="-122"/>
                          <a:ea typeface="微软雅黑" panose="020B0503020204020204" pitchFamily="34" charset="-122"/>
                        </a:rPr>
                      </a:br>
                      <a:r>
                        <a:rPr lang="zh-CN" altLang="en-US" sz="1400" u="none" strike="noStrike" dirty="0">
                          <a:solidFill>
                            <a:schemeClr val="bg1"/>
                          </a:solidFill>
                          <a:latin typeface="微软雅黑" panose="020B0503020204020204" pitchFamily="34" charset="-122"/>
                          <a:ea typeface="微软雅黑" panose="020B0503020204020204" pitchFamily="34" charset="-122"/>
                        </a:rPr>
                        <a:t>排名</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绝对量</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相对量</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增幅</a:t>
                      </a:r>
                      <a:r>
                        <a:rPr lang="en-US" altLang="zh-CN" sz="1400" u="none" strike="noStrike" dirty="0">
                          <a:solidFill>
                            <a:schemeClr val="bg1"/>
                          </a:solidFill>
                          <a:latin typeface="微软雅黑" panose="020B0503020204020204" pitchFamily="34" charset="-122"/>
                          <a:ea typeface="微软雅黑" panose="020B0503020204020204" pitchFamily="34" charset="-122"/>
                        </a:rPr>
                        <a:t>%</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增速</a:t>
                      </a:r>
                      <a:br>
                        <a:rPr lang="zh-CN" altLang="en-US" sz="1400" u="none" strike="noStrike" dirty="0">
                          <a:solidFill>
                            <a:schemeClr val="bg1"/>
                          </a:solidFill>
                          <a:latin typeface="微软雅黑" panose="020B0503020204020204" pitchFamily="34" charset="-122"/>
                          <a:ea typeface="微软雅黑" panose="020B0503020204020204" pitchFamily="34" charset="-122"/>
                        </a:rPr>
                      </a:br>
                      <a:r>
                        <a:rPr lang="zh-CN" altLang="en-US" sz="1400" u="none" strike="noStrike" dirty="0">
                          <a:solidFill>
                            <a:schemeClr val="bg1"/>
                          </a:solidFill>
                          <a:latin typeface="微软雅黑" panose="020B0503020204020204" pitchFamily="34" charset="-122"/>
                          <a:ea typeface="微软雅黑" panose="020B0503020204020204" pitchFamily="34" charset="-122"/>
                        </a:rPr>
                        <a:t>排名</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上海</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316619</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25646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8.10%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101016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31.90%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6</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-4524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-1.43%</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-0.80%</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4</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深圳</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230180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18708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8.13%</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73096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31.76%</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7</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-3631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-1.58%</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-1.78%</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6</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宁德</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79770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5910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7.41%</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25466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31.92%</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5</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-1124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-1.41%</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-2.14%</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7</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某某</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82181</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6553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7.97%</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26826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32.64%</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2</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-568</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-0.69%</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2.34%</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2</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新疆</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329410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26495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8.04%</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106654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32.38%</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3</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-3149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-0.96%</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-1.24%</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5</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福建</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115223</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9322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8.09%</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37102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32.20%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4</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-1306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-1.13%</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-0.22%</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广东</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59480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4394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7.39%</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18663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31.38%</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8</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-1164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-1.96%</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-2.61%</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8</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大连</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60166</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4389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7.29%</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18614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30.94%</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9</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-1441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-2.40%</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-3.06%</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9</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315731">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山东</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66621</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5556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8.34%</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22468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33.72%</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a:latin typeface="微软雅黑" panose="020B0503020204020204" pitchFamily="34" charset="-122"/>
                          <a:ea typeface="微软雅黑" panose="020B0503020204020204" pitchFamily="34" charset="-122"/>
                        </a:rPr>
                        <a:t>1</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261 </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a:latin typeface="微软雅黑" panose="020B0503020204020204" pitchFamily="34" charset="-122"/>
                          <a:ea typeface="微软雅黑" panose="020B0503020204020204" pitchFamily="34" charset="-122"/>
                        </a:rPr>
                        <a:t>0.39%</a:t>
                      </a:r>
                      <a:endParaRPr lang="en-US" altLang="zh-CN" sz="12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3.87%</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r h="403976">
                <a:tc>
                  <a:txBody>
                    <a:bodyPr/>
                    <a:lstStyle/>
                    <a:p>
                      <a:pPr algn="ctr" fontAlgn="ctr"/>
                      <a:r>
                        <a:rPr lang="zh-CN" altLang="en-US" sz="1200" u="none" strike="noStrike" dirty="0">
                          <a:solidFill>
                            <a:schemeClr val="bg1"/>
                          </a:solidFill>
                          <a:latin typeface="微软雅黑" panose="020B0503020204020204" pitchFamily="34" charset="-122"/>
                          <a:ea typeface="微软雅黑" panose="020B0503020204020204" pitchFamily="34" charset="-122"/>
                        </a:rPr>
                        <a:t>九地市</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1339650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106973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7.99%</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429905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32.09%</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zh-CN" altLang="en-US" sz="1200" u="none" strike="noStrike" dirty="0">
                          <a:latin typeface="微软雅黑" panose="020B0503020204020204" pitchFamily="34" charset="-122"/>
                          <a:ea typeface="微软雅黑" panose="020B0503020204020204" pitchFamily="34" charset="-122"/>
                        </a:rPr>
                        <a:t>　</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ctr"/>
                      <a:r>
                        <a:rPr lang="en-US" altLang="zh-CN" sz="1200" u="none" strike="noStrike" dirty="0">
                          <a:latin typeface="微软雅黑" panose="020B0503020204020204" pitchFamily="34" charset="-122"/>
                          <a:ea typeface="微软雅黑" panose="020B0503020204020204" pitchFamily="34" charset="-122"/>
                        </a:rPr>
                        <a:t>-16645 </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-1.24%</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en-US" altLang="zh-CN" sz="1200" u="none" strike="noStrike" dirty="0">
                          <a:latin typeface="微软雅黑" panose="020B0503020204020204" pitchFamily="34" charset="-122"/>
                          <a:ea typeface="微软雅黑" panose="020B0503020204020204" pitchFamily="34" charset="-122"/>
                        </a:rPr>
                        <a:t>-0.87%</a:t>
                      </a:r>
                      <a:endParaRPr lang="en-US" altLang="zh-CN"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c>
                  <a:txBody>
                    <a:bodyPr/>
                    <a:lstStyle/>
                    <a:p>
                      <a:pPr algn="ctr" fontAlgn="b"/>
                      <a:r>
                        <a:rPr lang="zh-CN" altLang="en-US" sz="1200" u="none" strike="noStrike" dirty="0">
                          <a:latin typeface="微软雅黑" panose="020B0503020204020204" pitchFamily="34" charset="-122"/>
                          <a:ea typeface="微软雅黑" panose="020B0503020204020204" pitchFamily="34" charset="-122"/>
                        </a:rPr>
                        <a:t>　</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2"/>
                    </a:solidFill>
                  </a:tcPr>
                </a:tc>
              </a:tr>
            </a:tbl>
          </a:graphicData>
        </a:graphic>
      </p:graphicFrame>
      <p:sp>
        <p:nvSpPr>
          <p:cNvPr id="4" name="TextBox 13"/>
          <p:cNvSpPr txBox="1"/>
          <p:nvPr/>
        </p:nvSpPr>
        <p:spPr>
          <a:xfrm>
            <a:off x="10063068" y="1353083"/>
            <a:ext cx="1071570" cy="275590"/>
          </a:xfrm>
          <a:prstGeom prst="rect">
            <a:avLst/>
          </a:prstGeom>
          <a:noFill/>
        </p:spPr>
        <p:txBody>
          <a:bodyPr wrap="square" rtlCol="0">
            <a:spAutoFit/>
          </a:bodyPr>
          <a:lstStyle/>
          <a:p>
            <a:pPr algn="r"/>
            <a:r>
              <a:rPr lang="zh-CN" altLang="en-US" sz="1200" dirty="0">
                <a:latin typeface="微软雅黑" panose="020B0503020204020204" pitchFamily="34" charset="-122"/>
                <a:ea typeface="微软雅黑" panose="020B0503020204020204" pitchFamily="34" charset="-122"/>
              </a:rPr>
              <a:t>单位：万元</a:t>
            </a:r>
          </a:p>
        </p:txBody>
      </p:sp>
      <p:sp>
        <p:nvSpPr>
          <p:cNvPr id="5" name="文本框 4"/>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150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134639" y="1439345"/>
            <a:ext cx="3544400" cy="737235"/>
          </a:xfrm>
          <a:prstGeom prst="rect">
            <a:avLst/>
          </a:prstGeom>
        </p:spPr>
        <p:txBody>
          <a:bodyPr wrap="square">
            <a:spAutoFit/>
          </a:bodyPr>
          <a:lstStyle/>
          <a:p>
            <a:pPr>
              <a:lnSpc>
                <a:spcPct val="150000"/>
              </a:lnSpc>
            </a:pPr>
            <a:r>
              <a:rPr lang="zh-CN" altLang="en-US" sz="1400" dirty="0">
                <a:solidFill>
                  <a:srgbClr val="333333"/>
                </a:solidFill>
                <a:latin typeface="微软雅黑" panose="020B0503020204020204" pitchFamily="34" charset="-122"/>
                <a:ea typeface="微软雅黑" panose="020B0503020204020204" pitchFamily="34" charset="-122"/>
              </a:rPr>
              <a:t>本公司是一家处于创始阶段处于高赢利发展阶段商品增值转卖</a:t>
            </a:r>
            <a:r>
              <a:rPr lang="en-US" altLang="zh-CN" sz="1400" dirty="0">
                <a:solidFill>
                  <a:srgbClr val="333333"/>
                </a:solidFill>
                <a:latin typeface="微软雅黑" panose="020B0503020204020204" pitchFamily="34" charset="-122"/>
                <a:ea typeface="微软雅黑" panose="020B0503020204020204" pitchFamily="34" charset="-122"/>
              </a:rPr>
              <a:t>]</a:t>
            </a:r>
            <a:r>
              <a:rPr lang="zh-CN" altLang="en-US" sz="1400" dirty="0">
                <a:solidFill>
                  <a:srgbClr val="333333"/>
                </a:solidFill>
                <a:latin typeface="微软雅黑" panose="020B0503020204020204" pitchFamily="34" charset="-122"/>
                <a:ea typeface="微软雅黑" panose="020B0503020204020204" pitchFamily="34" charset="-122"/>
              </a:rPr>
              <a:t>的公司</a:t>
            </a:r>
            <a:endParaRPr lang="zh-CN" altLang="en-US" sz="1400" dirty="0"/>
          </a:p>
        </p:txBody>
      </p:sp>
      <p:sp>
        <p:nvSpPr>
          <p:cNvPr id="29" name="矩形 28"/>
          <p:cNvSpPr/>
          <p:nvPr/>
        </p:nvSpPr>
        <p:spPr>
          <a:xfrm>
            <a:off x="4503949" y="1439697"/>
            <a:ext cx="3544400" cy="737235"/>
          </a:xfrm>
          <a:prstGeom prst="rect">
            <a:avLst/>
          </a:prstGeom>
        </p:spPr>
        <p:txBody>
          <a:bodyPr wrap="square">
            <a:spAutoFit/>
          </a:bodyPr>
          <a:lstStyle/>
          <a:p>
            <a:pPr>
              <a:lnSpc>
                <a:spcPct val="150000"/>
              </a:lnSpc>
            </a:pPr>
            <a:r>
              <a:rPr lang="zh-CN" altLang="en-US" sz="1400" dirty="0">
                <a:solidFill>
                  <a:srgbClr val="333333"/>
                </a:solidFill>
                <a:latin typeface="微软雅黑" panose="020B0503020204020204" pitchFamily="34" charset="-122"/>
                <a:ea typeface="微软雅黑" panose="020B0503020204020204" pitchFamily="34" charset="-122"/>
              </a:rPr>
              <a:t>本公司是一家处于创始阶段处于高赢利发展阶段商品增值转卖</a:t>
            </a:r>
            <a:r>
              <a:rPr lang="en-US" altLang="zh-CN" sz="1400" dirty="0">
                <a:solidFill>
                  <a:srgbClr val="333333"/>
                </a:solidFill>
                <a:latin typeface="微软雅黑" panose="020B0503020204020204" pitchFamily="34" charset="-122"/>
                <a:ea typeface="微软雅黑" panose="020B0503020204020204" pitchFamily="34" charset="-122"/>
              </a:rPr>
              <a:t>]</a:t>
            </a:r>
            <a:r>
              <a:rPr lang="zh-CN" altLang="en-US" sz="1400" dirty="0">
                <a:solidFill>
                  <a:srgbClr val="333333"/>
                </a:solidFill>
                <a:latin typeface="微软雅黑" panose="020B0503020204020204" pitchFamily="34" charset="-122"/>
                <a:ea typeface="微软雅黑" panose="020B0503020204020204" pitchFamily="34" charset="-122"/>
              </a:rPr>
              <a:t>的公司</a:t>
            </a:r>
            <a:endParaRPr lang="zh-CN" altLang="en-US" sz="1400" dirty="0"/>
          </a:p>
        </p:txBody>
      </p:sp>
      <p:sp>
        <p:nvSpPr>
          <p:cNvPr id="38" name="文本框 37"/>
          <p:cNvSpPr txBox="1"/>
          <p:nvPr/>
        </p:nvSpPr>
        <p:spPr>
          <a:xfrm>
            <a:off x="12097184" y="6035007"/>
            <a:ext cx="240665" cy="368300"/>
          </a:xfrm>
          <a:prstGeom prst="rect">
            <a:avLst/>
          </a:prstGeom>
          <a:noFill/>
        </p:spPr>
        <p:txBody>
          <a:bodyPr wrap="none" rtlCol="0">
            <a:spAutoFit/>
          </a:bodyPr>
          <a:lstStyle/>
          <a:p>
            <a:r>
              <a:rPr lang="en-US" altLang="zh-CN" dirty="0"/>
              <a:t>.</a:t>
            </a:r>
            <a:endParaRPr lang="zh-CN" altLang="en-US" dirty="0"/>
          </a:p>
        </p:txBody>
      </p:sp>
      <p:sp>
        <p:nvSpPr>
          <p:cNvPr id="42" name="矩形 41"/>
          <p:cNvSpPr/>
          <p:nvPr/>
        </p:nvSpPr>
        <p:spPr>
          <a:xfrm>
            <a:off x="1613556" y="366541"/>
            <a:ext cx="4297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渠道建设与开发状况</a:t>
            </a:r>
          </a:p>
        </p:txBody>
      </p:sp>
      <p:sp>
        <p:nvSpPr>
          <p:cNvPr id="2" name="AutoShape 2"/>
          <p:cNvSpPr/>
          <p:nvPr/>
        </p:nvSpPr>
        <p:spPr bwMode="auto">
          <a:xfrm>
            <a:off x="1002824" y="4464685"/>
            <a:ext cx="3395663" cy="19065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0" y="0"/>
                </a:lnTo>
                <a:lnTo>
                  <a:pt x="21599" y="0"/>
                </a:lnTo>
                <a:lnTo>
                  <a:pt x="21599" y="21599"/>
                </a:lnTo>
                <a:lnTo>
                  <a:pt x="0" y="21599"/>
                </a:lnTo>
                <a:close/>
              </a:path>
            </a:pathLst>
          </a:custGeom>
          <a:solidFill>
            <a:schemeClr val="accent3"/>
          </a:solidFill>
          <a:ln>
            <a:noFill/>
          </a:ln>
          <a:effectLst/>
        </p:spPr>
        <p:txBody>
          <a:bodyPr lIns="0" tIns="0" rIns="0" bIns="0" anchor="ctr"/>
          <a:lstStyle/>
          <a:p>
            <a:pPr marL="0" lvl="0" algn="l" defTabSz="914400" rtl="0" eaLnBrk="1" latinLnBrk="0">
              <a:lnSpc>
                <a:spcPct val="150000"/>
              </a:lnSpc>
            </a:pPr>
            <a:endParaRPr kumimoji="0" lang="es-ES" sz="1600" b="0" i="0" u="none" strike="noStrike" kern="1200" cap="none" spc="0" normalizeH="0" baseline="0" noProof="0">
              <a:ln>
                <a:noFill/>
              </a:ln>
              <a:solidFill>
                <a:srgbClr val="FFFFFF"/>
              </a:solidFill>
              <a:effectLst/>
              <a:uLnTx/>
              <a:uFillTx/>
              <a:latin typeface="Calibri" panose="020F0502020204030204"/>
              <a:ea typeface="+mn-ea"/>
              <a:cs typeface="+mn-cs"/>
              <a:sym typeface="+mn-lt"/>
            </a:endParaRPr>
          </a:p>
        </p:txBody>
      </p:sp>
      <p:sp>
        <p:nvSpPr>
          <p:cNvPr id="6" name="AutoShape 12" descr="image.jpg"/>
          <p:cNvSpPr/>
          <p:nvPr/>
        </p:nvSpPr>
        <p:spPr bwMode="auto">
          <a:xfrm>
            <a:off x="1002824" y="2616042"/>
            <a:ext cx="3395663" cy="1851025"/>
          </a:xfrm>
          <a:prstGeom prst="roundRect">
            <a:avLst>
              <a:gd name="adj" fmla="val 0"/>
            </a:avLst>
          </a:prstGeom>
          <a:blipFill dpi="0" rotWithShape="0">
            <a:blip r:embed="rId3"/>
            <a:srcRect/>
            <a:stretch>
              <a:fillRect/>
            </a:stretch>
          </a:blip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7" name="AutoShape 13"/>
          <p:cNvSpPr/>
          <p:nvPr/>
        </p:nvSpPr>
        <p:spPr bwMode="auto">
          <a:xfrm>
            <a:off x="4679474" y="2804160"/>
            <a:ext cx="254000" cy="254000"/>
          </a:xfrm>
          <a:prstGeom prst="roundRect">
            <a:avLst>
              <a:gd name="adj" fmla="val 20667"/>
            </a:avLst>
          </a:prstGeom>
          <a:solidFill>
            <a:srgbClr val="383F4E"/>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eaLnBrk="0">
              <a:defRPr sz="5000">
                <a:solidFill>
                  <a:srgbClr val="000000"/>
                </a:solidFill>
                <a:latin typeface="Helvetica Light" charset="0"/>
                <a:ea typeface="MS PGothic" panose="020B0600070205080204" pitchFamily="34" charset="-128"/>
                <a:sym typeface="Helvetica Light" charset="0"/>
              </a:defRPr>
            </a:lvl1pPr>
            <a:lvl2pPr marL="742950" indent="-285750" eaLnBrk="0">
              <a:defRPr sz="5000">
                <a:solidFill>
                  <a:srgbClr val="000000"/>
                </a:solidFill>
                <a:latin typeface="Helvetica Light" charset="0"/>
                <a:ea typeface="MS PGothic" panose="020B0600070205080204" pitchFamily="34" charset="-128"/>
                <a:sym typeface="Helvetica Light" charset="0"/>
              </a:defRPr>
            </a:lvl2pPr>
            <a:lvl3pPr marL="1143000" indent="-228600" eaLnBrk="0">
              <a:defRPr sz="5000">
                <a:solidFill>
                  <a:srgbClr val="000000"/>
                </a:solidFill>
                <a:latin typeface="Helvetica Light" charset="0"/>
                <a:ea typeface="MS PGothic" panose="020B0600070205080204" pitchFamily="34" charset="-128"/>
                <a:sym typeface="Helvetica Light" charset="0"/>
              </a:defRPr>
            </a:lvl3pPr>
            <a:lvl4pPr marL="1600200" indent="-228600" eaLnBrk="0">
              <a:defRPr sz="5000">
                <a:solidFill>
                  <a:srgbClr val="000000"/>
                </a:solidFill>
                <a:latin typeface="Helvetica Light" charset="0"/>
                <a:ea typeface="MS PGothic" panose="020B0600070205080204" pitchFamily="34" charset="-128"/>
                <a:sym typeface="Helvetica Light" charset="0"/>
              </a:defRPr>
            </a:lvl4pPr>
            <a:lvl5pPr marL="2057400" indent="-228600" eaLnBrk="0">
              <a:defRPr sz="5000">
                <a:solidFill>
                  <a:srgbClr val="000000"/>
                </a:solidFill>
                <a:latin typeface="Helvetica Light" charset="0"/>
                <a:ea typeface="MS PGothic" panose="020B0600070205080204" pitchFamily="34" charset="-128"/>
                <a:sym typeface="Helvetica Light" charset="0"/>
              </a:defRPr>
            </a:lvl5pPr>
            <a:lvl6pPr marL="25146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6pPr>
            <a:lvl7pPr marL="29718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7pPr>
            <a:lvl8pPr marL="34290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8pPr>
            <a:lvl9pPr marL="38862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9pP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zh-CN" sz="16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ea"/>
              <a:sym typeface="+mn-lt"/>
            </a:endParaRPr>
          </a:p>
        </p:txBody>
      </p:sp>
      <p:sp>
        <p:nvSpPr>
          <p:cNvPr id="8" name="AutoShape 15"/>
          <p:cNvSpPr/>
          <p:nvPr/>
        </p:nvSpPr>
        <p:spPr bwMode="auto">
          <a:xfrm>
            <a:off x="4679474" y="3208179"/>
            <a:ext cx="254000" cy="254000"/>
          </a:xfrm>
          <a:prstGeom prst="roundRect">
            <a:avLst>
              <a:gd name="adj" fmla="val 20667"/>
            </a:avLst>
          </a:prstGeom>
          <a:solidFill>
            <a:schemeClr val="accent3"/>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9" name="AutoShape 17"/>
          <p:cNvSpPr/>
          <p:nvPr/>
        </p:nvSpPr>
        <p:spPr bwMode="auto">
          <a:xfrm>
            <a:off x="4679474" y="3621723"/>
            <a:ext cx="254000" cy="254000"/>
          </a:xfrm>
          <a:prstGeom prst="roundRect">
            <a:avLst>
              <a:gd name="adj" fmla="val 20667"/>
            </a:avLst>
          </a:prstGeom>
          <a:solidFill>
            <a:srgbClr val="E8432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10" name="AutoShape 19"/>
          <p:cNvSpPr/>
          <p:nvPr/>
        </p:nvSpPr>
        <p:spPr bwMode="auto">
          <a:xfrm>
            <a:off x="4679474" y="4047173"/>
            <a:ext cx="254000" cy="254000"/>
          </a:xfrm>
          <a:prstGeom prst="roundRect">
            <a:avLst>
              <a:gd name="adj" fmla="val 20667"/>
            </a:avLst>
          </a:prstGeom>
          <a:solidFill>
            <a:srgbClr val="383F4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11" name="AutoShape 21"/>
          <p:cNvSpPr/>
          <p:nvPr/>
        </p:nvSpPr>
        <p:spPr bwMode="auto">
          <a:xfrm>
            <a:off x="5060474" y="2880360"/>
            <a:ext cx="2432050" cy="166688"/>
          </a:xfrm>
          <a:custGeom>
            <a:avLst/>
            <a:gdLst>
              <a:gd name="T0" fmla="*/ 2432050 w 21600"/>
              <a:gd name="T1" fmla="*/ 166688 h 21600"/>
              <a:gd name="T2" fmla="*/ 2432050 w 21600"/>
              <a:gd name="T3" fmla="*/ 166688 h 21600"/>
              <a:gd name="T4" fmla="*/ 2432050 w 21600"/>
              <a:gd name="T5" fmla="*/ 166688 h 21600"/>
              <a:gd name="T6" fmla="*/ 2432050 w 21600"/>
              <a:gd name="T7" fmla="*/ 16668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234"/>
                </a:moveTo>
                <a:lnTo>
                  <a:pt x="0" y="7365"/>
                </a:lnTo>
                <a:cubicBezTo>
                  <a:pt x="0" y="3297"/>
                  <a:pt x="226" y="0"/>
                  <a:pt x="506" y="0"/>
                </a:cubicBezTo>
                <a:lnTo>
                  <a:pt x="21093" y="0"/>
                </a:lnTo>
                <a:cubicBezTo>
                  <a:pt x="21373" y="0"/>
                  <a:pt x="21599" y="3297"/>
                  <a:pt x="21599" y="7365"/>
                </a:cubicBezTo>
                <a:lnTo>
                  <a:pt x="21599" y="14234"/>
                </a:lnTo>
                <a:cubicBezTo>
                  <a:pt x="21599" y="18302"/>
                  <a:pt x="21373" y="21600"/>
                  <a:pt x="21093" y="21600"/>
                </a:cubicBezTo>
                <a:lnTo>
                  <a:pt x="506" y="21600"/>
                </a:lnTo>
                <a:cubicBezTo>
                  <a:pt x="226" y="21600"/>
                  <a:pt x="0" y="18302"/>
                  <a:pt x="0" y="14234"/>
                </a:cubicBezTo>
                <a:close/>
              </a:path>
            </a:pathLst>
          </a:custGeom>
          <a:solidFill>
            <a:srgbClr val="DFDFDF"/>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39" name="AutoShape 22"/>
          <p:cNvSpPr/>
          <p:nvPr/>
        </p:nvSpPr>
        <p:spPr bwMode="auto">
          <a:xfrm>
            <a:off x="5054124" y="2880360"/>
            <a:ext cx="2032000" cy="166688"/>
          </a:xfrm>
          <a:custGeom>
            <a:avLst/>
            <a:gdLst>
              <a:gd name="T0" fmla="*/ 382317037 w 21600"/>
              <a:gd name="T1" fmla="*/ 2572667 h 21600"/>
              <a:gd name="T2" fmla="*/ 382317037 w 21600"/>
              <a:gd name="T3" fmla="*/ 2572667 h 21600"/>
              <a:gd name="T4" fmla="*/ 382317037 w 21600"/>
              <a:gd name="T5" fmla="*/ 2572667 h 21600"/>
              <a:gd name="T6" fmla="*/ 382317037 w 21600"/>
              <a:gd name="T7" fmla="*/ 257266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0" y="21600"/>
                </a:lnTo>
                <a:lnTo>
                  <a:pt x="20781" y="21600"/>
                </a:lnTo>
                <a:lnTo>
                  <a:pt x="20781" y="20267"/>
                </a:lnTo>
                <a:lnTo>
                  <a:pt x="21599" y="10659"/>
                </a:lnTo>
                <a:lnTo>
                  <a:pt x="20781" y="1050"/>
                </a:lnTo>
                <a:lnTo>
                  <a:pt x="20781" y="0"/>
                </a:lnTo>
                <a:lnTo>
                  <a:pt x="0" y="0"/>
                </a:lnTo>
                <a:close/>
              </a:path>
            </a:pathLst>
          </a:custGeom>
          <a:solidFill>
            <a:srgbClr val="383F4E"/>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40" name="AutoShape 23"/>
          <p:cNvSpPr/>
          <p:nvPr/>
        </p:nvSpPr>
        <p:spPr bwMode="auto">
          <a:xfrm>
            <a:off x="5047774" y="2687479"/>
            <a:ext cx="2106613"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120000"/>
              </a:lnSpc>
              <a:spcBef>
                <a:spcPts val="850"/>
              </a:spcBef>
              <a:spcAft>
                <a:spcPct val="0"/>
              </a:spcAft>
              <a:buClrTx/>
              <a:buSzTx/>
              <a:buFontTx/>
              <a:buNone/>
              <a:defRPr/>
            </a:pPr>
            <a:r>
              <a:rPr kumimoji="0" lang="es-ES" sz="1000" b="0" i="0" u="none" strike="noStrike" kern="1200" cap="none" spc="0" normalizeH="0" baseline="0" noProof="0" dirty="0">
                <a:ln>
                  <a:noFill/>
                </a:ln>
                <a:solidFill>
                  <a:srgbClr val="656565"/>
                </a:solidFill>
                <a:effectLst/>
                <a:uLnTx/>
                <a:uFillTx/>
                <a:latin typeface="Calibri" panose="020F0502020204030204"/>
                <a:ea typeface="+mn-ea"/>
                <a:cs typeface="+mn-cs"/>
                <a:sym typeface="+mn-lt"/>
              </a:rPr>
              <a:t>WEB DESIGN</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41" name="AutoShape 24"/>
          <p:cNvSpPr/>
          <p:nvPr/>
        </p:nvSpPr>
        <p:spPr bwMode="auto">
          <a:xfrm>
            <a:off x="6646387" y="2855754"/>
            <a:ext cx="302419" cy="139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lIns="0" tIns="0" rIns="0" bIns="0"/>
          <a:lstStyle/>
          <a:p>
            <a:pPr marL="0" marR="0" lvl="0" indent="0" algn="r" defTabSz="323850" rtl="0" eaLnBrk="1" fontAlgn="base" latinLnBrk="0" hangingPunct="0">
              <a:lnSpc>
                <a:spcPct val="120000"/>
              </a:lnSpc>
              <a:spcBef>
                <a:spcPts val="850"/>
              </a:spcBef>
              <a:spcAft>
                <a:spcPct val="0"/>
              </a:spcAft>
              <a:buClrTx/>
              <a:buSzTx/>
              <a:buFontTx/>
              <a:buNone/>
              <a:defRPr/>
            </a:pPr>
            <a:r>
              <a:rPr kumimoji="0" lang="es-ES" sz="900" b="0" i="0" u="none" strike="noStrike" kern="1200" cap="none" spc="0" normalizeH="0" baseline="0" noProof="0" dirty="0">
                <a:ln>
                  <a:noFill/>
                </a:ln>
                <a:solidFill>
                  <a:srgbClr val="FFFFFF"/>
                </a:solidFill>
                <a:effectLst/>
                <a:uLnTx/>
                <a:uFillTx/>
                <a:latin typeface="Calibri" panose="020F0502020204030204"/>
                <a:ea typeface="+mn-ea"/>
                <a:cs typeface="+mn-cs"/>
                <a:sym typeface="+mn-lt"/>
              </a:rPr>
              <a:t>75%</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43" name="AutoShape 25"/>
          <p:cNvSpPr/>
          <p:nvPr/>
        </p:nvSpPr>
        <p:spPr bwMode="auto">
          <a:xfrm>
            <a:off x="5060474" y="3280410"/>
            <a:ext cx="2432050" cy="167482"/>
          </a:xfrm>
          <a:custGeom>
            <a:avLst/>
            <a:gdLst>
              <a:gd name="T0" fmla="*/ 2432050 w 21600"/>
              <a:gd name="T1" fmla="*/ 167482 h 21600"/>
              <a:gd name="T2" fmla="*/ 2432050 w 21600"/>
              <a:gd name="T3" fmla="*/ 167482 h 21600"/>
              <a:gd name="T4" fmla="*/ 2432050 w 21600"/>
              <a:gd name="T5" fmla="*/ 167482 h 21600"/>
              <a:gd name="T6" fmla="*/ 2432050 w 21600"/>
              <a:gd name="T7" fmla="*/ 16748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234"/>
                </a:moveTo>
                <a:lnTo>
                  <a:pt x="0" y="7365"/>
                </a:lnTo>
                <a:cubicBezTo>
                  <a:pt x="0" y="3297"/>
                  <a:pt x="226" y="0"/>
                  <a:pt x="506" y="0"/>
                </a:cubicBezTo>
                <a:lnTo>
                  <a:pt x="21093" y="0"/>
                </a:lnTo>
                <a:cubicBezTo>
                  <a:pt x="21373" y="0"/>
                  <a:pt x="21600" y="3297"/>
                  <a:pt x="21600" y="7365"/>
                </a:cubicBezTo>
                <a:lnTo>
                  <a:pt x="21600" y="14234"/>
                </a:lnTo>
                <a:cubicBezTo>
                  <a:pt x="21600" y="18302"/>
                  <a:pt x="21373" y="21600"/>
                  <a:pt x="21093" y="21600"/>
                </a:cubicBezTo>
                <a:lnTo>
                  <a:pt x="506" y="21600"/>
                </a:lnTo>
                <a:cubicBezTo>
                  <a:pt x="226" y="21600"/>
                  <a:pt x="0" y="18302"/>
                  <a:pt x="0" y="14234"/>
                </a:cubicBezTo>
                <a:close/>
              </a:path>
            </a:pathLst>
          </a:custGeom>
          <a:solidFill>
            <a:srgbClr val="DFDFDF"/>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44" name="AutoShape 26"/>
          <p:cNvSpPr/>
          <p:nvPr/>
        </p:nvSpPr>
        <p:spPr bwMode="auto">
          <a:xfrm>
            <a:off x="5054124" y="3280410"/>
            <a:ext cx="2299494" cy="1674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0" y="21600"/>
                </a:lnTo>
                <a:lnTo>
                  <a:pt x="20876" y="21600"/>
                </a:lnTo>
                <a:lnTo>
                  <a:pt x="20876" y="20267"/>
                </a:lnTo>
                <a:lnTo>
                  <a:pt x="21599" y="10659"/>
                </a:lnTo>
                <a:lnTo>
                  <a:pt x="20876" y="1050"/>
                </a:lnTo>
                <a:lnTo>
                  <a:pt x="20876" y="0"/>
                </a:lnTo>
                <a:lnTo>
                  <a:pt x="0" y="0"/>
                </a:lnTo>
                <a:close/>
              </a:path>
            </a:pathLst>
          </a:custGeom>
          <a:solidFill>
            <a:schemeClr val="accent3"/>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45" name="AutoShape 27"/>
          <p:cNvSpPr/>
          <p:nvPr/>
        </p:nvSpPr>
        <p:spPr bwMode="auto">
          <a:xfrm>
            <a:off x="5047774" y="3087529"/>
            <a:ext cx="2106613"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120000"/>
              </a:lnSpc>
              <a:spcBef>
                <a:spcPts val="850"/>
              </a:spcBef>
              <a:spcAft>
                <a:spcPct val="0"/>
              </a:spcAft>
              <a:buClrTx/>
              <a:buSzTx/>
              <a:buFontTx/>
              <a:buNone/>
              <a:defRPr/>
            </a:pPr>
            <a:r>
              <a:rPr kumimoji="0" lang="es-ES" sz="1000" b="0" i="0" u="none" strike="noStrike" kern="1200" cap="none" spc="0" normalizeH="0" baseline="0" noProof="0" dirty="0">
                <a:ln>
                  <a:noFill/>
                </a:ln>
                <a:solidFill>
                  <a:srgbClr val="656565"/>
                </a:solidFill>
                <a:effectLst/>
                <a:uLnTx/>
                <a:uFillTx/>
                <a:latin typeface="Calibri" panose="020F0502020204030204"/>
                <a:ea typeface="+mn-ea"/>
                <a:cs typeface="+mn-cs"/>
                <a:sym typeface="+mn-lt"/>
              </a:rPr>
              <a:t>DEVELOPMENT</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46" name="AutoShape 28"/>
          <p:cNvSpPr/>
          <p:nvPr/>
        </p:nvSpPr>
        <p:spPr bwMode="auto">
          <a:xfrm>
            <a:off x="6936105" y="3255804"/>
            <a:ext cx="302419" cy="139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lIns="0" tIns="0" rIns="0" bIns="0"/>
          <a:lstStyle/>
          <a:p>
            <a:pPr marL="0" marR="0" lvl="0" indent="0" algn="r" defTabSz="323850" rtl="0" eaLnBrk="1" fontAlgn="base" latinLnBrk="0" hangingPunct="0">
              <a:lnSpc>
                <a:spcPct val="120000"/>
              </a:lnSpc>
              <a:spcBef>
                <a:spcPts val="850"/>
              </a:spcBef>
              <a:spcAft>
                <a:spcPct val="0"/>
              </a:spcAft>
              <a:buClrTx/>
              <a:buSzTx/>
              <a:buFontTx/>
              <a:buNone/>
              <a:defRPr/>
            </a:pPr>
            <a:r>
              <a:rPr kumimoji="0" lang="es-ES" sz="900" b="0" i="0" u="none" strike="noStrike" kern="1200" cap="none" spc="0" normalizeH="0" baseline="0" noProof="0" dirty="0">
                <a:ln>
                  <a:noFill/>
                </a:ln>
                <a:solidFill>
                  <a:srgbClr val="FFFFFF"/>
                </a:solidFill>
                <a:effectLst/>
                <a:uLnTx/>
                <a:uFillTx/>
                <a:latin typeface="Calibri" panose="020F0502020204030204"/>
                <a:ea typeface="+mn-ea"/>
                <a:cs typeface="+mn-cs"/>
                <a:sym typeface="+mn-lt"/>
              </a:rPr>
              <a:t>90%</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47" name="AutoShape 29"/>
          <p:cNvSpPr/>
          <p:nvPr/>
        </p:nvSpPr>
        <p:spPr bwMode="auto">
          <a:xfrm>
            <a:off x="5060474" y="3681254"/>
            <a:ext cx="2432050" cy="167481"/>
          </a:xfrm>
          <a:custGeom>
            <a:avLst/>
            <a:gdLst>
              <a:gd name="T0" fmla="*/ 2432050 w 21600"/>
              <a:gd name="T1" fmla="*/ 167481 h 21600"/>
              <a:gd name="T2" fmla="*/ 2432050 w 21600"/>
              <a:gd name="T3" fmla="*/ 167481 h 21600"/>
              <a:gd name="T4" fmla="*/ 2432050 w 21600"/>
              <a:gd name="T5" fmla="*/ 167481 h 21600"/>
              <a:gd name="T6" fmla="*/ 2432050 w 21600"/>
              <a:gd name="T7" fmla="*/ 1674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234"/>
                </a:moveTo>
                <a:lnTo>
                  <a:pt x="0" y="7365"/>
                </a:lnTo>
                <a:cubicBezTo>
                  <a:pt x="0" y="3297"/>
                  <a:pt x="226" y="0"/>
                  <a:pt x="506" y="0"/>
                </a:cubicBezTo>
                <a:lnTo>
                  <a:pt x="21093" y="0"/>
                </a:lnTo>
                <a:cubicBezTo>
                  <a:pt x="21373" y="0"/>
                  <a:pt x="21600" y="3297"/>
                  <a:pt x="21600" y="7365"/>
                </a:cubicBezTo>
                <a:lnTo>
                  <a:pt x="21600" y="14234"/>
                </a:lnTo>
                <a:cubicBezTo>
                  <a:pt x="21600" y="18302"/>
                  <a:pt x="21373" y="21600"/>
                  <a:pt x="21093" y="21600"/>
                </a:cubicBezTo>
                <a:lnTo>
                  <a:pt x="506" y="21600"/>
                </a:lnTo>
                <a:cubicBezTo>
                  <a:pt x="226" y="21600"/>
                  <a:pt x="0" y="18302"/>
                  <a:pt x="0" y="14234"/>
                </a:cubicBezTo>
                <a:close/>
              </a:path>
            </a:pathLst>
          </a:custGeom>
          <a:solidFill>
            <a:srgbClr val="DFDFDF"/>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48" name="AutoShape 30"/>
          <p:cNvSpPr/>
          <p:nvPr/>
        </p:nvSpPr>
        <p:spPr bwMode="auto">
          <a:xfrm>
            <a:off x="5054124" y="3681254"/>
            <a:ext cx="2135188" cy="1674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0" y="21600"/>
                </a:lnTo>
                <a:lnTo>
                  <a:pt x="20820" y="21600"/>
                </a:lnTo>
                <a:lnTo>
                  <a:pt x="20820" y="20267"/>
                </a:lnTo>
                <a:lnTo>
                  <a:pt x="21600" y="10659"/>
                </a:lnTo>
                <a:lnTo>
                  <a:pt x="20820" y="1050"/>
                </a:lnTo>
                <a:lnTo>
                  <a:pt x="20820" y="0"/>
                </a:lnTo>
                <a:lnTo>
                  <a:pt x="0" y="0"/>
                </a:lnTo>
                <a:close/>
              </a:path>
            </a:pathLst>
          </a:custGeom>
          <a:solidFill>
            <a:srgbClr val="E8432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49" name="AutoShape 31"/>
          <p:cNvSpPr/>
          <p:nvPr/>
        </p:nvSpPr>
        <p:spPr bwMode="auto">
          <a:xfrm>
            <a:off x="5056505" y="3488373"/>
            <a:ext cx="2106613"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120000"/>
              </a:lnSpc>
              <a:spcBef>
                <a:spcPts val="850"/>
              </a:spcBef>
              <a:spcAft>
                <a:spcPct val="0"/>
              </a:spcAft>
              <a:buClrTx/>
              <a:buSzTx/>
              <a:buFontTx/>
              <a:buNone/>
              <a:defRPr/>
            </a:pPr>
            <a:r>
              <a:rPr kumimoji="0" lang="es-ES" sz="1000" b="0" i="0" u="none" strike="noStrike" kern="1200" cap="none" spc="0" normalizeH="0" baseline="0" noProof="0" dirty="0">
                <a:ln>
                  <a:noFill/>
                </a:ln>
                <a:solidFill>
                  <a:srgbClr val="656565"/>
                </a:solidFill>
                <a:effectLst/>
                <a:uLnTx/>
                <a:uFillTx/>
                <a:latin typeface="Calibri" panose="020F0502020204030204"/>
                <a:ea typeface="+mn-ea"/>
                <a:cs typeface="+mn-cs"/>
                <a:sym typeface="+mn-lt"/>
              </a:rPr>
              <a:t>CREATIVITY</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50" name="AutoShape 32"/>
          <p:cNvSpPr/>
          <p:nvPr/>
        </p:nvSpPr>
        <p:spPr bwMode="auto">
          <a:xfrm>
            <a:off x="6792437" y="3656648"/>
            <a:ext cx="302419" cy="139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lIns="0" tIns="0" rIns="0" bIns="0"/>
          <a:lstStyle/>
          <a:p>
            <a:pPr marL="0" marR="0" lvl="0" indent="0" algn="r" defTabSz="323850" rtl="0" eaLnBrk="1" fontAlgn="base" latinLnBrk="0" hangingPunct="0">
              <a:lnSpc>
                <a:spcPct val="120000"/>
              </a:lnSpc>
              <a:spcBef>
                <a:spcPts val="850"/>
              </a:spcBef>
              <a:spcAft>
                <a:spcPct val="0"/>
              </a:spcAft>
              <a:buClrTx/>
              <a:buSzTx/>
              <a:buFontTx/>
              <a:buNone/>
              <a:defRPr/>
            </a:pPr>
            <a:r>
              <a:rPr kumimoji="0" lang="es-ES" sz="900" b="0" i="0" u="none" strike="noStrike" kern="1200" cap="none" spc="0" normalizeH="0" baseline="0" noProof="0" dirty="0">
                <a:ln>
                  <a:noFill/>
                </a:ln>
                <a:solidFill>
                  <a:srgbClr val="FFFFFF"/>
                </a:solidFill>
                <a:effectLst/>
                <a:uLnTx/>
                <a:uFillTx/>
                <a:latin typeface="Calibri" panose="020F0502020204030204"/>
                <a:ea typeface="+mn-ea"/>
                <a:cs typeface="+mn-cs"/>
                <a:sym typeface="+mn-lt"/>
              </a:rPr>
              <a:t>80%</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51" name="AutoShape 33"/>
          <p:cNvSpPr/>
          <p:nvPr/>
        </p:nvSpPr>
        <p:spPr bwMode="auto">
          <a:xfrm>
            <a:off x="5060474" y="4109085"/>
            <a:ext cx="2432050" cy="166688"/>
          </a:xfrm>
          <a:custGeom>
            <a:avLst/>
            <a:gdLst>
              <a:gd name="T0" fmla="*/ 2432050 w 21600"/>
              <a:gd name="T1" fmla="*/ 166688 h 21600"/>
              <a:gd name="T2" fmla="*/ 2432050 w 21600"/>
              <a:gd name="T3" fmla="*/ 166688 h 21600"/>
              <a:gd name="T4" fmla="*/ 2432050 w 21600"/>
              <a:gd name="T5" fmla="*/ 166688 h 21600"/>
              <a:gd name="T6" fmla="*/ 2432050 w 21600"/>
              <a:gd name="T7" fmla="*/ 16668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234"/>
                </a:moveTo>
                <a:lnTo>
                  <a:pt x="0" y="7365"/>
                </a:lnTo>
                <a:cubicBezTo>
                  <a:pt x="0" y="3297"/>
                  <a:pt x="226" y="0"/>
                  <a:pt x="506" y="0"/>
                </a:cubicBezTo>
                <a:lnTo>
                  <a:pt x="21093" y="0"/>
                </a:lnTo>
                <a:cubicBezTo>
                  <a:pt x="21373" y="0"/>
                  <a:pt x="21600" y="3297"/>
                  <a:pt x="21600" y="7365"/>
                </a:cubicBezTo>
                <a:lnTo>
                  <a:pt x="21600" y="14234"/>
                </a:lnTo>
                <a:cubicBezTo>
                  <a:pt x="21600" y="18302"/>
                  <a:pt x="21373" y="21600"/>
                  <a:pt x="21093" y="21600"/>
                </a:cubicBezTo>
                <a:lnTo>
                  <a:pt x="506" y="21600"/>
                </a:lnTo>
                <a:cubicBezTo>
                  <a:pt x="226" y="21600"/>
                  <a:pt x="0" y="18302"/>
                  <a:pt x="0" y="14234"/>
                </a:cubicBezTo>
                <a:close/>
              </a:path>
            </a:pathLst>
          </a:custGeom>
          <a:solidFill>
            <a:srgbClr val="DFDFDF"/>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52" name="AutoShape 34"/>
          <p:cNvSpPr/>
          <p:nvPr/>
        </p:nvSpPr>
        <p:spPr bwMode="auto">
          <a:xfrm>
            <a:off x="5054124" y="4108292"/>
            <a:ext cx="1791494" cy="1674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0" y="21600"/>
                </a:lnTo>
                <a:lnTo>
                  <a:pt x="20671" y="21600"/>
                </a:lnTo>
                <a:lnTo>
                  <a:pt x="20671" y="20267"/>
                </a:lnTo>
                <a:lnTo>
                  <a:pt x="21599" y="10659"/>
                </a:lnTo>
                <a:lnTo>
                  <a:pt x="20671" y="1050"/>
                </a:lnTo>
                <a:lnTo>
                  <a:pt x="20671" y="0"/>
                </a:lnTo>
                <a:lnTo>
                  <a:pt x="0" y="0"/>
                </a:lnTo>
                <a:close/>
              </a:path>
            </a:pathLst>
          </a:custGeom>
          <a:solidFill>
            <a:srgbClr val="383F4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dirty="0">
              <a:ln>
                <a:noFill/>
              </a:ln>
              <a:solidFill>
                <a:srgbClr val="FFFFFF"/>
              </a:solidFill>
              <a:effectLst/>
              <a:uLnTx/>
              <a:uFillTx/>
              <a:latin typeface="Calibri" panose="020F0502020204030204"/>
              <a:ea typeface="+mn-ea"/>
              <a:cs typeface="+mn-cs"/>
              <a:sym typeface="+mn-lt"/>
            </a:endParaRPr>
          </a:p>
        </p:txBody>
      </p:sp>
      <p:sp>
        <p:nvSpPr>
          <p:cNvPr id="53" name="AutoShape 35"/>
          <p:cNvSpPr/>
          <p:nvPr/>
        </p:nvSpPr>
        <p:spPr bwMode="auto">
          <a:xfrm>
            <a:off x="5068729" y="3931285"/>
            <a:ext cx="2106613"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120000"/>
              </a:lnSpc>
              <a:spcBef>
                <a:spcPts val="850"/>
              </a:spcBef>
              <a:spcAft>
                <a:spcPct val="0"/>
              </a:spcAft>
              <a:buClrTx/>
              <a:buSzTx/>
              <a:buFontTx/>
              <a:buNone/>
              <a:defRPr/>
            </a:pPr>
            <a:r>
              <a:rPr kumimoji="0" lang="es-ES" sz="1000" b="0" i="0" u="none" strike="noStrike" kern="1200" cap="none" spc="0" normalizeH="0" baseline="0" noProof="0" dirty="0">
                <a:ln>
                  <a:noFill/>
                </a:ln>
                <a:solidFill>
                  <a:srgbClr val="656565"/>
                </a:solidFill>
                <a:effectLst/>
                <a:uLnTx/>
                <a:uFillTx/>
                <a:latin typeface="Calibri" panose="020F0502020204030204"/>
                <a:ea typeface="+mn-ea"/>
                <a:cs typeface="+mn-cs"/>
                <a:sym typeface="+mn-lt"/>
              </a:rPr>
              <a:t>TEAM WORK</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54" name="AutoShape 36"/>
          <p:cNvSpPr/>
          <p:nvPr/>
        </p:nvSpPr>
        <p:spPr bwMode="auto">
          <a:xfrm>
            <a:off x="6430487" y="4083685"/>
            <a:ext cx="302419" cy="139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lIns="0" tIns="0" rIns="0" bIns="0"/>
          <a:lstStyle/>
          <a:p>
            <a:pPr marL="0" marR="0" lvl="0" indent="0" algn="r" defTabSz="323850" rtl="0" eaLnBrk="1" fontAlgn="base" latinLnBrk="0" hangingPunct="0">
              <a:lnSpc>
                <a:spcPct val="120000"/>
              </a:lnSpc>
              <a:spcBef>
                <a:spcPts val="850"/>
              </a:spcBef>
              <a:spcAft>
                <a:spcPct val="0"/>
              </a:spcAft>
              <a:buClrTx/>
              <a:buSzTx/>
              <a:buFontTx/>
              <a:buNone/>
              <a:defRPr/>
            </a:pPr>
            <a:r>
              <a:rPr kumimoji="0" lang="es-ES" sz="900" b="0" i="0" u="none" strike="noStrike" kern="1200" cap="none" spc="0" normalizeH="0" baseline="0" noProof="0" dirty="0">
                <a:ln>
                  <a:noFill/>
                </a:ln>
                <a:solidFill>
                  <a:srgbClr val="FFFFFF"/>
                </a:solidFill>
                <a:effectLst/>
                <a:uLnTx/>
                <a:uFillTx/>
                <a:latin typeface="Calibri" panose="020F0502020204030204"/>
                <a:ea typeface="+mn-ea"/>
                <a:cs typeface="+mn-cs"/>
                <a:sym typeface="+mn-lt"/>
              </a:rPr>
              <a:t>65%</a:t>
            </a:r>
            <a:endParaRPr kumimoji="0" lang="es-ES" sz="2500" b="0" i="0" u="none" strike="noStrike" kern="1200" cap="none" spc="0" normalizeH="0" baseline="0" noProof="0" dirty="0">
              <a:ln>
                <a:noFill/>
              </a:ln>
              <a:solidFill>
                <a:srgbClr val="000000"/>
              </a:solidFill>
              <a:effectLst/>
              <a:uLnTx/>
              <a:uFillTx/>
              <a:latin typeface="Calibri" panose="020F0502020204030204"/>
              <a:ea typeface="+mn-ea"/>
              <a:cs typeface="+mn-cs"/>
              <a:sym typeface="+mn-lt"/>
            </a:endParaRPr>
          </a:p>
        </p:txBody>
      </p:sp>
      <p:sp>
        <p:nvSpPr>
          <p:cNvPr id="55" name="AutoShape 37"/>
          <p:cNvSpPr/>
          <p:nvPr/>
        </p:nvSpPr>
        <p:spPr bwMode="auto">
          <a:xfrm>
            <a:off x="7792562" y="2559685"/>
            <a:ext cx="3395663" cy="1905794"/>
          </a:xfrm>
          <a:custGeom>
            <a:avLst/>
            <a:gdLst>
              <a:gd name="T0" fmla="*/ 1067641251 w 21600"/>
              <a:gd name="T1" fmla="*/ 336300997 h 21600"/>
              <a:gd name="T2" fmla="*/ 1067641251 w 21600"/>
              <a:gd name="T3" fmla="*/ 336300997 h 21600"/>
              <a:gd name="T4" fmla="*/ 1067641251 w 21600"/>
              <a:gd name="T5" fmla="*/ 336300997 h 21600"/>
              <a:gd name="T6" fmla="*/ 1067641251 w 21600"/>
              <a:gd name="T7" fmla="*/ 33630099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599"/>
                </a:moveTo>
                <a:lnTo>
                  <a:pt x="0" y="0"/>
                </a:lnTo>
                <a:lnTo>
                  <a:pt x="21599" y="0"/>
                </a:lnTo>
                <a:lnTo>
                  <a:pt x="21599" y="21599"/>
                </a:lnTo>
                <a:lnTo>
                  <a:pt x="0" y="21599"/>
                </a:lnTo>
                <a:close/>
              </a:path>
            </a:pathLst>
          </a:custGeom>
          <a:solidFill>
            <a:srgbClr val="E8432E"/>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56" name="AutoShape 39"/>
          <p:cNvSpPr/>
          <p:nvPr/>
        </p:nvSpPr>
        <p:spPr bwMode="auto">
          <a:xfrm>
            <a:off x="4397693" y="4464685"/>
            <a:ext cx="3395663" cy="19065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0" y="0"/>
                </a:lnTo>
                <a:lnTo>
                  <a:pt x="21599" y="0"/>
                </a:lnTo>
                <a:lnTo>
                  <a:pt x="21599" y="21599"/>
                </a:lnTo>
                <a:lnTo>
                  <a:pt x="0" y="21599"/>
                </a:lnTo>
                <a:close/>
              </a:path>
            </a:pathLst>
          </a:custGeom>
          <a:solidFill>
            <a:srgbClr val="383F4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a:ln>
                <a:noFill/>
              </a:ln>
              <a:solidFill>
                <a:srgbClr val="FFFFFF"/>
              </a:solidFill>
              <a:effectLst/>
              <a:uLnTx/>
              <a:uFillTx/>
              <a:latin typeface="Calibri" panose="020F0502020204030204"/>
              <a:ea typeface="+mn-ea"/>
              <a:cs typeface="+mn-cs"/>
              <a:sym typeface="+mn-lt"/>
            </a:endParaRPr>
          </a:p>
        </p:txBody>
      </p:sp>
      <p:sp>
        <p:nvSpPr>
          <p:cNvPr id="57" name="AutoShape 41"/>
          <p:cNvSpPr/>
          <p:nvPr/>
        </p:nvSpPr>
        <p:spPr bwMode="auto">
          <a:xfrm>
            <a:off x="7792562" y="4464685"/>
            <a:ext cx="3395663" cy="19065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0" y="0"/>
                </a:lnTo>
                <a:lnTo>
                  <a:pt x="21599" y="0"/>
                </a:lnTo>
                <a:lnTo>
                  <a:pt x="21599" y="21599"/>
                </a:lnTo>
                <a:lnTo>
                  <a:pt x="0" y="21599"/>
                </a:lnTo>
                <a:close/>
              </a:path>
            </a:pathLst>
          </a:custGeom>
          <a:solidFill>
            <a:schemeClr val="tx1">
              <a:lumMod val="50000"/>
              <a:lumOff val="50000"/>
            </a:schemeClr>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a:ln>
                <a:noFill/>
              </a:ln>
              <a:solidFill>
                <a:srgbClr val="FFFFFF"/>
              </a:solidFill>
              <a:effectLst/>
              <a:uLnTx/>
              <a:uFillTx/>
              <a:latin typeface="Calibri" panose="020F0502020204030204"/>
              <a:ea typeface="+mn-ea"/>
              <a:cs typeface="+mn-cs"/>
              <a:sym typeface="+mn-lt"/>
            </a:endParaRPr>
          </a:p>
        </p:txBody>
      </p:sp>
      <p:sp>
        <p:nvSpPr>
          <p:cNvPr id="59" name="AutoShape 43"/>
          <p:cNvSpPr/>
          <p:nvPr/>
        </p:nvSpPr>
        <p:spPr bwMode="auto">
          <a:xfrm>
            <a:off x="8035449" y="5012690"/>
            <a:ext cx="2911475" cy="8104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lvl="0" algn="l" defTabSz="914400" rtl="0" eaLnBrk="1" latinLnBrk="0">
              <a:lnSpc>
                <a:spcPct val="150000"/>
              </a:lnSpc>
            </a:pPr>
            <a:r>
              <a:rPr lang="zh-CN" altLang="en-US" sz="1400" dirty="0">
                <a:solidFill>
                  <a:schemeClr val="bg1"/>
                </a:solidFill>
                <a:latin typeface="微软雅黑" panose="020B0503020204020204" pitchFamily="34" charset="-122"/>
                <a:ea typeface="微软雅黑" panose="020B0503020204020204" pitchFamily="34" charset="-122"/>
                <a:sym typeface="+mn-ea"/>
              </a:rPr>
              <a:t>本公司是一家处于创始阶段处于高赢利发展阶段商品增值转卖</a:t>
            </a:r>
            <a:r>
              <a:rPr lang="en-US" altLang="zh-CN" sz="1400" dirty="0">
                <a:solidFill>
                  <a:schemeClr val="bg1"/>
                </a:solidFill>
                <a:latin typeface="微软雅黑" panose="020B0503020204020204" pitchFamily="34" charset="-122"/>
                <a:ea typeface="微软雅黑" panose="020B0503020204020204" pitchFamily="34" charset="-122"/>
                <a:sym typeface="+mn-ea"/>
              </a:rPr>
              <a:t>]</a:t>
            </a:r>
            <a:r>
              <a:rPr lang="zh-CN" altLang="en-US" sz="1400" dirty="0">
                <a:solidFill>
                  <a:schemeClr val="bg1"/>
                </a:solidFill>
                <a:latin typeface="微软雅黑" panose="020B0503020204020204" pitchFamily="34" charset="-122"/>
                <a:ea typeface="微软雅黑" panose="020B0503020204020204" pitchFamily="34" charset="-122"/>
                <a:sym typeface="+mn-ea"/>
              </a:rPr>
              <a:t>的公司</a:t>
            </a:r>
            <a:endParaRPr kumimoji="0" lang="zh-CN" altLang="en-US" sz="1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1" name="AutoShape 1"/>
          <p:cNvSpPr/>
          <p:nvPr/>
        </p:nvSpPr>
        <p:spPr bwMode="auto">
          <a:xfrm>
            <a:off x="9105525" y="3126920"/>
            <a:ext cx="769737" cy="771324"/>
          </a:xfrm>
          <a:custGeom>
            <a:avLst/>
            <a:gdLst/>
            <a:ahLst/>
            <a:cxnLst/>
            <a:rect l="0" t="0" r="r" b="b"/>
            <a:pathLst>
              <a:path w="21600" h="21600">
                <a:moveTo>
                  <a:pt x="7425" y="5400"/>
                </a:moveTo>
                <a:lnTo>
                  <a:pt x="6075" y="5400"/>
                </a:lnTo>
                <a:lnTo>
                  <a:pt x="6075" y="6750"/>
                </a:lnTo>
                <a:lnTo>
                  <a:pt x="7425" y="6750"/>
                </a:lnTo>
                <a:cubicBezTo>
                  <a:pt x="7425" y="6750"/>
                  <a:pt x="7425" y="5400"/>
                  <a:pt x="7425" y="5400"/>
                </a:cubicBezTo>
                <a:close/>
                <a:moveTo>
                  <a:pt x="6750" y="8100"/>
                </a:moveTo>
                <a:cubicBezTo>
                  <a:pt x="5632" y="8100"/>
                  <a:pt x="4725" y="7193"/>
                  <a:pt x="4725" y="6075"/>
                </a:cubicBezTo>
                <a:cubicBezTo>
                  <a:pt x="4725" y="4957"/>
                  <a:pt x="5632" y="4050"/>
                  <a:pt x="6750" y="4050"/>
                </a:cubicBezTo>
                <a:cubicBezTo>
                  <a:pt x="7869" y="4050"/>
                  <a:pt x="8775" y="4957"/>
                  <a:pt x="8775" y="6075"/>
                </a:cubicBezTo>
                <a:cubicBezTo>
                  <a:pt x="8775" y="7193"/>
                  <a:pt x="7869" y="8100"/>
                  <a:pt x="6750" y="8100"/>
                </a:cubicBezTo>
                <a:close/>
                <a:moveTo>
                  <a:pt x="12668" y="15982"/>
                </a:moveTo>
                <a:cubicBezTo>
                  <a:pt x="12525" y="16125"/>
                  <a:pt x="12337" y="16191"/>
                  <a:pt x="12150" y="16185"/>
                </a:cubicBezTo>
                <a:cubicBezTo>
                  <a:pt x="11963" y="16191"/>
                  <a:pt x="11775" y="16125"/>
                  <a:pt x="11632" y="15982"/>
                </a:cubicBezTo>
                <a:lnTo>
                  <a:pt x="7565" y="13093"/>
                </a:lnTo>
                <a:lnTo>
                  <a:pt x="3893" y="18007"/>
                </a:lnTo>
                <a:cubicBezTo>
                  <a:pt x="3617" y="18283"/>
                  <a:pt x="3171" y="18283"/>
                  <a:pt x="2895" y="18007"/>
                </a:cubicBezTo>
                <a:cubicBezTo>
                  <a:pt x="2620" y="17732"/>
                  <a:pt x="2620" y="17286"/>
                  <a:pt x="2895" y="17010"/>
                </a:cubicBezTo>
                <a:lnTo>
                  <a:pt x="6885" y="11670"/>
                </a:lnTo>
                <a:cubicBezTo>
                  <a:pt x="7034" y="11522"/>
                  <a:pt x="7231" y="11460"/>
                  <a:pt x="7425" y="11472"/>
                </a:cubicBezTo>
                <a:cubicBezTo>
                  <a:pt x="7619" y="11460"/>
                  <a:pt x="7817" y="11522"/>
                  <a:pt x="7965" y="11670"/>
                </a:cubicBezTo>
                <a:lnTo>
                  <a:pt x="12044" y="14569"/>
                </a:lnTo>
                <a:lnTo>
                  <a:pt x="17685" y="8295"/>
                </a:lnTo>
                <a:cubicBezTo>
                  <a:pt x="17961" y="8020"/>
                  <a:pt x="18407" y="8020"/>
                  <a:pt x="18682" y="8295"/>
                </a:cubicBezTo>
                <a:cubicBezTo>
                  <a:pt x="18958" y="8571"/>
                  <a:pt x="18958" y="9017"/>
                  <a:pt x="18682" y="9293"/>
                </a:cubicBezTo>
                <a:cubicBezTo>
                  <a:pt x="18682" y="9293"/>
                  <a:pt x="12668" y="15982"/>
                  <a:pt x="12668" y="15982"/>
                </a:cubicBezTo>
                <a:close/>
                <a:moveTo>
                  <a:pt x="20250" y="2025"/>
                </a:moveTo>
                <a:cubicBezTo>
                  <a:pt x="20250" y="1653"/>
                  <a:pt x="19948" y="1350"/>
                  <a:pt x="19575" y="1350"/>
                </a:cubicBezTo>
                <a:lnTo>
                  <a:pt x="2025" y="1350"/>
                </a:lnTo>
                <a:cubicBezTo>
                  <a:pt x="1652" y="1350"/>
                  <a:pt x="1350" y="1653"/>
                  <a:pt x="1350" y="2025"/>
                </a:cubicBezTo>
                <a:lnTo>
                  <a:pt x="1350" y="19575"/>
                </a:lnTo>
                <a:cubicBezTo>
                  <a:pt x="1350" y="19947"/>
                  <a:pt x="1652" y="20250"/>
                  <a:pt x="2025" y="20250"/>
                </a:cubicBezTo>
                <a:lnTo>
                  <a:pt x="19575" y="20250"/>
                </a:lnTo>
                <a:cubicBezTo>
                  <a:pt x="19948" y="20250"/>
                  <a:pt x="20250" y="19947"/>
                  <a:pt x="20250" y="19575"/>
                </a:cubicBezTo>
                <a:cubicBezTo>
                  <a:pt x="20250" y="19575"/>
                  <a:pt x="20250" y="2025"/>
                  <a:pt x="20250" y="2025"/>
                </a:cubicBezTo>
                <a:close/>
                <a:moveTo>
                  <a:pt x="20250" y="21600"/>
                </a:moveTo>
                <a:lnTo>
                  <a:pt x="1350" y="21600"/>
                </a:lnTo>
                <a:cubicBezTo>
                  <a:pt x="605" y="21600"/>
                  <a:pt x="0" y="20996"/>
                  <a:pt x="0" y="20250"/>
                </a:cubicBezTo>
                <a:lnTo>
                  <a:pt x="0" y="1350"/>
                </a:lnTo>
                <a:cubicBezTo>
                  <a:pt x="0" y="604"/>
                  <a:pt x="605" y="0"/>
                  <a:pt x="1350" y="0"/>
                </a:cubicBezTo>
                <a:lnTo>
                  <a:pt x="20250" y="0"/>
                </a:lnTo>
                <a:cubicBezTo>
                  <a:pt x="20996" y="0"/>
                  <a:pt x="21600" y="604"/>
                  <a:pt x="21600" y="1350"/>
                </a:cubicBezTo>
                <a:lnTo>
                  <a:pt x="21600" y="20250"/>
                </a:lnTo>
                <a:cubicBezTo>
                  <a:pt x="21600" y="20996"/>
                  <a:pt x="20996" y="21600"/>
                  <a:pt x="20250" y="21600"/>
                </a:cubicBezTo>
                <a:close/>
                <a:moveTo>
                  <a:pt x="20250" y="21600"/>
                </a:moveTo>
              </a:path>
            </a:pathLst>
          </a:custGeom>
          <a:solidFill>
            <a:schemeClr val="bg2"/>
          </a:solidFill>
          <a:ln>
            <a:noFill/>
          </a:ln>
        </p:spPr>
        <p:txBody>
          <a:bodyPr lIns="0" tIns="0" rIns="0" bIns="0"/>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sym typeface="+mn-lt"/>
            </a:endParaRPr>
          </a:p>
        </p:txBody>
      </p:sp>
      <p:sp>
        <p:nvSpPr>
          <p:cNvPr id="62" name="AutoShape 8"/>
          <p:cNvSpPr/>
          <p:nvPr/>
        </p:nvSpPr>
        <p:spPr bwMode="auto">
          <a:xfrm>
            <a:off x="4731758" y="4104223"/>
            <a:ext cx="149432" cy="139900"/>
          </a:xfrm>
          <a:custGeom>
            <a:avLst/>
            <a:gdLst/>
            <a:ahLst/>
            <a:cxnLst/>
            <a:rect l="0" t="0" r="r" b="b"/>
            <a:pathLst>
              <a:path w="21600" h="21600">
                <a:moveTo>
                  <a:pt x="20250" y="2160"/>
                </a:moveTo>
                <a:lnTo>
                  <a:pt x="11475" y="4165"/>
                </a:lnTo>
                <a:lnTo>
                  <a:pt x="11475" y="19954"/>
                </a:lnTo>
                <a:lnTo>
                  <a:pt x="20250" y="17280"/>
                </a:lnTo>
                <a:cubicBezTo>
                  <a:pt x="20250" y="17280"/>
                  <a:pt x="20250" y="2160"/>
                  <a:pt x="20250" y="2160"/>
                </a:cubicBezTo>
                <a:close/>
                <a:moveTo>
                  <a:pt x="1350" y="17280"/>
                </a:moveTo>
                <a:lnTo>
                  <a:pt x="10125" y="19954"/>
                </a:lnTo>
                <a:lnTo>
                  <a:pt x="10125" y="4165"/>
                </a:lnTo>
                <a:lnTo>
                  <a:pt x="1350" y="2160"/>
                </a:lnTo>
                <a:cubicBezTo>
                  <a:pt x="1350" y="2160"/>
                  <a:pt x="1350" y="17280"/>
                  <a:pt x="1350" y="17280"/>
                </a:cubicBezTo>
                <a:close/>
                <a:moveTo>
                  <a:pt x="10800" y="21600"/>
                </a:moveTo>
                <a:lnTo>
                  <a:pt x="0" y="18720"/>
                </a:lnTo>
                <a:lnTo>
                  <a:pt x="0" y="0"/>
                </a:lnTo>
                <a:lnTo>
                  <a:pt x="10800" y="2880"/>
                </a:lnTo>
                <a:lnTo>
                  <a:pt x="21600" y="0"/>
                </a:lnTo>
                <a:lnTo>
                  <a:pt x="21600" y="18720"/>
                </a:lnTo>
                <a:cubicBezTo>
                  <a:pt x="21600" y="18720"/>
                  <a:pt x="10800" y="21600"/>
                  <a:pt x="10800" y="21600"/>
                </a:cubicBezTo>
                <a:close/>
                <a:moveTo>
                  <a:pt x="10800" y="21600"/>
                </a:moveTo>
              </a:path>
            </a:pathLst>
          </a:custGeom>
          <a:solidFill>
            <a:schemeClr val="bg2"/>
          </a:solidFill>
          <a:ln>
            <a:noFill/>
          </a:ln>
        </p:spPr>
        <p:txBody>
          <a:bodyPr lIns="0" tIns="0" rIns="0" bIns="0"/>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sym typeface="+mn-lt"/>
            </a:endParaRPr>
          </a:p>
        </p:txBody>
      </p:sp>
      <p:sp>
        <p:nvSpPr>
          <p:cNvPr id="63" name="AutoShape 9"/>
          <p:cNvSpPr/>
          <p:nvPr/>
        </p:nvSpPr>
        <p:spPr bwMode="auto">
          <a:xfrm>
            <a:off x="4736524" y="3674161"/>
            <a:ext cx="139900" cy="149124"/>
          </a:xfrm>
          <a:custGeom>
            <a:avLst/>
            <a:gdLst/>
            <a:ahLst/>
            <a:cxnLst/>
            <a:rect l="0" t="0" r="r" b="b"/>
            <a:pathLst>
              <a:path w="21600" h="21600">
                <a:moveTo>
                  <a:pt x="17295" y="7425"/>
                </a:moveTo>
                <a:cubicBezTo>
                  <a:pt x="17295" y="4070"/>
                  <a:pt x="14387" y="1350"/>
                  <a:pt x="10800" y="1350"/>
                </a:cubicBezTo>
                <a:cubicBezTo>
                  <a:pt x="7212" y="1350"/>
                  <a:pt x="4304" y="4070"/>
                  <a:pt x="4304" y="7425"/>
                </a:cubicBezTo>
                <a:cubicBezTo>
                  <a:pt x="4304" y="10780"/>
                  <a:pt x="7212" y="13500"/>
                  <a:pt x="10800" y="13500"/>
                </a:cubicBezTo>
                <a:cubicBezTo>
                  <a:pt x="14387" y="13500"/>
                  <a:pt x="17295" y="10780"/>
                  <a:pt x="17295" y="7425"/>
                </a:cubicBezTo>
                <a:close/>
                <a:moveTo>
                  <a:pt x="21600" y="21600"/>
                </a:moveTo>
                <a:lnTo>
                  <a:pt x="20154" y="21600"/>
                </a:lnTo>
                <a:cubicBezTo>
                  <a:pt x="19876" y="18182"/>
                  <a:pt x="17500" y="15317"/>
                  <a:pt x="14229" y="14113"/>
                </a:cubicBezTo>
                <a:cubicBezTo>
                  <a:pt x="13190" y="14581"/>
                  <a:pt x="12030" y="14850"/>
                  <a:pt x="10800" y="14850"/>
                </a:cubicBezTo>
                <a:cubicBezTo>
                  <a:pt x="9570" y="14850"/>
                  <a:pt x="8410" y="14581"/>
                  <a:pt x="7370" y="14113"/>
                </a:cubicBezTo>
                <a:cubicBezTo>
                  <a:pt x="4100" y="15317"/>
                  <a:pt x="1724" y="18182"/>
                  <a:pt x="1445" y="21600"/>
                </a:cubicBezTo>
                <a:lnTo>
                  <a:pt x="0" y="21600"/>
                </a:lnTo>
                <a:cubicBezTo>
                  <a:pt x="257" y="17950"/>
                  <a:pt x="2587" y="14834"/>
                  <a:pt x="5896" y="13256"/>
                </a:cubicBezTo>
                <a:cubicBezTo>
                  <a:pt x="4050" y="11897"/>
                  <a:pt x="2861" y="9793"/>
                  <a:pt x="2861" y="7425"/>
                </a:cubicBezTo>
                <a:cubicBezTo>
                  <a:pt x="2861" y="3324"/>
                  <a:pt x="6415" y="0"/>
                  <a:pt x="10800" y="0"/>
                </a:cubicBezTo>
                <a:cubicBezTo>
                  <a:pt x="15184" y="0"/>
                  <a:pt x="18739" y="3324"/>
                  <a:pt x="18739" y="7425"/>
                </a:cubicBezTo>
                <a:cubicBezTo>
                  <a:pt x="18739" y="9793"/>
                  <a:pt x="17549" y="11897"/>
                  <a:pt x="15704" y="13256"/>
                </a:cubicBezTo>
                <a:cubicBezTo>
                  <a:pt x="19013" y="14834"/>
                  <a:pt x="21342" y="17950"/>
                  <a:pt x="21600" y="21600"/>
                </a:cubicBezTo>
                <a:close/>
                <a:moveTo>
                  <a:pt x="21600" y="21600"/>
                </a:moveTo>
              </a:path>
            </a:pathLst>
          </a:custGeom>
          <a:solidFill>
            <a:schemeClr val="bg2"/>
          </a:solidFill>
          <a:ln>
            <a:noFill/>
          </a:ln>
        </p:spPr>
        <p:txBody>
          <a:bodyPr lIns="0" tIns="0" rIns="0" bIns="0"/>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sym typeface="+mn-lt"/>
            </a:endParaRPr>
          </a:p>
        </p:txBody>
      </p:sp>
      <p:sp>
        <p:nvSpPr>
          <p:cNvPr id="64" name="AutoShape 12"/>
          <p:cNvSpPr/>
          <p:nvPr/>
        </p:nvSpPr>
        <p:spPr bwMode="auto">
          <a:xfrm>
            <a:off x="4731758" y="3260463"/>
            <a:ext cx="149432" cy="149432"/>
          </a:xfrm>
          <a:custGeom>
            <a:avLst/>
            <a:gdLst/>
            <a:ahLst/>
            <a:cxnLst/>
            <a:rect l="0" t="0" r="r" b="b"/>
            <a:pathLst>
              <a:path w="21600" h="21600">
                <a:moveTo>
                  <a:pt x="3037" y="9450"/>
                </a:moveTo>
                <a:cubicBezTo>
                  <a:pt x="2478" y="9450"/>
                  <a:pt x="2025" y="8997"/>
                  <a:pt x="2025" y="8437"/>
                </a:cubicBezTo>
                <a:cubicBezTo>
                  <a:pt x="2025" y="7878"/>
                  <a:pt x="2478" y="7425"/>
                  <a:pt x="3037" y="7425"/>
                </a:cubicBezTo>
                <a:cubicBezTo>
                  <a:pt x="3597" y="7425"/>
                  <a:pt x="4050" y="7878"/>
                  <a:pt x="4050" y="8437"/>
                </a:cubicBezTo>
                <a:cubicBezTo>
                  <a:pt x="4050" y="8997"/>
                  <a:pt x="3597" y="9450"/>
                  <a:pt x="3037" y="9450"/>
                </a:cubicBezTo>
                <a:close/>
                <a:moveTo>
                  <a:pt x="6412" y="9450"/>
                </a:moveTo>
                <a:cubicBezTo>
                  <a:pt x="5853" y="9450"/>
                  <a:pt x="5400" y="8997"/>
                  <a:pt x="5400" y="8437"/>
                </a:cubicBezTo>
                <a:cubicBezTo>
                  <a:pt x="5400" y="7878"/>
                  <a:pt x="5853" y="7425"/>
                  <a:pt x="6412" y="7425"/>
                </a:cubicBezTo>
                <a:cubicBezTo>
                  <a:pt x="6972" y="7425"/>
                  <a:pt x="7425" y="7878"/>
                  <a:pt x="7425" y="8437"/>
                </a:cubicBezTo>
                <a:cubicBezTo>
                  <a:pt x="7425" y="8997"/>
                  <a:pt x="6972" y="9450"/>
                  <a:pt x="6412" y="9450"/>
                </a:cubicBezTo>
                <a:close/>
                <a:moveTo>
                  <a:pt x="20250" y="6075"/>
                </a:moveTo>
                <a:cubicBezTo>
                  <a:pt x="20250" y="5702"/>
                  <a:pt x="19947" y="5400"/>
                  <a:pt x="19575" y="5400"/>
                </a:cubicBezTo>
                <a:lnTo>
                  <a:pt x="2025" y="5400"/>
                </a:lnTo>
                <a:cubicBezTo>
                  <a:pt x="1652" y="5400"/>
                  <a:pt x="1350" y="5702"/>
                  <a:pt x="1350" y="6075"/>
                </a:cubicBezTo>
                <a:lnTo>
                  <a:pt x="1350" y="15525"/>
                </a:lnTo>
                <a:cubicBezTo>
                  <a:pt x="1350" y="15898"/>
                  <a:pt x="1652" y="16200"/>
                  <a:pt x="2025" y="16200"/>
                </a:cubicBezTo>
                <a:lnTo>
                  <a:pt x="5400" y="16200"/>
                </a:lnTo>
                <a:lnTo>
                  <a:pt x="5400" y="12150"/>
                </a:lnTo>
                <a:lnTo>
                  <a:pt x="16875" y="12150"/>
                </a:lnTo>
                <a:lnTo>
                  <a:pt x="16875" y="16200"/>
                </a:lnTo>
                <a:lnTo>
                  <a:pt x="19575" y="16200"/>
                </a:lnTo>
                <a:cubicBezTo>
                  <a:pt x="19947" y="16200"/>
                  <a:pt x="20250" y="15898"/>
                  <a:pt x="20250" y="15525"/>
                </a:cubicBezTo>
                <a:cubicBezTo>
                  <a:pt x="20250" y="15525"/>
                  <a:pt x="20250" y="6075"/>
                  <a:pt x="20250" y="6075"/>
                </a:cubicBezTo>
                <a:close/>
                <a:moveTo>
                  <a:pt x="15525" y="1350"/>
                </a:moveTo>
                <a:lnTo>
                  <a:pt x="6750" y="1350"/>
                </a:lnTo>
                <a:lnTo>
                  <a:pt x="6750" y="4050"/>
                </a:lnTo>
                <a:lnTo>
                  <a:pt x="15525" y="4050"/>
                </a:lnTo>
                <a:cubicBezTo>
                  <a:pt x="15525" y="4050"/>
                  <a:pt x="15525" y="1350"/>
                  <a:pt x="15525" y="1350"/>
                </a:cubicBezTo>
                <a:close/>
                <a:moveTo>
                  <a:pt x="6750" y="20250"/>
                </a:moveTo>
                <a:lnTo>
                  <a:pt x="15525" y="20250"/>
                </a:lnTo>
                <a:lnTo>
                  <a:pt x="15525" y="13500"/>
                </a:lnTo>
                <a:lnTo>
                  <a:pt x="6750" y="13500"/>
                </a:lnTo>
                <a:cubicBezTo>
                  <a:pt x="6750" y="13500"/>
                  <a:pt x="6750" y="20250"/>
                  <a:pt x="6750" y="20250"/>
                </a:cubicBezTo>
                <a:close/>
                <a:moveTo>
                  <a:pt x="20925" y="17550"/>
                </a:moveTo>
                <a:lnTo>
                  <a:pt x="16875" y="17550"/>
                </a:lnTo>
                <a:lnTo>
                  <a:pt x="16875" y="21600"/>
                </a:lnTo>
                <a:lnTo>
                  <a:pt x="5400" y="21600"/>
                </a:lnTo>
                <a:lnTo>
                  <a:pt x="5400" y="17550"/>
                </a:lnTo>
                <a:lnTo>
                  <a:pt x="675" y="17550"/>
                </a:lnTo>
                <a:cubicBezTo>
                  <a:pt x="302" y="17550"/>
                  <a:pt x="0" y="17248"/>
                  <a:pt x="0" y="16875"/>
                </a:cubicBezTo>
                <a:lnTo>
                  <a:pt x="0" y="4725"/>
                </a:lnTo>
                <a:cubicBezTo>
                  <a:pt x="0" y="4352"/>
                  <a:pt x="302" y="4050"/>
                  <a:pt x="675" y="4050"/>
                </a:cubicBezTo>
                <a:lnTo>
                  <a:pt x="5400" y="4050"/>
                </a:lnTo>
                <a:lnTo>
                  <a:pt x="5400" y="0"/>
                </a:lnTo>
                <a:lnTo>
                  <a:pt x="16875" y="0"/>
                </a:lnTo>
                <a:lnTo>
                  <a:pt x="16875" y="4050"/>
                </a:lnTo>
                <a:lnTo>
                  <a:pt x="20925" y="4050"/>
                </a:lnTo>
                <a:cubicBezTo>
                  <a:pt x="21298" y="4050"/>
                  <a:pt x="21600" y="4352"/>
                  <a:pt x="21600" y="4725"/>
                </a:cubicBezTo>
                <a:lnTo>
                  <a:pt x="21600" y="16875"/>
                </a:lnTo>
                <a:cubicBezTo>
                  <a:pt x="21600" y="17248"/>
                  <a:pt x="21298" y="17550"/>
                  <a:pt x="20925" y="17550"/>
                </a:cubicBezTo>
                <a:close/>
                <a:moveTo>
                  <a:pt x="20925" y="17550"/>
                </a:moveTo>
              </a:path>
            </a:pathLst>
          </a:custGeom>
          <a:solidFill>
            <a:schemeClr val="bg2"/>
          </a:solidFill>
          <a:ln>
            <a:noFill/>
          </a:ln>
        </p:spPr>
        <p:txBody>
          <a:bodyPr lIns="0" tIns="0" rIns="0" bIns="0"/>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sym typeface="+mn-lt"/>
            </a:endParaRPr>
          </a:p>
        </p:txBody>
      </p:sp>
      <p:sp>
        <p:nvSpPr>
          <p:cNvPr id="65" name="AutoShape 26"/>
          <p:cNvSpPr/>
          <p:nvPr/>
        </p:nvSpPr>
        <p:spPr bwMode="auto">
          <a:xfrm>
            <a:off x="5709862" y="5056917"/>
            <a:ext cx="771324" cy="722124"/>
          </a:xfrm>
          <a:custGeom>
            <a:avLst/>
            <a:gdLst/>
            <a:ahLst/>
            <a:cxnLst/>
            <a:rect l="0" t="0" r="r" b="b"/>
            <a:pathLst>
              <a:path w="21600" h="21600">
                <a:moveTo>
                  <a:pt x="7425" y="10076"/>
                </a:moveTo>
                <a:lnTo>
                  <a:pt x="14175" y="10076"/>
                </a:lnTo>
                <a:cubicBezTo>
                  <a:pt x="14548" y="10076"/>
                  <a:pt x="14850" y="10398"/>
                  <a:pt x="14850" y="10795"/>
                </a:cubicBezTo>
                <a:cubicBezTo>
                  <a:pt x="14850" y="11193"/>
                  <a:pt x="14548" y="11515"/>
                  <a:pt x="14175" y="11515"/>
                </a:cubicBezTo>
                <a:lnTo>
                  <a:pt x="7425" y="11515"/>
                </a:lnTo>
                <a:cubicBezTo>
                  <a:pt x="7052" y="11515"/>
                  <a:pt x="6750" y="11193"/>
                  <a:pt x="6750" y="10795"/>
                </a:cubicBezTo>
                <a:cubicBezTo>
                  <a:pt x="6750" y="10398"/>
                  <a:pt x="7052" y="10076"/>
                  <a:pt x="7425" y="10076"/>
                </a:cubicBezTo>
                <a:close/>
                <a:moveTo>
                  <a:pt x="16875" y="7197"/>
                </a:moveTo>
                <a:lnTo>
                  <a:pt x="4725" y="7197"/>
                </a:lnTo>
                <a:cubicBezTo>
                  <a:pt x="4352" y="7197"/>
                  <a:pt x="4050" y="6875"/>
                  <a:pt x="4050" y="6477"/>
                </a:cubicBezTo>
                <a:cubicBezTo>
                  <a:pt x="4050" y="6080"/>
                  <a:pt x="4352" y="5758"/>
                  <a:pt x="4725" y="5758"/>
                </a:cubicBezTo>
                <a:lnTo>
                  <a:pt x="16875" y="5758"/>
                </a:lnTo>
                <a:cubicBezTo>
                  <a:pt x="17248" y="5758"/>
                  <a:pt x="17550" y="6080"/>
                  <a:pt x="17550" y="6477"/>
                </a:cubicBezTo>
                <a:cubicBezTo>
                  <a:pt x="17550" y="6875"/>
                  <a:pt x="17248" y="7197"/>
                  <a:pt x="16875" y="7197"/>
                </a:cubicBezTo>
                <a:close/>
                <a:moveTo>
                  <a:pt x="20250" y="2879"/>
                </a:moveTo>
                <a:cubicBezTo>
                  <a:pt x="20250" y="2084"/>
                  <a:pt x="19645" y="1439"/>
                  <a:pt x="18900" y="1439"/>
                </a:cubicBezTo>
                <a:lnTo>
                  <a:pt x="2700" y="1439"/>
                </a:lnTo>
                <a:cubicBezTo>
                  <a:pt x="1955" y="1439"/>
                  <a:pt x="1350" y="2084"/>
                  <a:pt x="1350" y="2879"/>
                </a:cubicBezTo>
                <a:lnTo>
                  <a:pt x="1350" y="15834"/>
                </a:lnTo>
                <a:cubicBezTo>
                  <a:pt x="1350" y="16629"/>
                  <a:pt x="1955" y="17273"/>
                  <a:pt x="2700" y="17273"/>
                </a:cubicBezTo>
                <a:lnTo>
                  <a:pt x="8767" y="17273"/>
                </a:lnTo>
                <a:lnTo>
                  <a:pt x="10800" y="19441"/>
                </a:lnTo>
                <a:lnTo>
                  <a:pt x="12833" y="17273"/>
                </a:lnTo>
                <a:lnTo>
                  <a:pt x="18900" y="17273"/>
                </a:lnTo>
                <a:cubicBezTo>
                  <a:pt x="19645" y="17273"/>
                  <a:pt x="20250" y="16629"/>
                  <a:pt x="20250" y="15834"/>
                </a:cubicBezTo>
                <a:cubicBezTo>
                  <a:pt x="20250" y="15834"/>
                  <a:pt x="20250" y="2879"/>
                  <a:pt x="20250" y="2879"/>
                </a:cubicBezTo>
                <a:close/>
                <a:moveTo>
                  <a:pt x="19575" y="18712"/>
                </a:moveTo>
                <a:lnTo>
                  <a:pt x="13508" y="18712"/>
                </a:lnTo>
                <a:lnTo>
                  <a:pt x="10800" y="21600"/>
                </a:lnTo>
                <a:lnTo>
                  <a:pt x="8091" y="18712"/>
                </a:lnTo>
                <a:lnTo>
                  <a:pt x="2025" y="18712"/>
                </a:lnTo>
                <a:cubicBezTo>
                  <a:pt x="907" y="18712"/>
                  <a:pt x="0" y="17746"/>
                  <a:pt x="0" y="16553"/>
                </a:cubicBezTo>
                <a:lnTo>
                  <a:pt x="0" y="2159"/>
                </a:lnTo>
                <a:cubicBezTo>
                  <a:pt x="0" y="967"/>
                  <a:pt x="907" y="0"/>
                  <a:pt x="2025" y="0"/>
                </a:cubicBezTo>
                <a:lnTo>
                  <a:pt x="19575" y="0"/>
                </a:lnTo>
                <a:cubicBezTo>
                  <a:pt x="20693" y="0"/>
                  <a:pt x="21600" y="967"/>
                  <a:pt x="21600" y="2159"/>
                </a:cubicBezTo>
                <a:lnTo>
                  <a:pt x="21600" y="16553"/>
                </a:lnTo>
                <a:cubicBezTo>
                  <a:pt x="21600" y="17746"/>
                  <a:pt x="20693" y="18712"/>
                  <a:pt x="19575" y="18712"/>
                </a:cubicBezTo>
                <a:close/>
                <a:moveTo>
                  <a:pt x="19575" y="18712"/>
                </a:moveTo>
              </a:path>
            </a:pathLst>
          </a:custGeom>
          <a:solidFill>
            <a:schemeClr val="bg2"/>
          </a:solidFill>
          <a:ln>
            <a:noFill/>
          </a:ln>
        </p:spPr>
        <p:txBody>
          <a:bodyPr lIns="0" tIns="0" rIns="0" bIns="0"/>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sym typeface="+mn-lt"/>
            </a:endParaRPr>
          </a:p>
        </p:txBody>
      </p:sp>
      <p:sp>
        <p:nvSpPr>
          <p:cNvPr id="66" name="AutoShape 28"/>
          <p:cNvSpPr/>
          <p:nvPr/>
        </p:nvSpPr>
        <p:spPr bwMode="auto">
          <a:xfrm>
            <a:off x="4731912" y="2856444"/>
            <a:ext cx="149124" cy="149432"/>
          </a:xfrm>
          <a:custGeom>
            <a:avLst/>
            <a:gdLst/>
            <a:ahLst/>
            <a:cxnLst/>
            <a:rect l="0" t="0" r="r" b="b"/>
            <a:pathLst>
              <a:path w="21600" h="21600">
                <a:moveTo>
                  <a:pt x="6075" y="8775"/>
                </a:moveTo>
                <a:lnTo>
                  <a:pt x="7425" y="8775"/>
                </a:lnTo>
                <a:lnTo>
                  <a:pt x="7425" y="16875"/>
                </a:lnTo>
                <a:lnTo>
                  <a:pt x="6075" y="16875"/>
                </a:lnTo>
                <a:cubicBezTo>
                  <a:pt x="6075" y="16875"/>
                  <a:pt x="6075" y="8775"/>
                  <a:pt x="6075" y="8775"/>
                </a:cubicBezTo>
                <a:close/>
                <a:moveTo>
                  <a:pt x="10125" y="7425"/>
                </a:moveTo>
                <a:lnTo>
                  <a:pt x="11475" y="7425"/>
                </a:lnTo>
                <a:lnTo>
                  <a:pt x="11475" y="16875"/>
                </a:lnTo>
                <a:lnTo>
                  <a:pt x="10125" y="16875"/>
                </a:lnTo>
                <a:cubicBezTo>
                  <a:pt x="10125" y="16875"/>
                  <a:pt x="10125" y="7425"/>
                  <a:pt x="10125" y="7425"/>
                </a:cubicBezTo>
                <a:close/>
                <a:moveTo>
                  <a:pt x="14175" y="8775"/>
                </a:moveTo>
                <a:lnTo>
                  <a:pt x="15525" y="8775"/>
                </a:lnTo>
                <a:lnTo>
                  <a:pt x="15525" y="16875"/>
                </a:lnTo>
                <a:lnTo>
                  <a:pt x="14175" y="16875"/>
                </a:lnTo>
                <a:cubicBezTo>
                  <a:pt x="14175" y="16875"/>
                  <a:pt x="14175" y="8775"/>
                  <a:pt x="14175" y="8775"/>
                </a:cubicBezTo>
                <a:close/>
                <a:moveTo>
                  <a:pt x="18225" y="5400"/>
                </a:moveTo>
                <a:lnTo>
                  <a:pt x="18225" y="4725"/>
                </a:lnTo>
                <a:lnTo>
                  <a:pt x="18225" y="4050"/>
                </a:lnTo>
                <a:lnTo>
                  <a:pt x="17550" y="4050"/>
                </a:lnTo>
                <a:lnTo>
                  <a:pt x="4050" y="4050"/>
                </a:lnTo>
                <a:lnTo>
                  <a:pt x="3375" y="4050"/>
                </a:lnTo>
                <a:lnTo>
                  <a:pt x="3375" y="4725"/>
                </a:lnTo>
                <a:lnTo>
                  <a:pt x="3375" y="5400"/>
                </a:lnTo>
                <a:lnTo>
                  <a:pt x="3375" y="19575"/>
                </a:lnTo>
                <a:cubicBezTo>
                  <a:pt x="3375" y="19947"/>
                  <a:pt x="3677" y="20250"/>
                  <a:pt x="4050" y="20250"/>
                </a:cubicBezTo>
                <a:lnTo>
                  <a:pt x="17550" y="20250"/>
                </a:lnTo>
                <a:cubicBezTo>
                  <a:pt x="17923" y="20250"/>
                  <a:pt x="18225" y="19947"/>
                  <a:pt x="18225" y="19575"/>
                </a:cubicBezTo>
                <a:cubicBezTo>
                  <a:pt x="18225" y="19575"/>
                  <a:pt x="18225" y="5400"/>
                  <a:pt x="18225" y="5400"/>
                </a:cubicBezTo>
                <a:close/>
                <a:moveTo>
                  <a:pt x="12825" y="1350"/>
                </a:moveTo>
                <a:lnTo>
                  <a:pt x="8775" y="1350"/>
                </a:lnTo>
                <a:lnTo>
                  <a:pt x="8775" y="2700"/>
                </a:lnTo>
                <a:lnTo>
                  <a:pt x="12825" y="2700"/>
                </a:lnTo>
                <a:cubicBezTo>
                  <a:pt x="12825" y="2700"/>
                  <a:pt x="12825" y="1350"/>
                  <a:pt x="12825" y="1350"/>
                </a:cubicBezTo>
                <a:close/>
                <a:moveTo>
                  <a:pt x="20925" y="4050"/>
                </a:moveTo>
                <a:lnTo>
                  <a:pt x="19575" y="4050"/>
                </a:lnTo>
                <a:lnTo>
                  <a:pt x="19575" y="20250"/>
                </a:lnTo>
                <a:cubicBezTo>
                  <a:pt x="19575" y="20996"/>
                  <a:pt x="18970" y="21600"/>
                  <a:pt x="18225" y="21600"/>
                </a:cubicBezTo>
                <a:lnTo>
                  <a:pt x="3375" y="21600"/>
                </a:lnTo>
                <a:cubicBezTo>
                  <a:pt x="2629" y="21600"/>
                  <a:pt x="2025" y="20996"/>
                  <a:pt x="2025" y="20250"/>
                </a:cubicBezTo>
                <a:lnTo>
                  <a:pt x="2025" y="4050"/>
                </a:lnTo>
                <a:lnTo>
                  <a:pt x="675" y="4050"/>
                </a:lnTo>
                <a:cubicBezTo>
                  <a:pt x="302" y="4050"/>
                  <a:pt x="0" y="3748"/>
                  <a:pt x="0" y="3375"/>
                </a:cubicBezTo>
                <a:cubicBezTo>
                  <a:pt x="0" y="3002"/>
                  <a:pt x="302" y="2700"/>
                  <a:pt x="675" y="2700"/>
                </a:cubicBezTo>
                <a:lnTo>
                  <a:pt x="3375" y="2700"/>
                </a:lnTo>
                <a:lnTo>
                  <a:pt x="7425" y="2700"/>
                </a:lnTo>
                <a:lnTo>
                  <a:pt x="7425" y="675"/>
                </a:lnTo>
                <a:cubicBezTo>
                  <a:pt x="7425" y="302"/>
                  <a:pt x="7727" y="0"/>
                  <a:pt x="8100" y="0"/>
                </a:cubicBezTo>
                <a:lnTo>
                  <a:pt x="13500" y="0"/>
                </a:lnTo>
                <a:cubicBezTo>
                  <a:pt x="13873" y="0"/>
                  <a:pt x="14175" y="302"/>
                  <a:pt x="14175" y="675"/>
                </a:cubicBezTo>
                <a:lnTo>
                  <a:pt x="14175" y="2700"/>
                </a:lnTo>
                <a:lnTo>
                  <a:pt x="18225" y="2700"/>
                </a:lnTo>
                <a:lnTo>
                  <a:pt x="20925" y="2700"/>
                </a:lnTo>
                <a:cubicBezTo>
                  <a:pt x="21298" y="2700"/>
                  <a:pt x="21600" y="3002"/>
                  <a:pt x="21600" y="3375"/>
                </a:cubicBezTo>
                <a:cubicBezTo>
                  <a:pt x="21600" y="3748"/>
                  <a:pt x="21298" y="4050"/>
                  <a:pt x="20925" y="4050"/>
                </a:cubicBezTo>
                <a:close/>
                <a:moveTo>
                  <a:pt x="20925" y="4050"/>
                </a:moveTo>
              </a:path>
            </a:pathLst>
          </a:custGeom>
          <a:solidFill>
            <a:schemeClr val="bg2"/>
          </a:solidFill>
          <a:ln>
            <a:noFill/>
          </a:ln>
        </p:spPr>
        <p:txBody>
          <a:bodyPr lIns="0" tIns="0" rIns="0" bIns="0"/>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sym typeface="+mn-lt"/>
            </a:endParaRPr>
          </a:p>
        </p:txBody>
      </p:sp>
      <p:sp>
        <p:nvSpPr>
          <p:cNvPr id="67" name="文本框 66"/>
          <p:cNvSpPr txBox="1"/>
          <p:nvPr/>
        </p:nvSpPr>
        <p:spPr>
          <a:xfrm>
            <a:off x="1127125" y="4836160"/>
            <a:ext cx="3270885" cy="1198880"/>
          </a:xfrm>
          <a:prstGeom prst="rect">
            <a:avLst/>
          </a:prstGeom>
          <a:noFill/>
        </p:spPr>
        <p:txBody>
          <a:bodyPr wrap="square" rtlCol="0" anchor="t">
            <a:spAutoFit/>
          </a:bodyPr>
          <a:lstStyle/>
          <a:p>
            <a:pPr marL="0" lvl="0" algn="l" defTabSz="914400" rtl="0" eaLnBrk="1" latinLnBrk="0">
              <a:lnSpc>
                <a:spcPct val="150000"/>
              </a:lnSpc>
            </a:pPr>
            <a:r>
              <a:rPr lang="zh-CN" altLang="en-US" sz="1600" dirty="0">
                <a:solidFill>
                  <a:schemeClr val="bg1"/>
                </a:solidFill>
                <a:latin typeface="微软雅黑" panose="020B0503020204020204" pitchFamily="34" charset="-122"/>
                <a:ea typeface="微软雅黑" panose="020B0503020204020204" pitchFamily="34" charset="-122"/>
                <a:sym typeface="+mn-ea"/>
              </a:rPr>
              <a:t>本公司是一家处于创始阶段处于高赢利发展阶段商品增值转卖</a:t>
            </a:r>
            <a:r>
              <a:rPr lang="en-US" altLang="zh-CN" sz="1600" dirty="0">
                <a:solidFill>
                  <a:schemeClr val="bg1"/>
                </a:solidFill>
                <a:latin typeface="微软雅黑" panose="020B0503020204020204" pitchFamily="34" charset="-122"/>
                <a:ea typeface="微软雅黑" panose="020B0503020204020204" pitchFamily="34" charset="-122"/>
                <a:sym typeface="+mn-ea"/>
              </a:rPr>
              <a:t>]</a:t>
            </a:r>
            <a:r>
              <a:rPr lang="zh-CN" altLang="en-US" sz="1600" dirty="0">
                <a:solidFill>
                  <a:schemeClr val="bg1"/>
                </a:solidFill>
                <a:latin typeface="微软雅黑" panose="020B0503020204020204" pitchFamily="34" charset="-122"/>
                <a:ea typeface="微软雅黑" panose="020B0503020204020204" pitchFamily="34" charset="-122"/>
                <a:sym typeface="+mn-ea"/>
              </a:rPr>
              <a:t>的公司</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2000"/>
                                  </p:stCondLst>
                                  <p:childTnLst>
                                    <p:animEffect transition="out" filter="fade">
                                      <p:cBhvr>
                                        <p:cTn id="16" dur="500"/>
                                        <p:tgtEl>
                                          <p:spTgt spid="38"/>
                                        </p:tgtEl>
                                      </p:cBhvr>
                                    </p:animEffect>
                                    <p:set>
                                      <p:cBhvr>
                                        <p:cTn id="17" dur="1" fill="hold">
                                          <p:stCondLst>
                                            <p:cond delay="499"/>
                                          </p:stCondLst>
                                        </p:cTn>
                                        <p:tgtEl>
                                          <p:spTgt spid="38"/>
                                        </p:tgtEl>
                                        <p:attrNameLst>
                                          <p:attrName>style.visibility</p:attrName>
                                        </p:attrNameLst>
                                      </p:cBhvr>
                                      <p:to>
                                        <p:strVal val="hidden"/>
                                      </p:to>
                                    </p:set>
                                  </p:childTnLst>
                                </p:cTn>
                              </p:par>
                            </p:childTnLst>
                          </p:cTn>
                        </p:par>
                        <p:par>
                          <p:cTn id="18" fill="hold">
                            <p:stCondLst>
                              <p:cond delay="2500"/>
                            </p:stCondLst>
                            <p:childTnLst>
                              <p:par>
                                <p:cTn id="19" presetID="9"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par>
                          <p:cTn id="22" fill="hold">
                            <p:stCondLst>
                              <p:cond delay="3000"/>
                            </p:stCondLst>
                            <p:childTnLst>
                              <p:par>
                                <p:cTn id="23" presetID="9" presetClass="entr" presetSubtype="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dissolve">
                                      <p:cBhvr>
                                        <p:cTn id="25" dur="500"/>
                                        <p:tgtEl>
                                          <p:spTgt spid="2"/>
                                        </p:tgtEl>
                                      </p:cBhvr>
                                    </p:animEffect>
                                  </p:childTnLst>
                                </p:cTn>
                              </p:par>
                            </p:childTnLst>
                          </p:cTn>
                        </p:par>
                        <p:par>
                          <p:cTn id="26" fill="hold">
                            <p:stCondLst>
                              <p:cond delay="3500"/>
                            </p:stCondLst>
                            <p:childTnLst>
                              <p:par>
                                <p:cTn id="27" presetID="9" presetClass="entr" presetSubtype="0" fill="hold" grpId="0" nodeType="afterEffect">
                                  <p:stCondLst>
                                    <p:cond delay="100"/>
                                  </p:stCondLst>
                                  <p:childTnLst>
                                    <p:set>
                                      <p:cBhvr>
                                        <p:cTn id="28" dur="1" fill="hold">
                                          <p:stCondLst>
                                            <p:cond delay="0"/>
                                          </p:stCondLst>
                                        </p:cTn>
                                        <p:tgtEl>
                                          <p:spTgt spid="7"/>
                                        </p:tgtEl>
                                        <p:attrNameLst>
                                          <p:attrName>style.visibility</p:attrName>
                                        </p:attrNameLst>
                                      </p:cBhvr>
                                      <p:to>
                                        <p:strVal val="visible"/>
                                      </p:to>
                                    </p:set>
                                    <p:animEffect transition="in" filter="dissolve">
                                      <p:cBhvr>
                                        <p:cTn id="29" dur="500"/>
                                        <p:tgtEl>
                                          <p:spTgt spid="7"/>
                                        </p:tgtEl>
                                      </p:cBhvr>
                                    </p:animEffect>
                                  </p:childTnLst>
                                </p:cTn>
                              </p:par>
                            </p:childTnLst>
                          </p:cTn>
                        </p:par>
                        <p:par>
                          <p:cTn id="30" fill="hold">
                            <p:stCondLst>
                              <p:cond delay="4100"/>
                            </p:stCondLst>
                            <p:childTnLst>
                              <p:par>
                                <p:cTn id="31" presetID="9" presetClass="entr" presetSubtype="0" fill="hold" grpId="0" nodeType="after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dissolve">
                                      <p:cBhvr>
                                        <p:cTn id="33" dur="500"/>
                                        <p:tgtEl>
                                          <p:spTgt spid="66"/>
                                        </p:tgtEl>
                                      </p:cBhvr>
                                    </p:animEffect>
                                  </p:childTnLst>
                                </p:cTn>
                              </p:par>
                            </p:childTnLst>
                          </p:cTn>
                        </p:par>
                        <p:par>
                          <p:cTn id="34" fill="hold">
                            <p:stCondLst>
                              <p:cond delay="4600"/>
                            </p:stCondLst>
                            <p:childTnLst>
                              <p:par>
                                <p:cTn id="35" presetID="9" presetClass="entr" presetSubtype="0" fill="hold" grpId="0" nodeType="afterEffect">
                                  <p:stCondLst>
                                    <p:cond delay="100"/>
                                  </p:stCondLst>
                                  <p:childTnLst>
                                    <p:set>
                                      <p:cBhvr>
                                        <p:cTn id="36" dur="1" fill="hold">
                                          <p:stCondLst>
                                            <p:cond delay="0"/>
                                          </p:stCondLst>
                                        </p:cTn>
                                        <p:tgtEl>
                                          <p:spTgt spid="8"/>
                                        </p:tgtEl>
                                        <p:attrNameLst>
                                          <p:attrName>style.visibility</p:attrName>
                                        </p:attrNameLst>
                                      </p:cBhvr>
                                      <p:to>
                                        <p:strVal val="visible"/>
                                      </p:to>
                                    </p:set>
                                    <p:animEffect transition="in" filter="dissolve">
                                      <p:cBhvr>
                                        <p:cTn id="37" dur="500"/>
                                        <p:tgtEl>
                                          <p:spTgt spid="8"/>
                                        </p:tgtEl>
                                      </p:cBhvr>
                                    </p:animEffect>
                                  </p:childTnLst>
                                </p:cTn>
                              </p:par>
                            </p:childTnLst>
                          </p:cTn>
                        </p:par>
                        <p:par>
                          <p:cTn id="38" fill="hold">
                            <p:stCondLst>
                              <p:cond delay="5200"/>
                            </p:stCondLst>
                            <p:childTnLst>
                              <p:par>
                                <p:cTn id="39" presetID="9" presetClass="entr" presetSubtype="0" fill="hold" grpId="0" nodeType="after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dissolve">
                                      <p:cBhvr>
                                        <p:cTn id="41" dur="500"/>
                                        <p:tgtEl>
                                          <p:spTgt spid="64"/>
                                        </p:tgtEl>
                                      </p:cBhvr>
                                    </p:animEffect>
                                  </p:childTnLst>
                                </p:cTn>
                              </p:par>
                            </p:childTnLst>
                          </p:cTn>
                        </p:par>
                        <p:par>
                          <p:cTn id="42" fill="hold">
                            <p:stCondLst>
                              <p:cond delay="5700"/>
                            </p:stCondLst>
                            <p:childTnLst>
                              <p:par>
                                <p:cTn id="43" presetID="9" presetClass="entr" presetSubtype="0" fill="hold" grpId="0" nodeType="afterEffect">
                                  <p:stCondLst>
                                    <p:cond delay="100"/>
                                  </p:stCondLst>
                                  <p:childTnLst>
                                    <p:set>
                                      <p:cBhvr>
                                        <p:cTn id="44" dur="1" fill="hold">
                                          <p:stCondLst>
                                            <p:cond delay="0"/>
                                          </p:stCondLst>
                                        </p:cTn>
                                        <p:tgtEl>
                                          <p:spTgt spid="9"/>
                                        </p:tgtEl>
                                        <p:attrNameLst>
                                          <p:attrName>style.visibility</p:attrName>
                                        </p:attrNameLst>
                                      </p:cBhvr>
                                      <p:to>
                                        <p:strVal val="visible"/>
                                      </p:to>
                                    </p:set>
                                    <p:animEffect transition="in" filter="dissolve">
                                      <p:cBhvr>
                                        <p:cTn id="45" dur="500"/>
                                        <p:tgtEl>
                                          <p:spTgt spid="9"/>
                                        </p:tgtEl>
                                      </p:cBhvr>
                                    </p:animEffect>
                                  </p:childTnLst>
                                </p:cTn>
                              </p:par>
                            </p:childTnLst>
                          </p:cTn>
                        </p:par>
                        <p:par>
                          <p:cTn id="46" fill="hold">
                            <p:stCondLst>
                              <p:cond delay="6300"/>
                            </p:stCondLst>
                            <p:childTnLst>
                              <p:par>
                                <p:cTn id="47" presetID="9" presetClass="entr" presetSubtype="0" fill="hold" grpId="0" nodeType="after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dissolve">
                                      <p:cBhvr>
                                        <p:cTn id="49" dur="500"/>
                                        <p:tgtEl>
                                          <p:spTgt spid="63"/>
                                        </p:tgtEl>
                                      </p:cBhvr>
                                    </p:animEffect>
                                  </p:childTnLst>
                                </p:cTn>
                              </p:par>
                            </p:childTnLst>
                          </p:cTn>
                        </p:par>
                        <p:par>
                          <p:cTn id="50" fill="hold">
                            <p:stCondLst>
                              <p:cond delay="6800"/>
                            </p:stCondLst>
                            <p:childTnLst>
                              <p:par>
                                <p:cTn id="51" presetID="9" presetClass="entr" presetSubtype="0" fill="hold" grpId="0" nodeType="afterEffect">
                                  <p:stCondLst>
                                    <p:cond delay="10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childTnLst>
                          </p:cTn>
                        </p:par>
                        <p:par>
                          <p:cTn id="54" fill="hold">
                            <p:stCondLst>
                              <p:cond delay="7400"/>
                            </p:stCondLst>
                            <p:childTnLst>
                              <p:par>
                                <p:cTn id="55" presetID="9" presetClass="entr" presetSubtype="0" fill="hold" grpId="0" nodeType="after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dissolve">
                                      <p:cBhvr>
                                        <p:cTn id="57" dur="500"/>
                                        <p:tgtEl>
                                          <p:spTgt spid="62"/>
                                        </p:tgtEl>
                                      </p:cBhvr>
                                    </p:animEffect>
                                  </p:childTnLst>
                                </p:cTn>
                              </p:par>
                            </p:childTnLst>
                          </p:cTn>
                        </p:par>
                        <p:par>
                          <p:cTn id="58" fill="hold">
                            <p:stCondLst>
                              <p:cond delay="7900"/>
                            </p:stCondLst>
                            <p:childTnLst>
                              <p:par>
                                <p:cTn id="59" presetID="9" presetClass="entr" presetSubtype="0" fill="hold" grpId="0" nodeType="afterEffect">
                                  <p:stCondLst>
                                    <p:cond delay="50"/>
                                  </p:stCondLst>
                                  <p:childTnLst>
                                    <p:set>
                                      <p:cBhvr>
                                        <p:cTn id="60" dur="1" fill="hold">
                                          <p:stCondLst>
                                            <p:cond delay="0"/>
                                          </p:stCondLst>
                                        </p:cTn>
                                        <p:tgtEl>
                                          <p:spTgt spid="40"/>
                                        </p:tgtEl>
                                        <p:attrNameLst>
                                          <p:attrName>style.visibility</p:attrName>
                                        </p:attrNameLst>
                                      </p:cBhvr>
                                      <p:to>
                                        <p:strVal val="visible"/>
                                      </p:to>
                                    </p:set>
                                    <p:animEffect transition="in" filter="dissolve">
                                      <p:cBhvr>
                                        <p:cTn id="61" dur="500"/>
                                        <p:tgtEl>
                                          <p:spTgt spid="40"/>
                                        </p:tgtEl>
                                      </p:cBhvr>
                                    </p:animEffect>
                                  </p:childTnLst>
                                </p:cTn>
                              </p:par>
                            </p:childTnLst>
                          </p:cTn>
                        </p:par>
                        <p:par>
                          <p:cTn id="62" fill="hold">
                            <p:stCondLst>
                              <p:cond delay="8450"/>
                            </p:stCondLst>
                            <p:childTnLst>
                              <p:par>
                                <p:cTn id="63" presetID="9" presetClass="entr" presetSubtype="0" fill="hold" nodeType="afterEffect">
                                  <p:stCondLst>
                                    <p:cond delay="50"/>
                                  </p:stCondLst>
                                  <p:childTnLst>
                                    <p:set>
                                      <p:cBhvr>
                                        <p:cTn id="64" dur="1" fill="hold">
                                          <p:stCondLst>
                                            <p:cond delay="0"/>
                                          </p:stCondLst>
                                        </p:cTn>
                                        <p:tgtEl>
                                          <p:spTgt spid="39"/>
                                        </p:tgtEl>
                                        <p:attrNameLst>
                                          <p:attrName>style.visibility</p:attrName>
                                        </p:attrNameLst>
                                      </p:cBhvr>
                                      <p:to>
                                        <p:strVal val="visible"/>
                                      </p:to>
                                    </p:set>
                                    <p:animEffect transition="in" filter="dissolve">
                                      <p:cBhvr>
                                        <p:cTn id="65" dur="500"/>
                                        <p:tgtEl>
                                          <p:spTgt spid="39"/>
                                        </p:tgtEl>
                                      </p:cBhvr>
                                    </p:animEffect>
                                  </p:childTnLst>
                                </p:cTn>
                              </p:par>
                            </p:childTnLst>
                          </p:cTn>
                        </p:par>
                        <p:par>
                          <p:cTn id="66" fill="hold">
                            <p:stCondLst>
                              <p:cond delay="9000"/>
                            </p:stCondLst>
                            <p:childTnLst>
                              <p:par>
                                <p:cTn id="67" presetID="9" presetClass="entr" presetSubtype="0" fill="hold" nodeType="afterEffect">
                                  <p:stCondLst>
                                    <p:cond delay="50"/>
                                  </p:stCondLst>
                                  <p:childTnLst>
                                    <p:set>
                                      <p:cBhvr>
                                        <p:cTn id="68" dur="1" fill="hold">
                                          <p:stCondLst>
                                            <p:cond delay="0"/>
                                          </p:stCondLst>
                                        </p:cTn>
                                        <p:tgtEl>
                                          <p:spTgt spid="11"/>
                                        </p:tgtEl>
                                        <p:attrNameLst>
                                          <p:attrName>style.visibility</p:attrName>
                                        </p:attrNameLst>
                                      </p:cBhvr>
                                      <p:to>
                                        <p:strVal val="visible"/>
                                      </p:to>
                                    </p:set>
                                    <p:animEffect transition="in" filter="dissolve">
                                      <p:cBhvr>
                                        <p:cTn id="69" dur="500"/>
                                        <p:tgtEl>
                                          <p:spTgt spid="11"/>
                                        </p:tgtEl>
                                      </p:cBhvr>
                                    </p:animEffect>
                                  </p:childTnLst>
                                </p:cTn>
                              </p:par>
                            </p:childTnLst>
                          </p:cTn>
                        </p:par>
                        <p:par>
                          <p:cTn id="70" fill="hold">
                            <p:stCondLst>
                              <p:cond delay="9550"/>
                            </p:stCondLst>
                            <p:childTnLst>
                              <p:par>
                                <p:cTn id="71" presetID="9" presetClass="entr" presetSubtype="0" fill="hold" grpId="0" nodeType="afterEffect">
                                  <p:stCondLst>
                                    <p:cond delay="50"/>
                                  </p:stCondLst>
                                  <p:childTnLst>
                                    <p:set>
                                      <p:cBhvr>
                                        <p:cTn id="72" dur="1" fill="hold">
                                          <p:stCondLst>
                                            <p:cond delay="0"/>
                                          </p:stCondLst>
                                        </p:cTn>
                                        <p:tgtEl>
                                          <p:spTgt spid="41"/>
                                        </p:tgtEl>
                                        <p:attrNameLst>
                                          <p:attrName>style.visibility</p:attrName>
                                        </p:attrNameLst>
                                      </p:cBhvr>
                                      <p:to>
                                        <p:strVal val="visible"/>
                                      </p:to>
                                    </p:set>
                                    <p:animEffect transition="in" filter="dissolve">
                                      <p:cBhvr>
                                        <p:cTn id="73" dur="500"/>
                                        <p:tgtEl>
                                          <p:spTgt spid="41"/>
                                        </p:tgtEl>
                                      </p:cBhvr>
                                    </p:animEffect>
                                  </p:childTnLst>
                                </p:cTn>
                              </p:par>
                            </p:childTnLst>
                          </p:cTn>
                        </p:par>
                        <p:par>
                          <p:cTn id="74" fill="hold">
                            <p:stCondLst>
                              <p:cond delay="10100"/>
                            </p:stCondLst>
                            <p:childTnLst>
                              <p:par>
                                <p:cTn id="75" presetID="9" presetClass="entr" presetSubtype="0" fill="hold" grpId="0" nodeType="afterEffect">
                                  <p:stCondLst>
                                    <p:cond delay="50"/>
                                  </p:stCondLst>
                                  <p:childTnLst>
                                    <p:set>
                                      <p:cBhvr>
                                        <p:cTn id="76" dur="1" fill="hold">
                                          <p:stCondLst>
                                            <p:cond delay="0"/>
                                          </p:stCondLst>
                                        </p:cTn>
                                        <p:tgtEl>
                                          <p:spTgt spid="45"/>
                                        </p:tgtEl>
                                        <p:attrNameLst>
                                          <p:attrName>style.visibility</p:attrName>
                                        </p:attrNameLst>
                                      </p:cBhvr>
                                      <p:to>
                                        <p:strVal val="visible"/>
                                      </p:to>
                                    </p:set>
                                    <p:animEffect transition="in" filter="dissolve">
                                      <p:cBhvr>
                                        <p:cTn id="77" dur="500"/>
                                        <p:tgtEl>
                                          <p:spTgt spid="45"/>
                                        </p:tgtEl>
                                      </p:cBhvr>
                                    </p:animEffect>
                                  </p:childTnLst>
                                </p:cTn>
                              </p:par>
                            </p:childTnLst>
                          </p:cTn>
                        </p:par>
                        <p:par>
                          <p:cTn id="78" fill="hold">
                            <p:stCondLst>
                              <p:cond delay="10650"/>
                            </p:stCondLst>
                            <p:childTnLst>
                              <p:par>
                                <p:cTn id="79" presetID="9" presetClass="entr" presetSubtype="0" fill="hold" nodeType="afterEffect">
                                  <p:stCondLst>
                                    <p:cond delay="50"/>
                                  </p:stCondLst>
                                  <p:childTnLst>
                                    <p:set>
                                      <p:cBhvr>
                                        <p:cTn id="80" dur="1" fill="hold">
                                          <p:stCondLst>
                                            <p:cond delay="0"/>
                                          </p:stCondLst>
                                        </p:cTn>
                                        <p:tgtEl>
                                          <p:spTgt spid="44"/>
                                        </p:tgtEl>
                                        <p:attrNameLst>
                                          <p:attrName>style.visibility</p:attrName>
                                        </p:attrNameLst>
                                      </p:cBhvr>
                                      <p:to>
                                        <p:strVal val="visible"/>
                                      </p:to>
                                    </p:set>
                                    <p:animEffect transition="in" filter="dissolve">
                                      <p:cBhvr>
                                        <p:cTn id="81" dur="500"/>
                                        <p:tgtEl>
                                          <p:spTgt spid="44"/>
                                        </p:tgtEl>
                                      </p:cBhvr>
                                    </p:animEffect>
                                  </p:childTnLst>
                                </p:cTn>
                              </p:par>
                            </p:childTnLst>
                          </p:cTn>
                        </p:par>
                        <p:par>
                          <p:cTn id="82" fill="hold">
                            <p:stCondLst>
                              <p:cond delay="11200"/>
                            </p:stCondLst>
                            <p:childTnLst>
                              <p:par>
                                <p:cTn id="83" presetID="9" presetClass="entr" presetSubtype="0" fill="hold" nodeType="afterEffect">
                                  <p:stCondLst>
                                    <p:cond delay="50"/>
                                  </p:stCondLst>
                                  <p:childTnLst>
                                    <p:set>
                                      <p:cBhvr>
                                        <p:cTn id="84" dur="1" fill="hold">
                                          <p:stCondLst>
                                            <p:cond delay="0"/>
                                          </p:stCondLst>
                                        </p:cTn>
                                        <p:tgtEl>
                                          <p:spTgt spid="43"/>
                                        </p:tgtEl>
                                        <p:attrNameLst>
                                          <p:attrName>style.visibility</p:attrName>
                                        </p:attrNameLst>
                                      </p:cBhvr>
                                      <p:to>
                                        <p:strVal val="visible"/>
                                      </p:to>
                                    </p:set>
                                    <p:animEffect transition="in" filter="dissolve">
                                      <p:cBhvr>
                                        <p:cTn id="85" dur="500"/>
                                        <p:tgtEl>
                                          <p:spTgt spid="43"/>
                                        </p:tgtEl>
                                      </p:cBhvr>
                                    </p:animEffect>
                                  </p:childTnLst>
                                </p:cTn>
                              </p:par>
                            </p:childTnLst>
                          </p:cTn>
                        </p:par>
                        <p:par>
                          <p:cTn id="86" fill="hold">
                            <p:stCondLst>
                              <p:cond delay="11750"/>
                            </p:stCondLst>
                            <p:childTnLst>
                              <p:par>
                                <p:cTn id="87" presetID="9" presetClass="entr" presetSubtype="0" fill="hold" grpId="0" nodeType="afterEffect">
                                  <p:stCondLst>
                                    <p:cond delay="50"/>
                                  </p:stCondLst>
                                  <p:childTnLst>
                                    <p:set>
                                      <p:cBhvr>
                                        <p:cTn id="88" dur="1" fill="hold">
                                          <p:stCondLst>
                                            <p:cond delay="0"/>
                                          </p:stCondLst>
                                        </p:cTn>
                                        <p:tgtEl>
                                          <p:spTgt spid="46"/>
                                        </p:tgtEl>
                                        <p:attrNameLst>
                                          <p:attrName>style.visibility</p:attrName>
                                        </p:attrNameLst>
                                      </p:cBhvr>
                                      <p:to>
                                        <p:strVal val="visible"/>
                                      </p:to>
                                    </p:set>
                                    <p:animEffect transition="in" filter="dissolve">
                                      <p:cBhvr>
                                        <p:cTn id="89" dur="500"/>
                                        <p:tgtEl>
                                          <p:spTgt spid="46"/>
                                        </p:tgtEl>
                                      </p:cBhvr>
                                    </p:animEffect>
                                  </p:childTnLst>
                                </p:cTn>
                              </p:par>
                            </p:childTnLst>
                          </p:cTn>
                        </p:par>
                        <p:par>
                          <p:cTn id="90" fill="hold">
                            <p:stCondLst>
                              <p:cond delay="12300"/>
                            </p:stCondLst>
                            <p:childTnLst>
                              <p:par>
                                <p:cTn id="91" presetID="9" presetClass="entr" presetSubtype="0" fill="hold" grpId="0" nodeType="afterEffect">
                                  <p:stCondLst>
                                    <p:cond delay="50"/>
                                  </p:stCondLst>
                                  <p:childTnLst>
                                    <p:set>
                                      <p:cBhvr>
                                        <p:cTn id="92" dur="1" fill="hold">
                                          <p:stCondLst>
                                            <p:cond delay="0"/>
                                          </p:stCondLst>
                                        </p:cTn>
                                        <p:tgtEl>
                                          <p:spTgt spid="49"/>
                                        </p:tgtEl>
                                        <p:attrNameLst>
                                          <p:attrName>style.visibility</p:attrName>
                                        </p:attrNameLst>
                                      </p:cBhvr>
                                      <p:to>
                                        <p:strVal val="visible"/>
                                      </p:to>
                                    </p:set>
                                    <p:animEffect transition="in" filter="dissolve">
                                      <p:cBhvr>
                                        <p:cTn id="93" dur="500"/>
                                        <p:tgtEl>
                                          <p:spTgt spid="49"/>
                                        </p:tgtEl>
                                      </p:cBhvr>
                                    </p:animEffect>
                                  </p:childTnLst>
                                </p:cTn>
                              </p:par>
                            </p:childTnLst>
                          </p:cTn>
                        </p:par>
                        <p:par>
                          <p:cTn id="94" fill="hold">
                            <p:stCondLst>
                              <p:cond delay="12850"/>
                            </p:stCondLst>
                            <p:childTnLst>
                              <p:par>
                                <p:cTn id="95" presetID="9" presetClass="entr" presetSubtype="0" fill="hold" nodeType="afterEffect">
                                  <p:stCondLst>
                                    <p:cond delay="50"/>
                                  </p:stCondLst>
                                  <p:childTnLst>
                                    <p:set>
                                      <p:cBhvr>
                                        <p:cTn id="96" dur="1" fill="hold">
                                          <p:stCondLst>
                                            <p:cond delay="0"/>
                                          </p:stCondLst>
                                        </p:cTn>
                                        <p:tgtEl>
                                          <p:spTgt spid="48"/>
                                        </p:tgtEl>
                                        <p:attrNameLst>
                                          <p:attrName>style.visibility</p:attrName>
                                        </p:attrNameLst>
                                      </p:cBhvr>
                                      <p:to>
                                        <p:strVal val="visible"/>
                                      </p:to>
                                    </p:set>
                                    <p:animEffect transition="in" filter="dissolve">
                                      <p:cBhvr>
                                        <p:cTn id="97" dur="500"/>
                                        <p:tgtEl>
                                          <p:spTgt spid="48"/>
                                        </p:tgtEl>
                                      </p:cBhvr>
                                    </p:animEffect>
                                  </p:childTnLst>
                                </p:cTn>
                              </p:par>
                            </p:childTnLst>
                          </p:cTn>
                        </p:par>
                        <p:par>
                          <p:cTn id="98" fill="hold">
                            <p:stCondLst>
                              <p:cond delay="13400"/>
                            </p:stCondLst>
                            <p:childTnLst>
                              <p:par>
                                <p:cTn id="99" presetID="9" presetClass="entr" presetSubtype="0" fill="hold" nodeType="afterEffect">
                                  <p:stCondLst>
                                    <p:cond delay="50"/>
                                  </p:stCondLst>
                                  <p:childTnLst>
                                    <p:set>
                                      <p:cBhvr>
                                        <p:cTn id="100" dur="1" fill="hold">
                                          <p:stCondLst>
                                            <p:cond delay="0"/>
                                          </p:stCondLst>
                                        </p:cTn>
                                        <p:tgtEl>
                                          <p:spTgt spid="47"/>
                                        </p:tgtEl>
                                        <p:attrNameLst>
                                          <p:attrName>style.visibility</p:attrName>
                                        </p:attrNameLst>
                                      </p:cBhvr>
                                      <p:to>
                                        <p:strVal val="visible"/>
                                      </p:to>
                                    </p:set>
                                    <p:animEffect transition="in" filter="dissolve">
                                      <p:cBhvr>
                                        <p:cTn id="101" dur="500"/>
                                        <p:tgtEl>
                                          <p:spTgt spid="47"/>
                                        </p:tgtEl>
                                      </p:cBhvr>
                                    </p:animEffect>
                                  </p:childTnLst>
                                </p:cTn>
                              </p:par>
                            </p:childTnLst>
                          </p:cTn>
                        </p:par>
                        <p:par>
                          <p:cTn id="102" fill="hold">
                            <p:stCondLst>
                              <p:cond delay="13950"/>
                            </p:stCondLst>
                            <p:childTnLst>
                              <p:par>
                                <p:cTn id="103" presetID="9" presetClass="entr" presetSubtype="0" fill="hold" grpId="0" nodeType="afterEffect">
                                  <p:stCondLst>
                                    <p:cond delay="50"/>
                                  </p:stCondLst>
                                  <p:childTnLst>
                                    <p:set>
                                      <p:cBhvr>
                                        <p:cTn id="104" dur="1" fill="hold">
                                          <p:stCondLst>
                                            <p:cond delay="0"/>
                                          </p:stCondLst>
                                        </p:cTn>
                                        <p:tgtEl>
                                          <p:spTgt spid="50"/>
                                        </p:tgtEl>
                                        <p:attrNameLst>
                                          <p:attrName>style.visibility</p:attrName>
                                        </p:attrNameLst>
                                      </p:cBhvr>
                                      <p:to>
                                        <p:strVal val="visible"/>
                                      </p:to>
                                    </p:set>
                                    <p:animEffect transition="in" filter="dissolve">
                                      <p:cBhvr>
                                        <p:cTn id="105" dur="500"/>
                                        <p:tgtEl>
                                          <p:spTgt spid="50"/>
                                        </p:tgtEl>
                                      </p:cBhvr>
                                    </p:animEffect>
                                  </p:childTnLst>
                                </p:cTn>
                              </p:par>
                            </p:childTnLst>
                          </p:cTn>
                        </p:par>
                        <p:par>
                          <p:cTn id="106" fill="hold">
                            <p:stCondLst>
                              <p:cond delay="14500"/>
                            </p:stCondLst>
                            <p:childTnLst>
                              <p:par>
                                <p:cTn id="107" presetID="9" presetClass="entr" presetSubtype="0" fill="hold" grpId="0" nodeType="afterEffect">
                                  <p:stCondLst>
                                    <p:cond delay="50"/>
                                  </p:stCondLst>
                                  <p:childTnLst>
                                    <p:set>
                                      <p:cBhvr>
                                        <p:cTn id="108" dur="1" fill="hold">
                                          <p:stCondLst>
                                            <p:cond delay="0"/>
                                          </p:stCondLst>
                                        </p:cTn>
                                        <p:tgtEl>
                                          <p:spTgt spid="53"/>
                                        </p:tgtEl>
                                        <p:attrNameLst>
                                          <p:attrName>style.visibility</p:attrName>
                                        </p:attrNameLst>
                                      </p:cBhvr>
                                      <p:to>
                                        <p:strVal val="visible"/>
                                      </p:to>
                                    </p:set>
                                    <p:animEffect transition="in" filter="dissolve">
                                      <p:cBhvr>
                                        <p:cTn id="109" dur="500"/>
                                        <p:tgtEl>
                                          <p:spTgt spid="53"/>
                                        </p:tgtEl>
                                      </p:cBhvr>
                                    </p:animEffect>
                                  </p:childTnLst>
                                </p:cTn>
                              </p:par>
                            </p:childTnLst>
                          </p:cTn>
                        </p:par>
                        <p:par>
                          <p:cTn id="110" fill="hold">
                            <p:stCondLst>
                              <p:cond delay="15050"/>
                            </p:stCondLst>
                            <p:childTnLst>
                              <p:par>
                                <p:cTn id="111" presetID="9" presetClass="entr" presetSubtype="0" fill="hold" nodeType="afterEffect">
                                  <p:stCondLst>
                                    <p:cond delay="50"/>
                                  </p:stCondLst>
                                  <p:childTnLst>
                                    <p:set>
                                      <p:cBhvr>
                                        <p:cTn id="112" dur="1" fill="hold">
                                          <p:stCondLst>
                                            <p:cond delay="0"/>
                                          </p:stCondLst>
                                        </p:cTn>
                                        <p:tgtEl>
                                          <p:spTgt spid="52"/>
                                        </p:tgtEl>
                                        <p:attrNameLst>
                                          <p:attrName>style.visibility</p:attrName>
                                        </p:attrNameLst>
                                      </p:cBhvr>
                                      <p:to>
                                        <p:strVal val="visible"/>
                                      </p:to>
                                    </p:set>
                                    <p:animEffect transition="in" filter="dissolve">
                                      <p:cBhvr>
                                        <p:cTn id="113" dur="500"/>
                                        <p:tgtEl>
                                          <p:spTgt spid="52"/>
                                        </p:tgtEl>
                                      </p:cBhvr>
                                    </p:animEffect>
                                  </p:childTnLst>
                                </p:cTn>
                              </p:par>
                            </p:childTnLst>
                          </p:cTn>
                        </p:par>
                        <p:par>
                          <p:cTn id="114" fill="hold">
                            <p:stCondLst>
                              <p:cond delay="15600"/>
                            </p:stCondLst>
                            <p:childTnLst>
                              <p:par>
                                <p:cTn id="115" presetID="9" presetClass="entr" presetSubtype="0" fill="hold" nodeType="afterEffect">
                                  <p:stCondLst>
                                    <p:cond delay="50"/>
                                  </p:stCondLst>
                                  <p:childTnLst>
                                    <p:set>
                                      <p:cBhvr>
                                        <p:cTn id="116" dur="1" fill="hold">
                                          <p:stCondLst>
                                            <p:cond delay="0"/>
                                          </p:stCondLst>
                                        </p:cTn>
                                        <p:tgtEl>
                                          <p:spTgt spid="51"/>
                                        </p:tgtEl>
                                        <p:attrNameLst>
                                          <p:attrName>style.visibility</p:attrName>
                                        </p:attrNameLst>
                                      </p:cBhvr>
                                      <p:to>
                                        <p:strVal val="visible"/>
                                      </p:to>
                                    </p:set>
                                    <p:animEffect transition="in" filter="dissolve">
                                      <p:cBhvr>
                                        <p:cTn id="117" dur="500"/>
                                        <p:tgtEl>
                                          <p:spTgt spid="51"/>
                                        </p:tgtEl>
                                      </p:cBhvr>
                                    </p:animEffect>
                                  </p:childTnLst>
                                </p:cTn>
                              </p:par>
                            </p:childTnLst>
                          </p:cTn>
                        </p:par>
                        <p:par>
                          <p:cTn id="118" fill="hold">
                            <p:stCondLst>
                              <p:cond delay="16150"/>
                            </p:stCondLst>
                            <p:childTnLst>
                              <p:par>
                                <p:cTn id="119" presetID="9" presetClass="entr" presetSubtype="0" fill="hold" grpId="0" nodeType="afterEffect">
                                  <p:stCondLst>
                                    <p:cond delay="50"/>
                                  </p:stCondLst>
                                  <p:childTnLst>
                                    <p:set>
                                      <p:cBhvr>
                                        <p:cTn id="120" dur="1" fill="hold">
                                          <p:stCondLst>
                                            <p:cond delay="0"/>
                                          </p:stCondLst>
                                        </p:cTn>
                                        <p:tgtEl>
                                          <p:spTgt spid="54"/>
                                        </p:tgtEl>
                                        <p:attrNameLst>
                                          <p:attrName>style.visibility</p:attrName>
                                        </p:attrNameLst>
                                      </p:cBhvr>
                                      <p:to>
                                        <p:strVal val="visible"/>
                                      </p:to>
                                    </p:set>
                                    <p:animEffect transition="in" filter="dissolve">
                                      <p:cBhvr>
                                        <p:cTn id="121" dur="500"/>
                                        <p:tgtEl>
                                          <p:spTgt spid="54"/>
                                        </p:tgtEl>
                                      </p:cBhvr>
                                    </p:animEffect>
                                  </p:childTnLst>
                                </p:cTn>
                              </p:par>
                            </p:childTnLst>
                          </p:cTn>
                        </p:par>
                        <p:par>
                          <p:cTn id="122" fill="hold">
                            <p:stCondLst>
                              <p:cond delay="16700"/>
                            </p:stCondLst>
                            <p:childTnLst>
                              <p:par>
                                <p:cTn id="123" presetID="9" presetClass="entr" presetSubtype="0" fill="hold" nodeType="afterEffect">
                                  <p:stCondLst>
                                    <p:cond delay="100"/>
                                  </p:stCondLst>
                                  <p:childTnLst>
                                    <p:set>
                                      <p:cBhvr>
                                        <p:cTn id="124" dur="1" fill="hold">
                                          <p:stCondLst>
                                            <p:cond delay="0"/>
                                          </p:stCondLst>
                                        </p:cTn>
                                        <p:tgtEl>
                                          <p:spTgt spid="55"/>
                                        </p:tgtEl>
                                        <p:attrNameLst>
                                          <p:attrName>style.visibility</p:attrName>
                                        </p:attrNameLst>
                                      </p:cBhvr>
                                      <p:to>
                                        <p:strVal val="visible"/>
                                      </p:to>
                                    </p:set>
                                    <p:animEffect transition="in" filter="dissolve">
                                      <p:cBhvr>
                                        <p:cTn id="125" dur="500"/>
                                        <p:tgtEl>
                                          <p:spTgt spid="55"/>
                                        </p:tgtEl>
                                      </p:cBhvr>
                                    </p:animEffect>
                                  </p:childTnLst>
                                </p:cTn>
                              </p:par>
                            </p:childTnLst>
                          </p:cTn>
                        </p:par>
                        <p:par>
                          <p:cTn id="126" fill="hold">
                            <p:stCondLst>
                              <p:cond delay="17300"/>
                            </p:stCondLst>
                            <p:childTnLst>
                              <p:par>
                                <p:cTn id="127" presetID="9" presetClass="entr" presetSubtype="0" fill="hold" grpId="0" nodeType="afterEffect">
                                  <p:stCondLst>
                                    <p:cond delay="0"/>
                                  </p:stCondLst>
                                  <p:childTnLst>
                                    <p:set>
                                      <p:cBhvr>
                                        <p:cTn id="128" dur="1" fill="hold">
                                          <p:stCondLst>
                                            <p:cond delay="0"/>
                                          </p:stCondLst>
                                        </p:cTn>
                                        <p:tgtEl>
                                          <p:spTgt spid="61"/>
                                        </p:tgtEl>
                                        <p:attrNameLst>
                                          <p:attrName>style.visibility</p:attrName>
                                        </p:attrNameLst>
                                      </p:cBhvr>
                                      <p:to>
                                        <p:strVal val="visible"/>
                                      </p:to>
                                    </p:set>
                                    <p:animEffect transition="in" filter="dissolve">
                                      <p:cBhvr>
                                        <p:cTn id="129" dur="500"/>
                                        <p:tgtEl>
                                          <p:spTgt spid="61"/>
                                        </p:tgtEl>
                                      </p:cBhvr>
                                    </p:animEffect>
                                  </p:childTnLst>
                                </p:cTn>
                              </p:par>
                            </p:childTnLst>
                          </p:cTn>
                        </p:par>
                        <p:par>
                          <p:cTn id="130" fill="hold">
                            <p:stCondLst>
                              <p:cond delay="17800"/>
                            </p:stCondLst>
                            <p:childTnLst>
                              <p:par>
                                <p:cTn id="131" presetID="9" presetClass="entr" presetSubtype="0" fill="hold" nodeType="afterEffect">
                                  <p:stCondLst>
                                    <p:cond delay="100"/>
                                  </p:stCondLst>
                                  <p:childTnLst>
                                    <p:set>
                                      <p:cBhvr>
                                        <p:cTn id="132" dur="1" fill="hold">
                                          <p:stCondLst>
                                            <p:cond delay="0"/>
                                          </p:stCondLst>
                                        </p:cTn>
                                        <p:tgtEl>
                                          <p:spTgt spid="56"/>
                                        </p:tgtEl>
                                        <p:attrNameLst>
                                          <p:attrName>style.visibility</p:attrName>
                                        </p:attrNameLst>
                                      </p:cBhvr>
                                      <p:to>
                                        <p:strVal val="visible"/>
                                      </p:to>
                                    </p:set>
                                    <p:animEffect transition="in" filter="dissolve">
                                      <p:cBhvr>
                                        <p:cTn id="133" dur="500"/>
                                        <p:tgtEl>
                                          <p:spTgt spid="56"/>
                                        </p:tgtEl>
                                      </p:cBhvr>
                                    </p:animEffect>
                                  </p:childTnLst>
                                </p:cTn>
                              </p:par>
                            </p:childTnLst>
                          </p:cTn>
                        </p:par>
                        <p:par>
                          <p:cTn id="134" fill="hold">
                            <p:stCondLst>
                              <p:cond delay="18400"/>
                            </p:stCondLst>
                            <p:childTnLst>
                              <p:par>
                                <p:cTn id="135" presetID="9" presetClass="entr" presetSubtype="0" fill="hold" grpId="0" nodeType="afterEffect">
                                  <p:stCondLst>
                                    <p:cond delay="0"/>
                                  </p:stCondLst>
                                  <p:childTnLst>
                                    <p:set>
                                      <p:cBhvr>
                                        <p:cTn id="136" dur="1" fill="hold">
                                          <p:stCondLst>
                                            <p:cond delay="0"/>
                                          </p:stCondLst>
                                        </p:cTn>
                                        <p:tgtEl>
                                          <p:spTgt spid="65"/>
                                        </p:tgtEl>
                                        <p:attrNameLst>
                                          <p:attrName>style.visibility</p:attrName>
                                        </p:attrNameLst>
                                      </p:cBhvr>
                                      <p:to>
                                        <p:strVal val="visible"/>
                                      </p:to>
                                    </p:set>
                                    <p:animEffect transition="in" filter="dissolve">
                                      <p:cBhvr>
                                        <p:cTn id="137" dur="500"/>
                                        <p:tgtEl>
                                          <p:spTgt spid="65"/>
                                        </p:tgtEl>
                                      </p:cBhvr>
                                    </p:animEffect>
                                  </p:childTnLst>
                                </p:cTn>
                              </p:par>
                            </p:childTnLst>
                          </p:cTn>
                        </p:par>
                        <p:par>
                          <p:cTn id="138" fill="hold">
                            <p:stCondLst>
                              <p:cond delay="18900"/>
                            </p:stCondLst>
                            <p:childTnLst>
                              <p:par>
                                <p:cTn id="139" presetID="9" presetClass="entr" presetSubtype="0" fill="hold" nodeType="afterEffect">
                                  <p:stCondLst>
                                    <p:cond delay="100"/>
                                  </p:stCondLst>
                                  <p:childTnLst>
                                    <p:set>
                                      <p:cBhvr>
                                        <p:cTn id="140" dur="1" fill="hold">
                                          <p:stCondLst>
                                            <p:cond delay="0"/>
                                          </p:stCondLst>
                                        </p:cTn>
                                        <p:tgtEl>
                                          <p:spTgt spid="57"/>
                                        </p:tgtEl>
                                        <p:attrNameLst>
                                          <p:attrName>style.visibility</p:attrName>
                                        </p:attrNameLst>
                                      </p:cBhvr>
                                      <p:to>
                                        <p:strVal val="visible"/>
                                      </p:to>
                                    </p:set>
                                    <p:animEffect transition="in" filter="dissolve">
                                      <p:cBhvr>
                                        <p:cTn id="141" dur="500"/>
                                        <p:tgtEl>
                                          <p:spTgt spid="57"/>
                                        </p:tgtEl>
                                      </p:cBhvr>
                                    </p:animEffect>
                                  </p:childTnLst>
                                </p:cTn>
                              </p:par>
                            </p:childTnLst>
                          </p:cTn>
                        </p:par>
                        <p:par>
                          <p:cTn id="142" fill="hold">
                            <p:stCondLst>
                              <p:cond delay="19500"/>
                            </p:stCondLst>
                            <p:childTnLst>
                              <p:par>
                                <p:cTn id="143" presetID="9" presetClass="entr" presetSubtype="0" fill="hold" grpId="0" nodeType="afterEffect">
                                  <p:stCondLst>
                                    <p:cond delay="100"/>
                                  </p:stCondLst>
                                  <p:childTnLst>
                                    <p:set>
                                      <p:cBhvr>
                                        <p:cTn id="144" dur="1" fill="hold">
                                          <p:stCondLst>
                                            <p:cond delay="0"/>
                                          </p:stCondLst>
                                        </p:cTn>
                                        <p:tgtEl>
                                          <p:spTgt spid="59"/>
                                        </p:tgtEl>
                                        <p:attrNameLst>
                                          <p:attrName>style.visibility</p:attrName>
                                        </p:attrNameLst>
                                      </p:cBhvr>
                                      <p:to>
                                        <p:strVal val="visible"/>
                                      </p:to>
                                    </p:set>
                                    <p:animEffect transition="in" filter="dissolve">
                                      <p:cBhvr>
                                        <p:cTn id="14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8" grpId="0"/>
      <p:bldP spid="6" grpId="0" bldLvl="0" animBg="1" autoUpdateAnimBg="0"/>
      <p:bldP spid="7" grpId="0" bldLvl="0" animBg="1" autoUpdateAnimBg="0"/>
      <p:bldP spid="8" grpId="0" bldLvl="0" animBg="1" autoUpdateAnimBg="0"/>
      <p:bldP spid="9" grpId="0" bldLvl="0" animBg="1" autoUpdateAnimBg="0"/>
      <p:bldP spid="10" grpId="0" bldLvl="0" animBg="1" autoUpdateAnimBg="0"/>
      <p:bldP spid="40" grpId="0" bldLvl="0" animBg="1" autoUpdateAnimBg="0"/>
      <p:bldP spid="41" grpId="0" bldLvl="0" animBg="1" autoUpdateAnimBg="0"/>
      <p:bldP spid="45" grpId="0" bldLvl="0" animBg="1" autoUpdateAnimBg="0"/>
      <p:bldP spid="46" grpId="0" bldLvl="0" animBg="1" autoUpdateAnimBg="0"/>
      <p:bldP spid="49" grpId="0" bldLvl="0" animBg="1" autoUpdateAnimBg="0"/>
      <p:bldP spid="50" grpId="0" bldLvl="0" animBg="1" autoUpdateAnimBg="0"/>
      <p:bldP spid="53" grpId="0" bldLvl="0" animBg="1" autoUpdateAnimBg="0"/>
      <p:bldP spid="54" grpId="0" bldLvl="0" animBg="1" autoUpdateAnimBg="0"/>
      <p:bldP spid="59" grpId="0" bldLvl="0" animBg="1" autoUpdateAnimBg="0"/>
      <p:bldP spid="61" grpId="0" bldLvl="0" animBg="1"/>
      <p:bldP spid="62" grpId="0" bldLvl="0" animBg="1"/>
      <p:bldP spid="63" grpId="0" bldLvl="0" animBg="1"/>
      <p:bldP spid="64" grpId="0" bldLvl="0" animBg="1"/>
      <p:bldP spid="65" grpId="0" bldLvl="0" animBg="1"/>
      <p:bldP spid="6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12921" y="395116"/>
            <a:ext cx="2011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风险管控</a:t>
            </a:r>
          </a:p>
        </p:txBody>
      </p:sp>
      <p:sp>
        <p:nvSpPr>
          <p:cNvPr id="4" name="圆角矩形 3"/>
          <p:cNvSpPr/>
          <p:nvPr/>
        </p:nvSpPr>
        <p:spPr>
          <a:xfrm>
            <a:off x="4056472" y="1243258"/>
            <a:ext cx="4079056" cy="771073"/>
          </a:xfrm>
          <a:prstGeom prst="roundRect">
            <a:avLst/>
          </a:prstGeom>
          <a:solidFill>
            <a:srgbClr val="383F4E"/>
          </a:solidFill>
          <a:ln>
            <a:solidFill>
              <a:schemeClr val="tx1">
                <a:lumMod val="65000"/>
                <a:lumOff val="35000"/>
              </a:schemeClr>
            </a:solidFill>
          </a:ln>
        </p:spPr>
        <p:txBody>
          <a:bodyPr wrap="square" anchor="ctr">
            <a:noAutofit/>
          </a:bodyPr>
          <a:lstStyle/>
          <a:p>
            <a:pPr algn="ctr">
              <a:defRPr/>
            </a:pPr>
            <a:r>
              <a:rPr lang="zh-CN" altLang="en-US" sz="2800" dirty="0">
                <a:solidFill>
                  <a:schemeClr val="bg1"/>
                </a:solidFill>
                <a:latin typeface="微软雅黑" panose="020B0503020204020204" pitchFamily="34" charset="-122"/>
                <a:ea typeface="微软雅黑" panose="020B0503020204020204" pitchFamily="34" charset="-122"/>
              </a:rPr>
              <a:t>应收账款分析</a:t>
            </a:r>
          </a:p>
        </p:txBody>
      </p:sp>
      <p:graphicFrame>
        <p:nvGraphicFramePr>
          <p:cNvPr id="5" name="图表 4"/>
          <p:cNvGraphicFramePr/>
          <p:nvPr/>
        </p:nvGraphicFramePr>
        <p:xfrm>
          <a:off x="2054171" y="2531007"/>
          <a:ext cx="8825948" cy="294457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p:cNvSpPr/>
          <p:nvPr/>
        </p:nvSpPr>
        <p:spPr>
          <a:xfrm>
            <a:off x="2067505" y="5624526"/>
            <a:ext cx="8799444" cy="563015"/>
          </a:xfrm>
          <a:prstGeom prst="rect">
            <a:avLst/>
          </a:prstGeom>
          <a:solidFill>
            <a:srgbClr val="E8432E"/>
          </a:solidFill>
        </p:spPr>
        <p:txBody>
          <a:bodyPr wrap="square" anchor="ctr">
            <a:noAutofit/>
          </a:bodyPr>
          <a:lstStyle/>
          <a:p>
            <a:pPr algn="ctr" eaLnBrk="0" hangingPunct="0">
              <a:defRPr/>
            </a:pPr>
            <a:r>
              <a:rPr lang="zh-CN" altLang="en-US" sz="2400" dirty="0">
                <a:solidFill>
                  <a:schemeClr val="bg1"/>
                </a:solidFill>
                <a:latin typeface="微软雅黑" panose="020B0503020204020204" pitchFamily="34" charset="-122"/>
                <a:ea typeface="微软雅黑" panose="020B0503020204020204" pitchFamily="34" charset="-122"/>
              </a:rPr>
              <a:t>全业务应收账款变化趋势</a:t>
            </a:r>
          </a:p>
        </p:txBody>
      </p:sp>
      <p:grpSp>
        <p:nvGrpSpPr>
          <p:cNvPr id="7" name="组合 6"/>
          <p:cNvGrpSpPr/>
          <p:nvPr/>
        </p:nvGrpSpPr>
        <p:grpSpPr>
          <a:xfrm>
            <a:off x="1001053" y="2752083"/>
            <a:ext cx="806712" cy="812800"/>
            <a:chOff x="484132" y="1866901"/>
            <a:chExt cx="806712" cy="812800"/>
          </a:xfrm>
        </p:grpSpPr>
        <p:sp>
          <p:nvSpPr>
            <p:cNvPr id="8" name="椭圆 7"/>
            <p:cNvSpPr/>
            <p:nvPr/>
          </p:nvSpPr>
          <p:spPr bwMode="auto">
            <a:xfrm>
              <a:off x="484132" y="1866901"/>
              <a:ext cx="806712" cy="812800"/>
            </a:xfrm>
            <a:prstGeom prst="ellipse">
              <a:avLst/>
            </a:prstGeom>
            <a:solidFill>
              <a:srgbClr val="E8432E"/>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9" name="TextBox 8"/>
            <p:cNvSpPr txBox="1">
              <a:spLocks noChangeArrowheads="1"/>
            </p:cNvSpPr>
            <p:nvPr/>
          </p:nvSpPr>
          <p:spPr bwMode="auto">
            <a:xfrm>
              <a:off x="539032" y="1975644"/>
              <a:ext cx="696912" cy="584775"/>
            </a:xfrm>
            <a:prstGeom prst="rect">
              <a:avLst/>
            </a:prstGeom>
            <a:noFill/>
            <a:ln w="9525">
              <a:noFill/>
              <a:miter lim="800000"/>
            </a:ln>
          </p:spPr>
          <p:txBody>
            <a:bodyPr>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营改增后</a:t>
              </a:r>
            </a:p>
          </p:txBody>
        </p:sp>
      </p:grpSp>
      <p:sp>
        <p:nvSpPr>
          <p:cNvPr id="10" name="TextBox 13"/>
          <p:cNvSpPr txBox="1"/>
          <p:nvPr/>
        </p:nvSpPr>
        <p:spPr>
          <a:xfrm>
            <a:off x="10082020" y="2615365"/>
            <a:ext cx="897489" cy="245110"/>
          </a:xfrm>
          <a:prstGeom prst="rect">
            <a:avLst/>
          </a:prstGeom>
          <a:noFill/>
        </p:spPr>
        <p:txBody>
          <a:bodyPr wrap="square" rtlCol="0">
            <a:spAutoFit/>
          </a:bodyPr>
          <a:lstStyle/>
          <a:p>
            <a:r>
              <a:rPr lang="zh-CN" altLang="en-US" sz="1000" dirty="0">
                <a:latin typeface="微软雅黑" panose="020B0503020204020204" pitchFamily="34" charset="-122"/>
                <a:ea typeface="微软雅黑" panose="020B0503020204020204" pitchFamily="34" charset="-122"/>
              </a:rPr>
              <a:t>单位：万元</a:t>
            </a:r>
          </a:p>
        </p:txBody>
      </p:sp>
      <p:sp>
        <p:nvSpPr>
          <p:cNvPr id="11" name="文本框 10"/>
          <p:cNvSpPr txBox="1"/>
          <p:nvPr/>
        </p:nvSpPr>
        <p:spPr>
          <a:xfrm>
            <a:off x="1121993" y="3520731"/>
            <a:ext cx="630555" cy="645160"/>
          </a:xfrm>
          <a:prstGeom prst="rect">
            <a:avLst/>
          </a:prstGeom>
          <a:noFill/>
        </p:spPr>
        <p:txBody>
          <a:bodyPr wrap="none" rtlCol="0">
            <a:spAutoFit/>
          </a:bodyPr>
          <a:lstStyle/>
          <a:p>
            <a:r>
              <a:rPr lang="zh-CN" altLang="en-US" sz="3600" dirty="0">
                <a:solidFill>
                  <a:srgbClr val="E8432E"/>
                </a:solidFill>
                <a:sym typeface="Wingdings" panose="05000000000000000000" pitchFamily="2" charset="2"/>
              </a:rPr>
              <a:t></a:t>
            </a:r>
          </a:p>
        </p:txBody>
      </p:sp>
      <p:sp>
        <p:nvSpPr>
          <p:cNvPr id="12" name="文本框 11"/>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1500"/>
                                  </p:stCondLst>
                                  <p:childTnLst>
                                    <p:animEffect transition="out" filter="fade">
                                      <p:cBhvr>
                                        <p:cTn id="29" dur="500"/>
                                        <p:tgtEl>
                                          <p:spTgt spid="12"/>
                                        </p:tgtEl>
                                      </p:cBhvr>
                                    </p:animEffect>
                                    <p:set>
                                      <p:cBhvr>
                                        <p:cTn id="30"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Graphic spid="5" grpId="0">
        <p:bldAsOne/>
      </p:bldGraphic>
      <p:bldP spid="6" grpId="0" bldLvl="0" animBg="1"/>
      <p:bldP spid="10"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98011" y="381146"/>
            <a:ext cx="2011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风险管控</a:t>
            </a:r>
          </a:p>
        </p:txBody>
      </p:sp>
      <p:sp>
        <p:nvSpPr>
          <p:cNvPr id="3" name="TextBox 8"/>
          <p:cNvSpPr txBox="1">
            <a:spLocks noChangeArrowheads="1"/>
          </p:cNvSpPr>
          <p:nvPr/>
        </p:nvSpPr>
        <p:spPr bwMode="auto">
          <a:xfrm>
            <a:off x="1166191" y="2166717"/>
            <a:ext cx="3529839" cy="1689665"/>
          </a:xfrm>
          <a:prstGeom prst="rect">
            <a:avLst/>
          </a:prstGeom>
          <a:noFill/>
          <a:ln w="9525">
            <a:noFill/>
            <a:miter lim="800000"/>
          </a:ln>
        </p:spPr>
        <p:txBody>
          <a:bodyPr wrap="square" anchor="ctr">
            <a:no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、应收账款总额：</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截止</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月份我司应收账款总额达</a:t>
            </a:r>
            <a:r>
              <a:rPr lang="en-US" altLang="zh-CN" sz="1600" dirty="0">
                <a:latin typeface="微软雅黑" panose="020B0503020204020204" pitchFamily="34" charset="-122"/>
                <a:ea typeface="微软雅黑" panose="020B0503020204020204" pitchFamily="34" charset="-122"/>
              </a:rPr>
              <a:t>6472</a:t>
            </a:r>
            <a:r>
              <a:rPr lang="zh-CN" altLang="en-US" sz="1600" dirty="0">
                <a:latin typeface="微软雅黑" panose="020B0503020204020204" pitchFamily="34" charset="-122"/>
                <a:ea typeface="微软雅黑" panose="020B0503020204020204" pitchFamily="34" charset="-122"/>
              </a:rPr>
              <a:t>万元，占收入比达</a:t>
            </a:r>
            <a:r>
              <a:rPr lang="en-US" altLang="zh-CN" sz="1600" dirty="0">
                <a:latin typeface="微软雅黑" panose="020B0503020204020204" pitchFamily="34" charset="-122"/>
                <a:ea typeface="微软雅黑" panose="020B0503020204020204" pitchFamily="34" charset="-122"/>
              </a:rPr>
              <a:t>8.68%</a:t>
            </a:r>
            <a:r>
              <a:rPr lang="zh-CN" altLang="en-US" sz="1600" dirty="0">
                <a:latin typeface="微软雅黑" panose="020B0503020204020204" pitchFamily="34" charset="-122"/>
                <a:ea typeface="微软雅黑" panose="020B0503020204020204" pitchFamily="34" charset="-122"/>
              </a:rPr>
              <a:t>，超预算基准值</a:t>
            </a:r>
            <a:r>
              <a:rPr lang="en-US" altLang="zh-CN" sz="1600" dirty="0">
                <a:latin typeface="微软雅黑" panose="020B0503020204020204" pitchFamily="34" charset="-122"/>
                <a:ea typeface="微软雅黑" panose="020B0503020204020204" pitchFamily="34" charset="-122"/>
              </a:rPr>
              <a:t>0.62</a:t>
            </a:r>
            <a:r>
              <a:rPr lang="zh-CN" altLang="en-US" sz="1600" dirty="0">
                <a:latin typeface="微软雅黑" panose="020B0503020204020204" pitchFamily="34" charset="-122"/>
                <a:ea typeface="微软雅黑" panose="020B0503020204020204" pitchFamily="34" charset="-122"/>
              </a:rPr>
              <a:t>个百分点。</a:t>
            </a:r>
            <a:r>
              <a:rPr lang="zh-CN" altLang="en-US" sz="1600" b="1" dirty="0">
                <a:latin typeface="微软雅黑" panose="020B0503020204020204" pitchFamily="34" charset="-122"/>
                <a:ea typeface="微软雅黑" panose="020B0503020204020204" pitchFamily="34" charset="-122"/>
              </a:rPr>
              <a:t>应收账款增加额抵减考核口径收入</a:t>
            </a:r>
            <a:r>
              <a:rPr lang="en-US" altLang="zh-CN" sz="1600" b="1" dirty="0">
                <a:latin typeface="微软雅黑" panose="020B0503020204020204" pitchFamily="34" charset="-122"/>
                <a:ea typeface="微软雅黑" panose="020B0503020204020204" pitchFamily="34" charset="-122"/>
              </a:rPr>
              <a:t>172</a:t>
            </a:r>
            <a:r>
              <a:rPr lang="zh-CN" altLang="en-US" sz="1600" b="1" dirty="0">
                <a:latin typeface="微软雅黑" panose="020B0503020204020204" pitchFamily="34" charset="-122"/>
                <a:ea typeface="微软雅黑" panose="020B0503020204020204" pitchFamily="34" charset="-122"/>
              </a:rPr>
              <a:t>万元。</a:t>
            </a:r>
            <a:r>
              <a:rPr lang="zh-CN" altLang="en-US" sz="1600" dirty="0">
                <a:latin typeface="微软雅黑" panose="020B0503020204020204" pitchFamily="34" charset="-122"/>
                <a:ea typeface="微软雅黑" panose="020B0503020204020204" pitchFamily="34" charset="-122"/>
              </a:rPr>
              <a:t>       </a:t>
            </a:r>
            <a:endParaRPr lang="en-US" altLang="zh-CN" sz="1600" dirty="0">
              <a:latin typeface="微软雅黑" panose="020B0503020204020204" pitchFamily="34" charset="-122"/>
              <a:ea typeface="微软雅黑" panose="020B0503020204020204" pitchFamily="34" charset="-122"/>
            </a:endParaRPr>
          </a:p>
        </p:txBody>
      </p:sp>
      <p:sp>
        <p:nvSpPr>
          <p:cNvPr id="4" name="矩形 3"/>
          <p:cNvSpPr/>
          <p:nvPr/>
        </p:nvSpPr>
        <p:spPr>
          <a:xfrm>
            <a:off x="1166191" y="4065655"/>
            <a:ext cx="3551583" cy="2123109"/>
          </a:xfrm>
          <a:prstGeom prst="rect">
            <a:avLst/>
          </a:prstGeom>
          <a:noFill/>
          <a:ln>
            <a:noFill/>
          </a:ln>
        </p:spPr>
        <p:txBody>
          <a:bodyPr wrap="square" anchor="ctr">
            <a:no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、应收账款余额环比：</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用户欠费：环比增</a:t>
            </a:r>
            <a:r>
              <a:rPr lang="en-US" altLang="zh-CN" sz="1600" dirty="0">
                <a:latin typeface="微软雅黑" panose="020B0503020204020204" pitchFamily="34" charset="-122"/>
                <a:ea typeface="微软雅黑" panose="020B0503020204020204" pitchFamily="34" charset="-122"/>
              </a:rPr>
              <a:t>115.5</a:t>
            </a:r>
            <a:r>
              <a:rPr lang="zh-CN" altLang="en-US" sz="1600" dirty="0">
                <a:latin typeface="微软雅黑" panose="020B0503020204020204" pitchFamily="34" charset="-122"/>
                <a:ea typeface="微软雅黑" panose="020B0503020204020204" pitchFamily="34" charset="-122"/>
              </a:rPr>
              <a:t>万元，其中，</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年以上账龄环比增</a:t>
            </a:r>
            <a:r>
              <a:rPr lang="en-US" altLang="zh-CN" sz="1600" b="1" dirty="0">
                <a:latin typeface="微软雅黑" panose="020B0503020204020204" pitchFamily="34" charset="-122"/>
                <a:ea typeface="微软雅黑" panose="020B0503020204020204" pitchFamily="34" charset="-122"/>
              </a:rPr>
              <a:t>113.8</a:t>
            </a:r>
            <a:r>
              <a:rPr lang="zh-CN" altLang="en-US" sz="1600" b="1" dirty="0">
                <a:latin typeface="微软雅黑" panose="020B0503020204020204" pitchFamily="34" charset="-122"/>
                <a:ea typeface="微软雅黑" panose="020B0503020204020204" pitchFamily="34" charset="-122"/>
              </a:rPr>
              <a:t>万元</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2009</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月坏账沉淀），</a:t>
            </a:r>
            <a:r>
              <a:rPr lang="en-US" altLang="zh-CN" sz="1600" b="1" dirty="0">
                <a:latin typeface="微软雅黑" panose="020B0503020204020204" pitchFamily="34" charset="-122"/>
                <a:ea typeface="微软雅黑" panose="020B0503020204020204" pitchFamily="34" charset="-122"/>
              </a:rPr>
              <a:t>1-3</a:t>
            </a:r>
            <a:r>
              <a:rPr lang="zh-CN" altLang="en-US" sz="1600" b="1" dirty="0">
                <a:latin typeface="微软雅黑" panose="020B0503020204020204" pitchFamily="34" charset="-122"/>
                <a:ea typeface="微软雅黑" panose="020B0503020204020204" pitchFamily="34" charset="-122"/>
              </a:rPr>
              <a:t>个月账龄环比增</a:t>
            </a:r>
            <a:r>
              <a:rPr lang="en-US" altLang="zh-CN" sz="1600" b="1" dirty="0">
                <a:latin typeface="微软雅黑" panose="020B0503020204020204" pitchFamily="34" charset="-122"/>
                <a:ea typeface="微软雅黑" panose="020B0503020204020204" pitchFamily="34" charset="-122"/>
              </a:rPr>
              <a:t>101.3</a:t>
            </a:r>
            <a:r>
              <a:rPr lang="zh-CN" altLang="en-US" sz="1600" b="1" dirty="0">
                <a:latin typeface="微软雅黑" panose="020B0503020204020204" pitchFamily="34" charset="-122"/>
                <a:ea typeface="微软雅黑" panose="020B0503020204020204" pitchFamily="34" charset="-122"/>
              </a:rPr>
              <a:t>万元</a:t>
            </a:r>
            <a:r>
              <a:rPr lang="zh-CN" altLang="en-US" sz="1600" dirty="0">
                <a:latin typeface="微软雅黑" panose="020B0503020204020204" pitchFamily="34" charset="-122"/>
                <a:ea typeface="微软雅黑" panose="020B0503020204020204" pitchFamily="34" charset="-122"/>
              </a:rPr>
              <a:t>。</a:t>
            </a:r>
          </a:p>
        </p:txBody>
      </p:sp>
      <p:graphicFrame>
        <p:nvGraphicFramePr>
          <p:cNvPr id="5" name="表格 4"/>
          <p:cNvGraphicFramePr>
            <a:graphicFrameLocks noGrp="1"/>
          </p:cNvGraphicFramePr>
          <p:nvPr/>
        </p:nvGraphicFramePr>
        <p:xfrm>
          <a:off x="5022575" y="2226364"/>
          <a:ext cx="6175512" cy="3909391"/>
        </p:xfrm>
        <a:graphic>
          <a:graphicData uri="http://schemas.openxmlformats.org/drawingml/2006/table">
            <a:tbl>
              <a:tblPr>
                <a:tableStyleId>{21E4AEA4-8DFA-4A89-87EB-49C32662AFE0}</a:tableStyleId>
              </a:tblPr>
              <a:tblGrid>
                <a:gridCol w="1120337"/>
                <a:gridCol w="759913"/>
                <a:gridCol w="783436"/>
                <a:gridCol w="834887"/>
                <a:gridCol w="821635"/>
                <a:gridCol w="980660"/>
                <a:gridCol w="874644"/>
              </a:tblGrid>
              <a:tr h="1088086">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项   目</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年初数</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c>
                  <a:txBody>
                    <a:bodyPr/>
                    <a:lstStyle/>
                    <a:p>
                      <a:pPr algn="ctr" fontAlgn="ctr"/>
                      <a:r>
                        <a:rPr lang="en-US" altLang="zh-CN" sz="1400" u="none" strike="noStrike" dirty="0">
                          <a:solidFill>
                            <a:schemeClr val="bg1"/>
                          </a:solidFill>
                          <a:latin typeface="微软雅黑" panose="020B0503020204020204" pitchFamily="34" charset="-122"/>
                          <a:ea typeface="微软雅黑" panose="020B0503020204020204" pitchFamily="34" charset="-122"/>
                        </a:rPr>
                        <a:t>3</a:t>
                      </a:r>
                      <a:r>
                        <a:rPr lang="zh-CN" altLang="en-US" sz="1400" u="none" strike="noStrike" dirty="0">
                          <a:solidFill>
                            <a:schemeClr val="bg1"/>
                          </a:solidFill>
                          <a:latin typeface="微软雅黑" panose="020B0503020204020204" pitchFamily="34" charset="-122"/>
                          <a:ea typeface="微软雅黑" panose="020B0503020204020204" pitchFamily="34" charset="-122"/>
                        </a:rPr>
                        <a:t>月份</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c>
                  <a:txBody>
                    <a:bodyPr/>
                    <a:lstStyle/>
                    <a:p>
                      <a:pPr algn="ctr" fontAlgn="ctr"/>
                      <a:r>
                        <a:rPr lang="en-US" altLang="zh-CN" sz="1400" u="none" strike="noStrike" dirty="0">
                          <a:solidFill>
                            <a:schemeClr val="bg1"/>
                          </a:solidFill>
                          <a:latin typeface="微软雅黑" panose="020B0503020204020204" pitchFamily="34" charset="-122"/>
                          <a:ea typeface="微软雅黑" panose="020B0503020204020204" pitchFamily="34" charset="-122"/>
                        </a:rPr>
                        <a:t>4</a:t>
                      </a:r>
                      <a:r>
                        <a:rPr lang="zh-CN" altLang="en-US" sz="1400" u="none" strike="noStrike" dirty="0">
                          <a:solidFill>
                            <a:schemeClr val="bg1"/>
                          </a:solidFill>
                          <a:latin typeface="微软雅黑" panose="020B0503020204020204" pitchFamily="34" charset="-122"/>
                          <a:ea typeface="微软雅黑" panose="020B0503020204020204" pitchFamily="34" charset="-122"/>
                        </a:rPr>
                        <a:t>月份</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比上月</a:t>
                      </a:r>
                      <a:br>
                        <a:rPr lang="zh-CN" altLang="en-US" sz="1400" u="none" strike="noStrike" dirty="0">
                          <a:solidFill>
                            <a:schemeClr val="bg1"/>
                          </a:solidFill>
                          <a:latin typeface="微软雅黑" panose="020B0503020204020204" pitchFamily="34" charset="-122"/>
                          <a:ea typeface="微软雅黑" panose="020B0503020204020204" pitchFamily="34" charset="-122"/>
                        </a:rPr>
                      </a:br>
                      <a:r>
                        <a:rPr lang="zh-CN" altLang="en-US" sz="1400" u="none" strike="noStrike" dirty="0">
                          <a:solidFill>
                            <a:schemeClr val="bg1"/>
                          </a:solidFill>
                          <a:latin typeface="微软雅黑" panose="020B0503020204020204" pitchFamily="34" charset="-122"/>
                          <a:ea typeface="微软雅黑" panose="020B0503020204020204" pitchFamily="34" charset="-122"/>
                        </a:rPr>
                        <a:t>增减</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比上年</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同期增减</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比年初</a:t>
                      </a:r>
                      <a:br>
                        <a:rPr lang="zh-CN" altLang="en-US" sz="1400" u="none" strike="noStrike" dirty="0">
                          <a:solidFill>
                            <a:schemeClr val="bg1"/>
                          </a:solidFill>
                          <a:latin typeface="微软雅黑" panose="020B0503020204020204" pitchFamily="34" charset="-122"/>
                          <a:ea typeface="微软雅黑" panose="020B0503020204020204" pitchFamily="34" charset="-122"/>
                        </a:rPr>
                      </a:br>
                      <a:r>
                        <a:rPr lang="zh-CN" altLang="en-US" sz="1400" u="none" strike="noStrike" dirty="0">
                          <a:solidFill>
                            <a:schemeClr val="bg1"/>
                          </a:solidFill>
                          <a:latin typeface="微软雅黑" panose="020B0503020204020204" pitchFamily="34" charset="-122"/>
                          <a:ea typeface="微软雅黑" panose="020B0503020204020204" pitchFamily="34" charset="-122"/>
                        </a:rPr>
                        <a:t>增减</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C00000"/>
                    </a:solidFill>
                  </a:tcPr>
                </a:tc>
              </a:tr>
              <a:tr h="564261">
                <a:tc>
                  <a:txBody>
                    <a:bodyPr/>
                    <a:lstStyle/>
                    <a:p>
                      <a:pPr algn="ctr" rtl="0" fontAlgn="ctr"/>
                      <a:r>
                        <a:rPr lang="zh-CN" altLang="en-US" sz="1400" u="none" strike="noStrike" dirty="0">
                          <a:latin typeface="微软雅黑" panose="020B0503020204020204" pitchFamily="34" charset="-122"/>
                          <a:ea typeface="微软雅黑" panose="020B0503020204020204" pitchFamily="34" charset="-122"/>
                        </a:rPr>
                        <a:t>用户欠费</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4,908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5,760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5,875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115 </a:t>
                      </a:r>
                      <a:endParaRPr lang="en-US" altLang="zh-CN" sz="1400" b="1"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191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967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564261">
                <a:tc>
                  <a:txBody>
                    <a:bodyPr/>
                    <a:lstStyle/>
                    <a:p>
                      <a:pPr algn="ctr" rtl="0" fontAlgn="ctr"/>
                      <a:r>
                        <a:rPr lang="zh-CN" altLang="en-US" sz="1400" u="none" strike="noStrike" dirty="0">
                          <a:latin typeface="微软雅黑" panose="020B0503020204020204" pitchFamily="34" charset="-122"/>
                          <a:ea typeface="微软雅黑" panose="020B0503020204020204" pitchFamily="34" charset="-122"/>
                        </a:rPr>
                        <a:t>网间结算款</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389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379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380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-178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564261">
                <a:tc>
                  <a:txBody>
                    <a:bodyPr/>
                    <a:lstStyle/>
                    <a:p>
                      <a:pPr algn="ctr" rtl="0" fontAlgn="ctr"/>
                      <a:r>
                        <a:rPr lang="zh-CN" altLang="en-US" sz="1400" u="none" strike="noStrike" dirty="0">
                          <a:latin typeface="微软雅黑" panose="020B0503020204020204" pitchFamily="34" charset="-122"/>
                          <a:ea typeface="微软雅黑" panose="020B0503020204020204" pitchFamily="34" charset="-122"/>
                        </a:rPr>
                        <a:t>营业款结算</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149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114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22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-56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564261">
                <a:tc>
                  <a:txBody>
                    <a:bodyPr/>
                    <a:lstStyle/>
                    <a:p>
                      <a:pPr algn="ctr" rtl="0" fontAlgn="ctr"/>
                      <a:r>
                        <a:rPr lang="zh-CN" altLang="en-US" sz="1400" u="none" strike="noStrike" dirty="0">
                          <a:latin typeface="微软雅黑" panose="020B0503020204020204" pitchFamily="34" charset="-122"/>
                          <a:ea typeface="微软雅黑" panose="020B0503020204020204" pitchFamily="34" charset="-122"/>
                        </a:rPr>
                        <a:t>其他</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171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124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-47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38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59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564261">
                <a:tc>
                  <a:txBody>
                    <a:bodyPr/>
                    <a:lstStyle/>
                    <a:p>
                      <a:pPr algn="ctr" rtl="0" fontAlgn="ctr"/>
                      <a:r>
                        <a:rPr lang="zh-CN" altLang="en-US" sz="1400" u="none" strike="noStrike" dirty="0">
                          <a:latin typeface="微软雅黑" panose="020B0503020204020204" pitchFamily="34" charset="-122"/>
                          <a:ea typeface="微软雅黑" panose="020B0503020204020204" pitchFamily="34" charset="-122"/>
                        </a:rPr>
                        <a:t>合   计</a:t>
                      </a:r>
                      <a:endParaRPr lang="zh-CN" altLang="en-US" sz="1400" b="1"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zh-CN" altLang="en-US" sz="1400" u="none" strike="noStrike">
                          <a:latin typeface="微软雅黑" panose="020B0503020204020204" pitchFamily="34" charset="-122"/>
                          <a:ea typeface="微软雅黑" panose="020B0503020204020204" pitchFamily="34" charset="-122"/>
                        </a:rPr>
                        <a:t>   </a:t>
                      </a:r>
                      <a:r>
                        <a:rPr lang="en-US" altLang="zh-CN" sz="1400" u="none" strike="noStrike">
                          <a:latin typeface="微软雅黑" panose="020B0503020204020204" pitchFamily="34" charset="-122"/>
                          <a:ea typeface="微软雅黑" panose="020B0503020204020204" pitchFamily="34" charset="-122"/>
                        </a:rPr>
                        <a:t>5,511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6,423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6,472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pitchFamily="34" charset="-122"/>
                          <a:ea typeface="微软雅黑" panose="020B0503020204020204" pitchFamily="34" charset="-122"/>
                        </a:rPr>
                        <a:t>48 </a:t>
                      </a:r>
                      <a:endParaRPr lang="en-US" altLang="zh-CN" sz="1400" b="0" i="0" u="none" strike="noStrike">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-138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pitchFamily="34" charset="-122"/>
                          <a:ea typeface="微软雅黑" panose="020B0503020204020204" pitchFamily="34" charset="-122"/>
                        </a:rPr>
                        <a:t>961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bl>
          </a:graphicData>
        </a:graphic>
      </p:graphicFrame>
      <p:sp>
        <p:nvSpPr>
          <p:cNvPr id="6" name="圆角矩形 5"/>
          <p:cNvSpPr/>
          <p:nvPr/>
        </p:nvSpPr>
        <p:spPr>
          <a:xfrm>
            <a:off x="4056472" y="1230006"/>
            <a:ext cx="4079056" cy="771073"/>
          </a:xfrm>
          <a:prstGeom prst="roundRect">
            <a:avLst/>
          </a:prstGeom>
          <a:solidFill>
            <a:srgbClr val="383F4E"/>
          </a:solidFill>
          <a:ln>
            <a:solidFill>
              <a:schemeClr val="tx1">
                <a:lumMod val="65000"/>
                <a:lumOff val="35000"/>
              </a:schemeClr>
            </a:solidFill>
          </a:ln>
        </p:spPr>
        <p:txBody>
          <a:bodyPr wrap="square" anchor="ctr">
            <a:noAutofit/>
          </a:bodyPr>
          <a:lstStyle/>
          <a:p>
            <a:pPr lvl="0" algn="ctr">
              <a:defRPr/>
            </a:pPr>
            <a:r>
              <a:rPr lang="zh-CN" altLang="en-US" sz="2800"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800" dirty="0">
                <a:solidFill>
                  <a:schemeClr val="bg1"/>
                </a:solidFill>
                <a:latin typeface="微软雅黑" panose="020B0503020204020204" pitchFamily="34" charset="-122"/>
                <a:ea typeface="微软雅黑" panose="020B0503020204020204" pitchFamily="34" charset="-122"/>
                <a:sym typeface="+mn-ea"/>
              </a:rPr>
              <a:t>应收账款分析</a:t>
            </a:r>
          </a:p>
        </p:txBody>
      </p:sp>
      <p:sp>
        <p:nvSpPr>
          <p:cNvPr id="7" name="文本框 6"/>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1500"/>
                                  </p:stCondLst>
                                  <p:childTnLst>
                                    <p:animEffect transition="out" filter="fad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7526" y="423056"/>
            <a:ext cx="2011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风险管控</a:t>
            </a:r>
          </a:p>
        </p:txBody>
      </p:sp>
      <p:sp>
        <p:nvSpPr>
          <p:cNvPr id="3" name="圆角矩形 2"/>
          <p:cNvSpPr/>
          <p:nvPr/>
        </p:nvSpPr>
        <p:spPr>
          <a:xfrm>
            <a:off x="4056472" y="1204854"/>
            <a:ext cx="4079056" cy="771073"/>
          </a:xfrm>
          <a:prstGeom prst="roundRect">
            <a:avLst/>
          </a:prstGeom>
          <a:solidFill>
            <a:srgbClr val="383F4E"/>
          </a:solidFill>
          <a:ln>
            <a:solidFill>
              <a:schemeClr val="tx1">
                <a:lumMod val="65000"/>
                <a:lumOff val="35000"/>
              </a:schemeClr>
            </a:solidFill>
          </a:ln>
        </p:spPr>
        <p:txBody>
          <a:bodyPr wrap="square" anchor="ctr">
            <a:noAutofit/>
          </a:bodyPr>
          <a:lstStyle/>
          <a:p>
            <a:pPr lvl="0" algn="ctr">
              <a:defRPr/>
            </a:pPr>
            <a:r>
              <a:rPr lang="zh-CN" altLang="en-US" sz="2800" dirty="0">
                <a:solidFill>
                  <a:schemeClr val="bg1"/>
                </a:solidFill>
                <a:latin typeface="微软雅黑" panose="020B0503020204020204" pitchFamily="34" charset="-122"/>
                <a:ea typeface="微软雅黑" panose="020B0503020204020204" pitchFamily="34" charset="-122"/>
                <a:sym typeface="+mn-ea"/>
              </a:rPr>
              <a:t>应收账款分析</a:t>
            </a:r>
          </a:p>
        </p:txBody>
      </p:sp>
      <p:graphicFrame>
        <p:nvGraphicFramePr>
          <p:cNvPr id="5" name="表格 4"/>
          <p:cNvGraphicFramePr>
            <a:graphicFrameLocks noGrp="1"/>
          </p:cNvGraphicFramePr>
          <p:nvPr/>
        </p:nvGraphicFramePr>
        <p:xfrm>
          <a:off x="875202" y="2800076"/>
          <a:ext cx="6493012" cy="3203159"/>
        </p:xfrm>
        <a:graphic>
          <a:graphicData uri="http://schemas.openxmlformats.org/drawingml/2006/table">
            <a:tbl>
              <a:tblPr>
                <a:tableStyleId>{21E4AEA4-8DFA-4A89-87EB-49C32662AFE0}</a:tableStyleId>
              </a:tblPr>
              <a:tblGrid>
                <a:gridCol w="1917185"/>
                <a:gridCol w="603888"/>
                <a:gridCol w="504522"/>
                <a:gridCol w="504522"/>
                <a:gridCol w="504522"/>
                <a:gridCol w="504522"/>
                <a:gridCol w="659630"/>
                <a:gridCol w="504522"/>
                <a:gridCol w="789699"/>
              </a:tblGrid>
              <a:tr h="721417">
                <a:tc>
                  <a:txBody>
                    <a:bodyPr/>
                    <a:lstStyle/>
                    <a:p>
                      <a:pPr algn="ctr" rtl="0" fontAlgn="b"/>
                      <a:r>
                        <a:rPr lang="zh-CN" altLang="en-US" sz="1400" u="none" strike="noStrike" dirty="0">
                          <a:solidFill>
                            <a:schemeClr val="bg1"/>
                          </a:solidFill>
                          <a:latin typeface="微软雅黑" panose="020B0503020204020204" pitchFamily="34" charset="-122"/>
                          <a:ea typeface="微软雅黑" panose="020B0503020204020204" pitchFamily="34" charset="-122"/>
                        </a:rPr>
                        <a:t>账龄</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仙游</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en-US" altLang="zh-CN" sz="1400" u="none" strike="noStrike" dirty="0">
                          <a:solidFill>
                            <a:schemeClr val="bg1"/>
                          </a:solidFill>
                          <a:latin typeface="微软雅黑" panose="020B0503020204020204" pitchFamily="34" charset="-122"/>
                          <a:ea typeface="微软雅黑" panose="020B0503020204020204" pitchFamily="34" charset="-122"/>
                        </a:rPr>
                        <a:t>A</a:t>
                      </a:r>
                      <a:r>
                        <a:rPr lang="zh-CN" altLang="en-US" sz="1400" u="none" strike="noStrike" dirty="0">
                          <a:solidFill>
                            <a:schemeClr val="bg1"/>
                          </a:solidFill>
                          <a:latin typeface="微软雅黑" panose="020B0503020204020204" pitchFamily="34" charset="-122"/>
                          <a:ea typeface="微软雅黑" panose="020B0503020204020204" pitchFamily="34" charset="-122"/>
                        </a:rPr>
                        <a:t>区</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城厢</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en-US" altLang="zh-CN" sz="1400" u="none" strike="noStrike" dirty="0">
                          <a:solidFill>
                            <a:schemeClr val="bg1"/>
                          </a:solidFill>
                          <a:latin typeface="微软雅黑" panose="020B0503020204020204" pitchFamily="34" charset="-122"/>
                          <a:ea typeface="微软雅黑" panose="020B0503020204020204" pitchFamily="34" charset="-122"/>
                        </a:rPr>
                        <a:t>B</a:t>
                      </a:r>
                      <a:r>
                        <a:rPr lang="zh-CN" altLang="en-US" sz="1400" u="none" strike="noStrike" dirty="0">
                          <a:solidFill>
                            <a:schemeClr val="bg1"/>
                          </a:solidFill>
                          <a:latin typeface="微软雅黑" panose="020B0503020204020204" pitchFamily="34" charset="-122"/>
                          <a:ea typeface="微软雅黑" panose="020B0503020204020204" pitchFamily="34" charset="-122"/>
                        </a:rPr>
                        <a:t>区</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en-US" altLang="zh-CN" sz="1400" u="none" strike="noStrike" dirty="0">
                          <a:solidFill>
                            <a:schemeClr val="bg1"/>
                          </a:solidFill>
                          <a:latin typeface="微软雅黑" panose="020B0503020204020204" pitchFamily="34" charset="-122"/>
                          <a:ea typeface="微软雅黑" panose="020B0503020204020204" pitchFamily="34" charset="-122"/>
                        </a:rPr>
                        <a:t>C</a:t>
                      </a:r>
                      <a:r>
                        <a:rPr lang="zh-CN" altLang="en-US" sz="1400" u="none" strike="noStrike" dirty="0">
                          <a:solidFill>
                            <a:schemeClr val="bg1"/>
                          </a:solidFill>
                          <a:latin typeface="微软雅黑" panose="020B0503020204020204" pitchFamily="34" charset="-122"/>
                          <a:ea typeface="微软雅黑" panose="020B0503020204020204" pitchFamily="34" charset="-122"/>
                        </a:rPr>
                        <a:t>区</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政企客户部</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云事</a:t>
                      </a:r>
                      <a:endParaRPr lang="en-US" altLang="zh-CN" sz="1400" u="none" strike="noStrike" dirty="0">
                        <a:solidFill>
                          <a:schemeClr val="bg1"/>
                        </a:solidFill>
                        <a:latin typeface="微软雅黑" panose="020B0503020204020204" pitchFamily="34" charset="-122"/>
                        <a:ea typeface="微软雅黑" panose="020B0503020204020204" pitchFamily="34" charset="-122"/>
                      </a:endParaRPr>
                    </a:p>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业部</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ctr"/>
                      <a:r>
                        <a:rPr lang="zh-CN" altLang="en-US" sz="1400" u="none" strike="noStrike" dirty="0">
                          <a:solidFill>
                            <a:schemeClr val="bg1"/>
                          </a:solidFill>
                          <a:latin typeface="微软雅黑" panose="020B0503020204020204" pitchFamily="34" charset="-122"/>
                          <a:ea typeface="微软雅黑" panose="020B0503020204020204" pitchFamily="34" charset="-122"/>
                        </a:rPr>
                        <a:t>总计</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r>
              <a:tr h="360680">
                <a:tc>
                  <a:txBody>
                    <a:bodyPr/>
                    <a:lstStyle/>
                    <a:p>
                      <a:pPr algn="ctr" rtl="0" fontAlgn="t"/>
                      <a:r>
                        <a:rPr lang="zh-CN" altLang="en-US" sz="1400" u="none" strike="noStrike" dirty="0">
                          <a:latin typeface="微软雅黑" panose="020B0503020204020204" pitchFamily="34" charset="-122"/>
                          <a:ea typeface="微软雅黑" panose="020B0503020204020204" pitchFamily="34" charset="-122"/>
                        </a:rPr>
                        <a:t>账龄＜</a:t>
                      </a:r>
                      <a:r>
                        <a:rPr lang="en-US" altLang="zh-CN" sz="1400" u="none" strike="noStrike" dirty="0">
                          <a:latin typeface="微软雅黑" panose="020B0503020204020204" pitchFamily="34" charset="-122"/>
                          <a:ea typeface="微软雅黑" panose="020B0503020204020204" pitchFamily="34" charset="-122"/>
                        </a:rPr>
                        <a:t>1</a:t>
                      </a:r>
                      <a:r>
                        <a:rPr lang="zh-CN" altLang="en-US" sz="1400" u="none" strike="noStrike" dirty="0">
                          <a:latin typeface="微软雅黑" panose="020B0503020204020204" pitchFamily="34" charset="-122"/>
                          <a:ea typeface="微软雅黑" panose="020B0503020204020204" pitchFamily="34" charset="-122"/>
                        </a:rPr>
                        <a:t>个月</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5.0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4.8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0.4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2.5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6.1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1.9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2.1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22.9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519453">
                <a:tc>
                  <a:txBody>
                    <a:bodyPr/>
                    <a:lstStyle/>
                    <a:p>
                      <a:pPr algn="ctr" rtl="0" fontAlgn="t"/>
                      <a:r>
                        <a:rPr lang="en-US" altLang="zh-CN" sz="1400" u="none" strike="noStrike" dirty="0">
                          <a:latin typeface="微软雅黑" panose="020B0503020204020204" pitchFamily="34" charset="-122"/>
                          <a:ea typeface="微软雅黑" panose="020B0503020204020204" pitchFamily="34" charset="-122"/>
                        </a:rPr>
                        <a:t>1</a:t>
                      </a:r>
                      <a:r>
                        <a:rPr lang="zh-CN" altLang="en-US" sz="1400" u="none" strike="noStrike" dirty="0">
                          <a:latin typeface="微软雅黑" panose="020B0503020204020204" pitchFamily="34" charset="-122"/>
                          <a:ea typeface="微软雅黑" panose="020B0503020204020204" pitchFamily="34" charset="-122"/>
                        </a:rPr>
                        <a:t>个月≤账龄≤</a:t>
                      </a:r>
                      <a:r>
                        <a:rPr lang="en-US" altLang="zh-CN" sz="1400" u="none" strike="noStrike" dirty="0">
                          <a:latin typeface="微软雅黑" panose="020B0503020204020204" pitchFamily="34" charset="-122"/>
                          <a:ea typeface="微软雅黑" panose="020B0503020204020204" pitchFamily="34" charset="-122"/>
                        </a:rPr>
                        <a:t>3</a:t>
                      </a:r>
                      <a:r>
                        <a:rPr lang="zh-CN" altLang="en-US" sz="1400" u="none" strike="noStrike" dirty="0">
                          <a:latin typeface="微软雅黑" panose="020B0503020204020204" pitchFamily="34" charset="-122"/>
                          <a:ea typeface="微软雅黑" panose="020B0503020204020204" pitchFamily="34" charset="-122"/>
                        </a:rPr>
                        <a:t>个月</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3.6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2.7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6.5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3.4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10.2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27.1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519453">
                <a:tc>
                  <a:txBody>
                    <a:bodyPr/>
                    <a:lstStyle/>
                    <a:p>
                      <a:pPr algn="ctr" rtl="0" fontAlgn="t"/>
                      <a:r>
                        <a:rPr lang="en-US" altLang="zh-CN" sz="1400" u="none" strike="noStrike" dirty="0">
                          <a:latin typeface="微软雅黑" panose="020B0503020204020204" pitchFamily="34" charset="-122"/>
                          <a:ea typeface="微软雅黑" panose="020B0503020204020204" pitchFamily="34" charset="-122"/>
                        </a:rPr>
                        <a:t>3</a:t>
                      </a:r>
                      <a:r>
                        <a:rPr lang="zh-CN" altLang="en-US" sz="1400" u="none" strike="noStrike" dirty="0">
                          <a:latin typeface="微软雅黑" panose="020B0503020204020204" pitchFamily="34" charset="-122"/>
                          <a:ea typeface="微软雅黑" panose="020B0503020204020204" pitchFamily="34" charset="-122"/>
                        </a:rPr>
                        <a:t>个月＜账龄≤</a:t>
                      </a:r>
                      <a:r>
                        <a:rPr lang="en-US" altLang="zh-CN" sz="1400" u="none" strike="noStrike" dirty="0">
                          <a:latin typeface="微软雅黑" panose="020B0503020204020204" pitchFamily="34" charset="-122"/>
                          <a:ea typeface="微软雅黑" panose="020B0503020204020204" pitchFamily="34" charset="-122"/>
                        </a:rPr>
                        <a:t>1</a:t>
                      </a:r>
                      <a:r>
                        <a:rPr lang="zh-CN" altLang="en-US" sz="1400" u="none" strike="noStrike" dirty="0">
                          <a:latin typeface="微软雅黑" panose="020B0503020204020204" pitchFamily="34" charset="-122"/>
                          <a:ea typeface="微软雅黑" panose="020B0503020204020204" pitchFamily="34" charset="-122"/>
                        </a:rPr>
                        <a:t>年</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1.8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7.8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14.2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360709">
                <a:tc>
                  <a:txBody>
                    <a:bodyPr/>
                    <a:lstStyle/>
                    <a:p>
                      <a:pPr algn="ctr" rtl="0" fontAlgn="t"/>
                      <a:r>
                        <a:rPr lang="en-US" altLang="zh-CN" sz="1400" u="none" strike="noStrike" dirty="0">
                          <a:latin typeface="微软雅黑" panose="020B0503020204020204" pitchFamily="34" charset="-122"/>
                          <a:ea typeface="微软雅黑" panose="020B0503020204020204" pitchFamily="34" charset="-122"/>
                        </a:rPr>
                        <a:t>1</a:t>
                      </a:r>
                      <a:r>
                        <a:rPr lang="zh-CN" altLang="en-US" sz="1400" u="none" strike="noStrike" dirty="0">
                          <a:latin typeface="微软雅黑" panose="020B0503020204020204" pitchFamily="34" charset="-122"/>
                          <a:ea typeface="微软雅黑" panose="020B0503020204020204" pitchFamily="34" charset="-122"/>
                        </a:rPr>
                        <a:t>年＜账龄</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0.8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360709">
                <a:tc>
                  <a:txBody>
                    <a:bodyPr/>
                    <a:lstStyle/>
                    <a:p>
                      <a:pPr algn="ctr" rtl="0" fontAlgn="b"/>
                      <a:r>
                        <a:rPr lang="zh-CN" altLang="en-US" sz="1400" u="none" strike="noStrike" dirty="0">
                          <a:latin typeface="微软雅黑" panose="020B0503020204020204" pitchFamily="34" charset="-122"/>
                          <a:ea typeface="微软雅黑" panose="020B0503020204020204" pitchFamily="34" charset="-122"/>
                        </a:rPr>
                        <a:t>合  计</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11.2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4.8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5.4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a:latin typeface="微软雅黑" panose="020B0503020204020204" pitchFamily="34" charset="-122"/>
                          <a:ea typeface="微软雅黑" panose="020B0503020204020204" pitchFamily="34" charset="-122"/>
                        </a:rPr>
                        <a:t>9.0 </a:t>
                      </a:r>
                      <a:endParaRPr lang="en-US" altLang="zh-CN" sz="1400" b="0" i="0" u="none" strike="noStrike">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9.5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19.9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5.2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65.0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360709">
                <a:tc>
                  <a:txBody>
                    <a:bodyPr/>
                    <a:lstStyle/>
                    <a:p>
                      <a:pPr algn="ctr" rtl="0" fontAlgn="b"/>
                      <a:r>
                        <a:rPr lang="zh-CN" altLang="en-US" sz="1400" u="none" strike="noStrike" dirty="0">
                          <a:latin typeface="微软雅黑" panose="020B0503020204020204" pitchFamily="34" charset="-122"/>
                          <a:ea typeface="微软雅黑" panose="020B0503020204020204" pitchFamily="34" charset="-122"/>
                        </a:rPr>
                        <a:t>其中：欠费销账</a:t>
                      </a:r>
                      <a:endParaRPr lang="zh-CN" altLang="en-US"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7.4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0.0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2.1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7.0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8.3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15.0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5.2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pitchFamily="34" charset="-122"/>
                          <a:ea typeface="微软雅黑" panose="020B0503020204020204" pitchFamily="34" charset="-122"/>
                        </a:rPr>
                        <a:t>45.0 </a:t>
                      </a:r>
                      <a:endParaRPr lang="en-US" altLang="zh-CN" sz="1400" b="0" i="0" u="none" strike="noStrike" dirty="0">
                        <a:solidFill>
                          <a:srgbClr val="00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bl>
          </a:graphicData>
        </a:graphic>
      </p:graphicFrame>
      <p:sp>
        <p:nvSpPr>
          <p:cNvPr id="6" name="TextBox 8"/>
          <p:cNvSpPr txBox="1"/>
          <p:nvPr/>
        </p:nvSpPr>
        <p:spPr>
          <a:xfrm>
            <a:off x="6042994" y="2483233"/>
            <a:ext cx="1367790" cy="275590"/>
          </a:xfrm>
          <a:prstGeom prst="rect">
            <a:avLst/>
          </a:prstGeom>
          <a:noFill/>
        </p:spPr>
        <p:txBody>
          <a:bodyPr wrap="square" rtlCol="0">
            <a:spAutoFit/>
          </a:bodyPr>
          <a:lstStyle/>
          <a:p>
            <a:pPr algn="r"/>
            <a:r>
              <a:rPr lang="zh-CN" altLang="en-US" sz="1200" dirty="0">
                <a:latin typeface="微软雅黑" panose="020B0503020204020204" pitchFamily="34" charset="-122"/>
                <a:ea typeface="微软雅黑" panose="020B0503020204020204" pitchFamily="34" charset="-122"/>
              </a:rPr>
              <a:t>单位：万元</a:t>
            </a:r>
          </a:p>
        </p:txBody>
      </p:sp>
      <p:sp>
        <p:nvSpPr>
          <p:cNvPr id="7" name="TextBox 11"/>
          <p:cNvSpPr txBox="1"/>
          <p:nvPr/>
        </p:nvSpPr>
        <p:spPr>
          <a:xfrm>
            <a:off x="851009" y="6199989"/>
            <a:ext cx="4714908" cy="260350"/>
          </a:xfrm>
          <a:prstGeom prst="rect">
            <a:avLst/>
          </a:prstGeom>
          <a:noFill/>
        </p:spPr>
        <p:txBody>
          <a:bodyPr wrap="square" rtlCol="0">
            <a:spAutoFit/>
          </a:bodyPr>
          <a:lstStyle/>
          <a:p>
            <a:r>
              <a:rPr lang="zh-CN" altLang="en-US" sz="1100" dirty="0">
                <a:latin typeface="微软雅黑" panose="020B0503020204020204" pitchFamily="34" charset="-122"/>
                <a:ea typeface="微软雅黑" panose="020B0503020204020204" pitchFamily="34" charset="-122"/>
              </a:rPr>
              <a:t>备注：表格中县区欠款仅是主营业厅欠款，不包含代办点欠款。</a:t>
            </a:r>
            <a:endParaRPr lang="en-US" altLang="zh-CN" sz="1100" dirty="0">
              <a:latin typeface="微软雅黑" panose="020B0503020204020204" pitchFamily="34" charset="-122"/>
              <a:ea typeface="微软雅黑" panose="020B0503020204020204" pitchFamily="34" charset="-122"/>
            </a:endParaRPr>
          </a:p>
        </p:txBody>
      </p:sp>
      <p:sp>
        <p:nvSpPr>
          <p:cNvPr id="9" name="矩形 8"/>
          <p:cNvSpPr/>
          <p:nvPr/>
        </p:nvSpPr>
        <p:spPr>
          <a:xfrm>
            <a:off x="7663980" y="2415827"/>
            <a:ext cx="4174435" cy="3784600"/>
          </a:xfrm>
          <a:prstGeom prst="rect">
            <a:avLst/>
          </a:prstGeom>
        </p:spPr>
        <p:txBody>
          <a:bodyPr wrap="square">
            <a:spAutoFit/>
          </a:bodyPr>
          <a:lstStyle/>
          <a:p>
            <a:pPr marL="171450" indent="-215900">
              <a:lnSpc>
                <a:spcPct val="150000"/>
              </a:lnSpc>
              <a:buClr>
                <a:srgbClr val="C00000"/>
              </a:buClr>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账龄分析：</a:t>
            </a:r>
            <a:r>
              <a:rPr lang="zh-CN" altLang="en-US" sz="1600" dirty="0">
                <a:latin typeface="微软雅黑" panose="020B0503020204020204" pitchFamily="34" charset="-122"/>
                <a:ea typeface="微软雅黑" panose="020B0503020204020204" pitchFamily="34" charset="-122"/>
              </a:rPr>
              <a:t>除</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区、</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区及</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区，其他单位均存在</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个月以上的营业欠款，请加强催缴。</a:t>
            </a:r>
            <a:endParaRPr lang="en-US" altLang="zh-CN" sz="1600" dirty="0">
              <a:latin typeface="微软雅黑" panose="020B0503020204020204" pitchFamily="34" charset="-122"/>
              <a:ea typeface="微软雅黑" panose="020B0503020204020204" pitchFamily="34" charset="-122"/>
            </a:endParaRPr>
          </a:p>
          <a:p>
            <a:pPr marL="171450" indent="-215900">
              <a:lnSpc>
                <a:spcPct val="150000"/>
              </a:lnSpc>
              <a:buClr>
                <a:srgbClr val="C00000"/>
              </a:buClr>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欠款结构分析：</a:t>
            </a:r>
            <a:r>
              <a:rPr lang="zh-CN" altLang="en-US" sz="1600" dirty="0">
                <a:latin typeface="微软雅黑" panose="020B0503020204020204" pitchFamily="34" charset="-122"/>
                <a:ea typeface="微软雅黑" panose="020B0503020204020204" pitchFamily="34" charset="-122"/>
              </a:rPr>
              <a:t>欠费销账引发的欠款占比高达</a:t>
            </a:r>
            <a:r>
              <a:rPr lang="en-US" altLang="zh-CN" sz="1600" dirty="0">
                <a:latin typeface="微软雅黑" panose="020B0503020204020204" pitchFamily="34" charset="-122"/>
                <a:ea typeface="微软雅黑" panose="020B0503020204020204" pitchFamily="34" charset="-122"/>
              </a:rPr>
              <a:t>69%</a:t>
            </a:r>
            <a:r>
              <a:rPr lang="zh-CN" altLang="en-US" sz="1600" dirty="0">
                <a:latin typeface="微软雅黑" panose="020B0503020204020204" pitchFamily="34" charset="-122"/>
                <a:ea typeface="微软雅黑" panose="020B0503020204020204" pitchFamily="34" charset="-122"/>
              </a:rPr>
              <a:t>，主要是发票和长账龄欠费转移。</a:t>
            </a:r>
            <a:endParaRPr lang="en-US" altLang="zh-CN" sz="1600" dirty="0">
              <a:latin typeface="微软雅黑" panose="020B0503020204020204" pitchFamily="34" charset="-122"/>
              <a:ea typeface="微软雅黑" panose="020B0503020204020204" pitchFamily="34" charset="-122"/>
            </a:endParaRPr>
          </a:p>
          <a:p>
            <a:pPr>
              <a:lnSpc>
                <a:spcPct val="150000"/>
              </a:lnSpc>
              <a:buClr>
                <a:srgbClr val="C00000"/>
              </a:buClr>
            </a:pP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未到账先开票的需求请各单位严格遵照“预借发票”流程执行，违规开票销账拟列  入</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季度发票通报考核。</a:t>
            </a:r>
            <a:endParaRPr lang="en-US" altLang="zh-CN" sz="1600" dirty="0">
              <a:latin typeface="微软雅黑" panose="020B0503020204020204" pitchFamily="34" charset="-122"/>
              <a:ea typeface="微软雅黑" panose="020B0503020204020204" pitchFamily="34" charset="-122"/>
            </a:endParaRPr>
          </a:p>
          <a:p>
            <a:pPr>
              <a:lnSpc>
                <a:spcPct val="150000"/>
              </a:lnSpc>
              <a:buClr>
                <a:srgbClr val="C00000"/>
              </a:buClr>
            </a:pP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省公司已通知严禁未达账销账，同时分公司</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季度执行还原欠费考核，请各单位加强营业款管理。</a:t>
            </a:r>
          </a:p>
        </p:txBody>
      </p:sp>
      <p:sp>
        <p:nvSpPr>
          <p:cNvPr id="10" name="矩形 9"/>
          <p:cNvSpPr/>
          <p:nvPr/>
        </p:nvSpPr>
        <p:spPr>
          <a:xfrm>
            <a:off x="881272" y="2264149"/>
            <a:ext cx="3962399" cy="465801"/>
          </a:xfrm>
          <a:prstGeom prst="rect">
            <a:avLst/>
          </a:prstGeom>
          <a:solidFill>
            <a:srgbClr val="E8432E"/>
          </a:solidFill>
        </p:spPr>
        <p:txBody>
          <a:bodyPr wrap="square" anchor="ctr">
            <a:no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a:solidFill>
                  <a:schemeClr val="bg1"/>
                </a:solidFill>
                <a:latin typeface="微软雅黑" panose="020B0503020204020204" pitchFamily="34" charset="-122"/>
                <a:ea typeface="微软雅黑" panose="020B0503020204020204" pitchFamily="34" charset="-122"/>
              </a:rPr>
              <a:t>营业欠款账龄结构分析</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150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bldLvl="0" animBg="1"/>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28466" y="381146"/>
            <a:ext cx="20116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rPr>
              <a:t>风险管控</a:t>
            </a:r>
          </a:p>
        </p:txBody>
      </p:sp>
      <p:sp>
        <p:nvSpPr>
          <p:cNvPr id="3" name="矩形 2"/>
          <p:cNvSpPr/>
          <p:nvPr/>
        </p:nvSpPr>
        <p:spPr>
          <a:xfrm>
            <a:off x="6056299" y="2245954"/>
            <a:ext cx="3962399" cy="465801"/>
          </a:xfrm>
          <a:prstGeom prst="rect">
            <a:avLst/>
          </a:prstGeom>
          <a:solidFill>
            <a:srgbClr val="E8432E"/>
          </a:solidFill>
        </p:spPr>
        <p:txBody>
          <a:bodyPr wrap="square" anchor="ctr">
            <a:no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用户欠费账龄结构分析</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6049674" y="2822153"/>
          <a:ext cx="5610087" cy="3215898"/>
        </p:xfrm>
        <a:graphic>
          <a:graphicData uri="http://schemas.openxmlformats.org/drawingml/2006/table">
            <a:tbl>
              <a:tblPr>
                <a:tableStyleId>{21E4AEA4-8DFA-4A89-87EB-49C32662AFE0}</a:tableStyleId>
              </a:tblPr>
              <a:tblGrid>
                <a:gridCol w="1820082"/>
                <a:gridCol w="748241"/>
                <a:gridCol w="817372"/>
                <a:gridCol w="748241"/>
                <a:gridCol w="792973"/>
                <a:gridCol w="683178"/>
              </a:tblGrid>
              <a:tr h="403335">
                <a:tc rowSpan="2">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账龄</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年初数</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4</a:t>
                      </a:r>
                      <a:r>
                        <a:rPr lang="zh-CN" altLang="en-US" sz="1400" u="none" strike="noStrike" dirty="0">
                          <a:solidFill>
                            <a:schemeClr val="bg1"/>
                          </a:solidFill>
                          <a:latin typeface="微软雅黑" panose="020B0503020204020204" pitchFamily="34" charset="-122"/>
                          <a:ea typeface="微软雅黑" panose="020B0503020204020204" pitchFamily="34" charset="-122"/>
                        </a:rPr>
                        <a:t>月份</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增量</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gridSpan="2">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其中：</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r>
              <a:tr h="401538">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固话</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移动</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r>
              <a:tr h="401538">
                <a:tc>
                  <a:txBody>
                    <a:bodyPr/>
                    <a:lstStyle/>
                    <a:p>
                      <a:pPr algn="ctr" fontAlgn="t"/>
                      <a:r>
                        <a:rPr lang="zh-CN" altLang="en-US" sz="1400" u="none" strike="noStrike" dirty="0">
                          <a:solidFill>
                            <a:schemeClr val="bg1"/>
                          </a:solidFill>
                          <a:latin typeface="微软雅黑" panose="020B0503020204020204" pitchFamily="34" charset="-122"/>
                          <a:ea typeface="微软雅黑" panose="020B0503020204020204" pitchFamily="34" charset="-122"/>
                        </a:rPr>
                        <a:t>账龄＜</a:t>
                      </a:r>
                      <a:r>
                        <a:rPr lang="en-US" altLang="zh-CN" sz="1400" u="none" strike="noStrike" dirty="0">
                          <a:solidFill>
                            <a:schemeClr val="bg1"/>
                          </a:solidFill>
                          <a:latin typeface="微软雅黑" panose="020B0503020204020204" pitchFamily="34" charset="-122"/>
                          <a:ea typeface="微软雅黑" panose="020B0503020204020204" pitchFamily="34" charset="-122"/>
                        </a:rPr>
                        <a:t>1</a:t>
                      </a:r>
                      <a:r>
                        <a:rPr lang="zh-CN" altLang="en-US" sz="1400" u="none" strike="noStrike" dirty="0">
                          <a:solidFill>
                            <a:schemeClr val="bg1"/>
                          </a:solidFill>
                          <a:latin typeface="微软雅黑" panose="020B0503020204020204" pitchFamily="34" charset="-122"/>
                          <a:ea typeface="微软雅黑" panose="020B0503020204020204" pitchFamily="34" charset="-122"/>
                        </a:rPr>
                        <a:t>个月</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3,074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3,198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124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zh-CN" altLang="en-US" sz="1400" u="none" strike="noStrike" dirty="0">
                          <a:latin typeface="微软雅黑" panose="020B0503020204020204" pitchFamily="34" charset="-122"/>
                          <a:ea typeface="微软雅黑" panose="020B0503020204020204" pitchFamily="34" charset="-122"/>
                        </a:rPr>
                        <a:t>　</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zh-CN" altLang="en-US" sz="1400" u="none" strike="noStrike" dirty="0">
                          <a:latin typeface="微软雅黑" panose="020B0503020204020204" pitchFamily="34" charset="-122"/>
                          <a:ea typeface="微软雅黑" panose="020B0503020204020204" pitchFamily="34" charset="-122"/>
                        </a:rPr>
                        <a:t>　</a:t>
                      </a:r>
                      <a:endParaRPr lang="zh-CN" altLang="en-US"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401538">
                <a:tc>
                  <a:txBody>
                    <a:bodyPr/>
                    <a:lstStyle/>
                    <a:p>
                      <a:pPr algn="ctr" fontAlgn="t"/>
                      <a:r>
                        <a:rPr lang="en-US" altLang="zh-CN" sz="1400" u="none" strike="noStrike" dirty="0">
                          <a:solidFill>
                            <a:schemeClr val="bg1"/>
                          </a:solidFill>
                          <a:latin typeface="微软雅黑" panose="020B0503020204020204" pitchFamily="34" charset="-122"/>
                          <a:ea typeface="微软雅黑" panose="020B0503020204020204" pitchFamily="34" charset="-122"/>
                        </a:rPr>
                        <a:t>1</a:t>
                      </a:r>
                      <a:r>
                        <a:rPr lang="zh-CN" altLang="en-US" sz="1400" u="none" strike="noStrike" dirty="0">
                          <a:solidFill>
                            <a:schemeClr val="bg1"/>
                          </a:solidFill>
                          <a:latin typeface="微软雅黑" panose="020B0503020204020204" pitchFamily="34" charset="-122"/>
                          <a:ea typeface="微软雅黑" panose="020B0503020204020204" pitchFamily="34" charset="-122"/>
                        </a:rPr>
                        <a:t>个月≤账龄≤</a:t>
                      </a:r>
                      <a:r>
                        <a:rPr lang="en-US" altLang="zh-CN" sz="1400" u="none" strike="noStrike" dirty="0">
                          <a:solidFill>
                            <a:schemeClr val="bg1"/>
                          </a:solidFill>
                          <a:latin typeface="微软雅黑" panose="020B0503020204020204" pitchFamily="34" charset="-122"/>
                          <a:ea typeface="微软雅黑" panose="020B0503020204020204" pitchFamily="34" charset="-122"/>
                        </a:rPr>
                        <a:t>2</a:t>
                      </a:r>
                      <a:r>
                        <a:rPr lang="zh-CN" altLang="en-US" sz="1400" u="none" strike="noStrike" dirty="0">
                          <a:solidFill>
                            <a:schemeClr val="bg1"/>
                          </a:solidFill>
                          <a:latin typeface="微软雅黑" panose="020B0503020204020204" pitchFamily="34" charset="-122"/>
                          <a:ea typeface="微软雅黑" panose="020B0503020204020204" pitchFamily="34" charset="-122"/>
                        </a:rPr>
                        <a:t>个月</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645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1,051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405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397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8</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401538">
                <a:tc>
                  <a:txBody>
                    <a:bodyPr/>
                    <a:lstStyle/>
                    <a:p>
                      <a:pPr algn="ctr" fontAlgn="t"/>
                      <a:r>
                        <a:rPr lang="en-US" altLang="zh-CN" sz="1400" u="none" strike="noStrike" dirty="0">
                          <a:solidFill>
                            <a:schemeClr val="bg1"/>
                          </a:solidFill>
                          <a:latin typeface="微软雅黑" panose="020B0503020204020204" pitchFamily="34" charset="-122"/>
                          <a:ea typeface="微软雅黑" panose="020B0503020204020204" pitchFamily="34" charset="-122"/>
                        </a:rPr>
                        <a:t>2</a:t>
                      </a:r>
                      <a:r>
                        <a:rPr lang="zh-CN" altLang="en-US" sz="1400" u="none" strike="noStrike" dirty="0">
                          <a:solidFill>
                            <a:schemeClr val="bg1"/>
                          </a:solidFill>
                          <a:latin typeface="微软雅黑" panose="020B0503020204020204" pitchFamily="34" charset="-122"/>
                          <a:ea typeface="微软雅黑" panose="020B0503020204020204" pitchFamily="34" charset="-122"/>
                        </a:rPr>
                        <a:t>个月＜账龄≤</a:t>
                      </a:r>
                      <a:r>
                        <a:rPr lang="en-US" altLang="zh-CN" sz="1400" u="none" strike="noStrike" dirty="0">
                          <a:solidFill>
                            <a:schemeClr val="bg1"/>
                          </a:solidFill>
                          <a:latin typeface="微软雅黑" panose="020B0503020204020204" pitchFamily="34" charset="-122"/>
                          <a:ea typeface="微软雅黑" panose="020B0503020204020204" pitchFamily="34" charset="-122"/>
                        </a:rPr>
                        <a:t>3</a:t>
                      </a:r>
                      <a:r>
                        <a:rPr lang="zh-CN" altLang="en-US" sz="1400" u="none" strike="noStrike" dirty="0">
                          <a:solidFill>
                            <a:schemeClr val="bg1"/>
                          </a:solidFill>
                          <a:latin typeface="微软雅黑" panose="020B0503020204020204" pitchFamily="34" charset="-122"/>
                          <a:ea typeface="微软雅黑" panose="020B0503020204020204" pitchFamily="34" charset="-122"/>
                        </a:rPr>
                        <a:t>个月</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128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175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47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63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401538">
                <a:tc>
                  <a:txBody>
                    <a:bodyPr/>
                    <a:lstStyle/>
                    <a:p>
                      <a:pPr algn="ctr" fontAlgn="t"/>
                      <a:r>
                        <a:rPr lang="en-US" altLang="zh-CN" sz="1400" u="none" strike="noStrike" dirty="0">
                          <a:solidFill>
                            <a:schemeClr val="bg1"/>
                          </a:solidFill>
                          <a:latin typeface="微软雅黑" panose="020B0503020204020204" pitchFamily="34" charset="-122"/>
                          <a:ea typeface="微软雅黑" panose="020B0503020204020204" pitchFamily="34" charset="-122"/>
                        </a:rPr>
                        <a:t>3</a:t>
                      </a:r>
                      <a:r>
                        <a:rPr lang="zh-CN" altLang="en-US" sz="1400" u="none" strike="noStrike" dirty="0">
                          <a:solidFill>
                            <a:schemeClr val="bg1"/>
                          </a:solidFill>
                          <a:latin typeface="微软雅黑" panose="020B0503020204020204" pitchFamily="34" charset="-122"/>
                          <a:ea typeface="微软雅黑" panose="020B0503020204020204" pitchFamily="34" charset="-122"/>
                        </a:rPr>
                        <a:t>个月＜账龄≤</a:t>
                      </a:r>
                      <a:r>
                        <a:rPr lang="en-US" altLang="zh-CN" sz="1400" u="none" strike="noStrike" dirty="0">
                          <a:solidFill>
                            <a:schemeClr val="bg1"/>
                          </a:solidFill>
                          <a:latin typeface="微软雅黑" panose="020B0503020204020204" pitchFamily="34" charset="-122"/>
                          <a:ea typeface="微软雅黑" panose="020B0503020204020204" pitchFamily="34" charset="-122"/>
                        </a:rPr>
                        <a:t>1</a:t>
                      </a:r>
                      <a:r>
                        <a:rPr lang="zh-CN" altLang="en-US" sz="1400" u="none" strike="noStrike" dirty="0">
                          <a:solidFill>
                            <a:schemeClr val="bg1"/>
                          </a:solidFill>
                          <a:latin typeface="微软雅黑" panose="020B0503020204020204" pitchFamily="34" charset="-122"/>
                          <a:ea typeface="微软雅黑" panose="020B0503020204020204" pitchFamily="34" charset="-122"/>
                        </a:rPr>
                        <a:t>年</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956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951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-4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401538">
                <a:tc>
                  <a:txBody>
                    <a:bodyPr/>
                    <a:lstStyle/>
                    <a:p>
                      <a:pPr algn="ctr" fontAlgn="t"/>
                      <a:r>
                        <a:rPr lang="en-US" altLang="zh-CN" sz="1400" u="none" strike="noStrike" dirty="0">
                          <a:solidFill>
                            <a:schemeClr val="bg1"/>
                          </a:solidFill>
                          <a:latin typeface="微软雅黑" panose="020B0503020204020204" pitchFamily="34" charset="-122"/>
                          <a:ea typeface="微软雅黑" panose="020B0503020204020204" pitchFamily="34" charset="-122"/>
                        </a:rPr>
                        <a:t>1</a:t>
                      </a:r>
                      <a:r>
                        <a:rPr lang="zh-CN" altLang="en-US" sz="1400" u="none" strike="noStrike" dirty="0">
                          <a:solidFill>
                            <a:schemeClr val="bg1"/>
                          </a:solidFill>
                          <a:latin typeface="微软雅黑" panose="020B0503020204020204" pitchFamily="34" charset="-122"/>
                          <a:ea typeface="微软雅黑" panose="020B0503020204020204" pitchFamily="34" charset="-122"/>
                        </a:rPr>
                        <a:t>年＜账龄</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105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500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396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171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pitchFamily="34" charset="-122"/>
                          <a:ea typeface="微软雅黑" panose="020B0503020204020204" pitchFamily="34" charset="-122"/>
                        </a:rPr>
                        <a:t>225 </a:t>
                      </a:r>
                      <a:endParaRPr lang="en-US" altLang="zh-CN" sz="1400" b="0" i="0" u="none" strike="noStrike" dirty="0">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403335">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合  计</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4,908 </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5,875 </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pitchFamily="34" charset="-122"/>
                          <a:ea typeface="微软雅黑" panose="020B0503020204020204" pitchFamily="34" charset="-122"/>
                        </a:rPr>
                        <a:t>967 </a:t>
                      </a:r>
                      <a:endParaRPr lang="en-US" altLang="zh-CN"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tx1">
                        <a:lumMod val="65000"/>
                        <a:lumOff val="35000"/>
                      </a:schemeClr>
                    </a:solidFill>
                  </a:tcPr>
                </a:tc>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　</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tx1">
                        <a:lumMod val="65000"/>
                        <a:lumOff val="35000"/>
                      </a:schemeClr>
                    </a:solidFill>
                  </a:tcPr>
                </a:tc>
                <a:tc>
                  <a:txBody>
                    <a:bodyPr/>
                    <a:lstStyle/>
                    <a:p>
                      <a:pPr algn="ctr" fontAlgn="b"/>
                      <a:r>
                        <a:rPr lang="zh-CN" altLang="en-US" sz="1400" u="none" strike="noStrike" dirty="0">
                          <a:solidFill>
                            <a:schemeClr val="bg1"/>
                          </a:solidFill>
                          <a:latin typeface="微软雅黑" panose="020B0503020204020204" pitchFamily="34" charset="-122"/>
                          <a:ea typeface="微软雅黑" panose="020B0503020204020204" pitchFamily="34" charset="-122"/>
                        </a:rPr>
                        <a:t>　</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tx1">
                        <a:lumMod val="65000"/>
                        <a:lumOff val="35000"/>
                      </a:schemeClr>
                    </a:solidFill>
                  </a:tcPr>
                </a:tc>
              </a:tr>
            </a:tbl>
          </a:graphicData>
        </a:graphic>
      </p:graphicFrame>
      <p:sp>
        <p:nvSpPr>
          <p:cNvPr id="5" name="矩形 4"/>
          <p:cNvSpPr/>
          <p:nvPr/>
        </p:nvSpPr>
        <p:spPr>
          <a:xfrm>
            <a:off x="1141537" y="3052773"/>
            <a:ext cx="4081669" cy="2753360"/>
          </a:xfrm>
          <a:prstGeom prst="rect">
            <a:avLst/>
          </a:prstGeom>
        </p:spPr>
        <p:txBody>
          <a:bodyPr wrap="square">
            <a:spAutoFit/>
          </a:bodyPr>
          <a:lstStyle/>
          <a:p>
            <a:pPr marL="171450" indent="-215900">
              <a:lnSpc>
                <a:spcPct val="150000"/>
              </a:lnSpc>
              <a:spcBef>
                <a:spcPts val="600"/>
              </a:spcBef>
              <a:buClr>
                <a:srgbClr val="C0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用户欠费较年初增</a:t>
            </a:r>
            <a:r>
              <a:rPr lang="en-US" altLang="zh-CN" sz="1600" dirty="0">
                <a:latin typeface="微软雅黑" panose="020B0503020204020204" pitchFamily="34" charset="-122"/>
                <a:ea typeface="微软雅黑" panose="020B0503020204020204" pitchFamily="34" charset="-122"/>
              </a:rPr>
              <a:t>967</a:t>
            </a:r>
            <a:r>
              <a:rPr lang="zh-CN" altLang="en-US" sz="1600" dirty="0">
                <a:latin typeface="微软雅黑" panose="020B0503020204020204" pitchFamily="34" charset="-122"/>
                <a:ea typeface="微软雅黑" panose="020B0503020204020204" pitchFamily="34" charset="-122"/>
              </a:rPr>
              <a:t>万元，主要是</a:t>
            </a:r>
            <a:r>
              <a:rPr lang="en-US" altLang="zh-CN" sz="1600" dirty="0">
                <a:latin typeface="微软雅黑" panose="020B0503020204020204" pitchFamily="34" charset="-122"/>
                <a:ea typeface="微软雅黑" panose="020B0503020204020204" pitchFamily="34" charset="-122"/>
              </a:rPr>
              <a:t>1-3</a:t>
            </a:r>
            <a:r>
              <a:rPr lang="zh-CN" altLang="en-US" sz="1600" dirty="0">
                <a:latin typeface="微软雅黑" panose="020B0503020204020204" pitchFamily="34" charset="-122"/>
                <a:ea typeface="微软雅黑" panose="020B0503020204020204" pitchFamily="34" charset="-122"/>
              </a:rPr>
              <a:t>月份账期新增欠费比年初增</a:t>
            </a:r>
            <a:r>
              <a:rPr lang="en-US" altLang="zh-CN" sz="1600" b="1" dirty="0">
                <a:latin typeface="微软雅黑" panose="020B0503020204020204" pitchFamily="34" charset="-122"/>
                <a:ea typeface="微软雅黑" panose="020B0503020204020204" pitchFamily="34" charset="-122"/>
              </a:rPr>
              <a:t>452</a:t>
            </a:r>
            <a:r>
              <a:rPr lang="zh-CN" altLang="en-US" sz="1600" b="1" dirty="0">
                <a:latin typeface="微软雅黑" panose="020B0503020204020204" pitchFamily="34" charset="-122"/>
                <a:ea typeface="微软雅黑" panose="020B0503020204020204" pitchFamily="34" charset="-122"/>
              </a:rPr>
              <a:t>万元</a:t>
            </a:r>
            <a:r>
              <a:rPr lang="zh-CN" altLang="en-US" sz="1600" dirty="0">
                <a:latin typeface="微软雅黑" panose="020B0503020204020204" pitchFamily="34" charset="-122"/>
                <a:ea typeface="微软雅黑" panose="020B0503020204020204" pitchFamily="34" charset="-122"/>
              </a:rPr>
              <a:t>（主要是固话用户欠费），</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年以上账期坏账沉淀</a:t>
            </a:r>
            <a:r>
              <a:rPr lang="en-US" altLang="zh-CN" sz="1600" b="1" dirty="0">
                <a:latin typeface="微软雅黑" panose="020B0503020204020204" pitchFamily="34" charset="-122"/>
                <a:ea typeface="微软雅黑" panose="020B0503020204020204" pitchFamily="34" charset="-122"/>
              </a:rPr>
              <a:t>396</a:t>
            </a:r>
            <a:r>
              <a:rPr lang="zh-CN" altLang="en-US" sz="1600" b="1" dirty="0">
                <a:latin typeface="微软雅黑" panose="020B0503020204020204" pitchFamily="34" charset="-122"/>
                <a:ea typeface="微软雅黑" panose="020B0503020204020204" pitchFamily="34" charset="-122"/>
              </a:rPr>
              <a:t>万元</a:t>
            </a:r>
            <a:r>
              <a:rPr lang="zh-CN" altLang="en-US" sz="1600" dirty="0">
                <a:latin typeface="微软雅黑" panose="020B0503020204020204" pitchFamily="34" charset="-122"/>
                <a:ea typeface="微软雅黑" panose="020B0503020204020204" pitchFamily="34" charset="-122"/>
              </a:rPr>
              <a:t>（其中，固话用户欠费</a:t>
            </a:r>
            <a:r>
              <a:rPr lang="en-US" altLang="zh-CN" sz="1600" dirty="0">
                <a:latin typeface="微软雅黑" panose="020B0503020204020204" pitchFamily="34" charset="-122"/>
                <a:ea typeface="微软雅黑" panose="020B0503020204020204" pitchFamily="34" charset="-122"/>
              </a:rPr>
              <a:t>171</a:t>
            </a:r>
            <a:r>
              <a:rPr lang="zh-CN" altLang="en-US" sz="1600" dirty="0">
                <a:latin typeface="微软雅黑" panose="020B0503020204020204" pitchFamily="34" charset="-122"/>
                <a:ea typeface="微软雅黑" panose="020B0503020204020204" pitchFamily="34" charset="-122"/>
              </a:rPr>
              <a:t>万元，移动用户欠费</a:t>
            </a:r>
            <a:r>
              <a:rPr lang="en-US" altLang="zh-CN" sz="1600" dirty="0">
                <a:latin typeface="微软雅黑" panose="020B0503020204020204" pitchFamily="34" charset="-122"/>
                <a:ea typeface="微软雅黑" panose="020B0503020204020204" pitchFamily="34" charset="-122"/>
              </a:rPr>
              <a:t>225</a:t>
            </a:r>
            <a:r>
              <a:rPr lang="zh-CN" altLang="en-US" sz="1600" dirty="0">
                <a:latin typeface="微软雅黑" panose="020B0503020204020204" pitchFamily="34" charset="-122"/>
                <a:ea typeface="微软雅黑" panose="020B0503020204020204" pitchFamily="34" charset="-122"/>
              </a:rPr>
              <a:t>万元）。</a:t>
            </a:r>
            <a:endParaRPr lang="en-US" altLang="zh-CN" sz="1600" dirty="0">
              <a:latin typeface="微软雅黑" panose="020B0503020204020204" pitchFamily="34" charset="-122"/>
              <a:ea typeface="微软雅黑" panose="020B0503020204020204" pitchFamily="34" charset="-122"/>
            </a:endParaRPr>
          </a:p>
          <a:p>
            <a:pPr marL="171450" indent="-215900">
              <a:lnSpc>
                <a:spcPct val="150000"/>
              </a:lnSpc>
              <a:spcBef>
                <a:spcPts val="600"/>
              </a:spcBef>
              <a:buClr>
                <a:srgbClr val="C0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重点关注每月用户欠费的结构情况，分类采取不同的催缴措施，避免坏账沉淀。</a:t>
            </a:r>
          </a:p>
        </p:txBody>
      </p:sp>
      <p:sp>
        <p:nvSpPr>
          <p:cNvPr id="7" name="TextBox 8"/>
          <p:cNvSpPr txBox="1"/>
          <p:nvPr/>
        </p:nvSpPr>
        <p:spPr>
          <a:xfrm>
            <a:off x="10632392" y="2497173"/>
            <a:ext cx="1071570" cy="275590"/>
          </a:xfrm>
          <a:prstGeom prst="rect">
            <a:avLst/>
          </a:prstGeom>
          <a:noFill/>
        </p:spPr>
        <p:txBody>
          <a:bodyPr wrap="square" rtlCol="0">
            <a:spAutoFit/>
          </a:bodyPr>
          <a:lstStyle/>
          <a:p>
            <a:pPr algn="r"/>
            <a:r>
              <a:rPr lang="zh-CN" altLang="en-US" sz="1200" dirty="0">
                <a:latin typeface="微软雅黑" panose="020B0503020204020204" pitchFamily="34" charset="-122"/>
                <a:ea typeface="微软雅黑" panose="020B0503020204020204" pitchFamily="34" charset="-122"/>
              </a:rPr>
              <a:t>单位：万元</a:t>
            </a:r>
          </a:p>
        </p:txBody>
      </p:sp>
      <p:sp>
        <p:nvSpPr>
          <p:cNvPr id="9" name="圆角矩形 8"/>
          <p:cNvSpPr/>
          <p:nvPr/>
        </p:nvSpPr>
        <p:spPr>
          <a:xfrm>
            <a:off x="4056472" y="1190249"/>
            <a:ext cx="4079056" cy="771073"/>
          </a:xfrm>
          <a:prstGeom prst="roundRect">
            <a:avLst/>
          </a:prstGeom>
          <a:solidFill>
            <a:srgbClr val="383F4E"/>
          </a:solidFill>
          <a:ln>
            <a:solidFill>
              <a:schemeClr val="tx1">
                <a:lumMod val="65000"/>
                <a:lumOff val="35000"/>
              </a:schemeClr>
            </a:solidFill>
          </a:ln>
        </p:spPr>
        <p:txBody>
          <a:bodyPr wrap="square" anchor="ctr">
            <a:noAutofit/>
          </a:bodyPr>
          <a:lstStyle/>
          <a:p>
            <a:pPr lvl="0" algn="ctr">
              <a:defRPr/>
            </a:pPr>
            <a:r>
              <a:rPr lang="zh-CN" altLang="en-US" sz="2800" dirty="0">
                <a:solidFill>
                  <a:schemeClr val="bg1"/>
                </a:solidFill>
                <a:latin typeface="微软雅黑" panose="020B0503020204020204" pitchFamily="34" charset="-122"/>
                <a:ea typeface="微软雅黑" panose="020B0503020204020204" pitchFamily="34" charset="-122"/>
                <a:sym typeface="+mn-ea"/>
              </a:rPr>
              <a:t>应收账款分析</a:t>
            </a:r>
          </a:p>
        </p:txBody>
      </p:sp>
      <p:sp>
        <p:nvSpPr>
          <p:cNvPr id="10" name="文本框 9"/>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150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7"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27940"/>
            <a:ext cx="12195810" cy="6967220"/>
            <a:chOff x="-3" y="-44"/>
            <a:chExt cx="19206" cy="10972"/>
          </a:xfrm>
        </p:grpSpPr>
        <p:sp>
          <p:nvSpPr>
            <p:cNvPr id="12" name="矩形 11"/>
            <p:cNvSpPr/>
            <p:nvPr/>
          </p:nvSpPr>
          <p:spPr>
            <a:xfrm>
              <a:off x="-3" y="-32"/>
              <a:ext cx="19206" cy="10960"/>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 y="-44"/>
              <a:ext cx="19200" cy="10889"/>
            </a:xfrm>
            <a:prstGeom prst="rect">
              <a:avLst/>
            </a:prstGeom>
            <a:solidFill>
              <a:srgbClr val="383F4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mn-ea"/>
                <a:sym typeface="+mn-lt"/>
              </a:endParaRPr>
            </a:p>
          </p:txBody>
        </p:sp>
      </p:grpSp>
      <p:sp>
        <p:nvSpPr>
          <p:cNvPr id="14" name="矩形 13"/>
          <p:cNvSpPr/>
          <p:nvPr/>
        </p:nvSpPr>
        <p:spPr>
          <a:xfrm>
            <a:off x="610235" y="3808095"/>
            <a:ext cx="5239385" cy="922020"/>
          </a:xfrm>
          <a:prstGeom prst="rect">
            <a:avLst/>
          </a:prstGeom>
          <a:ln w="25400">
            <a:solidFill>
              <a:schemeClr val="bg1"/>
            </a:solidFill>
          </a:ln>
        </p:spPr>
        <p:txBody>
          <a:bodyPr wrap="square">
            <a:spAutoFit/>
          </a:bodyPr>
          <a:lstStyle/>
          <a:p>
            <a:pPr algn="ct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p>
        </p:txBody>
      </p:sp>
      <p:sp>
        <p:nvSpPr>
          <p:cNvPr id="15" name="文本框 14"/>
          <p:cNvSpPr txBox="1"/>
          <p:nvPr/>
        </p:nvSpPr>
        <p:spPr>
          <a:xfrm>
            <a:off x="12769516" y="6373505"/>
            <a:ext cx="415498" cy="369332"/>
          </a:xfrm>
          <a:prstGeom prst="rect">
            <a:avLst/>
          </a:prstGeom>
          <a:noFill/>
        </p:spPr>
        <p:txBody>
          <a:bodyPr wrap="none" rtlCol="0">
            <a:spAutoFit/>
          </a:bodyPr>
          <a:lstStyle/>
          <a:p>
            <a:r>
              <a:rPr lang="zh-CN" altLang="en-US" dirty="0"/>
              <a:t>。</a:t>
            </a:r>
          </a:p>
        </p:txBody>
      </p:sp>
      <p:sp>
        <p:nvSpPr>
          <p:cNvPr id="16" name="Rectangle 6"/>
          <p:cNvSpPr>
            <a:spLocks noChangeArrowheads="1"/>
          </p:cNvSpPr>
          <p:nvPr/>
        </p:nvSpPr>
        <p:spPr bwMode="auto">
          <a:xfrm>
            <a:off x="-1779" y="1858608"/>
            <a:ext cx="12195564" cy="1731433"/>
          </a:xfrm>
          <a:prstGeom prst="rect">
            <a:avLst/>
          </a:prstGeom>
          <a:solidFill>
            <a:srgbClr val="E8432E"/>
          </a:solidFill>
          <a:ln w="0">
            <a:noFill/>
            <a:prstDash val="solid"/>
            <a:miter lim="800000"/>
          </a:ln>
        </p:spPr>
        <p:txBody>
          <a:bodyPr vert="horz" wrap="square" lIns="121911" tIns="60956" rIns="121911" bIns="60956"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7" name="Freeform 7"/>
          <p:cNvSpPr/>
          <p:nvPr/>
        </p:nvSpPr>
        <p:spPr bwMode="auto">
          <a:xfrm>
            <a:off x="610345" y="1858607"/>
            <a:ext cx="3376283" cy="1731435"/>
          </a:xfrm>
          <a:custGeom>
            <a:avLst/>
            <a:gdLst>
              <a:gd name="T0" fmla="*/ 579 w 1583"/>
              <a:gd name="T1" fmla="*/ 0 h 1325"/>
              <a:gd name="T2" fmla="*/ 1583 w 1583"/>
              <a:gd name="T3" fmla="*/ 0 h 1325"/>
              <a:gd name="T4" fmla="*/ 1004 w 1583"/>
              <a:gd name="T5" fmla="*/ 1325 h 1325"/>
              <a:gd name="T6" fmla="*/ 0 w 1583"/>
              <a:gd name="T7" fmla="*/ 1325 h 1325"/>
              <a:gd name="T8" fmla="*/ 579 w 1583"/>
              <a:gd name="T9" fmla="*/ 0 h 1325"/>
            </a:gdLst>
            <a:ahLst/>
            <a:cxnLst>
              <a:cxn ang="0">
                <a:pos x="T0" y="T1"/>
              </a:cxn>
              <a:cxn ang="0">
                <a:pos x="T2" y="T3"/>
              </a:cxn>
              <a:cxn ang="0">
                <a:pos x="T4" y="T5"/>
              </a:cxn>
              <a:cxn ang="0">
                <a:pos x="T6" y="T7"/>
              </a:cxn>
              <a:cxn ang="0">
                <a:pos x="T8" y="T9"/>
              </a:cxn>
            </a:cxnLst>
            <a:rect l="0" t="0" r="r" b="b"/>
            <a:pathLst>
              <a:path w="1583" h="1325">
                <a:moveTo>
                  <a:pt x="579" y="0"/>
                </a:moveTo>
                <a:lnTo>
                  <a:pt x="1583" y="0"/>
                </a:lnTo>
                <a:lnTo>
                  <a:pt x="1004" y="1325"/>
                </a:lnTo>
                <a:lnTo>
                  <a:pt x="0" y="1325"/>
                </a:lnTo>
                <a:lnTo>
                  <a:pt x="579" y="0"/>
                </a:lnTo>
                <a:close/>
              </a:path>
            </a:pathLst>
          </a:custGeom>
          <a:solidFill>
            <a:srgbClr val="383F4E"/>
          </a:solidFill>
          <a:ln w="0">
            <a:noFill/>
            <a:prstDash val="solid"/>
            <a:round/>
          </a:ln>
        </p:spPr>
        <p:txBody>
          <a:bodyPr vert="horz" wrap="square" lIns="121911" tIns="60956" rIns="121911" bIns="60956" numCol="1" anchor="ctr" anchorCtr="1" compatLnSpc="1"/>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rPr>
              <a:t>03</a:t>
            </a:r>
            <a:endParaRPr kumimoji="0" lang="zh-CN" altLang="en-US"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endParaRPr>
          </a:p>
        </p:txBody>
      </p:sp>
      <p:sp>
        <p:nvSpPr>
          <p:cNvPr id="18" name="TextBox 48"/>
          <p:cNvSpPr txBox="1"/>
          <p:nvPr/>
        </p:nvSpPr>
        <p:spPr>
          <a:xfrm>
            <a:off x="3986629" y="2114465"/>
            <a:ext cx="6733508" cy="828675"/>
          </a:xfrm>
          <a:prstGeom prst="rect">
            <a:avLst/>
          </a:prstGeom>
          <a:noFill/>
        </p:spPr>
        <p:txBody>
          <a:bodyPr wrap="square" lIns="91439" tIns="45719" rIns="91439" bIns="45719"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成本费用完成情况</a:t>
            </a:r>
          </a:p>
        </p:txBody>
      </p:sp>
      <p:sp>
        <p:nvSpPr>
          <p:cNvPr id="19" name="TextBox 49"/>
          <p:cNvSpPr txBox="1"/>
          <p:nvPr/>
        </p:nvSpPr>
        <p:spPr>
          <a:xfrm>
            <a:off x="3986629" y="2983011"/>
            <a:ext cx="4100719" cy="420562"/>
          </a:xfrm>
          <a:prstGeom prst="rect">
            <a:avLst/>
          </a:prstGeom>
          <a:noFill/>
        </p:spPr>
        <p:txBody>
          <a:bodyPr wrap="square" lIns="91439" tIns="45719" rIns="91439" bIns="45719" rtlCol="0">
            <a:spAutoFit/>
          </a:bodyPr>
          <a:lstStyle/>
          <a:p>
            <a:pPr marL="0" marR="0" lvl="0" indent="0" algn="l" defTabSz="1218565" rtl="0" eaLnBrk="0" fontAlgn="auto" latinLnBrk="0" hangingPunct="0">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点击此处添加副标题文本内容</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200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childTnLst>
                          </p:cTn>
                        </p:par>
                        <p:par>
                          <p:cTn id="25" fill="hold">
                            <p:stCondLst>
                              <p:cond delay="500"/>
                            </p:stCondLst>
                            <p:childTnLst>
                              <p:par>
                                <p:cTn id="26" presetID="22" presetClass="entr" presetSubtype="8" fill="hold" grpId="0" nodeType="afterEffect">
                                  <p:stCondLst>
                                    <p:cond delay="0"/>
                                  </p:stCondLst>
                                  <p:iterate type="lt">
                                    <p:tmPct val="30000"/>
                                  </p:iterate>
                                  <p:childTnLst>
                                    <p:set>
                                      <p:cBhvr>
                                        <p:cTn id="27" dur="1" fill="hold">
                                          <p:stCondLst>
                                            <p:cond delay="0"/>
                                          </p:stCondLst>
                                        </p:cTn>
                                        <p:tgtEl>
                                          <p:spTgt spid="18"/>
                                        </p:tgtEl>
                                        <p:attrNameLst>
                                          <p:attrName>style.visibility</p:attrName>
                                        </p:attrNameLst>
                                      </p:cBhvr>
                                      <p:to>
                                        <p:strVal val="visible"/>
                                      </p:to>
                                    </p:set>
                                    <p:animEffect transition="in" filter="wipe(left)">
                                      <p:cBhvr>
                                        <p:cTn id="28" dur="200"/>
                                        <p:tgtEl>
                                          <p:spTgt spid="18"/>
                                        </p:tgtEl>
                                      </p:cBhvr>
                                    </p:animEffect>
                                  </p:childTnLst>
                                </p:cTn>
                              </p:par>
                              <p:par>
                                <p:cTn id="29" presetID="36" presetClass="emph" presetSubtype="0" fill="hold" grpId="1" nodeType="withEffect">
                                  <p:stCondLst>
                                    <p:cond delay="0"/>
                                  </p:stCondLst>
                                  <p:iterate type="lt">
                                    <p:tmPct val="30000"/>
                                  </p:iterate>
                                  <p:childTnLst>
                                    <p:animScale>
                                      <p:cBhvr>
                                        <p:cTn id="30" dur="50" autoRev="1" fill="hold">
                                          <p:stCondLst>
                                            <p:cond delay="0"/>
                                          </p:stCondLst>
                                        </p:cTn>
                                        <p:tgtEl>
                                          <p:spTgt spid="18"/>
                                        </p:tgtEl>
                                      </p:cBhvr>
                                      <p:to x="80000" y="100000"/>
                                    </p:animScale>
                                    <p:anim by="(#ppt_w*0.10)" calcmode="lin" valueType="num">
                                      <p:cBhvr>
                                        <p:cTn id="31" dur="50" autoRev="1" fill="hold">
                                          <p:stCondLst>
                                            <p:cond delay="0"/>
                                          </p:stCondLst>
                                        </p:cTn>
                                        <p:tgtEl>
                                          <p:spTgt spid="18"/>
                                        </p:tgtEl>
                                        <p:attrNameLst>
                                          <p:attrName>ppt_x</p:attrName>
                                        </p:attrNameLst>
                                      </p:cBhvr>
                                    </p:anim>
                                    <p:anim by="(-#ppt_w*0.10)" calcmode="lin" valueType="num">
                                      <p:cBhvr>
                                        <p:cTn id="32" dur="50" autoRev="1" fill="hold">
                                          <p:stCondLst>
                                            <p:cond delay="0"/>
                                          </p:stCondLst>
                                        </p:cTn>
                                        <p:tgtEl>
                                          <p:spTgt spid="18"/>
                                        </p:tgtEl>
                                        <p:attrNameLst>
                                          <p:attrName>ppt_y</p:attrName>
                                        </p:attrNameLst>
                                      </p:cBhvr>
                                    </p:anim>
                                    <p:animRot by="-480000">
                                      <p:cBhvr>
                                        <p:cTn id="33" dur="50" autoRev="1" fill="hold">
                                          <p:stCondLst>
                                            <p:cond delay="0"/>
                                          </p:stCondLst>
                                        </p:cTn>
                                        <p:tgtEl>
                                          <p:spTgt spid="18"/>
                                        </p:tgtEl>
                                        <p:attrNameLst>
                                          <p:attrName>r</p:attrName>
                                        </p:attrNameLst>
                                      </p:cBhvr>
                                    </p:animRot>
                                  </p:childTnLst>
                                </p:cTn>
                              </p:par>
                            </p:childTnLst>
                          </p:cTn>
                        </p:par>
                        <p:par>
                          <p:cTn id="34" fill="hold">
                            <p:stCondLst>
                              <p:cond delay="1120"/>
                            </p:stCondLst>
                            <p:childTnLst>
                              <p:par>
                                <p:cTn id="35" presetID="22" presetClass="entr" presetSubtype="8" fill="hold" grpId="0" nodeType="afterEffect">
                                  <p:stCondLst>
                                    <p:cond delay="0"/>
                                  </p:stCondLst>
                                  <p:iterate type="lt">
                                    <p:tmPct val="30000"/>
                                  </p:iterate>
                                  <p:childTnLst>
                                    <p:set>
                                      <p:cBhvr>
                                        <p:cTn id="36" dur="1" fill="hold">
                                          <p:stCondLst>
                                            <p:cond delay="0"/>
                                          </p:stCondLst>
                                        </p:cTn>
                                        <p:tgtEl>
                                          <p:spTgt spid="19"/>
                                        </p:tgtEl>
                                        <p:attrNameLst>
                                          <p:attrName>style.visibility</p:attrName>
                                        </p:attrNameLst>
                                      </p:cBhvr>
                                      <p:to>
                                        <p:strVal val="visible"/>
                                      </p:to>
                                    </p:set>
                                    <p:animEffect transition="in" filter="wipe(left)">
                                      <p:cBhvr>
                                        <p:cTn id="37" dur="200"/>
                                        <p:tgtEl>
                                          <p:spTgt spid="19"/>
                                        </p:tgtEl>
                                      </p:cBhvr>
                                    </p:animEffect>
                                  </p:childTnLst>
                                </p:cTn>
                              </p:par>
                              <p:par>
                                <p:cTn id="38" presetID="36" presetClass="emph" presetSubtype="0" fill="hold" grpId="1" nodeType="withEffect">
                                  <p:stCondLst>
                                    <p:cond delay="0"/>
                                  </p:stCondLst>
                                  <p:iterate type="lt">
                                    <p:tmPct val="30000"/>
                                  </p:iterate>
                                  <p:childTnLst>
                                    <p:animScale>
                                      <p:cBhvr>
                                        <p:cTn id="39" dur="50" autoRev="1" fill="hold">
                                          <p:stCondLst>
                                            <p:cond delay="0"/>
                                          </p:stCondLst>
                                        </p:cTn>
                                        <p:tgtEl>
                                          <p:spTgt spid="19"/>
                                        </p:tgtEl>
                                      </p:cBhvr>
                                      <p:to x="80000" y="100000"/>
                                    </p:animScale>
                                    <p:anim by="(#ppt_w*0.10)" calcmode="lin" valueType="num">
                                      <p:cBhvr>
                                        <p:cTn id="40" dur="50" autoRev="1" fill="hold">
                                          <p:stCondLst>
                                            <p:cond delay="0"/>
                                          </p:stCondLst>
                                        </p:cTn>
                                        <p:tgtEl>
                                          <p:spTgt spid="19"/>
                                        </p:tgtEl>
                                        <p:attrNameLst>
                                          <p:attrName>ppt_x</p:attrName>
                                        </p:attrNameLst>
                                      </p:cBhvr>
                                    </p:anim>
                                    <p:anim by="(-#ppt_w*0.10)" calcmode="lin" valueType="num">
                                      <p:cBhvr>
                                        <p:cTn id="41" dur="50" autoRev="1" fill="hold">
                                          <p:stCondLst>
                                            <p:cond delay="0"/>
                                          </p:stCondLst>
                                        </p:cTn>
                                        <p:tgtEl>
                                          <p:spTgt spid="19"/>
                                        </p:tgtEl>
                                        <p:attrNameLst>
                                          <p:attrName>ppt_y</p:attrName>
                                        </p:attrNameLst>
                                      </p:cBhvr>
                                    </p:anim>
                                    <p:animRot by="-480000">
                                      <p:cBhvr>
                                        <p:cTn id="42" dur="50" autoRev="1" fill="hold">
                                          <p:stCondLst>
                                            <p:cond delay="0"/>
                                          </p:stCondLst>
                                        </p:cTn>
                                        <p:tgtEl>
                                          <p:spTgt spid="19"/>
                                        </p:tgtEl>
                                        <p:attrNameLst>
                                          <p:attrName>r</p:attrName>
                                        </p:attrNameLst>
                                      </p:cBhvr>
                                    </p:animRot>
                                  </p:childTnLst>
                                </p:cTn>
                              </p:par>
                              <p:par>
                                <p:cTn id="43" presetID="2" presetClass="entr" presetSubtype="8"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0-#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P spid="16" grpId="0" bldLvl="0" animBg="1"/>
      <p:bldP spid="17" grpId="0" bldLvl="0" animBg="1"/>
      <p:bldP spid="18" grpId="0"/>
      <p:bldP spid="18" grpId="1"/>
      <p:bldP spid="19" grpId="0"/>
      <p:bldP spid="19"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28466" y="380511"/>
            <a:ext cx="3383280" cy="645160"/>
          </a:xfrm>
          <a:prstGeom prst="rect">
            <a:avLst/>
          </a:prstGeom>
        </p:spPr>
        <p:txBody>
          <a:bodyPr wrap="none">
            <a:spAutoFit/>
          </a:bodyPr>
          <a:lstStyle/>
          <a:p>
            <a:pPr fontAlgn="auto">
              <a:spcBef>
                <a:spcPct val="50000"/>
              </a:spcBef>
              <a:spcAft>
                <a:spcPts val="0"/>
              </a:spcAft>
              <a:defRPr/>
            </a:pPr>
            <a:r>
              <a:rPr lang="zh-CN" altLang="en-US" sz="3600" b="1" dirty="0">
                <a:solidFill>
                  <a:srgbClr val="383F4E"/>
                </a:solidFill>
                <a:latin typeface="微软雅黑" panose="020B0503020204020204" pitchFamily="34" charset="-122"/>
                <a:ea typeface="微软雅黑" panose="020B0503020204020204" pitchFamily="34" charset="-122"/>
              </a:rPr>
              <a:t>各分项成本情况</a:t>
            </a:r>
          </a:p>
        </p:txBody>
      </p:sp>
      <p:graphicFrame>
        <p:nvGraphicFramePr>
          <p:cNvPr id="3" name="表格 2"/>
          <p:cNvGraphicFramePr>
            <a:graphicFrameLocks noGrp="1"/>
          </p:cNvGraphicFramePr>
          <p:nvPr/>
        </p:nvGraphicFramePr>
        <p:xfrm>
          <a:off x="940904" y="1245700"/>
          <a:ext cx="10429461" cy="5327295"/>
        </p:xfrm>
        <a:graphic>
          <a:graphicData uri="http://schemas.openxmlformats.org/drawingml/2006/table">
            <a:tbl>
              <a:tblPr>
                <a:tableStyleId>{21E4AEA4-8DFA-4A89-87EB-49C32662AFE0}</a:tableStyleId>
              </a:tblPr>
              <a:tblGrid>
                <a:gridCol w="2842974"/>
                <a:gridCol w="1344233"/>
                <a:gridCol w="940428"/>
                <a:gridCol w="816504"/>
                <a:gridCol w="827388"/>
                <a:gridCol w="899969"/>
                <a:gridCol w="783841"/>
                <a:gridCol w="987062"/>
                <a:gridCol w="987062"/>
              </a:tblGrid>
              <a:tr h="326836">
                <a:tc rowSpan="2">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项目</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省对地</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rowSpan="2">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本年累计</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b="1" u="none" strike="noStrike">
                          <a:solidFill>
                            <a:schemeClr val="bg1"/>
                          </a:solidFill>
                          <a:latin typeface="微软雅黑" panose="020B0503020204020204" pitchFamily="34" charset="-122"/>
                          <a:ea typeface="微软雅黑" panose="020B0503020204020204" pitchFamily="34" charset="-122"/>
                        </a:rPr>
                        <a:t>预算</a:t>
                      </a:r>
                      <a:endParaRPr lang="zh-CN" altLang="en-US" sz="1400" b="1" i="0" u="none" strike="noStrike">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grid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与时序进度比</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c rowSpan="2">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上年同期</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gridSpan="2">
                  <a:txBody>
                    <a:bodyPr/>
                    <a:lstStyle/>
                    <a:p>
                      <a:pPr algn="ctr"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与上年同期比</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hMerge="1">
                  <a:txBody>
                    <a:bodyPr/>
                    <a:lstStyle/>
                    <a:p>
                      <a:endParaRPr lang="zh-CN"/>
                    </a:p>
                  </a:txBody>
                  <a:tcPr/>
                </a:tc>
              </a:tr>
              <a:tr h="299746">
                <a:tc vMerge="1">
                  <a:txBody>
                    <a:bodyPr/>
                    <a:lstStyle/>
                    <a:p>
                      <a:endParaRPr lang="zh-CN"/>
                    </a:p>
                  </a:txBody>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预算</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vMerge="1">
                  <a:txBody>
                    <a:bodyPr/>
                    <a:lstStyle/>
                    <a:p>
                      <a:endParaRPr lang="zh-CN"/>
                    </a:p>
                  </a:txBody>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进度</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增幅</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金额</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vMerge="1">
                  <a:txBody>
                    <a:bodyPr/>
                    <a:lstStyle/>
                    <a:p>
                      <a:endParaRPr lang="zh-CN"/>
                    </a:p>
                  </a:txBody>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增幅</a:t>
                      </a:r>
                      <a:r>
                        <a:rPr lang="en-US" altLang="zh-CN" sz="1400" b="1" u="none" strike="noStrike" dirty="0">
                          <a:solidFill>
                            <a:schemeClr val="bg1"/>
                          </a:solidFill>
                          <a:latin typeface="微软雅黑" panose="020B0503020204020204" pitchFamily="34" charset="-122"/>
                          <a:ea typeface="微软雅黑" panose="020B0503020204020204" pitchFamily="34" charset="-122"/>
                        </a:rPr>
                        <a:t>%</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c>
                  <a:txBody>
                    <a:bodyPr/>
                    <a:lstStyle/>
                    <a:p>
                      <a:pPr algn="ctr" rtl="0" fontAlgn="ctr"/>
                      <a:r>
                        <a:rPr lang="zh-CN" altLang="en-US" sz="1400" b="1" u="none" strike="noStrike" dirty="0">
                          <a:solidFill>
                            <a:schemeClr val="bg1"/>
                          </a:solidFill>
                          <a:latin typeface="微软雅黑" panose="020B0503020204020204" pitchFamily="34" charset="-122"/>
                          <a:ea typeface="微软雅黑" panose="020B0503020204020204" pitchFamily="34" charset="-122"/>
                        </a:rPr>
                        <a:t>金额</a:t>
                      </a:r>
                      <a:endParaRPr lang="zh-CN" altLang="en-US" sz="1400" b="1"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E8432E"/>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（一）折旧及摊销</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19240.00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6138.82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31.91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-1.43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-274.51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6103.45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0.58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35.37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（二）付现成本</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48081.00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15926.84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33.13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-0.21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-100.16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15634.93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1.87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291.91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en-US" altLang="zh-CN" sz="1200" b="0" u="none" strike="noStrike" dirty="0">
                          <a:solidFill>
                            <a:schemeClr val="bg1"/>
                          </a:solidFill>
                          <a:latin typeface="微软雅黑" panose="020B0503020204020204" pitchFamily="34" charset="-122"/>
                          <a:ea typeface="微软雅黑" panose="020B0503020204020204" pitchFamily="34" charset="-122"/>
                        </a:rPr>
                        <a:t>1</a:t>
                      </a:r>
                      <a:r>
                        <a:rPr lang="zh-CN" altLang="en-US" sz="1200" b="0" u="none" strike="noStrike" dirty="0">
                          <a:solidFill>
                            <a:schemeClr val="bg1"/>
                          </a:solidFill>
                          <a:latin typeface="微软雅黑" panose="020B0503020204020204" pitchFamily="34" charset="-122"/>
                          <a:ea typeface="微软雅黑" panose="020B0503020204020204" pitchFamily="34" charset="-122"/>
                        </a:rPr>
                        <a:t>、人工成本预算</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10460.00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a:latin typeface="微软雅黑" panose="020B0503020204020204" pitchFamily="34" charset="-122"/>
                          <a:ea typeface="微软雅黑" panose="020B0503020204020204" pitchFamily="34" charset="-122"/>
                        </a:rPr>
                        <a:t>4038.76 </a:t>
                      </a:r>
                      <a:endParaRPr lang="en-US" altLang="zh-CN" sz="1200" b="0" i="0" u="none" strike="noStrike">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38.61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5.28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552.09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3568.39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13.18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470.37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en-US" altLang="zh-CN" sz="1200" b="0" u="none" strike="noStrike" dirty="0">
                          <a:solidFill>
                            <a:schemeClr val="bg1"/>
                          </a:solidFill>
                          <a:latin typeface="微软雅黑" panose="020B0503020204020204" pitchFamily="34" charset="-122"/>
                          <a:ea typeface="微软雅黑" panose="020B0503020204020204" pitchFamily="34" charset="-122"/>
                        </a:rPr>
                        <a:t>2</a:t>
                      </a:r>
                      <a:r>
                        <a:rPr lang="zh-CN" altLang="en-US" sz="1200" b="0" u="none" strike="noStrike" dirty="0">
                          <a:solidFill>
                            <a:schemeClr val="bg1"/>
                          </a:solidFill>
                          <a:latin typeface="微软雅黑" panose="020B0503020204020204" pitchFamily="34" charset="-122"/>
                          <a:ea typeface="微软雅黑" panose="020B0503020204020204" pitchFamily="34" charset="-122"/>
                        </a:rPr>
                        <a:t>、市场运营费用</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17131.00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5924.97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34.59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214.63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6172.99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-4.02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-248.02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80954">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a:t>
                      </a:r>
                      <a:r>
                        <a:rPr lang="en-US" altLang="zh-CN" sz="1200" b="0" u="none" strike="noStrike" dirty="0">
                          <a:solidFill>
                            <a:schemeClr val="bg1"/>
                          </a:solidFill>
                          <a:latin typeface="微软雅黑" panose="020B0503020204020204" pitchFamily="34" charset="-122"/>
                          <a:ea typeface="微软雅黑" panose="020B0503020204020204" pitchFamily="34" charset="-122"/>
                        </a:rPr>
                        <a:t>1</a:t>
                      </a:r>
                      <a:r>
                        <a:rPr lang="zh-CN" altLang="en-US" sz="1200" b="0" u="none" strike="noStrike" dirty="0">
                          <a:solidFill>
                            <a:schemeClr val="bg1"/>
                          </a:solidFill>
                          <a:latin typeface="微软雅黑" panose="020B0503020204020204" pitchFamily="34" charset="-122"/>
                          <a:ea typeface="微软雅黑" panose="020B0503020204020204" pitchFamily="34" charset="-122"/>
                        </a:rPr>
                        <a:t>）销售费用（含坏账、积分兑换）</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10422.00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4620.98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44.34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11.01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1146.98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4757.44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-2.87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-136.45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a:t>
                      </a:r>
                      <a:r>
                        <a:rPr lang="en-US" altLang="zh-CN" sz="1200" b="0" u="none" strike="noStrike" dirty="0">
                          <a:solidFill>
                            <a:schemeClr val="bg1"/>
                          </a:solidFill>
                          <a:latin typeface="微软雅黑" panose="020B0503020204020204" pitchFamily="34" charset="-122"/>
                          <a:ea typeface="微软雅黑" panose="020B0503020204020204" pitchFamily="34" charset="-122"/>
                        </a:rPr>
                        <a:t>2</a:t>
                      </a:r>
                      <a:r>
                        <a:rPr lang="zh-CN" altLang="en-US" sz="1200" b="0" u="none" strike="noStrike" dirty="0">
                          <a:solidFill>
                            <a:schemeClr val="bg1"/>
                          </a:solidFill>
                          <a:latin typeface="微软雅黑" panose="020B0503020204020204" pitchFamily="34" charset="-122"/>
                          <a:ea typeface="微软雅黑" panose="020B0503020204020204" pitchFamily="34" charset="-122"/>
                        </a:rPr>
                        <a:t>）专项运营费用</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6709.00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1303.99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19.44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-13.90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-932.35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1415.55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-7.88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-111.56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① 系统集成支出</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690.00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-33.33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-230.00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zh-CN" altLang="en-US" sz="1200" u="none" strike="noStrike" dirty="0">
                          <a:latin typeface="微软雅黑" panose="020B0503020204020204" pitchFamily="34" charset="-122"/>
                          <a:ea typeface="微软雅黑" panose="020B0503020204020204" pitchFamily="34" charset="-122"/>
                        </a:rPr>
                        <a:t>　</a:t>
                      </a:r>
                      <a:r>
                        <a:rPr lang="en-US" altLang="zh-CN" sz="1200" u="none" strike="noStrike" dirty="0">
                          <a:latin typeface="微软雅黑" panose="020B0503020204020204" pitchFamily="34" charset="-122"/>
                          <a:ea typeface="微软雅黑" panose="020B0503020204020204" pitchFamily="34" charset="-122"/>
                        </a:rPr>
                        <a:t>0.00</a:t>
                      </a:r>
                      <a:endParaRPr lang="zh-CN" altLang="en-US"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250">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② 号百信息服务成本</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200.00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12.63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6.31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-27.02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-54.04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17.50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-27.83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-4.87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③ 网间结算支出</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4920.00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1084.14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22.04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-11.30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-555.86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1243.16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-12.79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-159.01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④ 固网商品销售支出</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899.00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207.21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23.05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-10.28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-92.45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154.90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33.77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52.32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en-US" altLang="zh-CN" sz="1200" b="0" u="none" strike="noStrike" dirty="0">
                          <a:solidFill>
                            <a:schemeClr val="bg1"/>
                          </a:solidFill>
                          <a:latin typeface="微软雅黑" panose="020B0503020204020204" pitchFamily="34" charset="-122"/>
                          <a:ea typeface="微软雅黑" panose="020B0503020204020204" pitchFamily="34" charset="-122"/>
                        </a:rPr>
                        <a:t>3</a:t>
                      </a:r>
                      <a:r>
                        <a:rPr lang="zh-CN" altLang="en-US" sz="1200" b="0" u="none" strike="noStrike" dirty="0">
                          <a:solidFill>
                            <a:schemeClr val="bg1"/>
                          </a:solidFill>
                          <a:latin typeface="微软雅黑" panose="020B0503020204020204" pitchFamily="34" charset="-122"/>
                          <a:ea typeface="微软雅黑" panose="020B0503020204020204" pitchFamily="34" charset="-122"/>
                        </a:rPr>
                        <a:t>、网络运营费用</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18078.00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5446.19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30.13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-3.21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-579.81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5352.67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1.75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93.52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① 修理费用及低耗</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8500.00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2751.10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32.37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-0.97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-82.23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2782.89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-1.14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-31.79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② 支撑类业务费用</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a:latin typeface="微软雅黑" panose="020B0503020204020204" pitchFamily="34" charset="-122"/>
                          <a:ea typeface="微软雅黑" panose="020B0503020204020204" pitchFamily="34" charset="-122"/>
                        </a:rPr>
                        <a:t>6678.00 </a:t>
                      </a:r>
                      <a:endParaRPr lang="en-US" altLang="zh-CN" sz="1200" b="0" i="0" u="none" strike="noStrike">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1975.72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29.59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-3.75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-250.28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1748.99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12.96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226.73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③ 能源类业务费用</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2900.00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719.37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24.81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-8.53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-247.30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820.79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-12.36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-101.42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④ 云分摊网络成本</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en-US" altLang="zh-CN" sz="1200" b="0" u="none" strike="noStrike" dirty="0">
                          <a:solidFill>
                            <a:schemeClr val="bg1"/>
                          </a:solidFill>
                          <a:latin typeface="微软雅黑" panose="020B0503020204020204" pitchFamily="34" charset="-122"/>
                          <a:ea typeface="微软雅黑" panose="020B0503020204020204" pitchFamily="34" charset="-122"/>
                        </a:rPr>
                        <a:t>4</a:t>
                      </a:r>
                      <a:r>
                        <a:rPr lang="zh-CN" altLang="en-US" sz="1200" b="0" u="none" strike="noStrike" dirty="0">
                          <a:solidFill>
                            <a:schemeClr val="bg1"/>
                          </a:solidFill>
                          <a:latin typeface="微软雅黑" panose="020B0503020204020204" pitchFamily="34" charset="-122"/>
                          <a:ea typeface="微软雅黑" panose="020B0503020204020204" pitchFamily="34" charset="-122"/>
                        </a:rPr>
                        <a:t>、管理费用</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1650.00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221.37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13.42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-19.92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-328.63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272.58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-18.79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-51.21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en-US" altLang="zh-CN" sz="1200" b="0" u="none" strike="noStrike" dirty="0">
                          <a:solidFill>
                            <a:schemeClr val="bg1"/>
                          </a:solidFill>
                          <a:latin typeface="微软雅黑" panose="020B0503020204020204" pitchFamily="34" charset="-122"/>
                          <a:ea typeface="微软雅黑" panose="020B0503020204020204" pitchFamily="34" charset="-122"/>
                        </a:rPr>
                        <a:t>5</a:t>
                      </a:r>
                      <a:r>
                        <a:rPr lang="zh-CN" altLang="en-US" sz="1200" b="0" u="none" strike="noStrike" dirty="0">
                          <a:solidFill>
                            <a:schemeClr val="bg1"/>
                          </a:solidFill>
                          <a:latin typeface="微软雅黑" panose="020B0503020204020204" pitchFamily="34" charset="-122"/>
                          <a:ea typeface="微软雅黑" panose="020B0503020204020204" pitchFamily="34" charset="-122"/>
                        </a:rPr>
                        <a:t>、其他</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762.00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294.13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38.60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5.27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40.13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266.87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10.21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27.25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② 移动商品销售支出</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92.00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29.50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32.07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-1.27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-1.16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9.96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196.20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19.54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  ③ 营业外收支净额预算</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670.00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264.62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39.50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6.16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41.29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256.91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7.71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r h="195533">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其中：固定资产和无形资产报废报损</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500.00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262.93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52.59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19.25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96.26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254.06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3.49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8.87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solidFill>
                            <a:schemeClr val="bg1"/>
                          </a:solidFill>
                          <a:latin typeface="微软雅黑" panose="020B0503020204020204" pitchFamily="34" charset="-122"/>
                          <a:ea typeface="微软雅黑" panose="020B0503020204020204" pitchFamily="34" charset="-122"/>
                        </a:rPr>
                        <a:t>成本费用合计</a:t>
                      </a:r>
                      <a:endParaRPr lang="zh-CN" altLang="en-US" sz="1200" b="0" i="0" u="none" strike="noStrike"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rgbClr val="383F4E"/>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67321.00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22063.38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32.77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-0.56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-376.95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21724.44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1.56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微软雅黑" panose="020B0503020204020204" pitchFamily="34" charset="-122"/>
                          <a:ea typeface="微软雅黑" panose="020B0503020204020204" pitchFamily="34" charset="-122"/>
                        </a:rPr>
                        <a:t>338.94 </a:t>
                      </a:r>
                      <a:endParaRPr lang="en-US" altLang="zh-CN" sz="1200" b="0" i="0" u="none" strike="noStrike" dirty="0">
                        <a:solidFill>
                          <a:srgbClr val="010000"/>
                        </a:solidFill>
                        <a:latin typeface="微软雅黑" panose="020B0503020204020204" pitchFamily="34" charset="-122"/>
                        <a:ea typeface="微软雅黑" panose="020B0503020204020204" pitchFamily="34" charset="-122"/>
                      </a:endParaRPr>
                    </a:p>
                  </a:txBody>
                  <a:tcPr marL="0" marR="0" marT="0" marB="0" anchor="ctr">
                    <a:solidFill>
                      <a:schemeClr val="bg1">
                        <a:lumMod val="85000"/>
                      </a:schemeClr>
                    </a:solidFill>
                  </a:tcPr>
                </a:tc>
              </a:tr>
            </a:tbl>
          </a:graphicData>
        </a:graphic>
      </p:graphicFrame>
      <p:sp>
        <p:nvSpPr>
          <p:cNvPr id="4" name="矩形 3"/>
          <p:cNvSpPr/>
          <p:nvPr/>
        </p:nvSpPr>
        <p:spPr>
          <a:xfrm>
            <a:off x="5075582" y="566501"/>
            <a:ext cx="6440557" cy="578485"/>
          </a:xfrm>
          <a:prstGeom prst="rect">
            <a:avLst/>
          </a:prstGeom>
        </p:spPr>
        <p:txBody>
          <a:bodyPr wrap="square">
            <a:spAutoFit/>
          </a:bodyPr>
          <a:lstStyle/>
          <a:p>
            <a:pPr>
              <a:lnSpc>
                <a:spcPts val="1900"/>
              </a:lnSpc>
            </a:pPr>
            <a:r>
              <a:rPr lang="zh-CN" altLang="en-US" sz="1600" b="1" dirty="0">
                <a:latin typeface="微软雅黑" panose="020B0503020204020204" pitchFamily="34" charset="-122"/>
                <a:ea typeface="微软雅黑" panose="020B0503020204020204" pitchFamily="34" charset="-122"/>
              </a:rPr>
              <a:t>总体完成情况：</a:t>
            </a:r>
            <a:endParaRPr lang="en-US" altLang="zh-CN" sz="1600" b="1" dirty="0">
              <a:latin typeface="微软雅黑" panose="020B0503020204020204" pitchFamily="34" charset="-122"/>
              <a:ea typeface="微软雅黑" panose="020B0503020204020204" pitchFamily="34" charset="-122"/>
            </a:endParaRPr>
          </a:p>
          <a:p>
            <a:pPr>
              <a:lnSpc>
                <a:spcPts val="1900"/>
              </a:lnSpc>
            </a:pPr>
            <a:r>
              <a:rPr lang="zh-CN" altLang="en-US" sz="1400" b="1" dirty="0">
                <a:latin typeface="微软雅黑" panose="020B0503020204020204" pitchFamily="34" charset="-122"/>
                <a:ea typeface="微软雅黑" panose="020B0503020204020204" pitchFamily="34" charset="-122"/>
              </a:rPr>
              <a:t>本年经营费用累计完成</a:t>
            </a:r>
            <a:r>
              <a:rPr lang="en-US" altLang="zh-CN" sz="1400" b="1" dirty="0">
                <a:solidFill>
                  <a:srgbClr val="FF0000"/>
                </a:solidFill>
                <a:latin typeface="微软雅黑" panose="020B0503020204020204" pitchFamily="34" charset="-122"/>
                <a:ea typeface="微软雅黑" panose="020B0503020204020204" pitchFamily="34" charset="-122"/>
              </a:rPr>
              <a:t>22063.38</a:t>
            </a:r>
            <a:r>
              <a:rPr lang="zh-CN" altLang="en-US" sz="1400" b="1" dirty="0">
                <a:latin typeface="微软雅黑" panose="020B0503020204020204" pitchFamily="34" charset="-122"/>
                <a:ea typeface="微软雅黑" panose="020B0503020204020204" pitchFamily="34" charset="-122"/>
              </a:rPr>
              <a:t>万元，低于时序进度</a:t>
            </a:r>
            <a:r>
              <a:rPr lang="en-US" altLang="zh-CN" sz="1400" b="1" dirty="0">
                <a:solidFill>
                  <a:srgbClr val="FF0000"/>
                </a:solidFill>
                <a:latin typeface="微软雅黑" panose="020B0503020204020204" pitchFamily="34" charset="-122"/>
                <a:ea typeface="微软雅黑" panose="020B0503020204020204" pitchFamily="34" charset="-122"/>
              </a:rPr>
              <a:t>0.56%</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-376.95</a:t>
            </a:r>
            <a:r>
              <a:rPr lang="zh-CN" altLang="en-US" sz="1400" b="1" dirty="0">
                <a:latin typeface="微软雅黑" panose="020B0503020204020204" pitchFamily="34" charset="-122"/>
                <a:ea typeface="微软雅黑" panose="020B0503020204020204" pitchFamily="34" charset="-122"/>
              </a:rPr>
              <a:t>万元）</a:t>
            </a:r>
          </a:p>
        </p:txBody>
      </p:sp>
      <p:sp>
        <p:nvSpPr>
          <p:cNvPr id="5" name="文本框 4"/>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42436" y="437661"/>
            <a:ext cx="4297680" cy="645160"/>
          </a:xfrm>
          <a:prstGeom prst="rect">
            <a:avLst/>
          </a:prstGeom>
        </p:spPr>
        <p:txBody>
          <a:bodyPr wrap="none">
            <a:spAutoFit/>
          </a:bodyPr>
          <a:lstStyle/>
          <a:p>
            <a:pPr fontAlgn="auto">
              <a:spcBef>
                <a:spcPct val="50000"/>
              </a:spcBef>
              <a:spcAft>
                <a:spcPts val="0"/>
              </a:spcAft>
              <a:defRPr/>
            </a:pPr>
            <a:r>
              <a:rPr lang="zh-CN" altLang="en-US" sz="3600" b="1" dirty="0">
                <a:solidFill>
                  <a:srgbClr val="383F4E"/>
                </a:solidFill>
                <a:latin typeface="微软雅黑" panose="020B0503020204020204" pitchFamily="34" charset="-122"/>
                <a:ea typeface="微软雅黑" panose="020B0503020204020204" pitchFamily="34" charset="-122"/>
              </a:rPr>
              <a:t>固定资产与折旧情况</a:t>
            </a:r>
          </a:p>
        </p:txBody>
      </p:sp>
      <p:sp>
        <p:nvSpPr>
          <p:cNvPr id="5" name="圆角矩形 4"/>
          <p:cNvSpPr/>
          <p:nvPr/>
        </p:nvSpPr>
        <p:spPr>
          <a:xfrm>
            <a:off x="2389505" y="2183130"/>
            <a:ext cx="2284095" cy="408940"/>
          </a:xfrm>
          <a:prstGeom prst="roundRect">
            <a:avLst/>
          </a:prstGeom>
          <a:solidFill>
            <a:schemeClr val="tx1">
              <a:lumMod val="75000"/>
              <a:lumOff val="25000"/>
            </a:schemeClr>
          </a:solidFill>
          <a:ln w="57150">
            <a:noFill/>
          </a:ln>
        </p:spPr>
        <p:txBody>
          <a:bodyPr wrap="none" anchor="ctr">
            <a:noAutofit/>
          </a:bodyPr>
          <a:lstStyle/>
          <a:p>
            <a:pPr algn="ctr" eaLnBrk="0" fontAlgn="auto" hangingPunct="0">
              <a:spcBef>
                <a:spcPts val="0"/>
              </a:spcBef>
              <a:spcAft>
                <a:spcPts val="0"/>
              </a:spcAft>
              <a:defRPr/>
            </a:pPr>
            <a:r>
              <a:rPr lang="zh-CN" altLang="en-US" sz="1600" kern="0" dirty="0">
                <a:solidFill>
                  <a:schemeClr val="bg1"/>
                </a:solidFill>
                <a:latin typeface="微软雅黑" panose="020B0503020204020204" pitchFamily="34" charset="-122"/>
                <a:ea typeface="微软雅黑" panose="020B0503020204020204" pitchFamily="34" charset="-122"/>
              </a:rPr>
              <a:t>折旧及摊销预算进度</a:t>
            </a:r>
            <a:endParaRPr lang="en-US" altLang="ko-KR" sz="1600" kern="0"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7409180" y="2207895"/>
            <a:ext cx="2517140" cy="408940"/>
          </a:xfrm>
          <a:prstGeom prst="roundRect">
            <a:avLst/>
          </a:prstGeom>
          <a:solidFill>
            <a:schemeClr val="tx1">
              <a:lumMod val="75000"/>
              <a:lumOff val="25000"/>
            </a:schemeClr>
          </a:solidFill>
          <a:ln w="57150">
            <a:noFill/>
          </a:ln>
        </p:spPr>
        <p:txBody>
          <a:bodyPr wrap="none" anchor="ctr">
            <a:noAutofit/>
          </a:bodyPr>
          <a:lstStyle/>
          <a:p>
            <a:pPr algn="ctr" eaLnBrk="0" fontAlgn="auto" hangingPunct="0">
              <a:spcBef>
                <a:spcPts val="0"/>
              </a:spcBef>
              <a:spcAft>
                <a:spcPts val="0"/>
              </a:spcAft>
              <a:defRPr/>
            </a:pPr>
            <a:r>
              <a:rPr lang="zh-CN" altLang="en-US" sz="1600" kern="0" dirty="0">
                <a:solidFill>
                  <a:schemeClr val="bg1"/>
                </a:solidFill>
                <a:latin typeface="微软雅黑" panose="020B0503020204020204" pitchFamily="34" charset="-122"/>
                <a:ea typeface="微软雅黑" panose="020B0503020204020204" pitchFamily="34" charset="-122"/>
              </a:rPr>
              <a:t>固定资产报废预算进度</a:t>
            </a:r>
            <a:endParaRPr lang="en-US" altLang="zh-CN" sz="1600" kern="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1416001" y="2829702"/>
            <a:ext cx="4185751" cy="1060450"/>
          </a:xfrm>
          <a:prstGeom prst="rect">
            <a:avLst/>
          </a:prstGeom>
        </p:spPr>
        <p:txBody>
          <a:bodyPr wrap="square">
            <a:spAutoFit/>
          </a:bodyPr>
          <a:lstStyle/>
          <a:p>
            <a:pPr marL="285750" indent="-285750">
              <a:lnSpc>
                <a:spcPct val="150000"/>
              </a:lnSpc>
              <a:spcBef>
                <a:spcPts val="500"/>
              </a:spcBef>
              <a:buClr>
                <a:srgbClr val="C00000"/>
              </a:buClr>
              <a:buFont typeface="Wingdings" panose="05000000000000000000" pitchFamily="2" charset="2"/>
              <a:buChar char="l"/>
              <a:defRPr/>
            </a:pPr>
            <a:r>
              <a:rPr lang="zh-CN" altLang="en-US" sz="1400" kern="0" dirty="0">
                <a:latin typeface="微软雅黑" panose="020B0503020204020204" pitchFamily="34" charset="-122"/>
                <a:ea typeface="微软雅黑" panose="020B0503020204020204" pitchFamily="34" charset="-122"/>
              </a:rPr>
              <a:t>折旧摊销累计完成</a:t>
            </a:r>
            <a:r>
              <a:rPr lang="en-US" altLang="zh-CN" sz="1400" b="1" kern="0" dirty="0">
                <a:latin typeface="微软雅黑" panose="020B0503020204020204" pitchFamily="34" charset="-122"/>
                <a:ea typeface="微软雅黑" panose="020B0503020204020204" pitchFamily="34" charset="-122"/>
              </a:rPr>
              <a:t>6138.82</a:t>
            </a:r>
            <a:r>
              <a:rPr lang="zh-CN" altLang="en-US" sz="1400" kern="0" dirty="0">
                <a:latin typeface="微软雅黑" panose="020B0503020204020204" pitchFamily="34" charset="-122"/>
                <a:ea typeface="微软雅黑" panose="020B0503020204020204" pitchFamily="34" charset="-122"/>
              </a:rPr>
              <a:t>万元，低于时序进度</a:t>
            </a:r>
            <a:r>
              <a:rPr lang="en-US" altLang="zh-CN" sz="1400" b="1" kern="0" dirty="0">
                <a:latin typeface="微软雅黑" panose="020B0503020204020204" pitchFamily="34" charset="-122"/>
                <a:ea typeface="微软雅黑" panose="020B0503020204020204" pitchFamily="34" charset="-122"/>
              </a:rPr>
              <a:t>274.51</a:t>
            </a:r>
            <a:r>
              <a:rPr lang="zh-CN" altLang="en-US" sz="1400" kern="0" dirty="0">
                <a:latin typeface="微软雅黑" panose="020B0503020204020204" pitchFamily="34" charset="-122"/>
                <a:ea typeface="微软雅黑" panose="020B0503020204020204" pitchFamily="34" charset="-122"/>
              </a:rPr>
              <a:t>万元（</a:t>
            </a:r>
            <a:r>
              <a:rPr lang="en-US" altLang="zh-CN" sz="1400" b="1" kern="0" dirty="0">
                <a:latin typeface="微软雅黑" panose="020B0503020204020204" pitchFamily="34" charset="-122"/>
                <a:ea typeface="微软雅黑" panose="020B0503020204020204" pitchFamily="34" charset="-122"/>
              </a:rPr>
              <a:t>1.43%</a:t>
            </a:r>
            <a:r>
              <a:rPr lang="zh-CN" altLang="en-US" sz="1400" kern="0" dirty="0">
                <a:latin typeface="微软雅黑" panose="020B0503020204020204" pitchFamily="34" charset="-122"/>
                <a:ea typeface="微软雅黑" panose="020B0503020204020204" pitchFamily="34" charset="-122"/>
              </a:rPr>
              <a:t>），与时序进度差距较上月增大</a:t>
            </a:r>
            <a:r>
              <a:rPr lang="en-US" altLang="zh-CN" sz="1400" b="1" kern="0" dirty="0">
                <a:latin typeface="微软雅黑" panose="020B0503020204020204" pitchFamily="34" charset="-122"/>
                <a:ea typeface="微软雅黑" panose="020B0503020204020204" pitchFamily="34" charset="-122"/>
              </a:rPr>
              <a:t>0.45%</a:t>
            </a:r>
            <a:r>
              <a:rPr lang="zh-CN" altLang="en-US" sz="1400" kern="0" dirty="0">
                <a:latin typeface="微软雅黑" panose="020B0503020204020204" pitchFamily="34" charset="-122"/>
                <a:ea typeface="微软雅黑" panose="020B0503020204020204" pitchFamily="34" charset="-122"/>
              </a:rPr>
              <a:t>；</a:t>
            </a:r>
            <a:endParaRPr lang="en-US" altLang="zh-CN" sz="1400" kern="0" dirty="0">
              <a:latin typeface="微软雅黑" panose="020B0503020204020204" pitchFamily="34" charset="-122"/>
              <a:ea typeface="微软雅黑" panose="020B0503020204020204" pitchFamily="34" charset="-122"/>
            </a:endParaRPr>
          </a:p>
        </p:txBody>
      </p:sp>
      <p:sp>
        <p:nvSpPr>
          <p:cNvPr id="12" name="矩形 11"/>
          <p:cNvSpPr/>
          <p:nvPr/>
        </p:nvSpPr>
        <p:spPr>
          <a:xfrm>
            <a:off x="1422824" y="3938585"/>
            <a:ext cx="4288863" cy="2353310"/>
          </a:xfrm>
          <a:prstGeom prst="rect">
            <a:avLst/>
          </a:prstGeom>
        </p:spPr>
        <p:txBody>
          <a:bodyPr wrap="square">
            <a:spAutoFit/>
          </a:bodyPr>
          <a:lstStyle/>
          <a:p>
            <a:pPr marL="285750" indent="-285750">
              <a:lnSpc>
                <a:spcPct val="150000"/>
              </a:lnSpc>
              <a:spcBef>
                <a:spcPts val="500"/>
              </a:spcBef>
              <a:buClr>
                <a:srgbClr val="C00000"/>
              </a:buClr>
              <a:buFont typeface="Wingdings" panose="05000000000000000000" pitchFamily="2" charset="2"/>
              <a:buChar char="l"/>
              <a:defRPr/>
            </a:pPr>
            <a:r>
              <a:rPr lang="zh-CN" altLang="en-US" sz="1400" b="1" kern="0" dirty="0">
                <a:latin typeface="微软雅黑" panose="020B0503020204020204" pitchFamily="34" charset="-122"/>
                <a:ea typeface="微软雅黑" panose="020B0503020204020204" pitchFamily="34" charset="-122"/>
              </a:rPr>
              <a:t>折旧及摊销节余部分全额贡献利润</a:t>
            </a:r>
            <a:r>
              <a:rPr lang="zh-CN" altLang="en-US" sz="1400" kern="0" dirty="0">
                <a:latin typeface="微软雅黑" panose="020B0503020204020204" pitchFamily="34" charset="-122"/>
                <a:ea typeface="微软雅黑" panose="020B0503020204020204" pitchFamily="34" charset="-122"/>
              </a:rPr>
              <a:t>，请建设部加强工程项目进度管理，提高完工工程预转固、转固的力度，以便及时计提新资产的折旧；请各县区资产管理员协同本局政企部，对</a:t>
            </a:r>
            <a:r>
              <a:rPr lang="en-US" altLang="zh-CN" sz="1400" kern="0" dirty="0">
                <a:latin typeface="微软雅黑" panose="020B0503020204020204" pitchFamily="34" charset="-122"/>
                <a:ea typeface="微软雅黑" panose="020B0503020204020204" pitchFamily="34" charset="-122"/>
              </a:rPr>
              <a:t>IDC</a:t>
            </a:r>
            <a:r>
              <a:rPr lang="zh-CN" altLang="en-US" sz="1400" kern="0" dirty="0">
                <a:latin typeface="微软雅黑" panose="020B0503020204020204" pitchFamily="34" charset="-122"/>
                <a:ea typeface="微软雅黑" panose="020B0503020204020204" pitchFamily="34" charset="-122"/>
              </a:rPr>
              <a:t>、客户端资产的使用状况进行确认，如协议已到期且规定资产所有权归属客户，则应立即发起资产报废，以便对未逾龄资产全额补提折旧。</a:t>
            </a:r>
          </a:p>
        </p:txBody>
      </p:sp>
      <p:sp>
        <p:nvSpPr>
          <p:cNvPr id="13" name="矩形 12"/>
          <p:cNvSpPr/>
          <p:nvPr/>
        </p:nvSpPr>
        <p:spPr>
          <a:xfrm>
            <a:off x="6674943" y="2839756"/>
            <a:ext cx="4258100" cy="3063875"/>
          </a:xfrm>
          <a:prstGeom prst="rect">
            <a:avLst/>
          </a:prstGeom>
        </p:spPr>
        <p:txBody>
          <a:bodyPr wrap="square">
            <a:spAutoFit/>
          </a:bodyPr>
          <a:lstStyle/>
          <a:p>
            <a:pPr marL="285750" indent="-285750">
              <a:lnSpc>
                <a:spcPct val="150000"/>
              </a:lnSpc>
              <a:spcBef>
                <a:spcPts val="500"/>
              </a:spcBef>
              <a:buClr>
                <a:srgbClr val="C00000"/>
              </a:buClr>
              <a:buFont typeface="Wingdings" panose="05000000000000000000" pitchFamily="2" charset="2"/>
              <a:buChar char="l"/>
              <a:defRPr/>
            </a:pPr>
            <a:r>
              <a:rPr lang="zh-CN" altLang="en-US" sz="1400" kern="0" dirty="0">
                <a:latin typeface="微软雅黑" panose="020B0503020204020204" pitchFamily="34" charset="-122"/>
                <a:ea typeface="微软雅黑" panose="020B0503020204020204" pitchFamily="34" charset="-122"/>
              </a:rPr>
              <a:t>固定资产报废报损截止</a:t>
            </a:r>
            <a:r>
              <a:rPr lang="en-US" altLang="zh-CN" sz="1400" kern="0" dirty="0">
                <a:latin typeface="微软雅黑" panose="020B0503020204020204" pitchFamily="34" charset="-122"/>
                <a:ea typeface="微软雅黑" panose="020B0503020204020204" pitchFamily="34" charset="-122"/>
              </a:rPr>
              <a:t>4</a:t>
            </a:r>
            <a:r>
              <a:rPr lang="zh-CN" altLang="en-US" sz="1400" kern="0" dirty="0">
                <a:latin typeface="微软雅黑" panose="020B0503020204020204" pitchFamily="34" charset="-122"/>
                <a:ea typeface="微软雅黑" panose="020B0503020204020204" pitchFamily="34" charset="-122"/>
              </a:rPr>
              <a:t>月累计完成</a:t>
            </a:r>
            <a:r>
              <a:rPr lang="en-US" altLang="zh-CN" sz="1400" b="1" kern="0" dirty="0">
                <a:solidFill>
                  <a:srgbClr val="C00000"/>
                </a:solidFill>
                <a:latin typeface="微软雅黑" panose="020B0503020204020204" pitchFamily="34" charset="-122"/>
                <a:ea typeface="微软雅黑" panose="020B0503020204020204" pitchFamily="34" charset="-122"/>
              </a:rPr>
              <a:t>262.93</a:t>
            </a:r>
            <a:r>
              <a:rPr lang="zh-CN" altLang="en-US" sz="1400" kern="0" dirty="0">
                <a:latin typeface="微软雅黑" panose="020B0503020204020204" pitchFamily="34" charset="-122"/>
                <a:ea typeface="微软雅黑" panose="020B0503020204020204" pitchFamily="34" charset="-122"/>
              </a:rPr>
              <a:t>万元，占年度预算</a:t>
            </a:r>
            <a:r>
              <a:rPr lang="en-US" altLang="zh-CN" sz="1400" b="1" kern="0" dirty="0">
                <a:solidFill>
                  <a:srgbClr val="C00000"/>
                </a:solidFill>
                <a:latin typeface="微软雅黑" panose="020B0503020204020204" pitchFamily="34" charset="-122"/>
                <a:ea typeface="微软雅黑" panose="020B0503020204020204" pitchFamily="34" charset="-122"/>
              </a:rPr>
              <a:t>52.59%</a:t>
            </a:r>
            <a:r>
              <a:rPr lang="zh-CN" altLang="en-US" sz="1400" kern="0" dirty="0">
                <a:latin typeface="微软雅黑" panose="020B0503020204020204" pitchFamily="34" charset="-122"/>
                <a:ea typeface="微软雅黑" panose="020B0503020204020204" pitchFamily="34" charset="-122"/>
              </a:rPr>
              <a:t>，按省公司要求，第二季度末报废预算完成率应不低于</a:t>
            </a:r>
            <a:r>
              <a:rPr lang="en-US" altLang="zh-CN" sz="1400" b="1" kern="0" dirty="0">
                <a:solidFill>
                  <a:srgbClr val="C00000"/>
                </a:solidFill>
                <a:latin typeface="微软雅黑" panose="020B0503020204020204" pitchFamily="34" charset="-122"/>
                <a:ea typeface="微软雅黑" panose="020B0503020204020204" pitchFamily="34" charset="-122"/>
              </a:rPr>
              <a:t>80%</a:t>
            </a:r>
            <a:r>
              <a:rPr lang="zh-CN" altLang="en-US" sz="1400" kern="0" dirty="0">
                <a:latin typeface="微软雅黑" panose="020B0503020204020204" pitchFamily="34" charset="-122"/>
                <a:ea typeface="微软雅黑" panose="020B0503020204020204" pitchFamily="34" charset="-122"/>
              </a:rPr>
              <a:t>，目前缺口为</a:t>
            </a:r>
            <a:r>
              <a:rPr lang="en-US" altLang="zh-CN" sz="1400" b="1" kern="0" dirty="0">
                <a:solidFill>
                  <a:srgbClr val="C00000"/>
                </a:solidFill>
                <a:latin typeface="微软雅黑" panose="020B0503020204020204" pitchFamily="34" charset="-122"/>
                <a:ea typeface="微软雅黑" panose="020B0503020204020204" pitchFamily="34" charset="-122"/>
              </a:rPr>
              <a:t>137.05</a:t>
            </a:r>
            <a:r>
              <a:rPr lang="zh-CN" altLang="en-US" sz="1400" kern="0" dirty="0">
                <a:latin typeface="微软雅黑" panose="020B0503020204020204" pitchFamily="34" charset="-122"/>
                <a:ea typeface="微软雅黑" panose="020B0503020204020204" pitchFamily="34" charset="-122"/>
              </a:rPr>
              <a:t>万元（</a:t>
            </a:r>
            <a:r>
              <a:rPr lang="en-US" altLang="zh-CN" sz="1400" b="1" kern="0" dirty="0">
                <a:solidFill>
                  <a:srgbClr val="C00000"/>
                </a:solidFill>
                <a:latin typeface="微软雅黑" panose="020B0503020204020204" pitchFamily="34" charset="-122"/>
                <a:ea typeface="微软雅黑" panose="020B0503020204020204" pitchFamily="34" charset="-122"/>
              </a:rPr>
              <a:t>27.41%</a:t>
            </a:r>
            <a:r>
              <a:rPr lang="zh-CN" altLang="en-US" sz="1400" kern="0" dirty="0">
                <a:latin typeface="微软雅黑" panose="020B0503020204020204" pitchFamily="34" charset="-122"/>
                <a:ea typeface="微软雅黑" panose="020B0503020204020204" pitchFamily="34" charset="-122"/>
              </a:rPr>
              <a:t>）。</a:t>
            </a:r>
            <a:endParaRPr lang="en-US" altLang="zh-CN" sz="1400" kern="0" dirty="0">
              <a:latin typeface="微软雅黑" panose="020B0503020204020204" pitchFamily="34" charset="-122"/>
              <a:ea typeface="微软雅黑" panose="020B0503020204020204" pitchFamily="34" charset="-122"/>
            </a:endParaRPr>
          </a:p>
          <a:p>
            <a:pPr marL="285750" indent="-285750">
              <a:lnSpc>
                <a:spcPct val="150000"/>
              </a:lnSpc>
              <a:spcBef>
                <a:spcPts val="500"/>
              </a:spcBef>
              <a:buClr>
                <a:srgbClr val="C00000"/>
              </a:buClr>
              <a:buFont typeface="Wingdings" panose="05000000000000000000" pitchFamily="2" charset="2"/>
              <a:buChar char="l"/>
              <a:defRPr/>
            </a:pPr>
            <a:r>
              <a:rPr lang="zh-CN" altLang="en-US" sz="1400" kern="0" dirty="0">
                <a:latin typeface="微软雅黑" panose="020B0503020204020204" pitchFamily="34" charset="-122"/>
                <a:ea typeface="微软雅黑" panose="020B0503020204020204" pitchFamily="34" charset="-122"/>
              </a:rPr>
              <a:t>请网络运营部牵头，结合网络优化进度，做好资产盘点清退工作，跟踪本月</a:t>
            </a:r>
            <a:r>
              <a:rPr lang="en-US" altLang="zh-CN" sz="1400" kern="0" dirty="0">
                <a:latin typeface="微软雅黑" panose="020B0503020204020204" pitchFamily="34" charset="-122"/>
                <a:ea typeface="微软雅黑" panose="020B0503020204020204" pitchFamily="34" charset="-122"/>
              </a:rPr>
              <a:t>WIFI</a:t>
            </a:r>
            <a:r>
              <a:rPr lang="zh-CN" altLang="en-US" sz="1400" kern="0" dirty="0">
                <a:latin typeface="微软雅黑" panose="020B0503020204020204" pitchFamily="34" charset="-122"/>
                <a:ea typeface="微软雅黑" panose="020B0503020204020204" pitchFamily="34" charset="-122"/>
              </a:rPr>
              <a:t>资产清查中发现的</a:t>
            </a:r>
            <a:r>
              <a:rPr lang="en-US" altLang="zh-CN" sz="1400" kern="0" dirty="0">
                <a:latin typeface="微软雅黑" panose="020B0503020204020204" pitchFamily="34" charset="-122"/>
                <a:ea typeface="微软雅黑" panose="020B0503020204020204" pitchFamily="34" charset="-122"/>
              </a:rPr>
              <a:t>AP</a:t>
            </a:r>
            <a:r>
              <a:rPr lang="zh-CN" altLang="en-US" sz="1400" kern="0" dirty="0">
                <a:latin typeface="微软雅黑" panose="020B0503020204020204" pitchFamily="34" charset="-122"/>
                <a:ea typeface="微软雅黑" panose="020B0503020204020204" pitchFamily="34" charset="-122"/>
              </a:rPr>
              <a:t>、交换机等实物已拆除资产的报废流程，并督促各县区尽快发起退网站点的固资报废申请，确保第二季度按要求完成报废预算。</a:t>
            </a:r>
            <a:endParaRPr lang="en-US" altLang="zh-CN" sz="1400" kern="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1500"/>
                                  </p:stCondLst>
                                  <p:childTnLst>
                                    <p:animEffect transition="out" filter="fad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669436" y="423691"/>
            <a:ext cx="4297680" cy="645160"/>
          </a:xfrm>
          <a:prstGeom prst="rect">
            <a:avLst/>
          </a:prstGeom>
        </p:spPr>
        <p:txBody>
          <a:bodyPr wrap="none">
            <a:spAutoFit/>
          </a:bodyPr>
          <a:lstStyle/>
          <a:p>
            <a:pPr fontAlgn="auto">
              <a:spcBef>
                <a:spcPct val="50000"/>
              </a:spcBef>
              <a:spcAft>
                <a:spcPts val="0"/>
              </a:spcAft>
              <a:defRPr/>
            </a:pPr>
            <a:r>
              <a:rPr lang="zh-CN" altLang="en-US" sz="3600" b="1" dirty="0">
                <a:solidFill>
                  <a:srgbClr val="383F4E"/>
                </a:solidFill>
                <a:latin typeface="微软雅黑" panose="020B0503020204020204" pitchFamily="34" charset="-122"/>
                <a:ea typeface="微软雅黑" panose="020B0503020204020204" pitchFamily="34" charset="-122"/>
              </a:rPr>
              <a:t>固定资产与折旧情况</a:t>
            </a:r>
          </a:p>
        </p:txBody>
      </p:sp>
      <p:sp>
        <p:nvSpPr>
          <p:cNvPr id="20" name="Freeform 41"/>
          <p:cNvSpPr/>
          <p:nvPr/>
        </p:nvSpPr>
        <p:spPr bwMode="auto">
          <a:xfrm>
            <a:off x="3278983" y="1437867"/>
            <a:ext cx="3204175" cy="1882194"/>
          </a:xfrm>
          <a:custGeom>
            <a:avLst/>
            <a:gdLst>
              <a:gd name="T0" fmla="*/ 1061 w 1161"/>
              <a:gd name="T1" fmla="*/ 241 h 682"/>
              <a:gd name="T2" fmla="*/ 1007 w 1161"/>
              <a:gd name="T3" fmla="*/ 257 h 682"/>
              <a:gd name="T4" fmla="*/ 1007 w 1161"/>
              <a:gd name="T5" fmla="*/ 257 h 682"/>
              <a:gd name="T6" fmla="*/ 848 w 1161"/>
              <a:gd name="T7" fmla="*/ 302 h 682"/>
              <a:gd name="T8" fmla="*/ 605 w 1161"/>
              <a:gd name="T9" fmla="*/ 124 h 682"/>
              <a:gd name="T10" fmla="*/ 605 w 1161"/>
              <a:gd name="T11" fmla="*/ 124 h 682"/>
              <a:gd name="T12" fmla="*/ 342 w 1161"/>
              <a:gd name="T13" fmla="*/ 0 h 682"/>
              <a:gd name="T14" fmla="*/ 0 w 1161"/>
              <a:gd name="T15" fmla="*/ 341 h 682"/>
              <a:gd name="T16" fmla="*/ 342 w 1161"/>
              <a:gd name="T17" fmla="*/ 682 h 682"/>
              <a:gd name="T18" fmla="*/ 605 w 1161"/>
              <a:gd name="T19" fmla="*/ 558 h 682"/>
              <a:gd name="T20" fmla="*/ 605 w 1161"/>
              <a:gd name="T21" fmla="*/ 558 h 682"/>
              <a:gd name="T22" fmla="*/ 605 w 1161"/>
              <a:gd name="T23" fmla="*/ 558 h 682"/>
              <a:gd name="T24" fmla="*/ 605 w 1161"/>
              <a:gd name="T25" fmla="*/ 558 h 682"/>
              <a:gd name="T26" fmla="*/ 848 w 1161"/>
              <a:gd name="T27" fmla="*/ 380 h 682"/>
              <a:gd name="T28" fmla="*/ 1007 w 1161"/>
              <a:gd name="T29" fmla="*/ 425 h 682"/>
              <a:gd name="T30" fmla="*/ 1007 w 1161"/>
              <a:gd name="T31" fmla="*/ 425 h 682"/>
              <a:gd name="T32" fmla="*/ 1061 w 1161"/>
              <a:gd name="T33" fmla="*/ 441 h 682"/>
              <a:gd name="T34" fmla="*/ 1161 w 1161"/>
              <a:gd name="T35" fmla="*/ 341 h 682"/>
              <a:gd name="T36" fmla="*/ 1061 w 1161"/>
              <a:gd name="T37" fmla="*/ 241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1" h="682">
                <a:moveTo>
                  <a:pt x="1061" y="241"/>
                </a:moveTo>
                <a:cubicBezTo>
                  <a:pt x="1041" y="241"/>
                  <a:pt x="1023" y="247"/>
                  <a:pt x="1007" y="257"/>
                </a:cubicBezTo>
                <a:cubicBezTo>
                  <a:pt x="1007" y="257"/>
                  <a:pt x="1007" y="257"/>
                  <a:pt x="1007" y="257"/>
                </a:cubicBezTo>
                <a:cubicBezTo>
                  <a:pt x="964" y="284"/>
                  <a:pt x="974" y="302"/>
                  <a:pt x="848" y="302"/>
                </a:cubicBezTo>
                <a:cubicBezTo>
                  <a:pt x="700" y="302"/>
                  <a:pt x="699" y="235"/>
                  <a:pt x="605" y="124"/>
                </a:cubicBezTo>
                <a:cubicBezTo>
                  <a:pt x="605" y="124"/>
                  <a:pt x="605" y="124"/>
                  <a:pt x="605" y="124"/>
                </a:cubicBezTo>
                <a:cubicBezTo>
                  <a:pt x="542" y="48"/>
                  <a:pt x="448" y="0"/>
                  <a:pt x="342" y="0"/>
                </a:cubicBezTo>
                <a:cubicBezTo>
                  <a:pt x="153" y="0"/>
                  <a:pt x="0" y="153"/>
                  <a:pt x="0" y="341"/>
                </a:cubicBezTo>
                <a:cubicBezTo>
                  <a:pt x="0" y="529"/>
                  <a:pt x="153" y="682"/>
                  <a:pt x="342" y="682"/>
                </a:cubicBezTo>
                <a:cubicBezTo>
                  <a:pt x="448" y="682"/>
                  <a:pt x="542" y="634"/>
                  <a:pt x="605" y="558"/>
                </a:cubicBezTo>
                <a:cubicBezTo>
                  <a:pt x="605" y="558"/>
                  <a:pt x="605" y="558"/>
                  <a:pt x="605" y="558"/>
                </a:cubicBezTo>
                <a:cubicBezTo>
                  <a:pt x="605" y="558"/>
                  <a:pt x="605" y="558"/>
                  <a:pt x="605" y="558"/>
                </a:cubicBezTo>
                <a:cubicBezTo>
                  <a:pt x="605" y="558"/>
                  <a:pt x="605" y="558"/>
                  <a:pt x="605" y="558"/>
                </a:cubicBezTo>
                <a:cubicBezTo>
                  <a:pt x="699" y="447"/>
                  <a:pt x="700" y="380"/>
                  <a:pt x="848" y="380"/>
                </a:cubicBezTo>
                <a:cubicBezTo>
                  <a:pt x="974" y="380"/>
                  <a:pt x="964" y="398"/>
                  <a:pt x="1007" y="425"/>
                </a:cubicBezTo>
                <a:cubicBezTo>
                  <a:pt x="1007" y="425"/>
                  <a:pt x="1007" y="425"/>
                  <a:pt x="1007" y="425"/>
                </a:cubicBezTo>
                <a:cubicBezTo>
                  <a:pt x="1023" y="435"/>
                  <a:pt x="1041" y="441"/>
                  <a:pt x="1061" y="441"/>
                </a:cubicBezTo>
                <a:cubicBezTo>
                  <a:pt x="1116" y="441"/>
                  <a:pt x="1161" y="396"/>
                  <a:pt x="1161" y="341"/>
                </a:cubicBezTo>
                <a:cubicBezTo>
                  <a:pt x="1161" y="286"/>
                  <a:pt x="1116" y="241"/>
                  <a:pt x="1061" y="241"/>
                </a:cubicBezTo>
                <a:close/>
              </a:path>
            </a:pathLst>
          </a:custGeom>
          <a:solidFill>
            <a:schemeClr val="accent1">
              <a:lumMod val="20000"/>
              <a:lumOff val="80000"/>
            </a:schemeClr>
          </a:solidFill>
          <a:ln>
            <a:noFill/>
          </a:ln>
        </p:spPr>
        <p:txBody>
          <a:bodyPr vert="horz" wrap="square" lIns="91412" tIns="45706" rIns="91412" bIns="45706"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grpSp>
        <p:nvGrpSpPr>
          <p:cNvPr id="21" name="组合 20"/>
          <p:cNvGrpSpPr/>
          <p:nvPr/>
        </p:nvGrpSpPr>
        <p:grpSpPr>
          <a:xfrm>
            <a:off x="6121319" y="1766378"/>
            <a:ext cx="171399" cy="4265883"/>
            <a:chOff x="6010275" y="1583258"/>
            <a:chExt cx="171450" cy="4267200"/>
          </a:xfrm>
        </p:grpSpPr>
        <p:cxnSp>
          <p:nvCxnSpPr>
            <p:cNvPr id="22" name="直接连接符 21"/>
            <p:cNvCxnSpPr>
              <a:stCxn id="23" idx="3"/>
              <a:endCxn id="27" idx="0"/>
            </p:cNvCxnSpPr>
            <p:nvPr/>
          </p:nvCxnSpPr>
          <p:spPr>
            <a:xfrm>
              <a:off x="6096000" y="1713433"/>
              <a:ext cx="0" cy="407670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Freeform 42"/>
            <p:cNvSpPr/>
            <p:nvPr/>
          </p:nvSpPr>
          <p:spPr bwMode="auto">
            <a:xfrm>
              <a:off x="6010275" y="1583258"/>
              <a:ext cx="171450" cy="130175"/>
            </a:xfrm>
            <a:custGeom>
              <a:avLst/>
              <a:gdLst>
                <a:gd name="T0" fmla="*/ 54 w 108"/>
                <a:gd name="T1" fmla="*/ 45 h 82"/>
                <a:gd name="T2" fmla="*/ 0 w 108"/>
                <a:gd name="T3" fmla="*/ 0 h 82"/>
                <a:gd name="T4" fmla="*/ 0 w 108"/>
                <a:gd name="T5" fmla="*/ 38 h 82"/>
                <a:gd name="T6" fmla="*/ 54 w 108"/>
                <a:gd name="T7" fmla="*/ 82 h 82"/>
                <a:gd name="T8" fmla="*/ 108 w 108"/>
                <a:gd name="T9" fmla="*/ 38 h 82"/>
                <a:gd name="T10" fmla="*/ 108 w 108"/>
                <a:gd name="T11" fmla="*/ 0 h 82"/>
                <a:gd name="T12" fmla="*/ 54 w 108"/>
                <a:gd name="T13" fmla="*/ 45 h 82"/>
              </a:gdLst>
              <a:ahLst/>
              <a:cxnLst>
                <a:cxn ang="0">
                  <a:pos x="T0" y="T1"/>
                </a:cxn>
                <a:cxn ang="0">
                  <a:pos x="T2" y="T3"/>
                </a:cxn>
                <a:cxn ang="0">
                  <a:pos x="T4" y="T5"/>
                </a:cxn>
                <a:cxn ang="0">
                  <a:pos x="T6" y="T7"/>
                </a:cxn>
                <a:cxn ang="0">
                  <a:pos x="T8" y="T9"/>
                </a:cxn>
                <a:cxn ang="0">
                  <a:pos x="T10" y="T11"/>
                </a:cxn>
                <a:cxn ang="0">
                  <a:pos x="T12" y="T13"/>
                </a:cxn>
              </a:cxnLst>
              <a:rect l="0" t="0" r="r" b="b"/>
              <a:pathLst>
                <a:path w="108" h="82">
                  <a:moveTo>
                    <a:pt x="54" y="45"/>
                  </a:moveTo>
                  <a:lnTo>
                    <a:pt x="0" y="0"/>
                  </a:lnTo>
                  <a:lnTo>
                    <a:pt x="0" y="38"/>
                  </a:lnTo>
                  <a:lnTo>
                    <a:pt x="54" y="82"/>
                  </a:lnTo>
                  <a:lnTo>
                    <a:pt x="108" y="38"/>
                  </a:lnTo>
                  <a:lnTo>
                    <a:pt x="108" y="0"/>
                  </a:lnTo>
                  <a:lnTo>
                    <a:pt x="54" y="45"/>
                  </a:lnTo>
                  <a:close/>
                </a:path>
              </a:pathLst>
            </a:custGeom>
            <a:solidFill>
              <a:schemeClr val="tx1">
                <a:lumMod val="50000"/>
                <a:lumOff val="50000"/>
              </a:schemeClr>
            </a:solidFill>
            <a:ln>
              <a:noFill/>
            </a:ln>
          </p:spPr>
          <p:txBody>
            <a:bodyPr vert="horz" wrap="square" lIns="121882" tIns="60941" rIns="121882" bIns="60941"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24" name="Freeform 43"/>
            <p:cNvSpPr/>
            <p:nvPr/>
          </p:nvSpPr>
          <p:spPr bwMode="auto">
            <a:xfrm>
              <a:off x="6010275" y="2615133"/>
              <a:ext cx="171450" cy="133350"/>
            </a:xfrm>
            <a:custGeom>
              <a:avLst/>
              <a:gdLst>
                <a:gd name="T0" fmla="*/ 54 w 108"/>
                <a:gd name="T1" fmla="*/ 45 h 84"/>
                <a:gd name="T2" fmla="*/ 0 w 108"/>
                <a:gd name="T3" fmla="*/ 0 h 84"/>
                <a:gd name="T4" fmla="*/ 0 w 108"/>
                <a:gd name="T5" fmla="*/ 39 h 84"/>
                <a:gd name="T6" fmla="*/ 54 w 108"/>
                <a:gd name="T7" fmla="*/ 84 h 84"/>
                <a:gd name="T8" fmla="*/ 108 w 108"/>
                <a:gd name="T9" fmla="*/ 39 h 84"/>
                <a:gd name="T10" fmla="*/ 108 w 108"/>
                <a:gd name="T11" fmla="*/ 0 h 84"/>
                <a:gd name="T12" fmla="*/ 54 w 108"/>
                <a:gd name="T13" fmla="*/ 45 h 84"/>
              </a:gdLst>
              <a:ahLst/>
              <a:cxnLst>
                <a:cxn ang="0">
                  <a:pos x="T0" y="T1"/>
                </a:cxn>
                <a:cxn ang="0">
                  <a:pos x="T2" y="T3"/>
                </a:cxn>
                <a:cxn ang="0">
                  <a:pos x="T4" y="T5"/>
                </a:cxn>
                <a:cxn ang="0">
                  <a:pos x="T6" y="T7"/>
                </a:cxn>
                <a:cxn ang="0">
                  <a:pos x="T8" y="T9"/>
                </a:cxn>
                <a:cxn ang="0">
                  <a:pos x="T10" y="T11"/>
                </a:cxn>
                <a:cxn ang="0">
                  <a:pos x="T12" y="T13"/>
                </a:cxn>
              </a:cxnLst>
              <a:rect l="0" t="0" r="r" b="b"/>
              <a:pathLst>
                <a:path w="108" h="84">
                  <a:moveTo>
                    <a:pt x="54" y="45"/>
                  </a:moveTo>
                  <a:lnTo>
                    <a:pt x="0" y="0"/>
                  </a:lnTo>
                  <a:lnTo>
                    <a:pt x="0" y="39"/>
                  </a:lnTo>
                  <a:lnTo>
                    <a:pt x="54" y="84"/>
                  </a:lnTo>
                  <a:lnTo>
                    <a:pt x="108" y="39"/>
                  </a:lnTo>
                  <a:lnTo>
                    <a:pt x="108" y="0"/>
                  </a:lnTo>
                  <a:lnTo>
                    <a:pt x="54" y="45"/>
                  </a:lnTo>
                  <a:close/>
                </a:path>
              </a:pathLst>
            </a:custGeom>
            <a:solidFill>
              <a:schemeClr val="tx1">
                <a:lumMod val="50000"/>
                <a:lumOff val="50000"/>
              </a:schemeClr>
            </a:solidFill>
            <a:ln>
              <a:noFill/>
            </a:ln>
          </p:spPr>
          <p:txBody>
            <a:bodyPr vert="horz" wrap="square" lIns="121882" tIns="60941" rIns="121882" bIns="60941"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25" name="Freeform 44"/>
            <p:cNvSpPr/>
            <p:nvPr/>
          </p:nvSpPr>
          <p:spPr bwMode="auto">
            <a:xfrm>
              <a:off x="6010275" y="3650183"/>
              <a:ext cx="171450" cy="133350"/>
            </a:xfrm>
            <a:custGeom>
              <a:avLst/>
              <a:gdLst>
                <a:gd name="T0" fmla="*/ 54 w 108"/>
                <a:gd name="T1" fmla="*/ 46 h 84"/>
                <a:gd name="T2" fmla="*/ 0 w 108"/>
                <a:gd name="T3" fmla="*/ 0 h 84"/>
                <a:gd name="T4" fmla="*/ 0 w 108"/>
                <a:gd name="T5" fmla="*/ 39 h 84"/>
                <a:gd name="T6" fmla="*/ 54 w 108"/>
                <a:gd name="T7" fmla="*/ 84 h 84"/>
                <a:gd name="T8" fmla="*/ 108 w 108"/>
                <a:gd name="T9" fmla="*/ 39 h 84"/>
                <a:gd name="T10" fmla="*/ 108 w 108"/>
                <a:gd name="T11" fmla="*/ 0 h 84"/>
                <a:gd name="T12" fmla="*/ 54 w 108"/>
                <a:gd name="T13" fmla="*/ 46 h 84"/>
              </a:gdLst>
              <a:ahLst/>
              <a:cxnLst>
                <a:cxn ang="0">
                  <a:pos x="T0" y="T1"/>
                </a:cxn>
                <a:cxn ang="0">
                  <a:pos x="T2" y="T3"/>
                </a:cxn>
                <a:cxn ang="0">
                  <a:pos x="T4" y="T5"/>
                </a:cxn>
                <a:cxn ang="0">
                  <a:pos x="T6" y="T7"/>
                </a:cxn>
                <a:cxn ang="0">
                  <a:pos x="T8" y="T9"/>
                </a:cxn>
                <a:cxn ang="0">
                  <a:pos x="T10" y="T11"/>
                </a:cxn>
                <a:cxn ang="0">
                  <a:pos x="T12" y="T13"/>
                </a:cxn>
              </a:cxnLst>
              <a:rect l="0" t="0" r="r" b="b"/>
              <a:pathLst>
                <a:path w="108" h="84">
                  <a:moveTo>
                    <a:pt x="54" y="46"/>
                  </a:moveTo>
                  <a:lnTo>
                    <a:pt x="0" y="0"/>
                  </a:lnTo>
                  <a:lnTo>
                    <a:pt x="0" y="39"/>
                  </a:lnTo>
                  <a:lnTo>
                    <a:pt x="54" y="84"/>
                  </a:lnTo>
                  <a:lnTo>
                    <a:pt x="108" y="39"/>
                  </a:lnTo>
                  <a:lnTo>
                    <a:pt x="108" y="0"/>
                  </a:lnTo>
                  <a:lnTo>
                    <a:pt x="54" y="46"/>
                  </a:lnTo>
                  <a:close/>
                </a:path>
              </a:pathLst>
            </a:custGeom>
            <a:solidFill>
              <a:schemeClr val="tx1">
                <a:lumMod val="50000"/>
                <a:lumOff val="50000"/>
              </a:schemeClr>
            </a:solidFill>
            <a:ln>
              <a:noFill/>
            </a:ln>
          </p:spPr>
          <p:txBody>
            <a:bodyPr vert="horz" wrap="square" lIns="121882" tIns="60941" rIns="121882" bIns="60941"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26" name="Freeform 45"/>
            <p:cNvSpPr/>
            <p:nvPr/>
          </p:nvSpPr>
          <p:spPr bwMode="auto">
            <a:xfrm>
              <a:off x="6010275" y="4685233"/>
              <a:ext cx="171450" cy="130175"/>
            </a:xfrm>
            <a:custGeom>
              <a:avLst/>
              <a:gdLst>
                <a:gd name="T0" fmla="*/ 54 w 108"/>
                <a:gd name="T1" fmla="*/ 46 h 82"/>
                <a:gd name="T2" fmla="*/ 0 w 108"/>
                <a:gd name="T3" fmla="*/ 0 h 82"/>
                <a:gd name="T4" fmla="*/ 0 w 108"/>
                <a:gd name="T5" fmla="*/ 39 h 82"/>
                <a:gd name="T6" fmla="*/ 54 w 108"/>
                <a:gd name="T7" fmla="*/ 82 h 82"/>
                <a:gd name="T8" fmla="*/ 108 w 108"/>
                <a:gd name="T9" fmla="*/ 39 h 82"/>
                <a:gd name="T10" fmla="*/ 108 w 108"/>
                <a:gd name="T11" fmla="*/ 0 h 82"/>
                <a:gd name="T12" fmla="*/ 54 w 108"/>
                <a:gd name="T13" fmla="*/ 46 h 82"/>
              </a:gdLst>
              <a:ahLst/>
              <a:cxnLst>
                <a:cxn ang="0">
                  <a:pos x="T0" y="T1"/>
                </a:cxn>
                <a:cxn ang="0">
                  <a:pos x="T2" y="T3"/>
                </a:cxn>
                <a:cxn ang="0">
                  <a:pos x="T4" y="T5"/>
                </a:cxn>
                <a:cxn ang="0">
                  <a:pos x="T6" y="T7"/>
                </a:cxn>
                <a:cxn ang="0">
                  <a:pos x="T8" y="T9"/>
                </a:cxn>
                <a:cxn ang="0">
                  <a:pos x="T10" y="T11"/>
                </a:cxn>
                <a:cxn ang="0">
                  <a:pos x="T12" y="T13"/>
                </a:cxn>
              </a:cxnLst>
              <a:rect l="0" t="0" r="r" b="b"/>
              <a:pathLst>
                <a:path w="108" h="82">
                  <a:moveTo>
                    <a:pt x="54" y="46"/>
                  </a:moveTo>
                  <a:lnTo>
                    <a:pt x="0" y="0"/>
                  </a:lnTo>
                  <a:lnTo>
                    <a:pt x="0" y="39"/>
                  </a:lnTo>
                  <a:lnTo>
                    <a:pt x="54" y="82"/>
                  </a:lnTo>
                  <a:lnTo>
                    <a:pt x="108" y="39"/>
                  </a:lnTo>
                  <a:lnTo>
                    <a:pt x="108" y="0"/>
                  </a:lnTo>
                  <a:lnTo>
                    <a:pt x="54" y="46"/>
                  </a:lnTo>
                  <a:close/>
                </a:path>
              </a:pathLst>
            </a:custGeom>
            <a:solidFill>
              <a:schemeClr val="tx1">
                <a:lumMod val="50000"/>
                <a:lumOff val="50000"/>
              </a:schemeClr>
            </a:solidFill>
            <a:ln>
              <a:noFill/>
            </a:ln>
          </p:spPr>
          <p:txBody>
            <a:bodyPr vert="horz" wrap="square" lIns="121882" tIns="60941" rIns="121882" bIns="60941"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27" name="Freeform 46"/>
            <p:cNvSpPr/>
            <p:nvPr/>
          </p:nvSpPr>
          <p:spPr bwMode="auto">
            <a:xfrm>
              <a:off x="6010275" y="5718696"/>
              <a:ext cx="171450" cy="131762"/>
            </a:xfrm>
            <a:custGeom>
              <a:avLst/>
              <a:gdLst>
                <a:gd name="T0" fmla="*/ 54 w 108"/>
                <a:gd name="T1" fmla="*/ 45 h 83"/>
                <a:gd name="T2" fmla="*/ 0 w 108"/>
                <a:gd name="T3" fmla="*/ 0 h 83"/>
                <a:gd name="T4" fmla="*/ 0 w 108"/>
                <a:gd name="T5" fmla="*/ 38 h 83"/>
                <a:gd name="T6" fmla="*/ 54 w 108"/>
                <a:gd name="T7" fmla="*/ 83 h 83"/>
                <a:gd name="T8" fmla="*/ 108 w 108"/>
                <a:gd name="T9" fmla="*/ 38 h 83"/>
                <a:gd name="T10" fmla="*/ 108 w 108"/>
                <a:gd name="T11" fmla="*/ 0 h 83"/>
                <a:gd name="T12" fmla="*/ 54 w 108"/>
                <a:gd name="T13" fmla="*/ 45 h 83"/>
              </a:gdLst>
              <a:ahLst/>
              <a:cxnLst>
                <a:cxn ang="0">
                  <a:pos x="T0" y="T1"/>
                </a:cxn>
                <a:cxn ang="0">
                  <a:pos x="T2" y="T3"/>
                </a:cxn>
                <a:cxn ang="0">
                  <a:pos x="T4" y="T5"/>
                </a:cxn>
                <a:cxn ang="0">
                  <a:pos x="T6" y="T7"/>
                </a:cxn>
                <a:cxn ang="0">
                  <a:pos x="T8" y="T9"/>
                </a:cxn>
                <a:cxn ang="0">
                  <a:pos x="T10" y="T11"/>
                </a:cxn>
                <a:cxn ang="0">
                  <a:pos x="T12" y="T13"/>
                </a:cxn>
              </a:cxnLst>
              <a:rect l="0" t="0" r="r" b="b"/>
              <a:pathLst>
                <a:path w="108" h="83">
                  <a:moveTo>
                    <a:pt x="54" y="45"/>
                  </a:moveTo>
                  <a:lnTo>
                    <a:pt x="0" y="0"/>
                  </a:lnTo>
                  <a:lnTo>
                    <a:pt x="0" y="38"/>
                  </a:lnTo>
                  <a:lnTo>
                    <a:pt x="54" y="83"/>
                  </a:lnTo>
                  <a:lnTo>
                    <a:pt x="108" y="38"/>
                  </a:lnTo>
                  <a:lnTo>
                    <a:pt x="108" y="0"/>
                  </a:lnTo>
                  <a:lnTo>
                    <a:pt x="54" y="45"/>
                  </a:lnTo>
                  <a:close/>
                </a:path>
              </a:pathLst>
            </a:custGeom>
            <a:solidFill>
              <a:schemeClr val="tx1">
                <a:lumMod val="50000"/>
                <a:lumOff val="50000"/>
              </a:schemeClr>
            </a:solidFill>
            <a:ln>
              <a:noFill/>
            </a:ln>
          </p:spPr>
          <p:txBody>
            <a:bodyPr vert="horz" wrap="square" lIns="121882" tIns="60941" rIns="121882" bIns="60941"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grpSp>
      <p:sp>
        <p:nvSpPr>
          <p:cNvPr id="28" name="Oval 47"/>
          <p:cNvSpPr>
            <a:spLocks noChangeArrowheads="1"/>
          </p:cNvSpPr>
          <p:nvPr/>
        </p:nvSpPr>
        <p:spPr bwMode="auto">
          <a:xfrm>
            <a:off x="3394835" y="1553717"/>
            <a:ext cx="1653666" cy="1650491"/>
          </a:xfrm>
          <a:prstGeom prst="ellipse">
            <a:avLst/>
          </a:prstGeom>
          <a:solidFill>
            <a:srgbClr val="383F4E"/>
          </a:solidFill>
          <a:ln>
            <a:noFill/>
          </a:ln>
        </p:spPr>
        <p:txBody>
          <a:bodyPr vert="horz" wrap="square" lIns="91412" tIns="45706" rIns="91412" bIns="45706"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29" name="Oval 48"/>
          <p:cNvSpPr>
            <a:spLocks noChangeArrowheads="1"/>
          </p:cNvSpPr>
          <p:nvPr/>
        </p:nvSpPr>
        <p:spPr bwMode="auto">
          <a:xfrm>
            <a:off x="6040111" y="2158370"/>
            <a:ext cx="441189" cy="441189"/>
          </a:xfrm>
          <a:prstGeom prst="ellipse">
            <a:avLst/>
          </a:prstGeom>
          <a:solidFill>
            <a:srgbClr val="383F4E"/>
          </a:solidFill>
          <a:ln>
            <a:noFill/>
          </a:ln>
        </p:spPr>
        <p:txBody>
          <a:bodyPr vert="horz" wrap="square" lIns="0" tIns="0" rIns="0" bIns="0" numCol="1" anchor="ctr" anchorCtr="0" compatLnSpc="1"/>
          <a:lstStyle/>
          <a:p>
            <a:pPr algn="ctr" defTabSz="1218565"/>
            <a:r>
              <a:rPr lang="en-US" altLang="zh-CN" sz="2800" dirty="0">
                <a:solidFill>
                  <a:prstClr val="white"/>
                </a:solidFill>
                <a:latin typeface="Agency FB" panose="020B0503020202020204" pitchFamily="34" charset="0"/>
                <a:ea typeface="宋体" panose="02010600030101010101" pitchFamily="2" charset="-122"/>
              </a:rPr>
              <a:t>A</a:t>
            </a:r>
            <a:endParaRPr lang="zh-CN" altLang="en-US" sz="2800" dirty="0">
              <a:solidFill>
                <a:prstClr val="white"/>
              </a:solidFill>
              <a:latin typeface="Agency FB" panose="020B0503020202020204" pitchFamily="34" charset="0"/>
              <a:ea typeface="宋体" panose="02010600030101010101" pitchFamily="2" charset="-122"/>
            </a:endParaRPr>
          </a:p>
        </p:txBody>
      </p:sp>
      <p:sp>
        <p:nvSpPr>
          <p:cNvPr id="30" name="Freeform 49"/>
          <p:cNvSpPr/>
          <p:nvPr/>
        </p:nvSpPr>
        <p:spPr bwMode="auto">
          <a:xfrm>
            <a:off x="3278983" y="3496220"/>
            <a:ext cx="3204175" cy="1885369"/>
          </a:xfrm>
          <a:custGeom>
            <a:avLst/>
            <a:gdLst>
              <a:gd name="T0" fmla="*/ 1061 w 1161"/>
              <a:gd name="T1" fmla="*/ 242 h 683"/>
              <a:gd name="T2" fmla="*/ 1007 w 1161"/>
              <a:gd name="T3" fmla="*/ 257 h 683"/>
              <a:gd name="T4" fmla="*/ 1007 w 1161"/>
              <a:gd name="T5" fmla="*/ 257 h 683"/>
              <a:gd name="T6" fmla="*/ 848 w 1161"/>
              <a:gd name="T7" fmla="*/ 303 h 683"/>
              <a:gd name="T8" fmla="*/ 605 w 1161"/>
              <a:gd name="T9" fmla="*/ 125 h 683"/>
              <a:gd name="T10" fmla="*/ 605 w 1161"/>
              <a:gd name="T11" fmla="*/ 125 h 683"/>
              <a:gd name="T12" fmla="*/ 605 w 1161"/>
              <a:gd name="T13" fmla="*/ 124 h 683"/>
              <a:gd name="T14" fmla="*/ 605 w 1161"/>
              <a:gd name="T15" fmla="*/ 124 h 683"/>
              <a:gd name="T16" fmla="*/ 342 w 1161"/>
              <a:gd name="T17" fmla="*/ 0 h 683"/>
              <a:gd name="T18" fmla="*/ 0 w 1161"/>
              <a:gd name="T19" fmla="*/ 342 h 683"/>
              <a:gd name="T20" fmla="*/ 342 w 1161"/>
              <a:gd name="T21" fmla="*/ 683 h 683"/>
              <a:gd name="T22" fmla="*/ 605 w 1161"/>
              <a:gd name="T23" fmla="*/ 559 h 683"/>
              <a:gd name="T24" fmla="*/ 605 w 1161"/>
              <a:gd name="T25" fmla="*/ 559 h 683"/>
              <a:gd name="T26" fmla="*/ 848 w 1161"/>
              <a:gd name="T27" fmla="*/ 380 h 683"/>
              <a:gd name="T28" fmla="*/ 1007 w 1161"/>
              <a:gd name="T29" fmla="*/ 426 h 683"/>
              <a:gd name="T30" fmla="*/ 1007 w 1161"/>
              <a:gd name="T31" fmla="*/ 426 h 683"/>
              <a:gd name="T32" fmla="*/ 1061 w 1161"/>
              <a:gd name="T33" fmla="*/ 441 h 683"/>
              <a:gd name="T34" fmla="*/ 1161 w 1161"/>
              <a:gd name="T35" fmla="*/ 342 h 683"/>
              <a:gd name="T36" fmla="*/ 1061 w 1161"/>
              <a:gd name="T37" fmla="*/ 242 h 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1" h="683">
                <a:moveTo>
                  <a:pt x="1061" y="242"/>
                </a:moveTo>
                <a:cubicBezTo>
                  <a:pt x="1041" y="242"/>
                  <a:pt x="1023" y="248"/>
                  <a:pt x="1007" y="257"/>
                </a:cubicBezTo>
                <a:cubicBezTo>
                  <a:pt x="1007" y="257"/>
                  <a:pt x="1007" y="257"/>
                  <a:pt x="1007" y="257"/>
                </a:cubicBezTo>
                <a:cubicBezTo>
                  <a:pt x="964" y="285"/>
                  <a:pt x="974" y="303"/>
                  <a:pt x="848" y="303"/>
                </a:cubicBezTo>
                <a:cubicBezTo>
                  <a:pt x="700" y="303"/>
                  <a:pt x="699" y="236"/>
                  <a:pt x="605" y="125"/>
                </a:cubicBezTo>
                <a:cubicBezTo>
                  <a:pt x="605" y="125"/>
                  <a:pt x="605" y="125"/>
                  <a:pt x="605" y="125"/>
                </a:cubicBezTo>
                <a:cubicBezTo>
                  <a:pt x="605" y="125"/>
                  <a:pt x="605" y="124"/>
                  <a:pt x="605" y="124"/>
                </a:cubicBezTo>
                <a:cubicBezTo>
                  <a:pt x="605" y="124"/>
                  <a:pt x="605" y="124"/>
                  <a:pt x="605" y="124"/>
                </a:cubicBezTo>
                <a:cubicBezTo>
                  <a:pt x="542" y="49"/>
                  <a:pt x="448" y="0"/>
                  <a:pt x="342" y="0"/>
                </a:cubicBezTo>
                <a:cubicBezTo>
                  <a:pt x="153" y="0"/>
                  <a:pt x="0" y="153"/>
                  <a:pt x="0" y="342"/>
                </a:cubicBezTo>
                <a:cubicBezTo>
                  <a:pt x="0" y="530"/>
                  <a:pt x="153" y="683"/>
                  <a:pt x="342" y="683"/>
                </a:cubicBezTo>
                <a:cubicBezTo>
                  <a:pt x="448" y="683"/>
                  <a:pt x="542" y="634"/>
                  <a:pt x="605" y="559"/>
                </a:cubicBezTo>
                <a:cubicBezTo>
                  <a:pt x="605" y="559"/>
                  <a:pt x="605" y="559"/>
                  <a:pt x="605" y="559"/>
                </a:cubicBezTo>
                <a:cubicBezTo>
                  <a:pt x="699" y="448"/>
                  <a:pt x="700" y="380"/>
                  <a:pt x="848" y="380"/>
                </a:cubicBezTo>
                <a:cubicBezTo>
                  <a:pt x="974" y="380"/>
                  <a:pt x="964" y="398"/>
                  <a:pt x="1007" y="426"/>
                </a:cubicBezTo>
                <a:cubicBezTo>
                  <a:pt x="1007" y="426"/>
                  <a:pt x="1007" y="426"/>
                  <a:pt x="1007" y="426"/>
                </a:cubicBezTo>
                <a:cubicBezTo>
                  <a:pt x="1023" y="436"/>
                  <a:pt x="1041" y="441"/>
                  <a:pt x="1061" y="441"/>
                </a:cubicBezTo>
                <a:cubicBezTo>
                  <a:pt x="1116" y="441"/>
                  <a:pt x="1161" y="397"/>
                  <a:pt x="1161" y="342"/>
                </a:cubicBezTo>
                <a:cubicBezTo>
                  <a:pt x="1161" y="286"/>
                  <a:pt x="1116" y="242"/>
                  <a:pt x="1061" y="242"/>
                </a:cubicBezTo>
                <a:close/>
              </a:path>
            </a:pathLst>
          </a:custGeom>
          <a:solidFill>
            <a:schemeClr val="accent3">
              <a:lumMod val="20000"/>
              <a:lumOff val="80000"/>
            </a:schemeClr>
          </a:solidFill>
          <a:ln>
            <a:noFill/>
          </a:ln>
        </p:spPr>
        <p:txBody>
          <a:bodyPr vert="horz" wrap="square" lIns="91412" tIns="45706" rIns="91412" bIns="45706"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31" name="Oval 50"/>
          <p:cNvSpPr>
            <a:spLocks noChangeArrowheads="1"/>
          </p:cNvSpPr>
          <p:nvPr/>
        </p:nvSpPr>
        <p:spPr bwMode="auto">
          <a:xfrm>
            <a:off x="3394835" y="3612071"/>
            <a:ext cx="1653666" cy="1653666"/>
          </a:xfrm>
          <a:prstGeom prst="ellipse">
            <a:avLst/>
          </a:prstGeom>
          <a:solidFill>
            <a:schemeClr val="accent3"/>
          </a:solidFill>
          <a:ln>
            <a:noFill/>
          </a:ln>
        </p:spPr>
        <p:txBody>
          <a:bodyPr vert="horz" wrap="square" lIns="91412" tIns="45706" rIns="91412" bIns="45706"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32" name="Oval 51"/>
          <p:cNvSpPr>
            <a:spLocks noChangeArrowheads="1"/>
          </p:cNvSpPr>
          <p:nvPr/>
        </p:nvSpPr>
        <p:spPr bwMode="auto">
          <a:xfrm>
            <a:off x="6040111" y="4216722"/>
            <a:ext cx="441189" cy="444363"/>
          </a:xfrm>
          <a:prstGeom prst="ellipse">
            <a:avLst/>
          </a:prstGeom>
          <a:solidFill>
            <a:schemeClr val="accent3"/>
          </a:solidFill>
          <a:ln>
            <a:noFill/>
          </a:ln>
        </p:spPr>
        <p:txBody>
          <a:bodyPr vert="horz" wrap="square" lIns="0" tIns="0" rIns="0" bIns="0" numCol="1" anchor="ctr" anchorCtr="0" compatLnSpc="1"/>
          <a:lstStyle/>
          <a:p>
            <a:pPr algn="ctr" defTabSz="1218565"/>
            <a:r>
              <a:rPr lang="en-US" altLang="zh-CN" sz="2800" dirty="0">
                <a:solidFill>
                  <a:prstClr val="white"/>
                </a:solidFill>
                <a:latin typeface="Agency FB" panose="020B0503020202020204" pitchFamily="34" charset="0"/>
                <a:ea typeface="宋体" panose="02010600030101010101" pitchFamily="2" charset="-122"/>
              </a:rPr>
              <a:t>C</a:t>
            </a:r>
            <a:endParaRPr lang="zh-CN" altLang="en-US" sz="2800" dirty="0">
              <a:solidFill>
                <a:prstClr val="white"/>
              </a:solidFill>
              <a:latin typeface="Agency FB" panose="020B0503020202020204" pitchFamily="34" charset="0"/>
              <a:ea typeface="宋体" panose="02010600030101010101" pitchFamily="2" charset="-122"/>
            </a:endParaRPr>
          </a:p>
        </p:txBody>
      </p:sp>
      <p:sp>
        <p:nvSpPr>
          <p:cNvPr id="33" name="Freeform 54"/>
          <p:cNvSpPr/>
          <p:nvPr/>
        </p:nvSpPr>
        <p:spPr bwMode="auto">
          <a:xfrm>
            <a:off x="5930877" y="2467836"/>
            <a:ext cx="3204175" cy="1880606"/>
          </a:xfrm>
          <a:custGeom>
            <a:avLst/>
            <a:gdLst>
              <a:gd name="T0" fmla="*/ 819 w 1161"/>
              <a:gd name="T1" fmla="*/ 0 h 682"/>
              <a:gd name="T2" fmla="*/ 556 w 1161"/>
              <a:gd name="T3" fmla="*/ 124 h 682"/>
              <a:gd name="T4" fmla="*/ 556 w 1161"/>
              <a:gd name="T5" fmla="*/ 124 h 682"/>
              <a:gd name="T6" fmla="*/ 556 w 1161"/>
              <a:gd name="T7" fmla="*/ 124 h 682"/>
              <a:gd name="T8" fmla="*/ 556 w 1161"/>
              <a:gd name="T9" fmla="*/ 124 h 682"/>
              <a:gd name="T10" fmla="*/ 313 w 1161"/>
              <a:gd name="T11" fmla="*/ 303 h 682"/>
              <a:gd name="T12" fmla="*/ 154 w 1161"/>
              <a:gd name="T13" fmla="*/ 257 h 682"/>
              <a:gd name="T14" fmla="*/ 154 w 1161"/>
              <a:gd name="T15" fmla="*/ 257 h 682"/>
              <a:gd name="T16" fmla="*/ 100 w 1161"/>
              <a:gd name="T17" fmla="*/ 241 h 682"/>
              <a:gd name="T18" fmla="*/ 0 w 1161"/>
              <a:gd name="T19" fmla="*/ 341 h 682"/>
              <a:gd name="T20" fmla="*/ 100 w 1161"/>
              <a:gd name="T21" fmla="*/ 441 h 682"/>
              <a:gd name="T22" fmla="*/ 154 w 1161"/>
              <a:gd name="T23" fmla="*/ 425 h 682"/>
              <a:gd name="T24" fmla="*/ 154 w 1161"/>
              <a:gd name="T25" fmla="*/ 425 h 682"/>
              <a:gd name="T26" fmla="*/ 313 w 1161"/>
              <a:gd name="T27" fmla="*/ 380 h 682"/>
              <a:gd name="T28" fmla="*/ 556 w 1161"/>
              <a:gd name="T29" fmla="*/ 558 h 682"/>
              <a:gd name="T30" fmla="*/ 556 w 1161"/>
              <a:gd name="T31" fmla="*/ 558 h 682"/>
              <a:gd name="T32" fmla="*/ 819 w 1161"/>
              <a:gd name="T33" fmla="*/ 682 h 682"/>
              <a:gd name="T34" fmla="*/ 1161 w 1161"/>
              <a:gd name="T35" fmla="*/ 341 h 682"/>
              <a:gd name="T36" fmla="*/ 819 w 1161"/>
              <a:gd name="T37" fmla="*/ 0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1" h="682">
                <a:moveTo>
                  <a:pt x="819" y="0"/>
                </a:moveTo>
                <a:cubicBezTo>
                  <a:pt x="714" y="0"/>
                  <a:pt x="619" y="48"/>
                  <a:pt x="556" y="124"/>
                </a:cubicBezTo>
                <a:cubicBezTo>
                  <a:pt x="556" y="124"/>
                  <a:pt x="556" y="124"/>
                  <a:pt x="556" y="124"/>
                </a:cubicBezTo>
                <a:cubicBezTo>
                  <a:pt x="556" y="124"/>
                  <a:pt x="556" y="124"/>
                  <a:pt x="556" y="124"/>
                </a:cubicBezTo>
                <a:cubicBezTo>
                  <a:pt x="556" y="124"/>
                  <a:pt x="556" y="124"/>
                  <a:pt x="556" y="124"/>
                </a:cubicBezTo>
                <a:cubicBezTo>
                  <a:pt x="462" y="235"/>
                  <a:pt x="461" y="303"/>
                  <a:pt x="313" y="303"/>
                </a:cubicBezTo>
                <a:cubicBezTo>
                  <a:pt x="187" y="303"/>
                  <a:pt x="197" y="284"/>
                  <a:pt x="154" y="257"/>
                </a:cubicBezTo>
                <a:cubicBezTo>
                  <a:pt x="154" y="257"/>
                  <a:pt x="154" y="257"/>
                  <a:pt x="154" y="257"/>
                </a:cubicBezTo>
                <a:cubicBezTo>
                  <a:pt x="138" y="247"/>
                  <a:pt x="120" y="241"/>
                  <a:pt x="100" y="241"/>
                </a:cubicBezTo>
                <a:cubicBezTo>
                  <a:pt x="45" y="241"/>
                  <a:pt x="0" y="286"/>
                  <a:pt x="0" y="341"/>
                </a:cubicBezTo>
                <a:cubicBezTo>
                  <a:pt x="0" y="396"/>
                  <a:pt x="45" y="441"/>
                  <a:pt x="100" y="441"/>
                </a:cubicBezTo>
                <a:cubicBezTo>
                  <a:pt x="120" y="441"/>
                  <a:pt x="138" y="435"/>
                  <a:pt x="154" y="425"/>
                </a:cubicBezTo>
                <a:cubicBezTo>
                  <a:pt x="154" y="425"/>
                  <a:pt x="154" y="425"/>
                  <a:pt x="154" y="425"/>
                </a:cubicBezTo>
                <a:cubicBezTo>
                  <a:pt x="197" y="398"/>
                  <a:pt x="187" y="380"/>
                  <a:pt x="313" y="380"/>
                </a:cubicBezTo>
                <a:cubicBezTo>
                  <a:pt x="461" y="380"/>
                  <a:pt x="462" y="447"/>
                  <a:pt x="556" y="558"/>
                </a:cubicBezTo>
                <a:cubicBezTo>
                  <a:pt x="556" y="558"/>
                  <a:pt x="556" y="558"/>
                  <a:pt x="556" y="558"/>
                </a:cubicBezTo>
                <a:cubicBezTo>
                  <a:pt x="619" y="634"/>
                  <a:pt x="714" y="682"/>
                  <a:pt x="819" y="682"/>
                </a:cubicBezTo>
                <a:cubicBezTo>
                  <a:pt x="1008" y="682"/>
                  <a:pt x="1161" y="530"/>
                  <a:pt x="1161" y="341"/>
                </a:cubicBezTo>
                <a:cubicBezTo>
                  <a:pt x="1161" y="153"/>
                  <a:pt x="1008" y="0"/>
                  <a:pt x="819" y="0"/>
                </a:cubicBezTo>
                <a:close/>
              </a:path>
            </a:pathLst>
          </a:custGeom>
          <a:solidFill>
            <a:schemeClr val="accent4">
              <a:lumMod val="20000"/>
              <a:lumOff val="80000"/>
            </a:schemeClr>
          </a:solidFill>
          <a:ln>
            <a:noFill/>
          </a:ln>
        </p:spPr>
        <p:txBody>
          <a:bodyPr vert="horz" wrap="square" lIns="91412" tIns="45706" rIns="91412" bIns="45706"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34" name="Oval 55"/>
          <p:cNvSpPr>
            <a:spLocks noChangeArrowheads="1"/>
          </p:cNvSpPr>
          <p:nvPr/>
        </p:nvSpPr>
        <p:spPr bwMode="auto">
          <a:xfrm>
            <a:off x="7365535" y="2583688"/>
            <a:ext cx="1653666" cy="1652077"/>
          </a:xfrm>
          <a:prstGeom prst="ellipse">
            <a:avLst/>
          </a:prstGeom>
          <a:solidFill>
            <a:srgbClr val="E8432E"/>
          </a:solidFill>
          <a:ln>
            <a:noFill/>
          </a:ln>
        </p:spPr>
        <p:txBody>
          <a:bodyPr vert="horz" wrap="square" lIns="91412" tIns="45706" rIns="91412" bIns="45706"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35" name="Oval 56"/>
          <p:cNvSpPr>
            <a:spLocks noChangeArrowheads="1"/>
          </p:cNvSpPr>
          <p:nvPr/>
        </p:nvSpPr>
        <p:spPr bwMode="auto">
          <a:xfrm>
            <a:off x="6040111" y="3186752"/>
            <a:ext cx="441189" cy="444363"/>
          </a:xfrm>
          <a:prstGeom prst="ellipse">
            <a:avLst/>
          </a:prstGeom>
          <a:solidFill>
            <a:srgbClr val="E8432E"/>
          </a:solidFill>
          <a:ln>
            <a:noFill/>
          </a:ln>
        </p:spPr>
        <p:txBody>
          <a:bodyPr vert="horz" wrap="square" lIns="0" tIns="0" rIns="0" bIns="0" numCol="1" anchor="ctr" anchorCtr="0" compatLnSpc="1"/>
          <a:lstStyle/>
          <a:p>
            <a:pPr algn="ctr" defTabSz="1218565"/>
            <a:r>
              <a:rPr lang="en-US" altLang="zh-CN" sz="2800" dirty="0">
                <a:solidFill>
                  <a:prstClr val="white"/>
                </a:solidFill>
                <a:latin typeface="Agency FB" panose="020B0503020202020204" pitchFamily="34" charset="0"/>
                <a:ea typeface="宋体" panose="02010600030101010101" pitchFamily="2" charset="-122"/>
              </a:rPr>
              <a:t>B</a:t>
            </a:r>
            <a:endParaRPr lang="zh-CN" altLang="en-US" sz="2800" dirty="0">
              <a:solidFill>
                <a:prstClr val="white"/>
              </a:solidFill>
              <a:latin typeface="Agency FB" panose="020B0503020202020204" pitchFamily="34" charset="0"/>
              <a:ea typeface="宋体" panose="02010600030101010101" pitchFamily="2" charset="-122"/>
            </a:endParaRPr>
          </a:p>
        </p:txBody>
      </p:sp>
      <p:sp>
        <p:nvSpPr>
          <p:cNvPr id="38" name="TextBox 30"/>
          <p:cNvSpPr txBox="1"/>
          <p:nvPr/>
        </p:nvSpPr>
        <p:spPr>
          <a:xfrm>
            <a:off x="3529965" y="1948180"/>
            <a:ext cx="1518285" cy="861695"/>
          </a:xfrm>
          <a:prstGeom prst="rect">
            <a:avLst/>
          </a:prstGeom>
          <a:noFill/>
        </p:spPr>
        <p:txBody>
          <a:bodyPr wrap="square" lIns="0" tIns="0" rIns="0" bIns="0" rtlCol="0">
            <a:spAutoFit/>
          </a:bodyPr>
          <a:lstStyle/>
          <a:p>
            <a:pPr defTabSz="1218565"/>
            <a:r>
              <a:rPr lang="zh-CN" altLang="en-US" sz="2800" b="1" dirty="0">
                <a:solidFill>
                  <a:prstClr val="white"/>
                </a:solidFill>
                <a:latin typeface="微软雅黑" panose="020B0503020204020204" pitchFamily="34" charset="-122"/>
                <a:ea typeface="微软雅黑" panose="020B0503020204020204" pitchFamily="34" charset="-122"/>
              </a:rPr>
              <a:t>平台利率不虚高</a:t>
            </a:r>
          </a:p>
        </p:txBody>
      </p:sp>
      <p:sp>
        <p:nvSpPr>
          <p:cNvPr id="39" name="TextBox 30"/>
          <p:cNvSpPr txBox="1"/>
          <p:nvPr/>
        </p:nvSpPr>
        <p:spPr>
          <a:xfrm>
            <a:off x="7475855" y="2983230"/>
            <a:ext cx="1557020" cy="861695"/>
          </a:xfrm>
          <a:prstGeom prst="rect">
            <a:avLst/>
          </a:prstGeom>
          <a:noFill/>
        </p:spPr>
        <p:txBody>
          <a:bodyPr wrap="square" lIns="0" tIns="0" rIns="0" bIns="0" rtlCol="0">
            <a:spAutoFit/>
          </a:bodyPr>
          <a:lstStyle/>
          <a:p>
            <a:pPr defTabSz="1218565"/>
            <a:r>
              <a:rPr lang="zh-CN" altLang="en-US" sz="2800" b="1" dirty="0">
                <a:solidFill>
                  <a:prstClr val="white"/>
                </a:solidFill>
                <a:latin typeface="微软雅黑" panose="020B0503020204020204" pitchFamily="34" charset="-122"/>
                <a:ea typeface="微软雅黑" panose="020B0503020204020204" pitchFamily="34" charset="-122"/>
              </a:rPr>
              <a:t>信用评估</a:t>
            </a:r>
          </a:p>
          <a:p>
            <a:pPr defTabSz="1218565"/>
            <a:r>
              <a:rPr lang="zh-CN" altLang="en-US" sz="2800" b="1" dirty="0">
                <a:solidFill>
                  <a:prstClr val="white"/>
                </a:solidFill>
                <a:latin typeface="微软雅黑" panose="020B0503020204020204" pitchFamily="34" charset="-122"/>
                <a:ea typeface="微软雅黑" panose="020B0503020204020204" pitchFamily="34" charset="-122"/>
              </a:rPr>
              <a:t>实物抵押</a:t>
            </a:r>
          </a:p>
        </p:txBody>
      </p:sp>
      <p:sp>
        <p:nvSpPr>
          <p:cNvPr id="40" name="TextBox 30"/>
          <p:cNvSpPr txBox="1"/>
          <p:nvPr/>
        </p:nvSpPr>
        <p:spPr>
          <a:xfrm>
            <a:off x="3696970" y="3793490"/>
            <a:ext cx="1776095" cy="1292225"/>
          </a:xfrm>
          <a:prstGeom prst="rect">
            <a:avLst/>
          </a:prstGeom>
          <a:noFill/>
        </p:spPr>
        <p:txBody>
          <a:bodyPr wrap="square" lIns="0" tIns="0" rIns="0" bIns="0" rtlCol="0">
            <a:spAutoFit/>
          </a:bodyPr>
          <a:lstStyle/>
          <a:p>
            <a:pPr defTabSz="1218565"/>
            <a:r>
              <a:rPr lang="zh-CN" altLang="en-US" sz="2800" b="1" dirty="0">
                <a:solidFill>
                  <a:prstClr val="white"/>
                </a:solidFill>
                <a:latin typeface="微软雅黑" panose="020B0503020204020204" pitchFamily="34" charset="-122"/>
                <a:ea typeface="微软雅黑" panose="020B0503020204020204" pitchFamily="34" charset="-122"/>
              </a:rPr>
              <a:t>资金实</a:t>
            </a:r>
          </a:p>
          <a:p>
            <a:pPr defTabSz="1218565"/>
            <a:r>
              <a:rPr lang="zh-CN" altLang="en-US" sz="2800" b="1" dirty="0">
                <a:solidFill>
                  <a:prstClr val="white"/>
                </a:solidFill>
                <a:latin typeface="微软雅黑" panose="020B0503020204020204" pitchFamily="34" charset="-122"/>
                <a:ea typeface="微软雅黑" panose="020B0503020204020204" pitchFamily="34" charset="-122"/>
              </a:rPr>
              <a:t>力强ICP</a:t>
            </a:r>
          </a:p>
          <a:p>
            <a:pPr defTabSz="1218565"/>
            <a:r>
              <a:rPr lang="zh-CN" altLang="en-US" sz="2800" b="1" dirty="0">
                <a:solidFill>
                  <a:prstClr val="white"/>
                </a:solidFill>
                <a:latin typeface="微软雅黑" panose="020B0503020204020204" pitchFamily="34" charset="-122"/>
                <a:ea typeface="微软雅黑" panose="020B0503020204020204" pitchFamily="34" charset="-122"/>
              </a:rPr>
              <a:t>备案</a:t>
            </a:r>
          </a:p>
        </p:txBody>
      </p:sp>
      <p:sp>
        <p:nvSpPr>
          <p:cNvPr id="8" name="TextBox 24"/>
          <p:cNvSpPr txBox="1"/>
          <p:nvPr/>
        </p:nvSpPr>
        <p:spPr>
          <a:xfrm>
            <a:off x="3696970" y="5603240"/>
            <a:ext cx="5020945" cy="725805"/>
          </a:xfrm>
          <a:prstGeom prst="rect">
            <a:avLst/>
          </a:prstGeom>
          <a:solidFill>
            <a:srgbClr val="383F4E"/>
          </a:solidFill>
        </p:spPr>
        <p:txBody>
          <a:bodyPr wrap="none" rtlCol="0" anchor="ctr">
            <a:no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三大“安全阀”保障投资人利益</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up)">
                                      <p:cBhvr>
                                        <p:cTn id="10" dur="500"/>
                                        <p:tgtEl>
                                          <p:spTgt spid="21"/>
                                        </p:tgtEl>
                                      </p:cBhvr>
                                    </p:animEffect>
                                  </p:childTnLst>
                                </p:cTn>
                              </p:par>
                            </p:childTnLst>
                          </p:cTn>
                        </p:par>
                        <p:par>
                          <p:cTn id="11" fill="hold">
                            <p:stCondLst>
                              <p:cond delay="500"/>
                            </p:stCondLst>
                            <p:childTnLst>
                              <p:par>
                                <p:cTn id="12" presetID="23" presetClass="entr" presetSubtype="32" fill="hold" grpId="0" nodeType="after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p:cTn id="14" dur="500" fill="hold"/>
                                        <p:tgtEl>
                                          <p:spTgt spid="29"/>
                                        </p:tgtEl>
                                        <p:attrNameLst>
                                          <p:attrName>ppt_w</p:attrName>
                                        </p:attrNameLst>
                                      </p:cBhvr>
                                      <p:tavLst>
                                        <p:tav tm="0">
                                          <p:val>
                                            <p:strVal val="4*#ppt_w"/>
                                          </p:val>
                                        </p:tav>
                                        <p:tav tm="100000">
                                          <p:val>
                                            <p:strVal val="#ppt_w"/>
                                          </p:val>
                                        </p:tav>
                                      </p:tavLst>
                                    </p:anim>
                                    <p:anim calcmode="lin" valueType="num">
                                      <p:cBhvr>
                                        <p:cTn id="15" dur="500" fill="hold"/>
                                        <p:tgtEl>
                                          <p:spTgt spid="29"/>
                                        </p:tgtEl>
                                        <p:attrNameLst>
                                          <p:attrName>ppt_h</p:attrName>
                                        </p:attrNameLst>
                                      </p:cBhvr>
                                      <p:tavLst>
                                        <p:tav tm="0">
                                          <p:val>
                                            <p:strVal val="4*#ppt_h"/>
                                          </p:val>
                                        </p:tav>
                                        <p:tav tm="100000">
                                          <p:val>
                                            <p:strVal val="#ppt_h"/>
                                          </p:val>
                                        </p:tav>
                                      </p:tavLst>
                                    </p:anim>
                                  </p:childTnLst>
                                </p:cTn>
                              </p:par>
                              <p:par>
                                <p:cTn id="16" presetID="23" presetClass="entr" presetSubtype="32" fill="hold" grpId="0" nodeType="withEffect">
                                  <p:stCondLst>
                                    <p:cond delay="200"/>
                                  </p:stCondLst>
                                  <p:childTnLst>
                                    <p:set>
                                      <p:cBhvr>
                                        <p:cTn id="17" dur="1" fill="hold">
                                          <p:stCondLst>
                                            <p:cond delay="0"/>
                                          </p:stCondLst>
                                        </p:cTn>
                                        <p:tgtEl>
                                          <p:spTgt spid="35"/>
                                        </p:tgtEl>
                                        <p:attrNameLst>
                                          <p:attrName>style.visibility</p:attrName>
                                        </p:attrNameLst>
                                      </p:cBhvr>
                                      <p:to>
                                        <p:strVal val="visible"/>
                                      </p:to>
                                    </p:set>
                                    <p:anim calcmode="lin" valueType="num">
                                      <p:cBhvr>
                                        <p:cTn id="18" dur="500" fill="hold"/>
                                        <p:tgtEl>
                                          <p:spTgt spid="35"/>
                                        </p:tgtEl>
                                        <p:attrNameLst>
                                          <p:attrName>ppt_w</p:attrName>
                                        </p:attrNameLst>
                                      </p:cBhvr>
                                      <p:tavLst>
                                        <p:tav tm="0">
                                          <p:val>
                                            <p:strVal val="4*#ppt_w"/>
                                          </p:val>
                                        </p:tav>
                                        <p:tav tm="100000">
                                          <p:val>
                                            <p:strVal val="#ppt_w"/>
                                          </p:val>
                                        </p:tav>
                                      </p:tavLst>
                                    </p:anim>
                                    <p:anim calcmode="lin" valueType="num">
                                      <p:cBhvr>
                                        <p:cTn id="19" dur="500" fill="hold"/>
                                        <p:tgtEl>
                                          <p:spTgt spid="35"/>
                                        </p:tgtEl>
                                        <p:attrNameLst>
                                          <p:attrName>ppt_h</p:attrName>
                                        </p:attrNameLst>
                                      </p:cBhvr>
                                      <p:tavLst>
                                        <p:tav tm="0">
                                          <p:val>
                                            <p:strVal val="4*#ppt_h"/>
                                          </p:val>
                                        </p:tav>
                                        <p:tav tm="100000">
                                          <p:val>
                                            <p:strVal val="#ppt_h"/>
                                          </p:val>
                                        </p:tav>
                                      </p:tavLst>
                                    </p:anim>
                                  </p:childTnLst>
                                </p:cTn>
                              </p:par>
                              <p:par>
                                <p:cTn id="20" presetID="23" presetClass="entr" presetSubtype="32" fill="hold" grpId="0" nodeType="withEffect">
                                  <p:stCondLst>
                                    <p:cond delay="400"/>
                                  </p:stCondLs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ppt_w</p:attrName>
                                        </p:attrNameLst>
                                      </p:cBhvr>
                                      <p:tavLst>
                                        <p:tav tm="0">
                                          <p:val>
                                            <p:strVal val="4*#ppt_w"/>
                                          </p:val>
                                        </p:tav>
                                        <p:tav tm="100000">
                                          <p:val>
                                            <p:strVal val="#ppt_w"/>
                                          </p:val>
                                        </p:tav>
                                      </p:tavLst>
                                    </p:anim>
                                    <p:anim calcmode="lin" valueType="num">
                                      <p:cBhvr>
                                        <p:cTn id="23" dur="500" fill="hold"/>
                                        <p:tgtEl>
                                          <p:spTgt spid="32"/>
                                        </p:tgtEl>
                                        <p:attrNameLst>
                                          <p:attrName>ppt_h</p:attrName>
                                        </p:attrNameLst>
                                      </p:cBhvr>
                                      <p:tavLst>
                                        <p:tav tm="0">
                                          <p:val>
                                            <p:strVal val="4*#ppt_h"/>
                                          </p:val>
                                        </p:tav>
                                        <p:tav tm="100000">
                                          <p:val>
                                            <p:strVal val="#ppt_h"/>
                                          </p:val>
                                        </p:tav>
                                      </p:tavLst>
                                    </p:anim>
                                  </p:childTnLst>
                                </p:cTn>
                              </p:par>
                            </p:childTnLst>
                          </p:cTn>
                        </p:par>
                        <p:par>
                          <p:cTn id="24" fill="hold">
                            <p:stCondLst>
                              <p:cond delay="1000"/>
                            </p:stCondLst>
                            <p:childTnLst>
                              <p:par>
                                <p:cTn id="25" presetID="22" presetClass="entr" presetSubtype="2"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right)">
                                      <p:cBhvr>
                                        <p:cTn id="27" dur="500"/>
                                        <p:tgtEl>
                                          <p:spTgt spid="20"/>
                                        </p:tgtEl>
                                      </p:cBhvr>
                                    </p:animEffect>
                                  </p:childTnLst>
                                </p:cTn>
                              </p:par>
                            </p:childTnLst>
                          </p:cTn>
                        </p:par>
                        <p:par>
                          <p:cTn id="28" fill="hold">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p:cTn id="31" dur="500" fill="hold"/>
                                        <p:tgtEl>
                                          <p:spTgt spid="38"/>
                                        </p:tgtEl>
                                        <p:attrNameLst>
                                          <p:attrName>ppt_w</p:attrName>
                                        </p:attrNameLst>
                                      </p:cBhvr>
                                      <p:tavLst>
                                        <p:tav tm="0">
                                          <p:val>
                                            <p:fltVal val="0"/>
                                          </p:val>
                                        </p:tav>
                                        <p:tav tm="100000">
                                          <p:val>
                                            <p:strVal val="#ppt_w"/>
                                          </p:val>
                                        </p:tav>
                                      </p:tavLst>
                                    </p:anim>
                                    <p:anim calcmode="lin" valueType="num">
                                      <p:cBhvr>
                                        <p:cTn id="32" dur="500" fill="hold"/>
                                        <p:tgtEl>
                                          <p:spTgt spid="38"/>
                                        </p:tgtEl>
                                        <p:attrNameLst>
                                          <p:attrName>ppt_h</p:attrName>
                                        </p:attrNameLst>
                                      </p:cBhvr>
                                      <p:tavLst>
                                        <p:tav tm="0">
                                          <p:val>
                                            <p:fltVal val="0"/>
                                          </p:val>
                                        </p:tav>
                                        <p:tav tm="100000">
                                          <p:val>
                                            <p:strVal val="#ppt_h"/>
                                          </p:val>
                                        </p:tav>
                                      </p:tavLst>
                                    </p:anim>
                                    <p:animEffect transition="in" filter="fade">
                                      <p:cBhvr>
                                        <p:cTn id="33" dur="500"/>
                                        <p:tgtEl>
                                          <p:spTgt spid="3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 calcmode="lin" valueType="num">
                                      <p:cBhvr>
                                        <p:cTn id="36" dur="500" fill="hold"/>
                                        <p:tgtEl>
                                          <p:spTgt spid="28"/>
                                        </p:tgtEl>
                                        <p:attrNameLst>
                                          <p:attrName>ppt_w</p:attrName>
                                        </p:attrNameLst>
                                      </p:cBhvr>
                                      <p:tavLst>
                                        <p:tav tm="0">
                                          <p:val>
                                            <p:fltVal val="0"/>
                                          </p:val>
                                        </p:tav>
                                        <p:tav tm="100000">
                                          <p:val>
                                            <p:strVal val="#ppt_w"/>
                                          </p:val>
                                        </p:tav>
                                      </p:tavLst>
                                    </p:anim>
                                    <p:anim calcmode="lin" valueType="num">
                                      <p:cBhvr>
                                        <p:cTn id="37" dur="500" fill="hold"/>
                                        <p:tgtEl>
                                          <p:spTgt spid="28"/>
                                        </p:tgtEl>
                                        <p:attrNameLst>
                                          <p:attrName>ppt_h</p:attrName>
                                        </p:attrNameLst>
                                      </p:cBhvr>
                                      <p:tavLst>
                                        <p:tav tm="0">
                                          <p:val>
                                            <p:fltVal val="0"/>
                                          </p:val>
                                        </p:tav>
                                        <p:tav tm="100000">
                                          <p:val>
                                            <p:strVal val="#ppt_h"/>
                                          </p:val>
                                        </p:tav>
                                      </p:tavLst>
                                    </p:anim>
                                    <p:animEffect transition="in" filter="fade">
                                      <p:cBhvr>
                                        <p:cTn id="38" dur="500"/>
                                        <p:tgtEl>
                                          <p:spTgt spid="28"/>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left)">
                                      <p:cBhvr>
                                        <p:cTn id="42" dur="500"/>
                                        <p:tgtEl>
                                          <p:spTgt spid="33"/>
                                        </p:tgtEl>
                                      </p:cBhvr>
                                    </p:animEffect>
                                  </p:childTnLst>
                                </p:cTn>
                              </p:par>
                            </p:childTnLst>
                          </p:cTn>
                        </p:par>
                        <p:par>
                          <p:cTn id="43" fill="hold">
                            <p:stCondLst>
                              <p:cond delay="2500"/>
                            </p:stCondLst>
                            <p:childTnLst>
                              <p:par>
                                <p:cTn id="44" presetID="53" presetClass="entr" presetSubtype="16" fill="hold" grpId="0" nodeType="afterEffect">
                                  <p:stCondLst>
                                    <p:cond delay="0"/>
                                  </p:stCondLst>
                                  <p:childTnLst>
                                    <p:set>
                                      <p:cBhvr>
                                        <p:cTn id="45" dur="1" fill="hold">
                                          <p:stCondLst>
                                            <p:cond delay="0"/>
                                          </p:stCondLst>
                                        </p:cTn>
                                        <p:tgtEl>
                                          <p:spTgt spid="39"/>
                                        </p:tgtEl>
                                        <p:attrNameLst>
                                          <p:attrName>style.visibility</p:attrName>
                                        </p:attrNameLst>
                                      </p:cBhvr>
                                      <p:to>
                                        <p:strVal val="visible"/>
                                      </p:to>
                                    </p:set>
                                    <p:anim calcmode="lin" valueType="num">
                                      <p:cBhvr>
                                        <p:cTn id="46" dur="500" fill="hold"/>
                                        <p:tgtEl>
                                          <p:spTgt spid="39"/>
                                        </p:tgtEl>
                                        <p:attrNameLst>
                                          <p:attrName>ppt_w</p:attrName>
                                        </p:attrNameLst>
                                      </p:cBhvr>
                                      <p:tavLst>
                                        <p:tav tm="0">
                                          <p:val>
                                            <p:fltVal val="0"/>
                                          </p:val>
                                        </p:tav>
                                        <p:tav tm="100000">
                                          <p:val>
                                            <p:strVal val="#ppt_w"/>
                                          </p:val>
                                        </p:tav>
                                      </p:tavLst>
                                    </p:anim>
                                    <p:anim calcmode="lin" valueType="num">
                                      <p:cBhvr>
                                        <p:cTn id="47" dur="500" fill="hold"/>
                                        <p:tgtEl>
                                          <p:spTgt spid="39"/>
                                        </p:tgtEl>
                                        <p:attrNameLst>
                                          <p:attrName>ppt_h</p:attrName>
                                        </p:attrNameLst>
                                      </p:cBhvr>
                                      <p:tavLst>
                                        <p:tav tm="0">
                                          <p:val>
                                            <p:fltVal val="0"/>
                                          </p:val>
                                        </p:tav>
                                        <p:tav tm="100000">
                                          <p:val>
                                            <p:strVal val="#ppt_h"/>
                                          </p:val>
                                        </p:tav>
                                      </p:tavLst>
                                    </p:anim>
                                    <p:animEffect transition="in" filter="fade">
                                      <p:cBhvr>
                                        <p:cTn id="48" dur="500"/>
                                        <p:tgtEl>
                                          <p:spTgt spid="39"/>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p:cTn id="51" dur="500" fill="hold"/>
                                        <p:tgtEl>
                                          <p:spTgt spid="34"/>
                                        </p:tgtEl>
                                        <p:attrNameLst>
                                          <p:attrName>ppt_w</p:attrName>
                                        </p:attrNameLst>
                                      </p:cBhvr>
                                      <p:tavLst>
                                        <p:tav tm="0">
                                          <p:val>
                                            <p:fltVal val="0"/>
                                          </p:val>
                                        </p:tav>
                                        <p:tav tm="100000">
                                          <p:val>
                                            <p:strVal val="#ppt_w"/>
                                          </p:val>
                                        </p:tav>
                                      </p:tavLst>
                                    </p:anim>
                                    <p:anim calcmode="lin" valueType="num">
                                      <p:cBhvr>
                                        <p:cTn id="52" dur="500" fill="hold"/>
                                        <p:tgtEl>
                                          <p:spTgt spid="34"/>
                                        </p:tgtEl>
                                        <p:attrNameLst>
                                          <p:attrName>ppt_h</p:attrName>
                                        </p:attrNameLst>
                                      </p:cBhvr>
                                      <p:tavLst>
                                        <p:tav tm="0">
                                          <p:val>
                                            <p:fltVal val="0"/>
                                          </p:val>
                                        </p:tav>
                                        <p:tav tm="100000">
                                          <p:val>
                                            <p:strVal val="#ppt_h"/>
                                          </p:val>
                                        </p:tav>
                                      </p:tavLst>
                                    </p:anim>
                                    <p:animEffect transition="in" filter="fade">
                                      <p:cBhvr>
                                        <p:cTn id="53" dur="500"/>
                                        <p:tgtEl>
                                          <p:spTgt spid="34"/>
                                        </p:tgtEl>
                                      </p:cBhvr>
                                    </p:animEffect>
                                  </p:childTnLst>
                                </p:cTn>
                              </p:par>
                            </p:childTnLst>
                          </p:cTn>
                        </p:par>
                        <p:par>
                          <p:cTn id="54" fill="hold">
                            <p:stCondLst>
                              <p:cond delay="3000"/>
                            </p:stCondLst>
                            <p:childTnLst>
                              <p:par>
                                <p:cTn id="55" presetID="22" presetClass="entr" presetSubtype="2" fill="hold" grpId="0" nodeType="after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right)">
                                      <p:cBhvr>
                                        <p:cTn id="57" dur="500"/>
                                        <p:tgtEl>
                                          <p:spTgt spid="30"/>
                                        </p:tgtEl>
                                      </p:cBhvr>
                                    </p:animEffect>
                                  </p:childTnLst>
                                </p:cTn>
                              </p:par>
                            </p:childTnLst>
                          </p:cTn>
                        </p:par>
                        <p:par>
                          <p:cTn id="58" fill="hold">
                            <p:stCondLst>
                              <p:cond delay="3500"/>
                            </p:stCondLst>
                            <p:childTnLst>
                              <p:par>
                                <p:cTn id="59" presetID="53" presetClass="entr" presetSubtype="16" fill="hold" grpId="0" nodeType="afterEffect">
                                  <p:stCondLst>
                                    <p:cond delay="0"/>
                                  </p:stCondLst>
                                  <p:childTnLst>
                                    <p:set>
                                      <p:cBhvr>
                                        <p:cTn id="60" dur="1" fill="hold">
                                          <p:stCondLst>
                                            <p:cond delay="0"/>
                                          </p:stCondLst>
                                        </p:cTn>
                                        <p:tgtEl>
                                          <p:spTgt spid="40"/>
                                        </p:tgtEl>
                                        <p:attrNameLst>
                                          <p:attrName>style.visibility</p:attrName>
                                        </p:attrNameLst>
                                      </p:cBhvr>
                                      <p:to>
                                        <p:strVal val="visible"/>
                                      </p:to>
                                    </p:set>
                                    <p:anim calcmode="lin" valueType="num">
                                      <p:cBhvr>
                                        <p:cTn id="61" dur="500" fill="hold"/>
                                        <p:tgtEl>
                                          <p:spTgt spid="40"/>
                                        </p:tgtEl>
                                        <p:attrNameLst>
                                          <p:attrName>ppt_w</p:attrName>
                                        </p:attrNameLst>
                                      </p:cBhvr>
                                      <p:tavLst>
                                        <p:tav tm="0">
                                          <p:val>
                                            <p:fltVal val="0"/>
                                          </p:val>
                                        </p:tav>
                                        <p:tav tm="100000">
                                          <p:val>
                                            <p:strVal val="#ppt_w"/>
                                          </p:val>
                                        </p:tav>
                                      </p:tavLst>
                                    </p:anim>
                                    <p:anim calcmode="lin" valueType="num">
                                      <p:cBhvr>
                                        <p:cTn id="62" dur="500" fill="hold"/>
                                        <p:tgtEl>
                                          <p:spTgt spid="40"/>
                                        </p:tgtEl>
                                        <p:attrNameLst>
                                          <p:attrName>ppt_h</p:attrName>
                                        </p:attrNameLst>
                                      </p:cBhvr>
                                      <p:tavLst>
                                        <p:tav tm="0">
                                          <p:val>
                                            <p:fltVal val="0"/>
                                          </p:val>
                                        </p:tav>
                                        <p:tav tm="100000">
                                          <p:val>
                                            <p:strVal val="#ppt_h"/>
                                          </p:val>
                                        </p:tav>
                                      </p:tavLst>
                                    </p:anim>
                                    <p:animEffect transition="in" filter="fade">
                                      <p:cBhvr>
                                        <p:cTn id="63" dur="500"/>
                                        <p:tgtEl>
                                          <p:spTgt spid="40"/>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p:cTn id="66" dur="500" fill="hold"/>
                                        <p:tgtEl>
                                          <p:spTgt spid="31"/>
                                        </p:tgtEl>
                                        <p:attrNameLst>
                                          <p:attrName>ppt_w</p:attrName>
                                        </p:attrNameLst>
                                      </p:cBhvr>
                                      <p:tavLst>
                                        <p:tav tm="0">
                                          <p:val>
                                            <p:fltVal val="0"/>
                                          </p:val>
                                        </p:tav>
                                        <p:tav tm="100000">
                                          <p:val>
                                            <p:strVal val="#ppt_w"/>
                                          </p:val>
                                        </p:tav>
                                      </p:tavLst>
                                    </p:anim>
                                    <p:anim calcmode="lin" valueType="num">
                                      <p:cBhvr>
                                        <p:cTn id="67" dur="500" fill="hold"/>
                                        <p:tgtEl>
                                          <p:spTgt spid="31"/>
                                        </p:tgtEl>
                                        <p:attrNameLst>
                                          <p:attrName>ppt_h</p:attrName>
                                        </p:attrNameLst>
                                      </p:cBhvr>
                                      <p:tavLst>
                                        <p:tav tm="0">
                                          <p:val>
                                            <p:fltVal val="0"/>
                                          </p:val>
                                        </p:tav>
                                        <p:tav tm="100000">
                                          <p:val>
                                            <p:strVal val="#ppt_h"/>
                                          </p:val>
                                        </p:tav>
                                      </p:tavLst>
                                    </p:anim>
                                    <p:animEffect transition="in" filter="fade">
                                      <p:cBhvr>
                                        <p:cTn id="6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8" grpId="0"/>
      <p:bldP spid="39" grpId="0"/>
      <p:bldP spid="40" grpId="0"/>
      <p:bldP spid="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a:xfrm>
            <a:off x="1557041" y="409086"/>
            <a:ext cx="33832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sym typeface="经典特宋简" pitchFamily="1" charset="-122"/>
              </a:rPr>
              <a:t>合拍发展四原则</a:t>
            </a:r>
          </a:p>
        </p:txBody>
      </p:sp>
      <p:sp>
        <p:nvSpPr>
          <p:cNvPr id="2" name="AutoShape 2" descr="image.jpg"/>
          <p:cNvSpPr/>
          <p:nvPr/>
        </p:nvSpPr>
        <p:spPr bwMode="auto">
          <a:xfrm>
            <a:off x="850900" y="2259693"/>
            <a:ext cx="5249863" cy="3468688"/>
          </a:xfrm>
          <a:custGeom>
            <a:avLst/>
            <a:gdLst>
              <a:gd name="T0" fmla="*/ 5249863 w 21600"/>
              <a:gd name="T1" fmla="*/ 3468688 h 21600"/>
              <a:gd name="T2" fmla="*/ 5249863 w 21600"/>
              <a:gd name="T3" fmla="*/ 3468688 h 21600"/>
              <a:gd name="T4" fmla="*/ 5249863 w 21600"/>
              <a:gd name="T5" fmla="*/ 3468688 h 21600"/>
              <a:gd name="T6" fmla="*/ 5249863 w 21600"/>
              <a:gd name="T7" fmla="*/ 346868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599"/>
                </a:moveTo>
                <a:lnTo>
                  <a:pt x="0" y="0"/>
                </a:lnTo>
                <a:lnTo>
                  <a:pt x="21600" y="0"/>
                </a:lnTo>
                <a:lnTo>
                  <a:pt x="21600" y="21599"/>
                </a:lnTo>
                <a:lnTo>
                  <a:pt x="0" y="21599"/>
                </a:lnTo>
                <a:close/>
              </a:path>
            </a:pathLst>
          </a:custGeom>
          <a:blipFill dpi="0" rotWithShape="0">
            <a:blip r:embed="rId3"/>
            <a:srcRect/>
            <a:tile tx="0" ty="0" sx="100000" sy="100000" flip="none" algn="ctr"/>
          </a:blip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zh-CN" altLang="en-US" sz="25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ea"/>
              <a:sym typeface="+mn-lt"/>
            </a:endParaRPr>
          </a:p>
        </p:txBody>
      </p:sp>
      <p:sp>
        <p:nvSpPr>
          <p:cNvPr id="3" name="AutoShape 9"/>
          <p:cNvSpPr/>
          <p:nvPr/>
        </p:nvSpPr>
        <p:spPr bwMode="auto">
          <a:xfrm>
            <a:off x="851694" y="1945368"/>
            <a:ext cx="5247481" cy="3175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0" y="0"/>
                </a:lnTo>
                <a:lnTo>
                  <a:pt x="21599" y="0"/>
                </a:lnTo>
                <a:lnTo>
                  <a:pt x="21599" y="21600"/>
                </a:lnTo>
                <a:lnTo>
                  <a:pt x="0" y="21600"/>
                </a:lnTo>
                <a:close/>
              </a:path>
            </a:pathLst>
          </a:custGeom>
          <a:solidFill>
            <a:srgbClr val="E8432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a:ln>
                <a:noFill/>
              </a:ln>
              <a:solidFill>
                <a:srgbClr val="FFFFFF"/>
              </a:solidFill>
              <a:effectLst/>
              <a:uLnTx/>
              <a:uFillTx/>
              <a:latin typeface="Calibri" panose="020F0502020204030204"/>
              <a:ea typeface="+mn-ea"/>
              <a:cs typeface="+mn-cs"/>
              <a:sym typeface="+mn-lt"/>
            </a:endParaRPr>
          </a:p>
        </p:txBody>
      </p:sp>
      <p:sp>
        <p:nvSpPr>
          <p:cNvPr id="4" name="AutoShape 10"/>
          <p:cNvSpPr/>
          <p:nvPr/>
        </p:nvSpPr>
        <p:spPr bwMode="auto">
          <a:xfrm>
            <a:off x="1049338" y="2009662"/>
            <a:ext cx="4799807" cy="1905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0" tIns="0" rIns="0" bIns="0" anchor="b"/>
          <a:lstStyle/>
          <a:p>
            <a:pPr marL="0" marR="0" lvl="0" indent="0" algn="l" defTabSz="323850" rtl="0" eaLnBrk="1" fontAlgn="base" latinLnBrk="0" hangingPunct="0">
              <a:lnSpc>
                <a:spcPct val="100000"/>
              </a:lnSpc>
              <a:spcBef>
                <a:spcPts val="850"/>
              </a:spcBef>
              <a:spcAft>
                <a:spcPct val="0"/>
              </a:spcAft>
              <a:buClrTx/>
              <a:buSzTx/>
              <a:buFontTx/>
              <a:buNone/>
              <a:defRPr/>
            </a:pPr>
            <a:r>
              <a:rPr kumimoji="0" lang="es-ES" sz="1400" b="1" i="0" u="none" strike="noStrike" kern="1200" cap="none" spc="0" normalizeH="0" baseline="0" noProof="0">
                <a:ln>
                  <a:noFill/>
                </a:ln>
                <a:solidFill>
                  <a:srgbClr val="FFFFFF"/>
                </a:solidFill>
                <a:effectLst/>
                <a:uLnTx/>
                <a:uFillTx/>
                <a:latin typeface="Calibri" panose="020F0502020204030204"/>
                <a:ea typeface="+mn-ea"/>
                <a:cs typeface="+mn-cs"/>
                <a:sym typeface="+mn-lt"/>
              </a:rPr>
              <a:t>BEAUTY ILLUSTRATION</a:t>
            </a:r>
            <a:endParaRPr kumimoji="0" lang="es-ES" sz="2800" b="0" i="0" u="none" strike="noStrike" kern="1200" cap="none" spc="0" normalizeH="0" baseline="0" noProof="0">
              <a:ln>
                <a:noFill/>
              </a:ln>
              <a:solidFill>
                <a:srgbClr val="000000"/>
              </a:solidFill>
              <a:effectLst/>
              <a:uLnTx/>
              <a:uFillTx/>
              <a:latin typeface="Calibri" panose="020F0502020204030204"/>
              <a:ea typeface="+mn-ea"/>
              <a:cs typeface="+mn-cs"/>
              <a:sym typeface="+mn-lt"/>
            </a:endParaRPr>
          </a:p>
        </p:txBody>
      </p:sp>
      <p:sp>
        <p:nvSpPr>
          <p:cNvPr id="35" name="AutoShape 13"/>
          <p:cNvSpPr/>
          <p:nvPr/>
        </p:nvSpPr>
        <p:spPr bwMode="auto">
          <a:xfrm>
            <a:off x="6306185" y="1945640"/>
            <a:ext cx="607695" cy="641350"/>
          </a:xfrm>
          <a:prstGeom prst="roundRect">
            <a:avLst>
              <a:gd name="adj" fmla="val 20667"/>
            </a:avLst>
          </a:prstGeom>
          <a:solidFill>
            <a:srgbClr val="383F4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r>
              <a:rPr kumimoji="0" lang="en-US" altLang="es-ES" sz="1600" b="1" i="0" u="none" strike="noStrike" kern="1200" cap="none" spc="0" normalizeH="0" baseline="0" noProof="0">
                <a:ln>
                  <a:noFill/>
                </a:ln>
                <a:solidFill>
                  <a:srgbClr val="FFFFFF"/>
                </a:solidFill>
                <a:effectLst/>
                <a:uLnTx/>
                <a:uFillTx/>
                <a:latin typeface="Calibri" panose="020F0502020204030204"/>
                <a:ea typeface="+mn-ea"/>
                <a:cs typeface="+mn-cs"/>
                <a:sym typeface="+mn-lt"/>
              </a:rPr>
              <a:t>01</a:t>
            </a:r>
          </a:p>
        </p:txBody>
      </p:sp>
      <p:sp>
        <p:nvSpPr>
          <p:cNvPr id="39" name="AutoShape 15"/>
          <p:cNvSpPr/>
          <p:nvPr/>
        </p:nvSpPr>
        <p:spPr bwMode="auto">
          <a:xfrm>
            <a:off x="7108032" y="1978706"/>
            <a:ext cx="2349500" cy="1905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100000"/>
              </a:lnSpc>
              <a:spcBef>
                <a:spcPts val="850"/>
              </a:spcBef>
              <a:spcAft>
                <a:spcPct val="0"/>
              </a:spcAft>
              <a:buClrTx/>
              <a:buSzTx/>
              <a:buFontTx/>
              <a:buNone/>
              <a:defRPr/>
            </a:pPr>
            <a:r>
              <a:rPr kumimoji="0" lang="zh-CN" altLang="es-ES" b="1" i="0" u="none" strike="noStrike" kern="1200" cap="none" spc="0" normalizeH="0" baseline="0" noProof="0" dirty="0">
                <a:ln>
                  <a:noFill/>
                </a:ln>
                <a:solidFill>
                  <a:srgbClr val="383F4E"/>
                </a:solidFill>
                <a:effectLst/>
                <a:uLnTx/>
                <a:uFillTx/>
                <a:latin typeface="微软雅黑" panose="020B0503020204020204" pitchFamily="34" charset="-122"/>
                <a:ea typeface="微软雅黑" panose="020B0503020204020204" pitchFamily="34" charset="-122"/>
                <a:cs typeface="+mn-cs"/>
                <a:sym typeface="+mn-lt"/>
              </a:rPr>
              <a:t>不设资金池</a:t>
            </a:r>
          </a:p>
        </p:txBody>
      </p:sp>
      <p:sp>
        <p:nvSpPr>
          <p:cNvPr id="40" name="AutoShape 16"/>
          <p:cNvSpPr/>
          <p:nvPr/>
        </p:nvSpPr>
        <p:spPr bwMode="auto">
          <a:xfrm>
            <a:off x="7120097" y="2319066"/>
            <a:ext cx="4224338" cy="47545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80000"/>
              </a:lnSpc>
              <a:spcBef>
                <a:spcPts val="850"/>
              </a:spcBef>
              <a:spcAft>
                <a:spcPct val="0"/>
              </a:spcAft>
              <a:buClrTx/>
              <a:buSzTx/>
              <a:buFontTx/>
              <a:buNone/>
              <a:defRPr/>
            </a:pPr>
            <a:r>
              <a:rPr kumimoji="0" lang="es-ES" sz="12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sym typeface="+mn-lt"/>
              </a:rPr>
              <a:t>不非法吸收公众资金，纯粹为投融资人服务的中介信息平台</a:t>
            </a:r>
          </a:p>
        </p:txBody>
      </p:sp>
      <p:sp>
        <p:nvSpPr>
          <p:cNvPr id="41" name="AutoShape 17"/>
          <p:cNvSpPr/>
          <p:nvPr/>
        </p:nvSpPr>
        <p:spPr bwMode="auto">
          <a:xfrm>
            <a:off x="6306344" y="3022487"/>
            <a:ext cx="594519" cy="593725"/>
          </a:xfrm>
          <a:prstGeom prst="roundRect">
            <a:avLst>
              <a:gd name="adj" fmla="val 20667"/>
            </a:avLst>
          </a:prstGeom>
          <a:solidFill>
            <a:srgbClr val="E8432E"/>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a:ln>
                <a:noFill/>
              </a:ln>
              <a:solidFill>
                <a:srgbClr val="FFFFFF"/>
              </a:solidFill>
              <a:effectLst/>
              <a:uLnTx/>
              <a:uFillTx/>
              <a:latin typeface="Calibri" panose="020F0502020204030204"/>
              <a:ea typeface="+mn-ea"/>
              <a:cs typeface="+mn-cs"/>
              <a:sym typeface="+mn-lt"/>
            </a:endParaRPr>
          </a:p>
        </p:txBody>
      </p:sp>
      <p:sp>
        <p:nvSpPr>
          <p:cNvPr id="42" name="AutoShape 18"/>
          <p:cNvSpPr/>
          <p:nvPr/>
        </p:nvSpPr>
        <p:spPr bwMode="auto">
          <a:xfrm>
            <a:off x="6375400" y="3156630"/>
            <a:ext cx="451644" cy="3254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lIns="35719" tIns="35719" rIns="35719" bIns="35719" anchor="b"/>
          <a:lstStyle>
            <a:lvl1pPr eaLnBrk="0">
              <a:defRPr sz="5000">
                <a:solidFill>
                  <a:srgbClr val="000000"/>
                </a:solidFill>
                <a:latin typeface="Helvetica Light" charset="0"/>
                <a:ea typeface="MS PGothic" panose="020B0600070205080204" pitchFamily="34" charset="-128"/>
                <a:sym typeface="Helvetica Light" charset="0"/>
              </a:defRPr>
            </a:lvl1pPr>
            <a:lvl2pPr marL="742950" indent="-285750" eaLnBrk="0">
              <a:defRPr sz="5000">
                <a:solidFill>
                  <a:srgbClr val="000000"/>
                </a:solidFill>
                <a:latin typeface="Helvetica Light" charset="0"/>
                <a:ea typeface="MS PGothic" panose="020B0600070205080204" pitchFamily="34" charset="-128"/>
                <a:sym typeface="Helvetica Light" charset="0"/>
              </a:defRPr>
            </a:lvl2pPr>
            <a:lvl3pPr marL="1143000" indent="-228600" eaLnBrk="0">
              <a:defRPr sz="5000">
                <a:solidFill>
                  <a:srgbClr val="000000"/>
                </a:solidFill>
                <a:latin typeface="Helvetica Light" charset="0"/>
                <a:ea typeface="MS PGothic" panose="020B0600070205080204" pitchFamily="34" charset="-128"/>
                <a:sym typeface="Helvetica Light" charset="0"/>
              </a:defRPr>
            </a:lvl3pPr>
            <a:lvl4pPr marL="1600200" indent="-228600" eaLnBrk="0">
              <a:defRPr sz="5000">
                <a:solidFill>
                  <a:srgbClr val="000000"/>
                </a:solidFill>
                <a:latin typeface="Helvetica Light" charset="0"/>
                <a:ea typeface="MS PGothic" panose="020B0600070205080204" pitchFamily="34" charset="-128"/>
                <a:sym typeface="Helvetica Light" charset="0"/>
              </a:defRPr>
            </a:lvl4pPr>
            <a:lvl5pPr marL="2057400" indent="-228600" eaLnBrk="0">
              <a:defRPr sz="5000">
                <a:solidFill>
                  <a:srgbClr val="000000"/>
                </a:solidFill>
                <a:latin typeface="Helvetica Light" charset="0"/>
                <a:ea typeface="MS PGothic" panose="020B0600070205080204" pitchFamily="34" charset="-128"/>
                <a:sym typeface="Helvetica Light" charset="0"/>
              </a:defRPr>
            </a:lvl5pPr>
            <a:lvl6pPr marL="25146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6pPr>
            <a:lvl7pPr marL="29718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7pPr>
            <a:lvl8pPr marL="34290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8pPr>
            <a:lvl9pPr marL="38862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9pPr>
          </a:lstStyle>
          <a:p>
            <a:pPr marL="0" marR="0" lvl="0" indent="0" algn="ctr" defTabSz="292100" rtl="0" eaLnBrk="1" fontAlgn="base" latinLnBrk="0" hangingPunct="0">
              <a:lnSpc>
                <a:spcPct val="100000"/>
              </a:lnSpc>
              <a:spcBef>
                <a:spcPct val="0"/>
              </a:spcBef>
              <a:spcAft>
                <a:spcPct val="0"/>
              </a:spcAft>
              <a:buClrTx/>
              <a:buSzTx/>
              <a:buFontTx/>
              <a:buNone/>
              <a:defRPr/>
            </a:pPr>
            <a:r>
              <a:rPr kumimoji="0" lang="es-ES" altLang="zh-CN" sz="2000" b="1"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ea"/>
                <a:sym typeface="+mn-lt"/>
              </a:rPr>
              <a:t>02</a:t>
            </a:r>
          </a:p>
        </p:txBody>
      </p:sp>
      <p:sp>
        <p:nvSpPr>
          <p:cNvPr id="43" name="AutoShape 19"/>
          <p:cNvSpPr/>
          <p:nvPr/>
        </p:nvSpPr>
        <p:spPr bwMode="auto">
          <a:xfrm>
            <a:off x="7107238" y="3012168"/>
            <a:ext cx="2349500" cy="1905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indent="0" algn="l" defTabSz="323850" rtl="0" eaLnBrk="1" fontAlgn="base" latinLnBrk="0" hangingPunct="0">
              <a:lnSpc>
                <a:spcPct val="100000"/>
              </a:lnSpc>
              <a:spcBef>
                <a:spcPts val="850"/>
              </a:spcBef>
              <a:spcAft>
                <a:spcPct val="0"/>
              </a:spcAft>
              <a:buClrTx/>
              <a:buSzTx/>
              <a:buFontTx/>
              <a:buNone/>
              <a:defRPr/>
            </a:pPr>
            <a:r>
              <a:rPr kumimoji="0" lang="zh-CN" altLang="es-ES" b="1" i="0" u="none" strike="noStrike" kern="1200" cap="none" spc="0" normalizeH="0" baseline="0" noProof="0" dirty="0">
                <a:ln>
                  <a:noFill/>
                </a:ln>
                <a:solidFill>
                  <a:srgbClr val="E8432E"/>
                </a:solidFill>
                <a:effectLst/>
                <a:uLnTx/>
                <a:uFillTx/>
                <a:latin typeface="微软雅黑" panose="020B0503020204020204" pitchFamily="34" charset="-122"/>
                <a:ea typeface="微软雅黑" panose="020B0503020204020204" pitchFamily="34" charset="-122"/>
                <a:cs typeface="+mn-cs"/>
                <a:sym typeface="+mn-lt"/>
              </a:rPr>
              <a:t>不做担保</a:t>
            </a:r>
          </a:p>
        </p:txBody>
      </p:sp>
      <p:sp>
        <p:nvSpPr>
          <p:cNvPr id="44" name="AutoShape 20"/>
          <p:cNvSpPr/>
          <p:nvPr/>
        </p:nvSpPr>
        <p:spPr bwMode="auto">
          <a:xfrm>
            <a:off x="7108032" y="3333161"/>
            <a:ext cx="4224338" cy="4746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noAutofit/>
          </a:bodyPr>
          <a:lstStyle/>
          <a:p>
            <a:pPr lvl="0" algn="l" defTabSz="323850" fontAlgn="base" hangingPunct="0">
              <a:lnSpc>
                <a:spcPct val="110000"/>
              </a:lnSpc>
              <a:spcBef>
                <a:spcPts val="850"/>
              </a:spcBef>
              <a:buClrTx/>
              <a:buSzTx/>
              <a:buFontTx/>
              <a:defRPr/>
            </a:pPr>
            <a:r>
              <a:rPr lang="es-ES" sz="1200" noProof="0">
                <a:ln>
                  <a:noFill/>
                </a:ln>
                <a:effectLst/>
                <a:uLnTx/>
                <a:uFillTx/>
                <a:latin typeface="微软雅黑" panose="020B0503020204020204" pitchFamily="34" charset="-122"/>
                <a:ea typeface="微软雅黑" panose="020B0503020204020204" pitchFamily="34" charset="-122"/>
                <a:sym typeface="+mn-lt"/>
              </a:rPr>
              <a:t>与全国优质担保公司合作，由第三方担保公司全额保障投资人本息安全</a:t>
            </a:r>
          </a:p>
        </p:txBody>
      </p:sp>
      <p:sp>
        <p:nvSpPr>
          <p:cNvPr id="45" name="AutoShape 21"/>
          <p:cNvSpPr/>
          <p:nvPr/>
        </p:nvSpPr>
        <p:spPr bwMode="auto">
          <a:xfrm>
            <a:off x="6306344" y="4025787"/>
            <a:ext cx="594519" cy="593725"/>
          </a:xfrm>
          <a:prstGeom prst="roundRect">
            <a:avLst>
              <a:gd name="adj" fmla="val 20667"/>
            </a:avLst>
          </a:prstGeom>
          <a:solidFill>
            <a:schemeClr val="accent3"/>
          </a:solidFill>
          <a:ln>
            <a:noFill/>
          </a:ln>
          <a:effectLst/>
        </p:spPr>
        <p:txBody>
          <a:bodyPr lIns="0" tIns="0" rIns="0" bIns="0" anchor="ctr"/>
          <a:lstStyle/>
          <a:p>
            <a:pPr marL="0" marR="0" lvl="0" indent="0" algn="ctr" defTabSz="292100" rtl="0" eaLnBrk="1" fontAlgn="base" latinLnBrk="0" hangingPunct="0">
              <a:lnSpc>
                <a:spcPct val="100000"/>
              </a:lnSpc>
              <a:spcBef>
                <a:spcPct val="0"/>
              </a:spcBef>
              <a:spcAft>
                <a:spcPct val="0"/>
              </a:spcAft>
              <a:buClrTx/>
              <a:buSzTx/>
              <a:buFontTx/>
              <a:buNone/>
              <a:defRPr/>
            </a:pPr>
            <a:endParaRPr kumimoji="0" lang="es-ES" sz="1600" b="0" i="0" u="none" strike="noStrike" kern="1200" cap="none" spc="0" normalizeH="0" baseline="0" noProof="0">
              <a:ln>
                <a:noFill/>
              </a:ln>
              <a:solidFill>
                <a:srgbClr val="FFFFFF"/>
              </a:solidFill>
              <a:effectLst/>
              <a:uLnTx/>
              <a:uFillTx/>
              <a:latin typeface="Calibri" panose="020F0502020204030204"/>
              <a:ea typeface="+mn-ea"/>
              <a:cs typeface="+mn-cs"/>
              <a:sym typeface="+mn-lt"/>
            </a:endParaRPr>
          </a:p>
        </p:txBody>
      </p:sp>
      <p:sp>
        <p:nvSpPr>
          <p:cNvPr id="46" name="AutoShape 22"/>
          <p:cNvSpPr/>
          <p:nvPr/>
        </p:nvSpPr>
        <p:spPr bwMode="auto">
          <a:xfrm>
            <a:off x="6375400" y="4159930"/>
            <a:ext cx="451644" cy="3254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lIns="35719" tIns="35719" rIns="35719" bIns="35719" anchor="b"/>
          <a:lstStyle>
            <a:lvl1pPr eaLnBrk="0">
              <a:defRPr sz="5000">
                <a:solidFill>
                  <a:srgbClr val="000000"/>
                </a:solidFill>
                <a:latin typeface="Helvetica Light" charset="0"/>
                <a:ea typeface="MS PGothic" panose="020B0600070205080204" pitchFamily="34" charset="-128"/>
                <a:sym typeface="Helvetica Light" charset="0"/>
              </a:defRPr>
            </a:lvl1pPr>
            <a:lvl2pPr marL="742950" indent="-285750" eaLnBrk="0">
              <a:defRPr sz="5000">
                <a:solidFill>
                  <a:srgbClr val="000000"/>
                </a:solidFill>
                <a:latin typeface="Helvetica Light" charset="0"/>
                <a:ea typeface="MS PGothic" panose="020B0600070205080204" pitchFamily="34" charset="-128"/>
                <a:sym typeface="Helvetica Light" charset="0"/>
              </a:defRPr>
            </a:lvl2pPr>
            <a:lvl3pPr marL="1143000" indent="-228600" eaLnBrk="0">
              <a:defRPr sz="5000">
                <a:solidFill>
                  <a:srgbClr val="000000"/>
                </a:solidFill>
                <a:latin typeface="Helvetica Light" charset="0"/>
                <a:ea typeface="MS PGothic" panose="020B0600070205080204" pitchFamily="34" charset="-128"/>
                <a:sym typeface="Helvetica Light" charset="0"/>
              </a:defRPr>
            </a:lvl3pPr>
            <a:lvl4pPr marL="1600200" indent="-228600" eaLnBrk="0">
              <a:defRPr sz="5000">
                <a:solidFill>
                  <a:srgbClr val="000000"/>
                </a:solidFill>
                <a:latin typeface="Helvetica Light" charset="0"/>
                <a:ea typeface="MS PGothic" panose="020B0600070205080204" pitchFamily="34" charset="-128"/>
                <a:sym typeface="Helvetica Light" charset="0"/>
              </a:defRPr>
            </a:lvl4pPr>
            <a:lvl5pPr marL="2057400" indent="-228600" eaLnBrk="0">
              <a:defRPr sz="5000">
                <a:solidFill>
                  <a:srgbClr val="000000"/>
                </a:solidFill>
                <a:latin typeface="Helvetica Light" charset="0"/>
                <a:ea typeface="MS PGothic" panose="020B0600070205080204" pitchFamily="34" charset="-128"/>
                <a:sym typeface="Helvetica Light" charset="0"/>
              </a:defRPr>
            </a:lvl5pPr>
            <a:lvl6pPr marL="25146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6pPr>
            <a:lvl7pPr marL="29718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7pPr>
            <a:lvl8pPr marL="34290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8pPr>
            <a:lvl9pPr marL="38862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9pPr>
          </a:lstStyle>
          <a:p>
            <a:pPr marL="0" marR="0" lvl="0" indent="0" algn="ctr" defTabSz="292100" rtl="0" eaLnBrk="1" fontAlgn="base" latinLnBrk="0" hangingPunct="0">
              <a:lnSpc>
                <a:spcPct val="100000"/>
              </a:lnSpc>
              <a:spcBef>
                <a:spcPct val="0"/>
              </a:spcBef>
              <a:spcAft>
                <a:spcPct val="0"/>
              </a:spcAft>
              <a:buClrTx/>
              <a:buSzTx/>
              <a:buFontTx/>
              <a:buNone/>
              <a:defRPr/>
            </a:pPr>
            <a:r>
              <a:rPr kumimoji="0" lang="es-ES" altLang="zh-CN" sz="2000" b="1"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ea"/>
                <a:sym typeface="+mn-lt"/>
              </a:rPr>
              <a:t>03</a:t>
            </a:r>
          </a:p>
        </p:txBody>
      </p:sp>
      <p:sp>
        <p:nvSpPr>
          <p:cNvPr id="47" name="AutoShape 23"/>
          <p:cNvSpPr/>
          <p:nvPr/>
        </p:nvSpPr>
        <p:spPr bwMode="auto">
          <a:xfrm>
            <a:off x="7107238" y="4015468"/>
            <a:ext cx="2349500" cy="1905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noAutofit/>
          </a:bodyPr>
          <a:lstStyle/>
          <a:p>
            <a:pPr lvl="0" algn="l" defTabSz="323850" fontAlgn="base" hangingPunct="0">
              <a:spcBef>
                <a:spcPts val="850"/>
              </a:spcBef>
              <a:buClrTx/>
              <a:buSzTx/>
              <a:buFontTx/>
              <a:defRPr/>
            </a:pPr>
            <a:r>
              <a:rPr lang="zh-CN" altLang="es-ES" b="1" noProof="0" dirty="0">
                <a:ln>
                  <a:noFill/>
                </a:ln>
                <a:solidFill>
                  <a:srgbClr val="383F4E"/>
                </a:solidFill>
                <a:effectLst/>
                <a:uLnTx/>
                <a:uFillTx/>
                <a:latin typeface="微软雅黑" panose="020B0503020204020204" pitchFamily="34" charset="-122"/>
                <a:ea typeface="微软雅黑" panose="020B0503020204020204" pitchFamily="34" charset="-122"/>
                <a:sym typeface="+mn-lt"/>
              </a:rPr>
              <a:t>不设</a:t>
            </a:r>
            <a:r>
              <a:rPr lang="en-US" altLang="zh-CN" b="1" noProof="0" dirty="0">
                <a:ln>
                  <a:noFill/>
                </a:ln>
                <a:solidFill>
                  <a:srgbClr val="383F4E"/>
                </a:solidFill>
                <a:effectLst/>
                <a:uLnTx/>
                <a:uFillTx/>
                <a:latin typeface="微软雅黑" panose="020B0503020204020204" pitchFamily="34" charset="-122"/>
                <a:ea typeface="微软雅黑" panose="020B0503020204020204" pitchFamily="34" charset="-122"/>
                <a:sym typeface="+mn-lt"/>
              </a:rPr>
              <a:t>“</a:t>
            </a:r>
            <a:r>
              <a:rPr lang="zh-CN" altLang="en-US" b="1" noProof="0" dirty="0">
                <a:ln>
                  <a:noFill/>
                </a:ln>
                <a:solidFill>
                  <a:srgbClr val="383F4E"/>
                </a:solidFill>
                <a:effectLst/>
                <a:uLnTx/>
                <a:uFillTx/>
                <a:latin typeface="微软雅黑" panose="020B0503020204020204" pitchFamily="34" charset="-122"/>
                <a:ea typeface="微软雅黑" panose="020B0503020204020204" pitchFamily="34" charset="-122"/>
                <a:sym typeface="+mn-lt"/>
              </a:rPr>
              <a:t>虚假标</a:t>
            </a:r>
            <a:r>
              <a:rPr lang="en-US" altLang="zh-CN" b="1" noProof="0" dirty="0">
                <a:ln>
                  <a:noFill/>
                </a:ln>
                <a:solidFill>
                  <a:srgbClr val="383F4E"/>
                </a:solidFill>
                <a:effectLst/>
                <a:uLnTx/>
                <a:uFillTx/>
                <a:latin typeface="微软雅黑" panose="020B0503020204020204" pitchFamily="34" charset="-122"/>
                <a:ea typeface="微软雅黑" panose="020B0503020204020204" pitchFamily="34" charset="-122"/>
                <a:sym typeface="+mn-lt"/>
              </a:rPr>
              <a:t>”</a:t>
            </a:r>
          </a:p>
        </p:txBody>
      </p:sp>
      <p:sp>
        <p:nvSpPr>
          <p:cNvPr id="48" name="AutoShape 24"/>
          <p:cNvSpPr/>
          <p:nvPr/>
        </p:nvSpPr>
        <p:spPr bwMode="auto">
          <a:xfrm>
            <a:off x="7134702" y="4342811"/>
            <a:ext cx="4224338" cy="4746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0" tIns="0" rIns="0" bIns="0">
            <a:noAutofit/>
          </a:bodyPr>
          <a:lstStyle/>
          <a:p>
            <a:pPr lvl="0" algn="l" defTabSz="323850" fontAlgn="base" hangingPunct="0">
              <a:lnSpc>
                <a:spcPct val="80000"/>
              </a:lnSpc>
              <a:spcBef>
                <a:spcPts val="850"/>
              </a:spcBef>
              <a:buClrTx/>
              <a:buSzTx/>
              <a:buFontTx/>
              <a:defRPr/>
            </a:pPr>
            <a:r>
              <a:rPr lang="es-ES" sz="1200" noProof="0">
                <a:ln>
                  <a:noFill/>
                </a:ln>
                <a:effectLst/>
                <a:uLnTx/>
                <a:uFillTx/>
                <a:latin typeface="微软雅黑" panose="020B0503020204020204" pitchFamily="34" charset="-122"/>
                <a:ea typeface="微软雅黑" panose="020B0503020204020204" pitchFamily="34" charset="-122"/>
                <a:sym typeface="+mn-lt"/>
              </a:rPr>
              <a:t>所有项目真实可靠并与投资人投入资金一一对应</a:t>
            </a:r>
          </a:p>
        </p:txBody>
      </p:sp>
      <p:sp>
        <p:nvSpPr>
          <p:cNvPr id="49" name="AutoShape 25"/>
          <p:cNvSpPr/>
          <p:nvPr/>
        </p:nvSpPr>
        <p:spPr bwMode="auto">
          <a:xfrm>
            <a:off x="6319838" y="4971143"/>
            <a:ext cx="593725" cy="593725"/>
          </a:xfrm>
          <a:prstGeom prst="roundRect">
            <a:avLst>
              <a:gd name="adj" fmla="val 20667"/>
            </a:avLst>
          </a:prstGeom>
          <a:solidFill>
            <a:srgbClr val="383F4E"/>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eaLnBrk="0">
              <a:defRPr sz="5000">
                <a:solidFill>
                  <a:srgbClr val="000000"/>
                </a:solidFill>
                <a:latin typeface="Helvetica Light" charset="0"/>
                <a:ea typeface="MS PGothic" panose="020B0600070205080204" pitchFamily="34" charset="-128"/>
                <a:sym typeface="Helvetica Light" charset="0"/>
              </a:defRPr>
            </a:lvl1pPr>
            <a:lvl2pPr marL="742950" indent="-285750" eaLnBrk="0">
              <a:defRPr sz="5000">
                <a:solidFill>
                  <a:srgbClr val="000000"/>
                </a:solidFill>
                <a:latin typeface="Helvetica Light" charset="0"/>
                <a:ea typeface="MS PGothic" panose="020B0600070205080204" pitchFamily="34" charset="-128"/>
                <a:sym typeface="Helvetica Light" charset="0"/>
              </a:defRPr>
            </a:lvl2pPr>
            <a:lvl3pPr marL="1143000" indent="-228600" eaLnBrk="0">
              <a:defRPr sz="5000">
                <a:solidFill>
                  <a:srgbClr val="000000"/>
                </a:solidFill>
                <a:latin typeface="Helvetica Light" charset="0"/>
                <a:ea typeface="MS PGothic" panose="020B0600070205080204" pitchFamily="34" charset="-128"/>
                <a:sym typeface="Helvetica Light" charset="0"/>
              </a:defRPr>
            </a:lvl3pPr>
            <a:lvl4pPr marL="1600200" indent="-228600" eaLnBrk="0">
              <a:defRPr sz="5000">
                <a:solidFill>
                  <a:srgbClr val="000000"/>
                </a:solidFill>
                <a:latin typeface="Helvetica Light" charset="0"/>
                <a:ea typeface="MS PGothic" panose="020B0600070205080204" pitchFamily="34" charset="-128"/>
                <a:sym typeface="Helvetica Light" charset="0"/>
              </a:defRPr>
            </a:lvl4pPr>
            <a:lvl5pPr marL="2057400" indent="-228600" eaLnBrk="0">
              <a:defRPr sz="5000">
                <a:solidFill>
                  <a:srgbClr val="000000"/>
                </a:solidFill>
                <a:latin typeface="Helvetica Light" charset="0"/>
                <a:ea typeface="MS PGothic" panose="020B0600070205080204" pitchFamily="34" charset="-128"/>
                <a:sym typeface="Helvetica Light" charset="0"/>
              </a:defRPr>
            </a:lvl5pPr>
            <a:lvl6pPr marL="25146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6pPr>
            <a:lvl7pPr marL="29718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7pPr>
            <a:lvl8pPr marL="34290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8pPr>
            <a:lvl9pPr marL="3886200" indent="-228600" algn="ctr" defTabSz="584200" eaLnBrk="0" fontAlgn="base" hangingPunct="0">
              <a:spcBef>
                <a:spcPct val="0"/>
              </a:spcBef>
              <a:spcAft>
                <a:spcPct val="0"/>
              </a:spcAft>
              <a:defRPr sz="5000">
                <a:solidFill>
                  <a:srgbClr val="000000"/>
                </a:solidFill>
                <a:latin typeface="Helvetica Light" charset="0"/>
                <a:ea typeface="MS PGothic" panose="020B0600070205080204" pitchFamily="34" charset="-128"/>
                <a:sym typeface="Helvetica Light" charset="0"/>
              </a:defRPr>
            </a:lvl9pPr>
          </a:lstStyle>
          <a:p>
            <a:pPr marL="0" marR="0" lvl="0" indent="0" algn="ctr" defTabSz="292100" rtl="0" eaLnBrk="1" fontAlgn="base" latinLnBrk="0" hangingPunct="0">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ea"/>
                <a:sym typeface="+mn-lt"/>
              </a:rPr>
              <a:t>04</a:t>
            </a:r>
          </a:p>
        </p:txBody>
      </p:sp>
      <p:sp>
        <p:nvSpPr>
          <p:cNvPr id="51" name="AutoShape 27"/>
          <p:cNvSpPr/>
          <p:nvPr/>
        </p:nvSpPr>
        <p:spPr bwMode="auto">
          <a:xfrm>
            <a:off x="7120255" y="4954270"/>
            <a:ext cx="3130550" cy="2076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0" tIns="0" rIns="0" bIns="0"/>
          <a:lstStyle/>
          <a:p>
            <a:pPr marL="0" marR="0" lvl="0" algn="l" defTabSz="323850" rtl="0" eaLnBrk="1" fontAlgn="base" latinLnBrk="0" hangingPunct="0">
              <a:lnSpc>
                <a:spcPct val="100000"/>
              </a:lnSpc>
              <a:spcBef>
                <a:spcPts val="850"/>
              </a:spcBef>
              <a:buClrTx/>
              <a:buSzTx/>
              <a:buFontTx/>
              <a:buNone/>
              <a:defRPr/>
            </a:pPr>
            <a:r>
              <a:rPr kumimoji="0" lang="zh-CN" altLang="es-ES" sz="1800" b="1" i="0" u="none" strike="noStrike" kern="1200" cap="none" spc="0" normalizeH="0" baseline="0" noProof="0" dirty="0">
                <a:ln>
                  <a:noFill/>
                </a:ln>
                <a:solidFill>
                  <a:srgbClr val="383F4E"/>
                </a:solidFill>
                <a:effectLst/>
                <a:uLnTx/>
                <a:uFillTx/>
                <a:latin typeface="微软雅黑" panose="020B0503020204020204" pitchFamily="34" charset="-122"/>
                <a:ea typeface="微软雅黑" panose="020B0503020204020204" pitchFamily="34" charset="-122"/>
                <a:cs typeface="+mn-cs"/>
                <a:sym typeface="+mn-lt"/>
              </a:rPr>
              <a:t>绝不</a:t>
            </a:r>
            <a:r>
              <a:rPr kumimoji="0" lang="en-US" altLang="zh-CN" sz="1800" b="1" i="0" u="none" strike="noStrike" kern="1200" cap="none" spc="0" normalizeH="0" baseline="0" noProof="0" dirty="0">
                <a:ln>
                  <a:noFill/>
                </a:ln>
                <a:solidFill>
                  <a:srgbClr val="383F4E"/>
                </a:solidFill>
                <a:effectLst/>
                <a:uLnTx/>
                <a:uFillTx/>
                <a:latin typeface="微软雅黑" panose="020B0503020204020204" pitchFamily="34" charset="-122"/>
                <a:ea typeface="微软雅黑" panose="020B0503020204020204" pitchFamily="34" charset="-122"/>
                <a:cs typeface="+mn-cs"/>
                <a:sym typeface="+mn-lt"/>
              </a:rPr>
              <a:t>“</a:t>
            </a:r>
            <a:r>
              <a:rPr kumimoji="0" lang="zh-CN" altLang="en-US" sz="1800" b="1" i="0" u="none" strike="noStrike" kern="1200" cap="none" spc="0" normalizeH="0" baseline="0" noProof="0" dirty="0">
                <a:ln>
                  <a:noFill/>
                </a:ln>
                <a:solidFill>
                  <a:srgbClr val="383F4E"/>
                </a:solidFill>
                <a:effectLst/>
                <a:uLnTx/>
                <a:uFillTx/>
                <a:latin typeface="微软雅黑" panose="020B0503020204020204" pitchFamily="34" charset="-122"/>
                <a:ea typeface="微软雅黑" panose="020B0503020204020204" pitchFamily="34" charset="-122"/>
                <a:cs typeface="+mn-cs"/>
                <a:sym typeface="+mn-lt"/>
              </a:rPr>
              <a:t>自融</a:t>
            </a:r>
            <a:r>
              <a:rPr kumimoji="0" lang="en-US" altLang="zh-CN" sz="1800" b="1" i="0" u="none" strike="noStrike" kern="1200" cap="none" spc="0" normalizeH="0" baseline="0" noProof="0" dirty="0">
                <a:ln>
                  <a:noFill/>
                </a:ln>
                <a:solidFill>
                  <a:srgbClr val="383F4E"/>
                </a:solidFill>
                <a:effectLst/>
                <a:uLnTx/>
                <a:uFillTx/>
                <a:latin typeface="微软雅黑" panose="020B0503020204020204" pitchFamily="34" charset="-122"/>
                <a:ea typeface="微软雅黑" panose="020B0503020204020204" pitchFamily="34" charset="-122"/>
                <a:cs typeface="+mn-cs"/>
                <a:sym typeface="+mn-lt"/>
              </a:rPr>
              <a:t>”</a:t>
            </a:r>
          </a:p>
        </p:txBody>
      </p:sp>
      <p:sp>
        <p:nvSpPr>
          <p:cNvPr id="52" name="AutoShape 28"/>
          <p:cNvSpPr/>
          <p:nvPr/>
        </p:nvSpPr>
        <p:spPr bwMode="auto">
          <a:xfrm>
            <a:off x="7126288" y="5197362"/>
            <a:ext cx="4224338" cy="475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0" tIns="0" rIns="0" bIns="0">
            <a:noAutofit/>
          </a:bodyPr>
          <a:lstStyle/>
          <a:p>
            <a:pPr lvl="0" algn="l" defTabSz="323850" fontAlgn="base" hangingPunct="0">
              <a:lnSpc>
                <a:spcPct val="120000"/>
              </a:lnSpc>
              <a:spcBef>
                <a:spcPts val="850"/>
              </a:spcBef>
              <a:buClrTx/>
              <a:buSzTx/>
              <a:buFontTx/>
              <a:defRPr/>
            </a:pPr>
            <a:r>
              <a:rPr lang="es-ES" sz="1200" noProof="0">
                <a:ln>
                  <a:noFill/>
                </a:ln>
                <a:effectLst/>
                <a:uLnTx/>
                <a:uFillTx/>
                <a:latin typeface="微软雅黑" panose="020B0503020204020204" pitchFamily="34" charset="-122"/>
                <a:ea typeface="微软雅黑" panose="020B0503020204020204" pitchFamily="34" charset="-122"/>
                <a:sym typeface="+mn-lt"/>
              </a:rPr>
              <a:t>所有投资人资金托管到商业银行，受第三方监管，与合拍自身账户分离，让客户完全放心</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600"/>
                            </p:stCondLst>
                            <p:childTnLst>
                              <p:par>
                                <p:cTn id="9" presetID="9" presetClass="entr" presetSubtype="0" fill="hold" nodeType="afterEffect">
                                  <p:stCondLst>
                                    <p:cond delay="10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par>
                          <p:cTn id="12" fill="hold">
                            <p:stCondLst>
                              <p:cond delay="1200"/>
                            </p:stCondLst>
                            <p:childTnLst>
                              <p:par>
                                <p:cTn id="13" presetID="9" presetClass="entr" presetSubtype="0" fill="hold" nodeType="afterEffect">
                                  <p:stCondLst>
                                    <p:cond delay="10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par>
                          <p:cTn id="16" fill="hold">
                            <p:stCondLst>
                              <p:cond delay="1800"/>
                            </p:stCondLst>
                            <p:childTnLst>
                              <p:par>
                                <p:cTn id="17" presetID="9" presetClass="entr" presetSubtype="0" fill="hold" grpId="0" nodeType="afterEffect">
                                  <p:stCondLst>
                                    <p:cond delay="100"/>
                                  </p:stCondLst>
                                  <p:childTnLst>
                                    <p:set>
                                      <p:cBhvr>
                                        <p:cTn id="18" dur="1" fill="hold">
                                          <p:stCondLst>
                                            <p:cond delay="0"/>
                                          </p:stCondLst>
                                        </p:cTn>
                                        <p:tgtEl>
                                          <p:spTgt spid="35"/>
                                        </p:tgtEl>
                                        <p:attrNameLst>
                                          <p:attrName>style.visibility</p:attrName>
                                        </p:attrNameLst>
                                      </p:cBhvr>
                                      <p:to>
                                        <p:strVal val="visible"/>
                                      </p:to>
                                    </p:set>
                                    <p:animEffect transition="in" filter="dissolve">
                                      <p:cBhvr>
                                        <p:cTn id="19" dur="500"/>
                                        <p:tgtEl>
                                          <p:spTgt spid="35"/>
                                        </p:tgtEl>
                                      </p:cBhvr>
                                    </p:animEffect>
                                  </p:childTnLst>
                                </p:cTn>
                              </p:par>
                            </p:childTnLst>
                          </p:cTn>
                        </p:par>
                        <p:par>
                          <p:cTn id="20" fill="hold">
                            <p:stCondLst>
                              <p:cond delay="2400"/>
                            </p:stCondLst>
                            <p:childTnLst>
                              <p:par>
                                <p:cTn id="21" presetID="2" presetClass="entr" presetSubtype="2" fill="hold" grpId="0" nodeType="afterEffect">
                                  <p:stCondLst>
                                    <p:cond delay="10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fill="hold"/>
                                        <p:tgtEl>
                                          <p:spTgt spid="39"/>
                                        </p:tgtEl>
                                        <p:attrNameLst>
                                          <p:attrName>ppt_x</p:attrName>
                                        </p:attrNameLst>
                                      </p:cBhvr>
                                      <p:tavLst>
                                        <p:tav tm="0">
                                          <p:val>
                                            <p:strVal val="1+#ppt_w/2"/>
                                          </p:val>
                                        </p:tav>
                                        <p:tav tm="100000">
                                          <p:val>
                                            <p:strVal val="#ppt_x"/>
                                          </p:val>
                                        </p:tav>
                                      </p:tavLst>
                                    </p:anim>
                                    <p:anim calcmode="lin" valueType="num">
                                      <p:cBhvr additive="base">
                                        <p:cTn id="24" dur="500" fill="hold"/>
                                        <p:tgtEl>
                                          <p:spTgt spid="39"/>
                                        </p:tgtEl>
                                        <p:attrNameLst>
                                          <p:attrName>ppt_y</p:attrName>
                                        </p:attrNameLst>
                                      </p:cBhvr>
                                      <p:tavLst>
                                        <p:tav tm="0">
                                          <p:val>
                                            <p:strVal val="#ppt_y"/>
                                          </p:val>
                                        </p:tav>
                                        <p:tav tm="100000">
                                          <p:val>
                                            <p:strVal val="#ppt_y"/>
                                          </p:val>
                                        </p:tav>
                                      </p:tavLst>
                                    </p:anim>
                                  </p:childTnLst>
                                </p:cTn>
                              </p:par>
                            </p:childTnLst>
                          </p:cTn>
                        </p:par>
                        <p:par>
                          <p:cTn id="25" fill="hold">
                            <p:stCondLst>
                              <p:cond delay="3000"/>
                            </p:stCondLst>
                            <p:childTnLst>
                              <p:par>
                                <p:cTn id="26" presetID="2" presetClass="entr" presetSubtype="4" fill="hold" grpId="0" nodeType="afterEffect">
                                  <p:stCondLst>
                                    <p:cond delay="10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500" fill="hold"/>
                                        <p:tgtEl>
                                          <p:spTgt spid="40"/>
                                        </p:tgtEl>
                                        <p:attrNameLst>
                                          <p:attrName>ppt_x</p:attrName>
                                        </p:attrNameLst>
                                      </p:cBhvr>
                                      <p:tavLst>
                                        <p:tav tm="0">
                                          <p:val>
                                            <p:strVal val="#ppt_x"/>
                                          </p:val>
                                        </p:tav>
                                        <p:tav tm="100000">
                                          <p:val>
                                            <p:strVal val="#ppt_x"/>
                                          </p:val>
                                        </p:tav>
                                      </p:tavLst>
                                    </p:anim>
                                    <p:anim calcmode="lin" valueType="num">
                                      <p:cBhvr additive="base">
                                        <p:cTn id="29" dur="500" fill="hold"/>
                                        <p:tgtEl>
                                          <p:spTgt spid="40"/>
                                        </p:tgtEl>
                                        <p:attrNameLst>
                                          <p:attrName>ppt_y</p:attrName>
                                        </p:attrNameLst>
                                      </p:cBhvr>
                                      <p:tavLst>
                                        <p:tav tm="0">
                                          <p:val>
                                            <p:strVal val="1+#ppt_h/2"/>
                                          </p:val>
                                        </p:tav>
                                        <p:tav tm="100000">
                                          <p:val>
                                            <p:strVal val="#ppt_y"/>
                                          </p:val>
                                        </p:tav>
                                      </p:tavLst>
                                    </p:anim>
                                  </p:childTnLst>
                                </p:cTn>
                              </p:par>
                            </p:childTnLst>
                          </p:cTn>
                        </p:par>
                        <p:par>
                          <p:cTn id="30" fill="hold">
                            <p:stCondLst>
                              <p:cond delay="3600"/>
                            </p:stCondLst>
                            <p:childTnLst>
                              <p:par>
                                <p:cTn id="31" presetID="9" presetClass="entr" presetSubtype="0" fill="hold" grpId="0" nodeType="afterEffect">
                                  <p:stCondLst>
                                    <p:cond delay="100"/>
                                  </p:stCondLst>
                                  <p:childTnLst>
                                    <p:set>
                                      <p:cBhvr>
                                        <p:cTn id="32" dur="1" fill="hold">
                                          <p:stCondLst>
                                            <p:cond delay="0"/>
                                          </p:stCondLst>
                                        </p:cTn>
                                        <p:tgtEl>
                                          <p:spTgt spid="41"/>
                                        </p:tgtEl>
                                        <p:attrNameLst>
                                          <p:attrName>style.visibility</p:attrName>
                                        </p:attrNameLst>
                                      </p:cBhvr>
                                      <p:to>
                                        <p:strVal val="visible"/>
                                      </p:to>
                                    </p:set>
                                    <p:animEffect transition="in" filter="dissolve">
                                      <p:cBhvr>
                                        <p:cTn id="33" dur="500"/>
                                        <p:tgtEl>
                                          <p:spTgt spid="41"/>
                                        </p:tgtEl>
                                      </p:cBhvr>
                                    </p:animEffect>
                                  </p:childTnLst>
                                </p:cTn>
                              </p:par>
                            </p:childTnLst>
                          </p:cTn>
                        </p:par>
                        <p:par>
                          <p:cTn id="34" fill="hold">
                            <p:stCondLst>
                              <p:cond delay="4200"/>
                            </p:stCondLst>
                            <p:childTnLst>
                              <p:par>
                                <p:cTn id="35" presetID="9" presetClass="entr" presetSubtype="0" fill="hold" grpId="0" nodeType="afterEffect">
                                  <p:stCondLst>
                                    <p:cond delay="100"/>
                                  </p:stCondLst>
                                  <p:childTnLst>
                                    <p:set>
                                      <p:cBhvr>
                                        <p:cTn id="36" dur="1" fill="hold">
                                          <p:stCondLst>
                                            <p:cond delay="0"/>
                                          </p:stCondLst>
                                        </p:cTn>
                                        <p:tgtEl>
                                          <p:spTgt spid="42"/>
                                        </p:tgtEl>
                                        <p:attrNameLst>
                                          <p:attrName>style.visibility</p:attrName>
                                        </p:attrNameLst>
                                      </p:cBhvr>
                                      <p:to>
                                        <p:strVal val="visible"/>
                                      </p:to>
                                    </p:set>
                                    <p:animEffect transition="in" filter="dissolve">
                                      <p:cBhvr>
                                        <p:cTn id="37" dur="500"/>
                                        <p:tgtEl>
                                          <p:spTgt spid="42"/>
                                        </p:tgtEl>
                                      </p:cBhvr>
                                    </p:animEffect>
                                  </p:childTnLst>
                                </p:cTn>
                              </p:par>
                            </p:childTnLst>
                          </p:cTn>
                        </p:par>
                        <p:par>
                          <p:cTn id="38" fill="hold">
                            <p:stCondLst>
                              <p:cond delay="4800"/>
                            </p:stCondLst>
                            <p:childTnLst>
                              <p:par>
                                <p:cTn id="39" presetID="2" presetClass="entr" presetSubtype="2" fill="hold" grpId="0" nodeType="afterEffect">
                                  <p:stCondLst>
                                    <p:cond delay="100"/>
                                  </p:stCondLst>
                                  <p:childTnLst>
                                    <p:set>
                                      <p:cBhvr>
                                        <p:cTn id="40" dur="1" fill="hold">
                                          <p:stCondLst>
                                            <p:cond delay="0"/>
                                          </p:stCondLst>
                                        </p:cTn>
                                        <p:tgtEl>
                                          <p:spTgt spid="43"/>
                                        </p:tgtEl>
                                        <p:attrNameLst>
                                          <p:attrName>style.visibility</p:attrName>
                                        </p:attrNameLst>
                                      </p:cBhvr>
                                      <p:to>
                                        <p:strVal val="visible"/>
                                      </p:to>
                                    </p:set>
                                    <p:anim calcmode="lin" valueType="num">
                                      <p:cBhvr additive="base">
                                        <p:cTn id="41" dur="500" fill="hold"/>
                                        <p:tgtEl>
                                          <p:spTgt spid="43"/>
                                        </p:tgtEl>
                                        <p:attrNameLst>
                                          <p:attrName>ppt_x</p:attrName>
                                        </p:attrNameLst>
                                      </p:cBhvr>
                                      <p:tavLst>
                                        <p:tav tm="0">
                                          <p:val>
                                            <p:strVal val="1+#ppt_w/2"/>
                                          </p:val>
                                        </p:tav>
                                        <p:tav tm="100000">
                                          <p:val>
                                            <p:strVal val="#ppt_x"/>
                                          </p:val>
                                        </p:tav>
                                      </p:tavLst>
                                    </p:anim>
                                    <p:anim calcmode="lin" valueType="num">
                                      <p:cBhvr additive="base">
                                        <p:cTn id="42" dur="500" fill="hold"/>
                                        <p:tgtEl>
                                          <p:spTgt spid="43"/>
                                        </p:tgtEl>
                                        <p:attrNameLst>
                                          <p:attrName>ppt_y</p:attrName>
                                        </p:attrNameLst>
                                      </p:cBhvr>
                                      <p:tavLst>
                                        <p:tav tm="0">
                                          <p:val>
                                            <p:strVal val="#ppt_y"/>
                                          </p:val>
                                        </p:tav>
                                        <p:tav tm="100000">
                                          <p:val>
                                            <p:strVal val="#ppt_y"/>
                                          </p:val>
                                        </p:tav>
                                      </p:tavLst>
                                    </p:anim>
                                  </p:childTnLst>
                                </p:cTn>
                              </p:par>
                            </p:childTnLst>
                          </p:cTn>
                        </p:par>
                        <p:par>
                          <p:cTn id="43" fill="hold">
                            <p:stCondLst>
                              <p:cond delay="5400"/>
                            </p:stCondLst>
                            <p:childTnLst>
                              <p:par>
                                <p:cTn id="44" presetID="2" presetClass="entr" presetSubtype="4" fill="hold" grpId="0" nodeType="afterEffect">
                                  <p:stCondLst>
                                    <p:cond delay="100"/>
                                  </p:stCondLst>
                                  <p:childTnLst>
                                    <p:set>
                                      <p:cBhvr>
                                        <p:cTn id="45" dur="1" fill="hold">
                                          <p:stCondLst>
                                            <p:cond delay="0"/>
                                          </p:stCondLst>
                                        </p:cTn>
                                        <p:tgtEl>
                                          <p:spTgt spid="44"/>
                                        </p:tgtEl>
                                        <p:attrNameLst>
                                          <p:attrName>style.visibility</p:attrName>
                                        </p:attrNameLst>
                                      </p:cBhvr>
                                      <p:to>
                                        <p:strVal val="visible"/>
                                      </p:to>
                                    </p:set>
                                    <p:anim calcmode="lin" valueType="num">
                                      <p:cBhvr additive="base">
                                        <p:cTn id="46" dur="500" fill="hold"/>
                                        <p:tgtEl>
                                          <p:spTgt spid="44"/>
                                        </p:tgtEl>
                                        <p:attrNameLst>
                                          <p:attrName>ppt_x</p:attrName>
                                        </p:attrNameLst>
                                      </p:cBhvr>
                                      <p:tavLst>
                                        <p:tav tm="0">
                                          <p:val>
                                            <p:strVal val="#ppt_x"/>
                                          </p:val>
                                        </p:tav>
                                        <p:tav tm="100000">
                                          <p:val>
                                            <p:strVal val="#ppt_x"/>
                                          </p:val>
                                        </p:tav>
                                      </p:tavLst>
                                    </p:anim>
                                    <p:anim calcmode="lin" valueType="num">
                                      <p:cBhvr additive="base">
                                        <p:cTn id="47" dur="500" fill="hold"/>
                                        <p:tgtEl>
                                          <p:spTgt spid="44"/>
                                        </p:tgtEl>
                                        <p:attrNameLst>
                                          <p:attrName>ppt_y</p:attrName>
                                        </p:attrNameLst>
                                      </p:cBhvr>
                                      <p:tavLst>
                                        <p:tav tm="0">
                                          <p:val>
                                            <p:strVal val="1+#ppt_h/2"/>
                                          </p:val>
                                        </p:tav>
                                        <p:tav tm="100000">
                                          <p:val>
                                            <p:strVal val="#ppt_y"/>
                                          </p:val>
                                        </p:tav>
                                      </p:tavLst>
                                    </p:anim>
                                  </p:childTnLst>
                                </p:cTn>
                              </p:par>
                            </p:childTnLst>
                          </p:cTn>
                        </p:par>
                        <p:par>
                          <p:cTn id="48" fill="hold">
                            <p:stCondLst>
                              <p:cond delay="6000"/>
                            </p:stCondLst>
                            <p:childTnLst>
                              <p:par>
                                <p:cTn id="49" presetID="9" presetClass="entr" presetSubtype="0" fill="hold" grpId="0" nodeType="afterEffect">
                                  <p:stCondLst>
                                    <p:cond delay="100"/>
                                  </p:stCondLst>
                                  <p:childTnLst>
                                    <p:set>
                                      <p:cBhvr>
                                        <p:cTn id="50" dur="1" fill="hold">
                                          <p:stCondLst>
                                            <p:cond delay="0"/>
                                          </p:stCondLst>
                                        </p:cTn>
                                        <p:tgtEl>
                                          <p:spTgt spid="45"/>
                                        </p:tgtEl>
                                        <p:attrNameLst>
                                          <p:attrName>style.visibility</p:attrName>
                                        </p:attrNameLst>
                                      </p:cBhvr>
                                      <p:to>
                                        <p:strVal val="visible"/>
                                      </p:to>
                                    </p:set>
                                    <p:animEffect transition="in" filter="dissolve">
                                      <p:cBhvr>
                                        <p:cTn id="51" dur="500"/>
                                        <p:tgtEl>
                                          <p:spTgt spid="45"/>
                                        </p:tgtEl>
                                      </p:cBhvr>
                                    </p:animEffect>
                                  </p:childTnLst>
                                </p:cTn>
                              </p:par>
                            </p:childTnLst>
                          </p:cTn>
                        </p:par>
                        <p:par>
                          <p:cTn id="52" fill="hold">
                            <p:stCondLst>
                              <p:cond delay="6600"/>
                            </p:stCondLst>
                            <p:childTnLst>
                              <p:par>
                                <p:cTn id="53" presetID="9" presetClass="entr" presetSubtype="0" fill="hold" grpId="0" nodeType="afterEffect">
                                  <p:stCondLst>
                                    <p:cond delay="100"/>
                                  </p:stCondLst>
                                  <p:childTnLst>
                                    <p:set>
                                      <p:cBhvr>
                                        <p:cTn id="54" dur="1" fill="hold">
                                          <p:stCondLst>
                                            <p:cond delay="0"/>
                                          </p:stCondLst>
                                        </p:cTn>
                                        <p:tgtEl>
                                          <p:spTgt spid="46"/>
                                        </p:tgtEl>
                                        <p:attrNameLst>
                                          <p:attrName>style.visibility</p:attrName>
                                        </p:attrNameLst>
                                      </p:cBhvr>
                                      <p:to>
                                        <p:strVal val="visible"/>
                                      </p:to>
                                    </p:set>
                                    <p:animEffect transition="in" filter="dissolve">
                                      <p:cBhvr>
                                        <p:cTn id="55" dur="500"/>
                                        <p:tgtEl>
                                          <p:spTgt spid="46"/>
                                        </p:tgtEl>
                                      </p:cBhvr>
                                    </p:animEffect>
                                  </p:childTnLst>
                                </p:cTn>
                              </p:par>
                            </p:childTnLst>
                          </p:cTn>
                        </p:par>
                        <p:par>
                          <p:cTn id="56" fill="hold">
                            <p:stCondLst>
                              <p:cond delay="7200"/>
                            </p:stCondLst>
                            <p:childTnLst>
                              <p:par>
                                <p:cTn id="57" presetID="2" presetClass="entr" presetSubtype="2" fill="hold" grpId="0" nodeType="afterEffect">
                                  <p:stCondLst>
                                    <p:cond delay="100"/>
                                  </p:stCondLst>
                                  <p:childTnLst>
                                    <p:set>
                                      <p:cBhvr>
                                        <p:cTn id="58" dur="1" fill="hold">
                                          <p:stCondLst>
                                            <p:cond delay="0"/>
                                          </p:stCondLst>
                                        </p:cTn>
                                        <p:tgtEl>
                                          <p:spTgt spid="47"/>
                                        </p:tgtEl>
                                        <p:attrNameLst>
                                          <p:attrName>style.visibility</p:attrName>
                                        </p:attrNameLst>
                                      </p:cBhvr>
                                      <p:to>
                                        <p:strVal val="visible"/>
                                      </p:to>
                                    </p:set>
                                    <p:anim calcmode="lin" valueType="num">
                                      <p:cBhvr additive="base">
                                        <p:cTn id="59" dur="500" fill="hold"/>
                                        <p:tgtEl>
                                          <p:spTgt spid="47"/>
                                        </p:tgtEl>
                                        <p:attrNameLst>
                                          <p:attrName>ppt_x</p:attrName>
                                        </p:attrNameLst>
                                      </p:cBhvr>
                                      <p:tavLst>
                                        <p:tav tm="0">
                                          <p:val>
                                            <p:strVal val="1+#ppt_w/2"/>
                                          </p:val>
                                        </p:tav>
                                        <p:tav tm="100000">
                                          <p:val>
                                            <p:strVal val="#ppt_x"/>
                                          </p:val>
                                        </p:tav>
                                      </p:tavLst>
                                    </p:anim>
                                    <p:anim calcmode="lin" valueType="num">
                                      <p:cBhvr additive="base">
                                        <p:cTn id="60" dur="500" fill="hold"/>
                                        <p:tgtEl>
                                          <p:spTgt spid="47"/>
                                        </p:tgtEl>
                                        <p:attrNameLst>
                                          <p:attrName>ppt_y</p:attrName>
                                        </p:attrNameLst>
                                      </p:cBhvr>
                                      <p:tavLst>
                                        <p:tav tm="0">
                                          <p:val>
                                            <p:strVal val="#ppt_y"/>
                                          </p:val>
                                        </p:tav>
                                        <p:tav tm="100000">
                                          <p:val>
                                            <p:strVal val="#ppt_y"/>
                                          </p:val>
                                        </p:tav>
                                      </p:tavLst>
                                    </p:anim>
                                  </p:childTnLst>
                                </p:cTn>
                              </p:par>
                            </p:childTnLst>
                          </p:cTn>
                        </p:par>
                        <p:par>
                          <p:cTn id="61" fill="hold">
                            <p:stCondLst>
                              <p:cond delay="7800"/>
                            </p:stCondLst>
                            <p:childTnLst>
                              <p:par>
                                <p:cTn id="62" presetID="2" presetClass="entr" presetSubtype="4" fill="hold" grpId="0" nodeType="afterEffect">
                                  <p:stCondLst>
                                    <p:cond delay="10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ppt_x"/>
                                          </p:val>
                                        </p:tav>
                                        <p:tav tm="100000">
                                          <p:val>
                                            <p:strVal val="#ppt_x"/>
                                          </p:val>
                                        </p:tav>
                                      </p:tavLst>
                                    </p:anim>
                                    <p:anim calcmode="lin" valueType="num">
                                      <p:cBhvr additive="base">
                                        <p:cTn id="65" dur="500" fill="hold"/>
                                        <p:tgtEl>
                                          <p:spTgt spid="48"/>
                                        </p:tgtEl>
                                        <p:attrNameLst>
                                          <p:attrName>ppt_y</p:attrName>
                                        </p:attrNameLst>
                                      </p:cBhvr>
                                      <p:tavLst>
                                        <p:tav tm="0">
                                          <p:val>
                                            <p:strVal val="1+#ppt_h/2"/>
                                          </p:val>
                                        </p:tav>
                                        <p:tav tm="100000">
                                          <p:val>
                                            <p:strVal val="#ppt_y"/>
                                          </p:val>
                                        </p:tav>
                                      </p:tavLst>
                                    </p:anim>
                                  </p:childTnLst>
                                </p:cTn>
                              </p:par>
                            </p:childTnLst>
                          </p:cTn>
                        </p:par>
                        <p:par>
                          <p:cTn id="66" fill="hold">
                            <p:stCondLst>
                              <p:cond delay="8400"/>
                            </p:stCondLst>
                            <p:childTnLst>
                              <p:par>
                                <p:cTn id="67" presetID="9" presetClass="entr" presetSubtype="0" fill="hold" grpId="0" nodeType="afterEffect">
                                  <p:stCondLst>
                                    <p:cond delay="100"/>
                                  </p:stCondLst>
                                  <p:childTnLst>
                                    <p:set>
                                      <p:cBhvr>
                                        <p:cTn id="68" dur="1" fill="hold">
                                          <p:stCondLst>
                                            <p:cond delay="0"/>
                                          </p:stCondLst>
                                        </p:cTn>
                                        <p:tgtEl>
                                          <p:spTgt spid="49"/>
                                        </p:tgtEl>
                                        <p:attrNameLst>
                                          <p:attrName>style.visibility</p:attrName>
                                        </p:attrNameLst>
                                      </p:cBhvr>
                                      <p:to>
                                        <p:strVal val="visible"/>
                                      </p:to>
                                    </p:set>
                                    <p:animEffect transition="in" filter="dissolve">
                                      <p:cBhvr>
                                        <p:cTn id="69" dur="500"/>
                                        <p:tgtEl>
                                          <p:spTgt spid="49"/>
                                        </p:tgtEl>
                                      </p:cBhvr>
                                    </p:animEffect>
                                  </p:childTnLst>
                                </p:cTn>
                              </p:par>
                            </p:childTnLst>
                          </p:cTn>
                        </p:par>
                        <p:par>
                          <p:cTn id="70" fill="hold">
                            <p:stCondLst>
                              <p:cond delay="9000"/>
                            </p:stCondLst>
                            <p:childTnLst>
                              <p:par>
                                <p:cTn id="71" presetID="2" presetClass="entr" presetSubtype="2" fill="hold" grpId="0" nodeType="afterEffect">
                                  <p:stCondLst>
                                    <p:cond delay="100"/>
                                  </p:stCondLst>
                                  <p:childTnLst>
                                    <p:set>
                                      <p:cBhvr>
                                        <p:cTn id="72" dur="1" fill="hold">
                                          <p:stCondLst>
                                            <p:cond delay="0"/>
                                          </p:stCondLst>
                                        </p:cTn>
                                        <p:tgtEl>
                                          <p:spTgt spid="51"/>
                                        </p:tgtEl>
                                        <p:attrNameLst>
                                          <p:attrName>style.visibility</p:attrName>
                                        </p:attrNameLst>
                                      </p:cBhvr>
                                      <p:to>
                                        <p:strVal val="visible"/>
                                      </p:to>
                                    </p:set>
                                    <p:anim calcmode="lin" valueType="num">
                                      <p:cBhvr additive="base">
                                        <p:cTn id="73" dur="500" fill="hold"/>
                                        <p:tgtEl>
                                          <p:spTgt spid="51"/>
                                        </p:tgtEl>
                                        <p:attrNameLst>
                                          <p:attrName>ppt_x</p:attrName>
                                        </p:attrNameLst>
                                      </p:cBhvr>
                                      <p:tavLst>
                                        <p:tav tm="0">
                                          <p:val>
                                            <p:strVal val="1+#ppt_w/2"/>
                                          </p:val>
                                        </p:tav>
                                        <p:tav tm="100000">
                                          <p:val>
                                            <p:strVal val="#ppt_x"/>
                                          </p:val>
                                        </p:tav>
                                      </p:tavLst>
                                    </p:anim>
                                    <p:anim calcmode="lin" valueType="num">
                                      <p:cBhvr additive="base">
                                        <p:cTn id="74" dur="500" fill="hold"/>
                                        <p:tgtEl>
                                          <p:spTgt spid="51"/>
                                        </p:tgtEl>
                                        <p:attrNameLst>
                                          <p:attrName>ppt_y</p:attrName>
                                        </p:attrNameLst>
                                      </p:cBhvr>
                                      <p:tavLst>
                                        <p:tav tm="0">
                                          <p:val>
                                            <p:strVal val="#ppt_y"/>
                                          </p:val>
                                        </p:tav>
                                        <p:tav tm="100000">
                                          <p:val>
                                            <p:strVal val="#ppt_y"/>
                                          </p:val>
                                        </p:tav>
                                      </p:tavLst>
                                    </p:anim>
                                  </p:childTnLst>
                                </p:cTn>
                              </p:par>
                            </p:childTnLst>
                          </p:cTn>
                        </p:par>
                        <p:par>
                          <p:cTn id="75" fill="hold">
                            <p:stCondLst>
                              <p:cond delay="9600"/>
                            </p:stCondLst>
                            <p:childTnLst>
                              <p:par>
                                <p:cTn id="76" presetID="2" presetClass="entr" presetSubtype="4" fill="hold" grpId="0" nodeType="afterEffect">
                                  <p:stCondLst>
                                    <p:cond delay="100"/>
                                  </p:stCondLst>
                                  <p:childTnLst>
                                    <p:set>
                                      <p:cBhvr>
                                        <p:cTn id="77" dur="1" fill="hold">
                                          <p:stCondLst>
                                            <p:cond delay="0"/>
                                          </p:stCondLst>
                                        </p:cTn>
                                        <p:tgtEl>
                                          <p:spTgt spid="52"/>
                                        </p:tgtEl>
                                        <p:attrNameLst>
                                          <p:attrName>style.visibility</p:attrName>
                                        </p:attrNameLst>
                                      </p:cBhvr>
                                      <p:to>
                                        <p:strVal val="visible"/>
                                      </p:to>
                                    </p:set>
                                    <p:anim calcmode="lin" valueType="num">
                                      <p:cBhvr additive="base">
                                        <p:cTn id="78" dur="500" fill="hold"/>
                                        <p:tgtEl>
                                          <p:spTgt spid="52"/>
                                        </p:tgtEl>
                                        <p:attrNameLst>
                                          <p:attrName>ppt_x</p:attrName>
                                        </p:attrNameLst>
                                      </p:cBhvr>
                                      <p:tavLst>
                                        <p:tav tm="0">
                                          <p:val>
                                            <p:strVal val="#ppt_x"/>
                                          </p:val>
                                        </p:tav>
                                        <p:tav tm="100000">
                                          <p:val>
                                            <p:strVal val="#ppt_x"/>
                                          </p:val>
                                        </p:tav>
                                      </p:tavLst>
                                    </p:anim>
                                    <p:anim calcmode="lin" valueType="num">
                                      <p:cBhvr additive="base">
                                        <p:cTn id="79"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35" grpId="0" bldLvl="0" animBg="1" autoUpdateAnimBg="0"/>
      <p:bldP spid="39" grpId="0" bldLvl="0" animBg="1" autoUpdateAnimBg="0"/>
      <p:bldP spid="40" grpId="0" bldLvl="0" animBg="1" autoUpdateAnimBg="0"/>
      <p:bldP spid="41" grpId="0" bldLvl="0" animBg="1" autoUpdateAnimBg="0"/>
      <p:bldP spid="42" grpId="0" bldLvl="0" animBg="1" autoUpdateAnimBg="0"/>
      <p:bldP spid="43" grpId="0" bldLvl="0" animBg="1" autoUpdateAnimBg="0"/>
      <p:bldP spid="44" grpId="0" bldLvl="0" animBg="1" autoUpdateAnimBg="0"/>
      <p:bldP spid="45" grpId="0" bldLvl="0" animBg="1" autoUpdateAnimBg="0"/>
      <p:bldP spid="46" grpId="0" bldLvl="0" animBg="1" autoUpdateAnimBg="0"/>
      <p:bldP spid="47" grpId="0" bldLvl="0" animBg="1" autoUpdateAnimBg="0"/>
      <p:bldP spid="48" grpId="0" bldLvl="0" animBg="1" autoUpdateAnimBg="0"/>
      <p:bldP spid="49" grpId="0" bldLvl="0" animBg="1" autoUpdateAnimBg="0"/>
      <p:bldP spid="51" grpId="0" bldLvl="0" animBg="1" autoUpdateAnimBg="0"/>
      <p:bldP spid="52"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bwMode="auto">
          <a:xfrm>
            <a:off x="3515599" y="2272888"/>
            <a:ext cx="5423653" cy="3240360"/>
            <a:chOff x="0" y="0"/>
            <a:chExt cx="3490" cy="3603"/>
          </a:xfrm>
          <a:solidFill>
            <a:srgbClr val="383F4E"/>
          </a:solidFill>
        </p:grpSpPr>
        <p:sp>
          <p:nvSpPr>
            <p:cNvPr id="6" name="Freeform 58"/>
            <p:cNvSpPr/>
            <p:nvPr/>
          </p:nvSpPr>
          <p:spPr bwMode="auto">
            <a:xfrm>
              <a:off x="0" y="2826"/>
              <a:ext cx="3490" cy="777"/>
            </a:xfrm>
            <a:custGeom>
              <a:avLst/>
              <a:gdLst>
                <a:gd name="T0" fmla="*/ 0 w 2557"/>
                <a:gd name="T1" fmla="*/ 929 h 538"/>
                <a:gd name="T2" fmla="*/ 2720 w 2557"/>
                <a:gd name="T3" fmla="*/ 928 h 538"/>
                <a:gd name="T4" fmla="*/ 2406 w 2557"/>
                <a:gd name="T5" fmla="*/ 1 h 538"/>
                <a:gd name="T6" fmla="*/ 308 w 2557"/>
                <a:gd name="T7" fmla="*/ 0 h 538"/>
                <a:gd name="T8" fmla="*/ 0 w 2557"/>
                <a:gd name="T9" fmla="*/ 929 h 538"/>
                <a:gd name="T10" fmla="*/ 0 60000 65536"/>
                <a:gd name="T11" fmla="*/ 0 60000 65536"/>
                <a:gd name="T12" fmla="*/ 0 60000 65536"/>
                <a:gd name="T13" fmla="*/ 0 60000 65536"/>
                <a:gd name="T14" fmla="*/ 0 60000 65536"/>
                <a:gd name="T15" fmla="*/ 0 w 2557"/>
                <a:gd name="T16" fmla="*/ 0 h 538"/>
                <a:gd name="T17" fmla="*/ 2557 w 2557"/>
                <a:gd name="T18" fmla="*/ 538 h 538"/>
              </a:gdLst>
              <a:ahLst/>
              <a:cxnLst>
                <a:cxn ang="T10">
                  <a:pos x="T0" y="T1"/>
                </a:cxn>
                <a:cxn ang="T11">
                  <a:pos x="T2" y="T3"/>
                </a:cxn>
                <a:cxn ang="T12">
                  <a:pos x="T4" y="T5"/>
                </a:cxn>
                <a:cxn ang="T13">
                  <a:pos x="T6" y="T7"/>
                </a:cxn>
                <a:cxn ang="T14">
                  <a:pos x="T8" y="T9"/>
                </a:cxn>
              </a:cxnLst>
              <a:rect l="T15" t="T16" r="T17" b="T18"/>
              <a:pathLst>
                <a:path w="2557" h="538">
                  <a:moveTo>
                    <a:pt x="0" y="537"/>
                  </a:moveTo>
                  <a:lnTo>
                    <a:pt x="2556" y="536"/>
                  </a:lnTo>
                  <a:lnTo>
                    <a:pt x="2262" y="1"/>
                  </a:lnTo>
                  <a:lnTo>
                    <a:pt x="288" y="0"/>
                  </a:lnTo>
                  <a:lnTo>
                    <a:pt x="0" y="537"/>
                  </a:lnTo>
                </a:path>
              </a:pathLst>
            </a:custGeom>
            <a:grpFill/>
            <a:ln w="9525">
              <a:noFill/>
              <a:round/>
            </a:ln>
          </p:spPr>
          <p:txBody>
            <a:bodyPr/>
            <a:lstStyle/>
            <a:p>
              <a:endParaRPr lang="zh-CN" altLang="en-US"/>
            </a:p>
          </p:txBody>
        </p:sp>
        <p:sp>
          <p:nvSpPr>
            <p:cNvPr id="7" name="Freeform 62"/>
            <p:cNvSpPr/>
            <p:nvPr/>
          </p:nvSpPr>
          <p:spPr bwMode="auto">
            <a:xfrm>
              <a:off x="420" y="2093"/>
              <a:ext cx="2597" cy="617"/>
            </a:xfrm>
            <a:custGeom>
              <a:avLst/>
              <a:gdLst>
                <a:gd name="T0" fmla="*/ 0 w 2557"/>
                <a:gd name="T1" fmla="*/ 929 h 538"/>
                <a:gd name="T2" fmla="*/ 2720 w 2557"/>
                <a:gd name="T3" fmla="*/ 928 h 538"/>
                <a:gd name="T4" fmla="*/ 2406 w 2557"/>
                <a:gd name="T5" fmla="*/ 1 h 538"/>
                <a:gd name="T6" fmla="*/ 308 w 2557"/>
                <a:gd name="T7" fmla="*/ 0 h 538"/>
                <a:gd name="T8" fmla="*/ 0 w 2557"/>
                <a:gd name="T9" fmla="*/ 929 h 538"/>
                <a:gd name="T10" fmla="*/ 0 60000 65536"/>
                <a:gd name="T11" fmla="*/ 0 60000 65536"/>
                <a:gd name="T12" fmla="*/ 0 60000 65536"/>
                <a:gd name="T13" fmla="*/ 0 60000 65536"/>
                <a:gd name="T14" fmla="*/ 0 60000 65536"/>
                <a:gd name="T15" fmla="*/ 0 w 2557"/>
                <a:gd name="T16" fmla="*/ 0 h 538"/>
                <a:gd name="T17" fmla="*/ 2557 w 2557"/>
                <a:gd name="T18" fmla="*/ 538 h 538"/>
              </a:gdLst>
              <a:ahLst/>
              <a:cxnLst>
                <a:cxn ang="T10">
                  <a:pos x="T0" y="T1"/>
                </a:cxn>
                <a:cxn ang="T11">
                  <a:pos x="T2" y="T3"/>
                </a:cxn>
                <a:cxn ang="T12">
                  <a:pos x="T4" y="T5"/>
                </a:cxn>
                <a:cxn ang="T13">
                  <a:pos x="T6" y="T7"/>
                </a:cxn>
                <a:cxn ang="T14">
                  <a:pos x="T8" y="T9"/>
                </a:cxn>
              </a:cxnLst>
              <a:rect l="T15" t="T16" r="T17" b="T18"/>
              <a:pathLst>
                <a:path w="2557" h="538">
                  <a:moveTo>
                    <a:pt x="0" y="537"/>
                  </a:moveTo>
                  <a:lnTo>
                    <a:pt x="2556" y="536"/>
                  </a:lnTo>
                  <a:lnTo>
                    <a:pt x="2262" y="1"/>
                  </a:lnTo>
                  <a:lnTo>
                    <a:pt x="288" y="0"/>
                  </a:lnTo>
                  <a:lnTo>
                    <a:pt x="0" y="537"/>
                  </a:lnTo>
                </a:path>
              </a:pathLst>
            </a:custGeom>
            <a:grpFill/>
            <a:ln w="9525">
              <a:noFill/>
              <a:round/>
            </a:ln>
          </p:spPr>
          <p:txBody>
            <a:bodyPr/>
            <a:lstStyle/>
            <a:p>
              <a:endParaRPr lang="zh-CN" altLang="en-US"/>
            </a:p>
          </p:txBody>
        </p:sp>
        <p:sp>
          <p:nvSpPr>
            <p:cNvPr id="8" name="Freeform 67"/>
            <p:cNvSpPr/>
            <p:nvPr/>
          </p:nvSpPr>
          <p:spPr bwMode="auto">
            <a:xfrm>
              <a:off x="750" y="1398"/>
              <a:ext cx="1935" cy="607"/>
            </a:xfrm>
            <a:custGeom>
              <a:avLst/>
              <a:gdLst>
                <a:gd name="T0" fmla="*/ 0 w 1906"/>
                <a:gd name="T1" fmla="*/ 910 h 530"/>
                <a:gd name="T2" fmla="*/ 2023 w 1906"/>
                <a:gd name="T3" fmla="*/ 910 h 530"/>
                <a:gd name="T4" fmla="*/ 1706 w 1906"/>
                <a:gd name="T5" fmla="*/ 0 h 530"/>
                <a:gd name="T6" fmla="*/ 298 w 1906"/>
                <a:gd name="T7" fmla="*/ 0 h 530"/>
                <a:gd name="T8" fmla="*/ 0 w 1906"/>
                <a:gd name="T9" fmla="*/ 910 h 530"/>
                <a:gd name="T10" fmla="*/ 0 60000 65536"/>
                <a:gd name="T11" fmla="*/ 0 60000 65536"/>
                <a:gd name="T12" fmla="*/ 0 60000 65536"/>
                <a:gd name="T13" fmla="*/ 0 60000 65536"/>
                <a:gd name="T14" fmla="*/ 0 60000 65536"/>
                <a:gd name="T15" fmla="*/ 0 w 1906"/>
                <a:gd name="T16" fmla="*/ 0 h 530"/>
                <a:gd name="T17" fmla="*/ 1906 w 1906"/>
                <a:gd name="T18" fmla="*/ 530 h 530"/>
              </a:gdLst>
              <a:ahLst/>
              <a:cxnLst>
                <a:cxn ang="T10">
                  <a:pos x="T0" y="T1"/>
                </a:cxn>
                <a:cxn ang="T11">
                  <a:pos x="T2" y="T3"/>
                </a:cxn>
                <a:cxn ang="T12">
                  <a:pos x="T4" y="T5"/>
                </a:cxn>
                <a:cxn ang="T13">
                  <a:pos x="T6" y="T7"/>
                </a:cxn>
                <a:cxn ang="T14">
                  <a:pos x="T8" y="T9"/>
                </a:cxn>
              </a:cxnLst>
              <a:rect l="T15" t="T16" r="T17" b="T18"/>
              <a:pathLst>
                <a:path w="1906" h="530">
                  <a:moveTo>
                    <a:pt x="0" y="529"/>
                  </a:moveTo>
                  <a:lnTo>
                    <a:pt x="1905" y="529"/>
                  </a:lnTo>
                  <a:lnTo>
                    <a:pt x="1606" y="0"/>
                  </a:lnTo>
                  <a:lnTo>
                    <a:pt x="282" y="0"/>
                  </a:lnTo>
                  <a:lnTo>
                    <a:pt x="0" y="529"/>
                  </a:lnTo>
                </a:path>
              </a:pathLst>
            </a:custGeom>
            <a:grpFill/>
            <a:ln w="9525">
              <a:noFill/>
              <a:round/>
            </a:ln>
          </p:spPr>
          <p:txBody>
            <a:bodyPr/>
            <a:lstStyle/>
            <a:p>
              <a:endParaRPr lang="zh-CN" altLang="en-US"/>
            </a:p>
          </p:txBody>
        </p:sp>
        <p:sp>
          <p:nvSpPr>
            <p:cNvPr id="9" name="Freeform 70"/>
            <p:cNvSpPr/>
            <p:nvPr/>
          </p:nvSpPr>
          <p:spPr bwMode="auto">
            <a:xfrm>
              <a:off x="1070" y="701"/>
              <a:ext cx="1258" cy="617"/>
            </a:xfrm>
            <a:custGeom>
              <a:avLst/>
              <a:gdLst>
                <a:gd name="T0" fmla="*/ 0 w 1239"/>
                <a:gd name="T1" fmla="*/ 929 h 538"/>
                <a:gd name="T2" fmla="*/ 1316 w 1239"/>
                <a:gd name="T3" fmla="*/ 929 h 538"/>
                <a:gd name="T4" fmla="*/ 1010 w 1239"/>
                <a:gd name="T5" fmla="*/ 0 h 538"/>
                <a:gd name="T6" fmla="*/ 306 w 1239"/>
                <a:gd name="T7" fmla="*/ 0 h 538"/>
                <a:gd name="T8" fmla="*/ 0 w 1239"/>
                <a:gd name="T9" fmla="*/ 929 h 538"/>
                <a:gd name="T10" fmla="*/ 0 60000 65536"/>
                <a:gd name="T11" fmla="*/ 0 60000 65536"/>
                <a:gd name="T12" fmla="*/ 0 60000 65536"/>
                <a:gd name="T13" fmla="*/ 0 60000 65536"/>
                <a:gd name="T14" fmla="*/ 0 60000 65536"/>
                <a:gd name="T15" fmla="*/ 0 w 1239"/>
                <a:gd name="T16" fmla="*/ 0 h 538"/>
                <a:gd name="T17" fmla="*/ 1239 w 1239"/>
                <a:gd name="T18" fmla="*/ 538 h 538"/>
              </a:gdLst>
              <a:ahLst/>
              <a:cxnLst>
                <a:cxn ang="T10">
                  <a:pos x="T0" y="T1"/>
                </a:cxn>
                <a:cxn ang="T11">
                  <a:pos x="T2" y="T3"/>
                </a:cxn>
                <a:cxn ang="T12">
                  <a:pos x="T4" y="T5"/>
                </a:cxn>
                <a:cxn ang="T13">
                  <a:pos x="T6" y="T7"/>
                </a:cxn>
                <a:cxn ang="T14">
                  <a:pos x="T8" y="T9"/>
                </a:cxn>
              </a:cxnLst>
              <a:rect l="T15" t="T16" r="T17" b="T18"/>
              <a:pathLst>
                <a:path w="1239" h="538">
                  <a:moveTo>
                    <a:pt x="0" y="537"/>
                  </a:moveTo>
                  <a:lnTo>
                    <a:pt x="1238" y="537"/>
                  </a:lnTo>
                  <a:lnTo>
                    <a:pt x="950" y="0"/>
                  </a:lnTo>
                  <a:lnTo>
                    <a:pt x="288" y="0"/>
                  </a:lnTo>
                  <a:lnTo>
                    <a:pt x="0" y="537"/>
                  </a:lnTo>
                </a:path>
              </a:pathLst>
            </a:custGeom>
            <a:grpFill/>
            <a:ln w="9525">
              <a:noFill/>
              <a:round/>
            </a:ln>
          </p:spPr>
          <p:txBody>
            <a:bodyPr/>
            <a:lstStyle/>
            <a:p>
              <a:endParaRPr lang="zh-CN" altLang="en-US"/>
            </a:p>
          </p:txBody>
        </p:sp>
        <p:sp>
          <p:nvSpPr>
            <p:cNvPr id="10" name="Freeform 73"/>
            <p:cNvSpPr/>
            <p:nvPr/>
          </p:nvSpPr>
          <p:spPr bwMode="auto">
            <a:xfrm>
              <a:off x="1399" y="0"/>
              <a:ext cx="598" cy="616"/>
            </a:xfrm>
            <a:custGeom>
              <a:avLst/>
              <a:gdLst>
                <a:gd name="T0" fmla="*/ 0 w 587"/>
                <a:gd name="T1" fmla="*/ 922 h 537"/>
                <a:gd name="T2" fmla="*/ 631 w 587"/>
                <a:gd name="T3" fmla="*/ 928 h 537"/>
                <a:gd name="T4" fmla="*/ 304 w 587"/>
                <a:gd name="T5" fmla="*/ 0 h 537"/>
                <a:gd name="T6" fmla="*/ 0 w 587"/>
                <a:gd name="T7" fmla="*/ 922 h 537"/>
                <a:gd name="T8" fmla="*/ 0 60000 65536"/>
                <a:gd name="T9" fmla="*/ 0 60000 65536"/>
                <a:gd name="T10" fmla="*/ 0 60000 65536"/>
                <a:gd name="T11" fmla="*/ 0 60000 65536"/>
                <a:gd name="T12" fmla="*/ 0 w 587"/>
                <a:gd name="T13" fmla="*/ 0 h 537"/>
                <a:gd name="T14" fmla="*/ 587 w 587"/>
                <a:gd name="T15" fmla="*/ 537 h 537"/>
              </a:gdLst>
              <a:ahLst/>
              <a:cxnLst>
                <a:cxn ang="T8">
                  <a:pos x="T0" y="T1"/>
                </a:cxn>
                <a:cxn ang="T9">
                  <a:pos x="T2" y="T3"/>
                </a:cxn>
                <a:cxn ang="T10">
                  <a:pos x="T4" y="T5"/>
                </a:cxn>
                <a:cxn ang="T11">
                  <a:pos x="T6" y="T7"/>
                </a:cxn>
              </a:cxnLst>
              <a:rect l="T12" t="T13" r="T14" b="T15"/>
              <a:pathLst>
                <a:path w="587" h="537">
                  <a:moveTo>
                    <a:pt x="0" y="533"/>
                  </a:moveTo>
                  <a:lnTo>
                    <a:pt x="586" y="536"/>
                  </a:lnTo>
                  <a:lnTo>
                    <a:pt x="283" y="0"/>
                  </a:lnTo>
                  <a:lnTo>
                    <a:pt x="0" y="533"/>
                  </a:lnTo>
                </a:path>
              </a:pathLst>
            </a:custGeom>
            <a:grpFill/>
            <a:ln w="9525">
              <a:noFill/>
              <a:round/>
            </a:ln>
          </p:spPr>
          <p:txBody>
            <a:bodyPr/>
            <a:lstStyle/>
            <a:p>
              <a:endParaRPr lang="zh-CN" altLang="en-US"/>
            </a:p>
          </p:txBody>
        </p:sp>
      </p:grpSp>
      <p:sp>
        <p:nvSpPr>
          <p:cNvPr id="11" name="矩形 10"/>
          <p:cNvSpPr/>
          <p:nvPr/>
        </p:nvSpPr>
        <p:spPr>
          <a:xfrm>
            <a:off x="5033396" y="4989448"/>
            <a:ext cx="2316480" cy="306705"/>
          </a:xfrm>
          <a:prstGeom prst="rect">
            <a:avLst/>
          </a:prstGeom>
        </p:spPr>
        <p:txBody>
          <a:bodyPr wrap="none">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银行存款、保障性保险产品</a:t>
            </a:r>
          </a:p>
        </p:txBody>
      </p:sp>
      <p:sp>
        <p:nvSpPr>
          <p:cNvPr id="12" name="矩形 11"/>
          <p:cNvSpPr/>
          <p:nvPr/>
        </p:nvSpPr>
        <p:spPr>
          <a:xfrm>
            <a:off x="4862222" y="4269368"/>
            <a:ext cx="2672080" cy="306705"/>
          </a:xfrm>
          <a:prstGeom prst="rect">
            <a:avLst/>
          </a:prstGeom>
        </p:spPr>
        <p:txBody>
          <a:bodyPr wrap="non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债券、债券基金、定额定期投资</a:t>
            </a:r>
          </a:p>
        </p:txBody>
      </p:sp>
      <p:sp>
        <p:nvSpPr>
          <p:cNvPr id="13" name="矩形 12"/>
          <p:cNvSpPr/>
          <p:nvPr/>
        </p:nvSpPr>
        <p:spPr>
          <a:xfrm>
            <a:off x="5921833" y="3645046"/>
            <a:ext cx="538480" cy="306705"/>
          </a:xfrm>
          <a:prstGeom prst="rect">
            <a:avLst/>
          </a:prstGeom>
        </p:spPr>
        <p:txBody>
          <a:bodyPr wrap="non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信托</a:t>
            </a:r>
          </a:p>
        </p:txBody>
      </p:sp>
      <p:sp>
        <p:nvSpPr>
          <p:cNvPr id="14" name="矩形 13"/>
          <p:cNvSpPr/>
          <p:nvPr/>
        </p:nvSpPr>
        <p:spPr>
          <a:xfrm>
            <a:off x="5570729" y="3123510"/>
            <a:ext cx="1249680" cy="275590"/>
          </a:xfrm>
          <a:prstGeom prst="rect">
            <a:avLst/>
          </a:prstGeom>
        </p:spPr>
        <p:txBody>
          <a:bodyPr wrap="none">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股票、股票基金</a:t>
            </a:r>
          </a:p>
        </p:txBody>
      </p:sp>
      <p:sp>
        <p:nvSpPr>
          <p:cNvPr id="15" name="矩形 14"/>
          <p:cNvSpPr/>
          <p:nvPr/>
        </p:nvSpPr>
        <p:spPr>
          <a:xfrm>
            <a:off x="5780338" y="2572795"/>
            <a:ext cx="716280" cy="252730"/>
          </a:xfrm>
          <a:prstGeom prst="rect">
            <a:avLst/>
          </a:prstGeom>
        </p:spPr>
        <p:txBody>
          <a:bodyPr wrap="none">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衍生产品</a:t>
            </a:r>
          </a:p>
        </p:txBody>
      </p:sp>
      <p:sp>
        <p:nvSpPr>
          <p:cNvPr id="16" name="右箭头 15"/>
          <p:cNvSpPr/>
          <p:nvPr/>
        </p:nvSpPr>
        <p:spPr>
          <a:xfrm rot="18599922">
            <a:off x="2042390" y="3398215"/>
            <a:ext cx="3696311" cy="827971"/>
          </a:xfrm>
          <a:prstGeom prst="rightArrow">
            <a:avLst>
              <a:gd name="adj1" fmla="val 50000"/>
              <a:gd name="adj2" fmla="val 80627"/>
            </a:avLst>
          </a:prstGeom>
          <a:gradFill flip="none" rotWithShape="1">
            <a:gsLst>
              <a:gs pos="0">
                <a:schemeClr val="tx1"/>
              </a:gs>
              <a:gs pos="50000">
                <a:schemeClr val="accent2"/>
              </a:gs>
              <a:gs pos="100000">
                <a:srgbClr val="E843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rot="13740000">
            <a:off x="6631305" y="3402171"/>
            <a:ext cx="3696311" cy="827971"/>
          </a:xfrm>
          <a:prstGeom prst="rightArrow">
            <a:avLst>
              <a:gd name="adj1" fmla="val 50000"/>
              <a:gd name="adj2" fmla="val 80627"/>
            </a:avLst>
          </a:prstGeom>
          <a:gradFill flip="none" rotWithShape="1">
            <a:gsLst>
              <a:gs pos="0">
                <a:schemeClr val="tx1"/>
              </a:gs>
              <a:gs pos="50000">
                <a:srgbClr val="E8432E"/>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48"/>
          <p:cNvSpPr txBox="1"/>
          <p:nvPr/>
        </p:nvSpPr>
        <p:spPr>
          <a:xfrm>
            <a:off x="2657519" y="2344897"/>
            <a:ext cx="1300480" cy="768350"/>
          </a:xfrm>
          <a:prstGeom prst="rect">
            <a:avLst/>
          </a:prstGeom>
          <a:noFill/>
        </p:spPr>
        <p:txBody>
          <a:bodyPr wrap="none" rtlCol="0">
            <a:spAutoFit/>
          </a:bodyPr>
          <a:lstStyle/>
          <a:p>
            <a:r>
              <a:rPr lang="zh-CN" altLang="en-US" sz="4400" i="1" dirty="0">
                <a:solidFill>
                  <a:srgbClr val="383F4E"/>
                </a:solidFill>
                <a:latin typeface="微软雅黑" panose="020B0503020204020204" pitchFamily="34" charset="-122"/>
                <a:ea typeface="微软雅黑" panose="020B0503020204020204" pitchFamily="34" charset="-122"/>
              </a:rPr>
              <a:t>风险</a:t>
            </a:r>
          </a:p>
        </p:txBody>
      </p:sp>
      <p:pic>
        <p:nvPicPr>
          <p:cNvPr id="19" name="图片 18" descr="未标题-1 拷贝.gif"/>
          <p:cNvPicPr>
            <a:picLocks noChangeAspect="1"/>
          </p:cNvPicPr>
          <p:nvPr/>
        </p:nvPicPr>
        <p:blipFill>
          <a:blip r:embed="rId3" cstate="print">
            <a:lum contrast="20000"/>
          </a:blip>
          <a:stretch>
            <a:fillRect/>
          </a:stretch>
        </p:blipFill>
        <p:spPr>
          <a:xfrm rot="20409886">
            <a:off x="9647862" y="2976864"/>
            <a:ext cx="842070" cy="504056"/>
          </a:xfrm>
          <a:prstGeom prst="rect">
            <a:avLst/>
          </a:prstGeom>
        </p:spPr>
      </p:pic>
      <p:sp>
        <p:nvSpPr>
          <p:cNvPr id="20" name="TextBox 49"/>
          <p:cNvSpPr txBox="1"/>
          <p:nvPr/>
        </p:nvSpPr>
        <p:spPr>
          <a:xfrm>
            <a:off x="8435195" y="2344897"/>
            <a:ext cx="1300480" cy="768350"/>
          </a:xfrm>
          <a:prstGeom prst="rect">
            <a:avLst/>
          </a:prstGeom>
          <a:noFill/>
        </p:spPr>
        <p:txBody>
          <a:bodyPr wrap="none" rtlCol="0">
            <a:spAutoFit/>
          </a:bodyPr>
          <a:lstStyle/>
          <a:p>
            <a:r>
              <a:rPr lang="zh-CN" altLang="en-US" sz="4400" i="1" dirty="0">
                <a:solidFill>
                  <a:srgbClr val="E8432E"/>
                </a:solidFill>
                <a:latin typeface="微软雅黑" panose="020B0503020204020204" pitchFamily="34" charset="-122"/>
                <a:ea typeface="微软雅黑" panose="020B0503020204020204" pitchFamily="34" charset="-122"/>
              </a:rPr>
              <a:t>收益</a:t>
            </a:r>
          </a:p>
        </p:txBody>
      </p:sp>
      <p:sp>
        <p:nvSpPr>
          <p:cNvPr id="21" name="TextBox 52"/>
          <p:cNvSpPr txBox="1"/>
          <p:nvPr/>
        </p:nvSpPr>
        <p:spPr>
          <a:xfrm>
            <a:off x="4537781" y="2556663"/>
            <a:ext cx="436880" cy="398780"/>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高</a:t>
            </a:r>
          </a:p>
        </p:txBody>
      </p:sp>
      <p:sp>
        <p:nvSpPr>
          <p:cNvPr id="22" name="TextBox 53"/>
          <p:cNvSpPr txBox="1"/>
          <p:nvPr/>
        </p:nvSpPr>
        <p:spPr>
          <a:xfrm>
            <a:off x="2163534" y="4577144"/>
            <a:ext cx="436880" cy="39878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低</a:t>
            </a:r>
          </a:p>
        </p:txBody>
      </p:sp>
      <p:sp>
        <p:nvSpPr>
          <p:cNvPr id="23" name="TextBox 54"/>
          <p:cNvSpPr txBox="1"/>
          <p:nvPr/>
        </p:nvSpPr>
        <p:spPr>
          <a:xfrm>
            <a:off x="7357968" y="2532725"/>
            <a:ext cx="436880" cy="398780"/>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高</a:t>
            </a:r>
          </a:p>
        </p:txBody>
      </p:sp>
      <p:sp>
        <p:nvSpPr>
          <p:cNvPr id="24" name="TextBox 55"/>
          <p:cNvSpPr txBox="1"/>
          <p:nvPr/>
        </p:nvSpPr>
        <p:spPr>
          <a:xfrm>
            <a:off x="9796382" y="4577144"/>
            <a:ext cx="436880" cy="39878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低</a:t>
            </a:r>
          </a:p>
        </p:txBody>
      </p:sp>
      <p:pic>
        <p:nvPicPr>
          <p:cNvPr id="25" name="图片 24" descr="未标题-1 拷贝.gif"/>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rot="5635591">
            <a:off x="2522470" y="3061389"/>
            <a:ext cx="677887" cy="733714"/>
          </a:xfrm>
          <a:prstGeom prst="rect">
            <a:avLst/>
          </a:prstGeom>
        </p:spPr>
      </p:pic>
      <p:pic>
        <p:nvPicPr>
          <p:cNvPr id="26" name="图片 25" descr="未标题-1 拷贝.gif"/>
          <p:cNvPicPr>
            <a:picLocks noChangeAspect="1"/>
          </p:cNvPicPr>
          <p:nvPr/>
        </p:nvPicPr>
        <p:blipFill>
          <a:blip r:embed="rId3" cstate="print">
            <a:lum contrast="20000"/>
            <a:extLst>
              <a:ext uri="{28A0092B-C50C-407E-A947-70E740481C1C}">
                <a14:useLocalDpi xmlns:a14="http://schemas.microsoft.com/office/drawing/2010/main"/>
              </a:ext>
            </a:extLst>
          </a:blip>
          <a:stretch>
            <a:fillRect/>
          </a:stretch>
        </p:blipFill>
        <p:spPr>
          <a:xfrm>
            <a:off x="9403445" y="3316712"/>
            <a:ext cx="447123" cy="267644"/>
          </a:xfrm>
          <a:prstGeom prst="rect">
            <a:avLst/>
          </a:prstGeom>
        </p:spPr>
      </p:pic>
      <p:sp>
        <p:nvSpPr>
          <p:cNvPr id="29" name="矩形 28"/>
          <p:cNvSpPr/>
          <p:nvPr/>
        </p:nvSpPr>
        <p:spPr>
          <a:xfrm>
            <a:off x="1555063" y="409086"/>
            <a:ext cx="3840480" cy="645160"/>
          </a:xfrm>
          <a:prstGeom prst="rect">
            <a:avLst/>
          </a:prstGeom>
        </p:spPr>
        <p:txBody>
          <a:bodyPr wrap="none">
            <a:spAutoFit/>
          </a:bodyPr>
          <a:lstStyle/>
          <a:p>
            <a:pPr>
              <a:defRPr/>
            </a:pPr>
            <a:r>
              <a:rPr lang="zh-CN" altLang="en-US" sz="3600" b="1" dirty="0">
                <a:solidFill>
                  <a:srgbClr val="383F4E"/>
                </a:solidFill>
                <a:latin typeface="微软雅黑" panose="020B0503020204020204" pitchFamily="34" charset="-122"/>
                <a:ea typeface="微软雅黑" panose="020B0503020204020204" pitchFamily="34" charset="-122"/>
                <a:sym typeface="经典特宋简" pitchFamily="1" charset="-122"/>
              </a:rPr>
              <a:t>投资产品选择分析</a:t>
            </a:r>
          </a:p>
        </p:txBody>
      </p:sp>
      <p:sp>
        <p:nvSpPr>
          <p:cNvPr id="30" name="文本框 29"/>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down)">
                                      <p:cBhvr>
                                        <p:cTn id="15" dur="500"/>
                                        <p:tgtEl>
                                          <p:spTgt spid="21"/>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down)">
                                      <p:cBhvr>
                                        <p:cTn id="18" dur="500"/>
                                        <p:tgtEl>
                                          <p:spTgt spid="22"/>
                                        </p:tgtEl>
                                      </p:cBhvr>
                                    </p:animEffect>
                                  </p:childTnLst>
                                </p:cTn>
                              </p:par>
                              <p:par>
                                <p:cTn id="19" presetID="22" presetClass="entr" presetSubtype="4"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down)">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par>
                                <p:cTn id="30" presetID="22" presetClass="entr" presetSubtype="4"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500"/>
                                        <p:tgtEl>
                                          <p:spTgt spid="20"/>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down)">
                                      <p:cBhvr>
                                        <p:cTn id="41" dur="500"/>
                                        <p:tgtEl>
                                          <p:spTgt spid="24"/>
                                        </p:tgtEl>
                                      </p:cBhvr>
                                    </p:animEffect>
                                  </p:childTnLst>
                                </p:cTn>
                              </p:par>
                              <p:par>
                                <p:cTn id="42" presetID="22" presetClass="entr" presetSubtype="4"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down)">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1500"/>
                                  </p:stCondLst>
                                  <p:childTnLst>
                                    <p:animEffect transition="out" filter="fade">
                                      <p:cBhvr>
                                        <p:cTn id="48" dur="500"/>
                                        <p:tgtEl>
                                          <p:spTgt spid="30"/>
                                        </p:tgtEl>
                                      </p:cBhvr>
                                    </p:animEffect>
                                    <p:set>
                                      <p:cBhvr>
                                        <p:cTn id="49"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bldLvl="0" animBg="1"/>
      <p:bldP spid="18" grpId="0"/>
      <p:bldP spid="20" grpId="0"/>
      <p:bldP spid="21" grpId="0"/>
      <p:bldP spid="22" grpId="0"/>
      <p:bldP spid="23" grpId="0"/>
      <p:bldP spid="24" grpId="0"/>
      <p:bldP spid="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674443" y="437026"/>
            <a:ext cx="4297680" cy="645160"/>
          </a:xfrm>
          <a:prstGeom prst="rect">
            <a:avLst/>
          </a:prstGeom>
        </p:spPr>
        <p:txBody>
          <a:bodyPr wrap="none">
            <a:spAutoFit/>
          </a:bodyPr>
          <a:lstStyle/>
          <a:p>
            <a:r>
              <a:rPr lang="zh-CN" altLang="zh-CN" sz="3600" b="1" dirty="0">
                <a:solidFill>
                  <a:srgbClr val="383F4E"/>
                </a:solidFill>
                <a:latin typeface="微软雅黑" panose="020B0503020204020204" pitchFamily="34" charset="-122"/>
                <a:ea typeface="微软雅黑" panose="020B0503020204020204" pitchFamily="34" charset="-122"/>
              </a:rPr>
              <a:t>专业完善的运作体系</a:t>
            </a:r>
          </a:p>
        </p:txBody>
      </p:sp>
      <p:sp>
        <p:nvSpPr>
          <p:cNvPr id="90" name="Freeform 74"/>
          <p:cNvSpPr/>
          <p:nvPr/>
        </p:nvSpPr>
        <p:spPr bwMode="auto">
          <a:xfrm>
            <a:off x="5922231" y="2242493"/>
            <a:ext cx="6292569" cy="719535"/>
          </a:xfrm>
          <a:custGeom>
            <a:avLst/>
            <a:gdLst>
              <a:gd name="T0" fmla="*/ 38 w 1054"/>
              <a:gd name="T1" fmla="*/ 0 h 161"/>
              <a:gd name="T2" fmla="*/ 1054 w 1054"/>
              <a:gd name="T3" fmla="*/ 0 h 161"/>
              <a:gd name="T4" fmla="*/ 1054 w 1054"/>
              <a:gd name="T5" fmla="*/ 161 h 161"/>
              <a:gd name="T6" fmla="*/ 0 w 1054"/>
              <a:gd name="T7" fmla="*/ 161 h 161"/>
              <a:gd name="T8" fmla="*/ 38 w 1054"/>
              <a:gd name="T9" fmla="*/ 0 h 161"/>
            </a:gdLst>
            <a:ahLst/>
            <a:cxnLst>
              <a:cxn ang="0">
                <a:pos x="T0" y="T1"/>
              </a:cxn>
              <a:cxn ang="0">
                <a:pos x="T2" y="T3"/>
              </a:cxn>
              <a:cxn ang="0">
                <a:pos x="T4" y="T5"/>
              </a:cxn>
              <a:cxn ang="0">
                <a:pos x="T6" y="T7"/>
              </a:cxn>
              <a:cxn ang="0">
                <a:pos x="T8" y="T9"/>
              </a:cxn>
            </a:cxnLst>
            <a:rect l="0" t="0" r="r" b="b"/>
            <a:pathLst>
              <a:path w="1054" h="161">
                <a:moveTo>
                  <a:pt x="38" y="0"/>
                </a:moveTo>
                <a:lnTo>
                  <a:pt x="1054" y="0"/>
                </a:lnTo>
                <a:lnTo>
                  <a:pt x="1054" y="161"/>
                </a:lnTo>
                <a:lnTo>
                  <a:pt x="0" y="161"/>
                </a:lnTo>
                <a:lnTo>
                  <a:pt x="38" y="0"/>
                </a:lnTo>
                <a:close/>
              </a:path>
            </a:pathLst>
          </a:custGeom>
          <a:solidFill>
            <a:srgbClr val="383F4E"/>
          </a:solidFill>
          <a:ln w="4" cap="flat">
            <a:noFill/>
            <a:prstDash val="solid"/>
            <a:miter lim="800000"/>
          </a:ln>
        </p:spPr>
        <p:txBody>
          <a:bodyPr vert="horz" wrap="square" lIns="91402" tIns="45701" rIns="91402" bIns="45701" numCol="1" anchor="t" anchorCtr="0" compatLnSpc="1"/>
          <a:lstStyle/>
          <a:p>
            <a:pPr defTabSz="1218565"/>
            <a:endParaRPr lang="zh-CN" altLang="en-US" sz="2400">
              <a:solidFill>
                <a:prstClr val="black"/>
              </a:solidFill>
              <a:latin typeface="Calibri" panose="020F0502020204030204"/>
              <a:ea typeface="宋体" panose="02010600030101010101" pitchFamily="2" charset="-122"/>
            </a:endParaRPr>
          </a:p>
        </p:txBody>
      </p:sp>
      <p:sp>
        <p:nvSpPr>
          <p:cNvPr id="120" name="TextBox 119"/>
          <p:cNvSpPr txBox="1"/>
          <p:nvPr/>
        </p:nvSpPr>
        <p:spPr>
          <a:xfrm>
            <a:off x="7042150" y="3176270"/>
            <a:ext cx="4253865" cy="329565"/>
          </a:xfrm>
          <a:prstGeom prst="rect">
            <a:avLst/>
          </a:prstGeom>
          <a:noFill/>
        </p:spPr>
        <p:txBody>
          <a:bodyPr wrap="square" lIns="91402" tIns="45701" rIns="91402" bIns="45701" rtlCol="0">
            <a:spAutoFit/>
          </a:bodyPr>
          <a:lstStyle/>
          <a:p>
            <a:pPr algn="l" defTabSz="1218565">
              <a:lnSpc>
                <a:spcPct val="130000"/>
              </a:lnSpc>
            </a:pPr>
            <a:r>
              <a:rPr lang="zh-CN" altLang="en-US" sz="1200" dirty="0">
                <a:solidFill>
                  <a:prstClr val="black">
                    <a:lumMod val="50000"/>
                    <a:lumOff val="50000"/>
                  </a:prstClr>
                </a:solidFill>
                <a:latin typeface="微软雅黑" panose="020B0503020204020204" pitchFamily="34" charset="-122"/>
                <a:ea typeface="微软雅黑" panose="020B0503020204020204" pitchFamily="34" charset="-122"/>
              </a:rPr>
              <a:t>核实内容：</a:t>
            </a:r>
            <a:r>
              <a:rPr lang="zh-CN" altLang="en-US" sz="1200" dirty="0">
                <a:solidFill>
                  <a:prstClr val="black">
                    <a:lumMod val="50000"/>
                    <a:lumOff val="50000"/>
                  </a:prstClr>
                </a:solidFill>
                <a:latin typeface="微软雅黑" panose="020B0503020204020204" pitchFamily="34" charset="-122"/>
                <a:ea typeface="微软雅黑" panose="020B0503020204020204" pitchFamily="34" charset="-122"/>
                <a:sym typeface="+mn-ea"/>
              </a:rPr>
              <a:t>身份证，银行对账单，就职单位，信用报告等</a:t>
            </a:r>
            <a:endParaRPr lang="zh-CN" altLang="en-US" sz="120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22" name="TextBox 121"/>
          <p:cNvSpPr txBox="1"/>
          <p:nvPr/>
        </p:nvSpPr>
        <p:spPr>
          <a:xfrm>
            <a:off x="7052945" y="3889375"/>
            <a:ext cx="4243070" cy="329565"/>
          </a:xfrm>
          <a:prstGeom prst="rect">
            <a:avLst/>
          </a:prstGeom>
          <a:noFill/>
        </p:spPr>
        <p:txBody>
          <a:bodyPr wrap="square" lIns="91402" tIns="45701" rIns="91402" bIns="45701" rtlCol="0">
            <a:spAutoFit/>
          </a:bodyPr>
          <a:lstStyle/>
          <a:p>
            <a:pPr defTabSz="1218565">
              <a:lnSpc>
                <a:spcPct val="130000"/>
              </a:lnSpc>
            </a:pPr>
            <a:r>
              <a:rPr lang="zh-CN" altLang="en-US" sz="1200" dirty="0">
                <a:solidFill>
                  <a:prstClr val="white">
                    <a:lumMod val="50000"/>
                  </a:prstClr>
                </a:solidFill>
                <a:latin typeface="微软雅黑" panose="020B0503020204020204" pitchFamily="34" charset="-122"/>
                <a:ea typeface="微软雅黑" panose="020B0503020204020204" pitchFamily="34" charset="-122"/>
              </a:rPr>
              <a:t>调查方式：电话调查，上门调查，正面调查，侧面调查等</a:t>
            </a:r>
          </a:p>
        </p:txBody>
      </p:sp>
      <p:sp>
        <p:nvSpPr>
          <p:cNvPr id="130" name="TextBox 129"/>
          <p:cNvSpPr txBox="1"/>
          <p:nvPr/>
        </p:nvSpPr>
        <p:spPr>
          <a:xfrm>
            <a:off x="7052945" y="4443730"/>
            <a:ext cx="4437380" cy="569595"/>
          </a:xfrm>
          <a:prstGeom prst="rect">
            <a:avLst/>
          </a:prstGeom>
          <a:noFill/>
        </p:spPr>
        <p:txBody>
          <a:bodyPr wrap="square" lIns="91402" tIns="45701" rIns="91402" bIns="45701" rtlCol="0">
            <a:spAutoFit/>
          </a:bodyPr>
          <a:lstStyle/>
          <a:p>
            <a:pPr algn="l" defTabSz="1218565">
              <a:lnSpc>
                <a:spcPct val="130000"/>
              </a:lnSpc>
            </a:pPr>
            <a:r>
              <a:rPr lang="zh-CN" altLang="en-US" sz="1200" dirty="0">
                <a:solidFill>
                  <a:prstClr val="white">
                    <a:lumMod val="50000"/>
                  </a:prstClr>
                </a:solidFill>
                <a:latin typeface="微软雅黑" panose="020B0503020204020204" pitchFamily="34" charset="-122"/>
                <a:ea typeface="微软雅黑" panose="020B0503020204020204" pitchFamily="34" charset="-122"/>
                <a:sym typeface="+mn-ea"/>
              </a:rPr>
              <a:t>调查对象数量：</a:t>
            </a:r>
            <a:endParaRPr lang="zh-CN" altLang="en-US" sz="1200" dirty="0">
              <a:solidFill>
                <a:prstClr val="white">
                  <a:lumMod val="50000"/>
                </a:prstClr>
              </a:solidFill>
              <a:latin typeface="微软雅黑" panose="020B0503020204020204" pitchFamily="34" charset="-122"/>
              <a:ea typeface="微软雅黑" panose="020B0503020204020204" pitchFamily="34" charset="-122"/>
            </a:endParaRPr>
          </a:p>
          <a:p>
            <a:pPr algn="l" defTabSz="1218565">
              <a:lnSpc>
                <a:spcPct val="130000"/>
              </a:lnSpc>
            </a:pPr>
            <a:r>
              <a:rPr lang="zh-CN" altLang="en-US" sz="1200" dirty="0">
                <a:solidFill>
                  <a:prstClr val="white">
                    <a:lumMod val="50000"/>
                  </a:prstClr>
                </a:solidFill>
                <a:latin typeface="微软雅黑" panose="020B0503020204020204" pitchFamily="34" charset="-122"/>
                <a:ea typeface="微软雅黑" panose="020B0503020204020204" pitchFamily="34" charset="-122"/>
              </a:rPr>
              <a:t>通过至少6个以上联系人，包括亲属，单位同事，朋友等</a:t>
            </a:r>
          </a:p>
        </p:txBody>
      </p:sp>
      <p:sp>
        <p:nvSpPr>
          <p:cNvPr id="131" name="TextBox 130"/>
          <p:cNvSpPr txBox="1"/>
          <p:nvPr/>
        </p:nvSpPr>
        <p:spPr>
          <a:xfrm>
            <a:off x="7037705" y="5160010"/>
            <a:ext cx="4258310" cy="1049020"/>
          </a:xfrm>
          <a:prstGeom prst="rect">
            <a:avLst/>
          </a:prstGeom>
          <a:noFill/>
        </p:spPr>
        <p:txBody>
          <a:bodyPr wrap="square" lIns="91402" tIns="45701" rIns="91402" bIns="45701" rtlCol="0">
            <a:spAutoFit/>
          </a:bodyPr>
          <a:lstStyle/>
          <a:p>
            <a:pPr algn="l" defTabSz="1218565">
              <a:lnSpc>
                <a:spcPct val="130000"/>
              </a:lnSpc>
            </a:pPr>
            <a:r>
              <a:rPr lang="zh-CN" altLang="en-US" sz="1200" dirty="0">
                <a:solidFill>
                  <a:prstClr val="white">
                    <a:lumMod val="50000"/>
                  </a:prstClr>
                </a:solidFill>
                <a:latin typeface="微软雅黑" panose="020B0503020204020204" pitchFamily="34" charset="-122"/>
                <a:ea typeface="微软雅黑" panose="020B0503020204020204" pitchFamily="34" charset="-122"/>
                <a:sym typeface="+mn-ea"/>
              </a:rPr>
              <a:t>调查疑点处理：</a:t>
            </a:r>
            <a:endParaRPr lang="zh-CN" altLang="en-US" sz="1200" dirty="0">
              <a:solidFill>
                <a:prstClr val="white">
                  <a:lumMod val="50000"/>
                </a:prstClr>
              </a:solidFill>
              <a:latin typeface="微软雅黑" panose="020B0503020204020204" pitchFamily="34" charset="-122"/>
              <a:ea typeface="微软雅黑" panose="020B0503020204020204" pitchFamily="34" charset="-122"/>
            </a:endParaRPr>
          </a:p>
          <a:p>
            <a:pPr algn="l" defTabSz="1218565">
              <a:lnSpc>
                <a:spcPct val="130000"/>
              </a:lnSpc>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是否批贷，反复多渠道再次核查。若仍存在问题，要求申</a:t>
            </a:r>
          </a:p>
          <a:p>
            <a:pPr algn="l" defTabSz="1218565">
              <a:lnSpc>
                <a:spcPct val="130000"/>
              </a:lnSpc>
            </a:pPr>
            <a:r>
              <a:rPr lang="zh-CN" altLang="en-US" sz="1200" dirty="0">
                <a:solidFill>
                  <a:prstClr val="white">
                    <a:lumMod val="50000"/>
                  </a:prstClr>
                </a:solidFill>
                <a:latin typeface="微软雅黑" panose="020B0503020204020204" pitchFamily="34" charset="-122"/>
                <a:ea typeface="微软雅黑" panose="020B0503020204020204" pitchFamily="34" charset="-122"/>
              </a:rPr>
              <a:t>请人变更贷款方式，额度或期限等</a:t>
            </a:r>
          </a:p>
          <a:p>
            <a:pPr algn="ctr" defTabSz="1218565">
              <a:lnSpc>
                <a:spcPct val="130000"/>
              </a:lnSpc>
            </a:pPr>
            <a:endParaRPr lang="zh-CN" altLang="en-US" sz="1200" dirty="0">
              <a:solidFill>
                <a:prstClr val="white">
                  <a:lumMod val="50000"/>
                </a:prstClr>
              </a:solidFill>
              <a:latin typeface="微软雅黑" panose="020B0503020204020204" pitchFamily="34" charset="-122"/>
              <a:ea typeface="微软雅黑" panose="020B0503020204020204" pitchFamily="34" charset="-122"/>
            </a:endParaRPr>
          </a:p>
        </p:txBody>
      </p:sp>
      <p:sp>
        <p:nvSpPr>
          <p:cNvPr id="139" name="TextBox 138"/>
          <p:cNvSpPr txBox="1"/>
          <p:nvPr/>
        </p:nvSpPr>
        <p:spPr>
          <a:xfrm>
            <a:off x="6000019" y="2330066"/>
            <a:ext cx="1843612" cy="461435"/>
          </a:xfrm>
          <a:prstGeom prst="rect">
            <a:avLst/>
          </a:prstGeom>
          <a:noFill/>
          <a:ln>
            <a:noFill/>
          </a:ln>
        </p:spPr>
        <p:txBody>
          <a:bodyPr wrap="square" lIns="91402" tIns="45701" rIns="91402" bIns="45701" rtlCol="0">
            <a:spAutoFit/>
          </a:bodyPr>
          <a:lstStyle/>
          <a:p>
            <a:pPr algn="ctr" defTabSz="1218565">
              <a:lnSpc>
                <a:spcPct val="150000"/>
              </a:lnSpc>
            </a:pPr>
            <a:r>
              <a:rPr lang="zh-CN" altLang="en-US" sz="1600" dirty="0">
                <a:solidFill>
                  <a:prstClr val="white"/>
                </a:solidFill>
                <a:latin typeface="微软雅黑" panose="020B0503020204020204" pitchFamily="34" charset="-122"/>
                <a:ea typeface="微软雅黑" panose="020B0503020204020204" pitchFamily="34" charset="-122"/>
                <a:cs typeface="华文黑体" pitchFamily="2" charset="-122"/>
              </a:rPr>
              <a:t>添加标题</a:t>
            </a:r>
          </a:p>
        </p:txBody>
      </p:sp>
      <p:grpSp>
        <p:nvGrpSpPr>
          <p:cNvPr id="2" name="组合 1"/>
          <p:cNvGrpSpPr/>
          <p:nvPr/>
        </p:nvGrpSpPr>
        <p:grpSpPr>
          <a:xfrm>
            <a:off x="5616364" y="3345496"/>
            <a:ext cx="1211000" cy="2132207"/>
            <a:chOff x="5615422" y="3345495"/>
            <a:chExt cx="1211373" cy="2132206"/>
          </a:xfrm>
        </p:grpSpPr>
        <p:grpSp>
          <p:nvGrpSpPr>
            <p:cNvPr id="3" name="组合 10"/>
            <p:cNvGrpSpPr/>
            <p:nvPr/>
          </p:nvGrpSpPr>
          <p:grpSpPr>
            <a:xfrm>
              <a:off x="5615422" y="3379246"/>
              <a:ext cx="1211373" cy="2060941"/>
              <a:chOff x="5979346" y="3516214"/>
              <a:chExt cx="847449" cy="2060941"/>
            </a:xfrm>
          </p:grpSpPr>
          <p:cxnSp>
            <p:nvCxnSpPr>
              <p:cNvPr id="4" name="直接连接符 3"/>
              <p:cNvCxnSpPr/>
              <p:nvPr/>
            </p:nvCxnSpPr>
            <p:spPr>
              <a:xfrm flipV="1">
                <a:off x="6448732" y="3516214"/>
                <a:ext cx="33257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V="1">
                <a:off x="6095206" y="4182396"/>
                <a:ext cx="687967" cy="16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V="1">
                <a:off x="5979346" y="5568121"/>
                <a:ext cx="803827" cy="90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6022968" y="4920560"/>
                <a:ext cx="803827" cy="90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8" name="椭圆 97"/>
            <p:cNvSpPr/>
            <p:nvPr/>
          </p:nvSpPr>
          <p:spPr>
            <a:xfrm>
              <a:off x="6740975" y="3345495"/>
              <a:ext cx="67501" cy="6750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141" name="椭圆 140"/>
            <p:cNvSpPr/>
            <p:nvPr/>
          </p:nvSpPr>
          <p:spPr>
            <a:xfrm>
              <a:off x="6726463" y="4024476"/>
              <a:ext cx="67501" cy="6750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142" name="椭圆 141"/>
            <p:cNvSpPr/>
            <p:nvPr/>
          </p:nvSpPr>
          <p:spPr>
            <a:xfrm>
              <a:off x="6726463" y="4749307"/>
              <a:ext cx="67501" cy="6750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143" name="椭圆 142"/>
            <p:cNvSpPr/>
            <p:nvPr/>
          </p:nvSpPr>
          <p:spPr>
            <a:xfrm>
              <a:off x="6734077" y="5410200"/>
              <a:ext cx="67501" cy="6750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grpSp>
      <p:sp>
        <p:nvSpPr>
          <p:cNvPr id="161" name="TextBox 160"/>
          <p:cNvSpPr txBox="1"/>
          <p:nvPr/>
        </p:nvSpPr>
        <p:spPr>
          <a:xfrm>
            <a:off x="7814841" y="2314499"/>
            <a:ext cx="3798569" cy="785626"/>
          </a:xfrm>
          <a:prstGeom prst="rect">
            <a:avLst/>
          </a:prstGeom>
          <a:noFill/>
        </p:spPr>
        <p:txBody>
          <a:bodyPr wrap="square" lIns="91402" tIns="45701" rIns="91402" bIns="45701" rtlCol="0">
            <a:spAutoFit/>
          </a:bodyPr>
          <a:lstStyle/>
          <a:p>
            <a:pPr defTabSz="1218565">
              <a:lnSpc>
                <a:spcPct val="130000"/>
              </a:lnSpc>
            </a:pPr>
            <a:r>
              <a:rPr lang="zh-CN" altLang="en-US" sz="1200" dirty="0">
                <a:solidFill>
                  <a:prstClr val="white"/>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您的内容打在这里，或者通过复制您的文本后，您的内容打在这里，或者通过复制您的文本后，</a:t>
            </a:r>
          </a:p>
          <a:p>
            <a:pPr algn="ctr" defTabSz="1218565">
              <a:lnSpc>
                <a:spcPct val="130000"/>
              </a:lnSpc>
            </a:pPr>
            <a:endParaRPr lang="zh-CN" altLang="en-US" sz="1065" dirty="0">
              <a:solidFill>
                <a:prstClr val="white"/>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rotWithShape="1">
          <a:blip r:embed="rId3" cstate="print">
            <a:extLst>
              <a:ext uri="{28A0092B-C50C-407E-A947-70E740481C1C}">
                <a14:useLocalDpi xmlns:a14="http://schemas.microsoft.com/office/drawing/2010/main"/>
              </a:ext>
            </a:extLst>
          </a:blip>
          <a:srcRect/>
          <a:stretch>
            <a:fillRect/>
          </a:stretch>
        </p:blipFill>
        <p:spPr>
          <a:xfrm>
            <a:off x="798845" y="2242495"/>
            <a:ext cx="5181335" cy="3490399"/>
          </a:xfrm>
          <a:prstGeom prst="rect">
            <a:avLst/>
          </a:prstGeom>
        </p:spPr>
      </p:pic>
      <p:sp>
        <p:nvSpPr>
          <p:cNvPr id="80" name="Freeform 71"/>
          <p:cNvSpPr/>
          <p:nvPr/>
        </p:nvSpPr>
        <p:spPr bwMode="auto">
          <a:xfrm>
            <a:off x="5782674" y="3153488"/>
            <a:ext cx="714886" cy="400710"/>
          </a:xfrm>
          <a:custGeom>
            <a:avLst/>
            <a:gdLst>
              <a:gd name="T0" fmla="*/ 24 w 152"/>
              <a:gd name="T1" fmla="*/ 0 h 110"/>
              <a:gd name="T2" fmla="*/ 152 w 152"/>
              <a:gd name="T3" fmla="*/ 0 h 110"/>
              <a:gd name="T4" fmla="*/ 126 w 152"/>
              <a:gd name="T5" fmla="*/ 110 h 110"/>
              <a:gd name="T6" fmla="*/ 0 w 152"/>
              <a:gd name="T7" fmla="*/ 110 h 110"/>
              <a:gd name="T8" fmla="*/ 24 w 152"/>
              <a:gd name="T9" fmla="*/ 0 h 110"/>
            </a:gdLst>
            <a:ahLst/>
            <a:cxnLst>
              <a:cxn ang="0">
                <a:pos x="T0" y="T1"/>
              </a:cxn>
              <a:cxn ang="0">
                <a:pos x="T2" y="T3"/>
              </a:cxn>
              <a:cxn ang="0">
                <a:pos x="T4" y="T5"/>
              </a:cxn>
              <a:cxn ang="0">
                <a:pos x="T6" y="T7"/>
              </a:cxn>
              <a:cxn ang="0">
                <a:pos x="T8" y="T9"/>
              </a:cxn>
            </a:cxnLst>
            <a:rect l="0" t="0" r="r" b="b"/>
            <a:pathLst>
              <a:path w="152" h="110">
                <a:moveTo>
                  <a:pt x="24" y="0"/>
                </a:moveTo>
                <a:lnTo>
                  <a:pt x="152" y="0"/>
                </a:lnTo>
                <a:lnTo>
                  <a:pt x="126" y="110"/>
                </a:lnTo>
                <a:lnTo>
                  <a:pt x="0" y="110"/>
                </a:lnTo>
                <a:lnTo>
                  <a:pt x="24" y="0"/>
                </a:lnTo>
                <a:close/>
              </a:path>
            </a:pathLst>
          </a:custGeom>
          <a:solidFill>
            <a:srgbClr val="383F4E"/>
          </a:solidFill>
          <a:ln w="4" cap="flat">
            <a:noFill/>
            <a:prstDash val="solid"/>
            <a:miter lim="800000"/>
          </a:ln>
        </p:spPr>
        <p:txBody>
          <a:bodyPr vert="horz" wrap="square" lIns="91402" tIns="45701" rIns="91402" bIns="45701" numCol="1" anchor="ctr" anchorCtr="0" compatLnSpc="1">
            <a:normAutofit lnSpcReduction="10000"/>
          </a:bodyPr>
          <a:lstStyle/>
          <a:p>
            <a:pPr algn="ctr" defTabSz="1218565"/>
            <a:r>
              <a:rPr lang="en-US" altLang="zh-CN" sz="2135" dirty="0">
                <a:solidFill>
                  <a:prstClr val="white">
                    <a:lumMod val="95000"/>
                  </a:prstClr>
                </a:solidFill>
                <a:latin typeface="方正大黑_GBK" pitchFamily="65" charset="-122"/>
                <a:ea typeface="方正大黑_GBK" pitchFamily="65" charset="-122"/>
              </a:rPr>
              <a:t>01</a:t>
            </a:r>
            <a:endParaRPr lang="zh-CN" altLang="en-US" sz="2135" dirty="0">
              <a:solidFill>
                <a:prstClr val="white">
                  <a:lumMod val="95000"/>
                </a:prstClr>
              </a:solidFill>
              <a:latin typeface="方正大黑_GBK" pitchFamily="65" charset="-122"/>
              <a:ea typeface="方正大黑_GBK" pitchFamily="65" charset="-122"/>
            </a:endParaRPr>
          </a:p>
        </p:txBody>
      </p:sp>
      <p:sp>
        <p:nvSpPr>
          <p:cNvPr id="113" name="Freeform 71"/>
          <p:cNvSpPr/>
          <p:nvPr/>
        </p:nvSpPr>
        <p:spPr bwMode="auto">
          <a:xfrm>
            <a:off x="5616364" y="3840635"/>
            <a:ext cx="714886" cy="400710"/>
          </a:xfrm>
          <a:custGeom>
            <a:avLst/>
            <a:gdLst>
              <a:gd name="T0" fmla="*/ 24 w 152"/>
              <a:gd name="T1" fmla="*/ 0 h 110"/>
              <a:gd name="T2" fmla="*/ 152 w 152"/>
              <a:gd name="T3" fmla="*/ 0 h 110"/>
              <a:gd name="T4" fmla="*/ 126 w 152"/>
              <a:gd name="T5" fmla="*/ 110 h 110"/>
              <a:gd name="T6" fmla="*/ 0 w 152"/>
              <a:gd name="T7" fmla="*/ 110 h 110"/>
              <a:gd name="T8" fmla="*/ 24 w 152"/>
              <a:gd name="T9" fmla="*/ 0 h 110"/>
            </a:gdLst>
            <a:ahLst/>
            <a:cxnLst>
              <a:cxn ang="0">
                <a:pos x="T0" y="T1"/>
              </a:cxn>
              <a:cxn ang="0">
                <a:pos x="T2" y="T3"/>
              </a:cxn>
              <a:cxn ang="0">
                <a:pos x="T4" y="T5"/>
              </a:cxn>
              <a:cxn ang="0">
                <a:pos x="T6" y="T7"/>
              </a:cxn>
              <a:cxn ang="0">
                <a:pos x="T8" y="T9"/>
              </a:cxn>
            </a:cxnLst>
            <a:rect l="0" t="0" r="r" b="b"/>
            <a:pathLst>
              <a:path w="152" h="110">
                <a:moveTo>
                  <a:pt x="24" y="0"/>
                </a:moveTo>
                <a:lnTo>
                  <a:pt x="152" y="0"/>
                </a:lnTo>
                <a:lnTo>
                  <a:pt x="126" y="110"/>
                </a:lnTo>
                <a:lnTo>
                  <a:pt x="0" y="110"/>
                </a:lnTo>
                <a:lnTo>
                  <a:pt x="24" y="0"/>
                </a:lnTo>
                <a:close/>
              </a:path>
            </a:pathLst>
          </a:custGeom>
          <a:solidFill>
            <a:srgbClr val="E8432E"/>
          </a:solidFill>
          <a:ln w="4" cap="flat">
            <a:noFill/>
            <a:prstDash val="solid"/>
            <a:miter lim="800000"/>
          </a:ln>
        </p:spPr>
        <p:txBody>
          <a:bodyPr vert="horz" wrap="square" lIns="91402" tIns="45701" rIns="91402" bIns="45701" numCol="1" anchor="t" anchorCtr="0" compatLnSpc="1">
            <a:noAutofit/>
          </a:bodyPr>
          <a:lstStyle/>
          <a:p>
            <a:pPr algn="ctr" defTabSz="1218565"/>
            <a:r>
              <a:rPr lang="en-US" altLang="zh-CN" sz="2135" dirty="0">
                <a:solidFill>
                  <a:prstClr val="white">
                    <a:lumMod val="95000"/>
                  </a:prstClr>
                </a:solidFill>
                <a:latin typeface="方正大黑_GBK" pitchFamily="65" charset="-122"/>
                <a:ea typeface="方正大黑_GBK" pitchFamily="65" charset="-122"/>
              </a:rPr>
              <a:t>02</a:t>
            </a:r>
            <a:endParaRPr lang="zh-CN" altLang="en-US" sz="2135" dirty="0">
              <a:solidFill>
                <a:prstClr val="white">
                  <a:lumMod val="95000"/>
                </a:prstClr>
              </a:solidFill>
              <a:latin typeface="方正大黑_GBK" pitchFamily="65" charset="-122"/>
              <a:ea typeface="方正大黑_GBK" pitchFamily="65" charset="-122"/>
            </a:endParaRPr>
          </a:p>
          <a:p>
            <a:pPr defTabSz="1218565"/>
            <a:endParaRPr lang="zh-CN" altLang="en-US" sz="2135" dirty="0">
              <a:solidFill>
                <a:prstClr val="black"/>
              </a:solidFill>
              <a:latin typeface="Calibri" panose="020F0502020204030204"/>
              <a:ea typeface="宋体" panose="02010600030101010101" pitchFamily="2" charset="-122"/>
            </a:endParaRPr>
          </a:p>
        </p:txBody>
      </p:sp>
      <p:sp>
        <p:nvSpPr>
          <p:cNvPr id="114" name="Freeform 71"/>
          <p:cNvSpPr/>
          <p:nvPr/>
        </p:nvSpPr>
        <p:spPr bwMode="auto">
          <a:xfrm>
            <a:off x="5435541" y="4527779"/>
            <a:ext cx="714886" cy="400710"/>
          </a:xfrm>
          <a:custGeom>
            <a:avLst/>
            <a:gdLst>
              <a:gd name="T0" fmla="*/ 24 w 152"/>
              <a:gd name="T1" fmla="*/ 0 h 110"/>
              <a:gd name="T2" fmla="*/ 152 w 152"/>
              <a:gd name="T3" fmla="*/ 0 h 110"/>
              <a:gd name="T4" fmla="*/ 126 w 152"/>
              <a:gd name="T5" fmla="*/ 110 h 110"/>
              <a:gd name="T6" fmla="*/ 0 w 152"/>
              <a:gd name="T7" fmla="*/ 110 h 110"/>
              <a:gd name="T8" fmla="*/ 24 w 152"/>
              <a:gd name="T9" fmla="*/ 0 h 110"/>
            </a:gdLst>
            <a:ahLst/>
            <a:cxnLst>
              <a:cxn ang="0">
                <a:pos x="T0" y="T1"/>
              </a:cxn>
              <a:cxn ang="0">
                <a:pos x="T2" y="T3"/>
              </a:cxn>
              <a:cxn ang="0">
                <a:pos x="T4" y="T5"/>
              </a:cxn>
              <a:cxn ang="0">
                <a:pos x="T6" y="T7"/>
              </a:cxn>
              <a:cxn ang="0">
                <a:pos x="T8" y="T9"/>
              </a:cxn>
            </a:cxnLst>
            <a:rect l="0" t="0" r="r" b="b"/>
            <a:pathLst>
              <a:path w="152" h="110">
                <a:moveTo>
                  <a:pt x="24" y="0"/>
                </a:moveTo>
                <a:lnTo>
                  <a:pt x="152" y="0"/>
                </a:lnTo>
                <a:lnTo>
                  <a:pt x="126" y="110"/>
                </a:lnTo>
                <a:lnTo>
                  <a:pt x="0" y="110"/>
                </a:lnTo>
                <a:lnTo>
                  <a:pt x="24" y="0"/>
                </a:lnTo>
                <a:close/>
              </a:path>
            </a:pathLst>
          </a:custGeom>
          <a:solidFill>
            <a:schemeClr val="accent3"/>
          </a:solidFill>
          <a:ln w="4" cap="flat">
            <a:noFill/>
            <a:prstDash val="solid"/>
            <a:miter lim="800000"/>
          </a:ln>
        </p:spPr>
        <p:txBody>
          <a:bodyPr vert="horz" wrap="square" lIns="91402" tIns="45701" rIns="91402" bIns="45701" numCol="1" anchor="t" anchorCtr="0" compatLnSpc="1">
            <a:noAutofit/>
          </a:bodyPr>
          <a:lstStyle/>
          <a:p>
            <a:pPr algn="ctr" defTabSz="1218565"/>
            <a:r>
              <a:rPr lang="en-US" altLang="zh-CN" sz="2135" dirty="0">
                <a:solidFill>
                  <a:prstClr val="white">
                    <a:lumMod val="95000"/>
                  </a:prstClr>
                </a:solidFill>
                <a:latin typeface="方正大黑_GBK" pitchFamily="65" charset="-122"/>
                <a:ea typeface="方正大黑_GBK" pitchFamily="65" charset="-122"/>
              </a:rPr>
              <a:t>03</a:t>
            </a:r>
            <a:endParaRPr lang="zh-CN" altLang="en-US" sz="2135" dirty="0">
              <a:solidFill>
                <a:prstClr val="white">
                  <a:lumMod val="95000"/>
                </a:prstClr>
              </a:solidFill>
              <a:latin typeface="方正大黑_GBK" pitchFamily="65" charset="-122"/>
              <a:ea typeface="方正大黑_GBK" pitchFamily="65" charset="-122"/>
            </a:endParaRPr>
          </a:p>
          <a:p>
            <a:pPr defTabSz="1218565"/>
            <a:endParaRPr lang="zh-CN" altLang="en-US" sz="2135" dirty="0">
              <a:solidFill>
                <a:prstClr val="black"/>
              </a:solidFill>
              <a:latin typeface="Calibri" panose="020F0502020204030204"/>
              <a:ea typeface="宋体" panose="02010600030101010101" pitchFamily="2" charset="-122"/>
            </a:endParaRPr>
          </a:p>
        </p:txBody>
      </p:sp>
      <p:sp>
        <p:nvSpPr>
          <p:cNvPr id="118" name="Freeform 71"/>
          <p:cNvSpPr/>
          <p:nvPr/>
        </p:nvSpPr>
        <p:spPr bwMode="auto">
          <a:xfrm>
            <a:off x="5248912" y="5214923"/>
            <a:ext cx="714886" cy="400710"/>
          </a:xfrm>
          <a:custGeom>
            <a:avLst/>
            <a:gdLst>
              <a:gd name="T0" fmla="*/ 24 w 152"/>
              <a:gd name="T1" fmla="*/ 0 h 110"/>
              <a:gd name="T2" fmla="*/ 152 w 152"/>
              <a:gd name="T3" fmla="*/ 0 h 110"/>
              <a:gd name="T4" fmla="*/ 126 w 152"/>
              <a:gd name="T5" fmla="*/ 110 h 110"/>
              <a:gd name="T6" fmla="*/ 0 w 152"/>
              <a:gd name="T7" fmla="*/ 110 h 110"/>
              <a:gd name="T8" fmla="*/ 24 w 152"/>
              <a:gd name="T9" fmla="*/ 0 h 110"/>
            </a:gdLst>
            <a:ahLst/>
            <a:cxnLst>
              <a:cxn ang="0">
                <a:pos x="T0" y="T1"/>
              </a:cxn>
              <a:cxn ang="0">
                <a:pos x="T2" y="T3"/>
              </a:cxn>
              <a:cxn ang="0">
                <a:pos x="T4" y="T5"/>
              </a:cxn>
              <a:cxn ang="0">
                <a:pos x="T6" y="T7"/>
              </a:cxn>
              <a:cxn ang="0">
                <a:pos x="T8" y="T9"/>
              </a:cxn>
            </a:cxnLst>
            <a:rect l="0" t="0" r="r" b="b"/>
            <a:pathLst>
              <a:path w="152" h="110">
                <a:moveTo>
                  <a:pt x="24" y="0"/>
                </a:moveTo>
                <a:lnTo>
                  <a:pt x="152" y="0"/>
                </a:lnTo>
                <a:lnTo>
                  <a:pt x="126" y="110"/>
                </a:lnTo>
                <a:lnTo>
                  <a:pt x="0" y="110"/>
                </a:lnTo>
                <a:lnTo>
                  <a:pt x="24" y="0"/>
                </a:lnTo>
                <a:close/>
              </a:path>
            </a:pathLst>
          </a:custGeom>
          <a:solidFill>
            <a:srgbClr val="E8432E"/>
          </a:solidFill>
          <a:ln w="4" cap="flat">
            <a:noFill/>
            <a:prstDash val="solid"/>
            <a:miter lim="800000"/>
          </a:ln>
        </p:spPr>
        <p:txBody>
          <a:bodyPr vert="horz" wrap="square" lIns="91402" tIns="45701" rIns="91402" bIns="45701" numCol="1" anchor="t" anchorCtr="0" compatLnSpc="1">
            <a:noAutofit/>
          </a:bodyPr>
          <a:lstStyle/>
          <a:p>
            <a:pPr algn="ctr" defTabSz="1218565"/>
            <a:r>
              <a:rPr lang="en-US" altLang="zh-CN" sz="2135" dirty="0">
                <a:solidFill>
                  <a:prstClr val="white">
                    <a:lumMod val="95000"/>
                  </a:prstClr>
                </a:solidFill>
                <a:latin typeface="方正大黑_GBK" pitchFamily="65" charset="-122"/>
                <a:ea typeface="方正大黑_GBK" pitchFamily="65" charset="-122"/>
              </a:rPr>
              <a:t>04</a:t>
            </a:r>
            <a:endParaRPr lang="zh-CN" altLang="en-US" sz="2135" dirty="0">
              <a:solidFill>
                <a:prstClr val="white">
                  <a:lumMod val="95000"/>
                </a:prstClr>
              </a:solidFill>
              <a:latin typeface="方正大黑_GBK" pitchFamily="65" charset="-122"/>
              <a:ea typeface="方正大黑_GBK" pitchFamily="65" charset="-122"/>
            </a:endParaRPr>
          </a:p>
          <a:p>
            <a:pPr algn="ctr" defTabSz="1218565"/>
            <a:endParaRPr lang="zh-CN" altLang="en-US" sz="2135" dirty="0">
              <a:solidFill>
                <a:prstClr val="white">
                  <a:lumMod val="95000"/>
                </a:prstClr>
              </a:solidFill>
              <a:latin typeface="方正大黑_GBK" pitchFamily="65" charset="-122"/>
              <a:ea typeface="方正大黑_GBK" pitchFamily="65"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style.rotation</p:attrName>
                                        </p:attrNameLst>
                                      </p:cBhvr>
                                      <p:tavLst>
                                        <p:tav tm="0">
                                          <p:val>
                                            <p:fltVal val="720"/>
                                          </p:val>
                                        </p:tav>
                                        <p:tav tm="100000">
                                          <p:val>
                                            <p:fltVal val="0"/>
                                          </p:val>
                                        </p:tav>
                                      </p:tavLst>
                                    </p:anim>
                                    <p:anim calcmode="lin" valueType="num">
                                      <p:cBhvr>
                                        <p:cTn id="9" dur="500" fill="hold"/>
                                        <p:tgtEl>
                                          <p:spTgt spid="9"/>
                                        </p:tgtEl>
                                        <p:attrNameLst>
                                          <p:attrName>ppt_h</p:attrName>
                                        </p:attrNameLst>
                                      </p:cBhvr>
                                      <p:tavLst>
                                        <p:tav tm="0">
                                          <p:val>
                                            <p:fltVal val="0"/>
                                          </p:val>
                                        </p:tav>
                                        <p:tav tm="100000">
                                          <p:val>
                                            <p:strVal val="#ppt_h"/>
                                          </p:val>
                                        </p:tav>
                                      </p:tavLst>
                                    </p:anim>
                                    <p:anim calcmode="lin" valueType="num">
                                      <p:cBhvr>
                                        <p:cTn id="10" dur="500" fill="hold"/>
                                        <p:tgtEl>
                                          <p:spTgt spid="9"/>
                                        </p:tgtEl>
                                        <p:attrNameLst>
                                          <p:attrName>ppt_w</p:attrName>
                                        </p:attrNameLst>
                                      </p:cBhvr>
                                      <p:tavLst>
                                        <p:tav tm="0">
                                          <p:val>
                                            <p:fltVal val="0"/>
                                          </p:val>
                                        </p:tav>
                                        <p:tav tm="100000">
                                          <p:val>
                                            <p:strVal val="#ppt_w"/>
                                          </p:val>
                                        </p:tav>
                                      </p:tavLst>
                                    </p:anim>
                                  </p:childTnLst>
                                </p:cTn>
                              </p:par>
                            </p:childTnLst>
                          </p:cTn>
                        </p:par>
                        <p:par>
                          <p:cTn id="11" fill="hold">
                            <p:stCondLst>
                              <p:cond delay="500"/>
                            </p:stCondLst>
                            <p:childTnLst>
                              <p:par>
                                <p:cTn id="12" presetID="2" presetClass="entr" presetSubtype="2" fill="hold" grpId="0" nodeType="afterEffect">
                                  <p:stCondLst>
                                    <p:cond delay="0"/>
                                  </p:stCondLst>
                                  <p:childTnLst>
                                    <p:set>
                                      <p:cBhvr>
                                        <p:cTn id="13" dur="1" fill="hold">
                                          <p:stCondLst>
                                            <p:cond delay="0"/>
                                          </p:stCondLst>
                                        </p:cTn>
                                        <p:tgtEl>
                                          <p:spTgt spid="90"/>
                                        </p:tgtEl>
                                        <p:attrNameLst>
                                          <p:attrName>style.visibility</p:attrName>
                                        </p:attrNameLst>
                                      </p:cBhvr>
                                      <p:to>
                                        <p:strVal val="visible"/>
                                      </p:to>
                                    </p:set>
                                    <p:anim calcmode="lin" valueType="num">
                                      <p:cBhvr additive="base">
                                        <p:cTn id="14" dur="500" fill="hold"/>
                                        <p:tgtEl>
                                          <p:spTgt spid="90"/>
                                        </p:tgtEl>
                                        <p:attrNameLst>
                                          <p:attrName>ppt_x</p:attrName>
                                        </p:attrNameLst>
                                      </p:cBhvr>
                                      <p:tavLst>
                                        <p:tav tm="0">
                                          <p:val>
                                            <p:strVal val="1+#ppt_w/2"/>
                                          </p:val>
                                        </p:tav>
                                        <p:tav tm="100000">
                                          <p:val>
                                            <p:strVal val="#ppt_x"/>
                                          </p:val>
                                        </p:tav>
                                      </p:tavLst>
                                    </p:anim>
                                    <p:anim calcmode="lin" valueType="num">
                                      <p:cBhvr additive="base">
                                        <p:cTn id="15" dur="500" fill="hold"/>
                                        <p:tgtEl>
                                          <p:spTgt spid="90"/>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4" presetClass="entr" presetSubtype="10" fill="hold" grpId="0" nodeType="afterEffect">
                                  <p:stCondLst>
                                    <p:cond delay="0"/>
                                  </p:stCondLst>
                                  <p:childTnLst>
                                    <p:set>
                                      <p:cBhvr>
                                        <p:cTn id="18" dur="1" fill="hold">
                                          <p:stCondLst>
                                            <p:cond delay="0"/>
                                          </p:stCondLst>
                                        </p:cTn>
                                        <p:tgtEl>
                                          <p:spTgt spid="139"/>
                                        </p:tgtEl>
                                        <p:attrNameLst>
                                          <p:attrName>style.visibility</p:attrName>
                                        </p:attrNameLst>
                                      </p:cBhvr>
                                      <p:to>
                                        <p:strVal val="visible"/>
                                      </p:to>
                                    </p:set>
                                    <p:animEffect transition="in" filter="randombar(horizontal)">
                                      <p:cBhvr>
                                        <p:cTn id="19" dur="500"/>
                                        <p:tgtEl>
                                          <p:spTgt spid="139"/>
                                        </p:tgtEl>
                                      </p:cBhvr>
                                    </p:animEffect>
                                  </p:childTnLst>
                                </p:cTn>
                              </p:par>
                            </p:childTnLst>
                          </p:cTn>
                        </p:par>
                        <p:par>
                          <p:cTn id="20" fill="hold">
                            <p:stCondLst>
                              <p:cond delay="1500"/>
                            </p:stCondLst>
                            <p:childTnLst>
                              <p:par>
                                <p:cTn id="21" presetID="14" presetClass="entr" presetSubtype="10" fill="hold" grpId="0" nodeType="afterEffect">
                                  <p:stCondLst>
                                    <p:cond delay="0"/>
                                  </p:stCondLst>
                                  <p:childTnLst>
                                    <p:set>
                                      <p:cBhvr>
                                        <p:cTn id="22" dur="1" fill="hold">
                                          <p:stCondLst>
                                            <p:cond delay="0"/>
                                          </p:stCondLst>
                                        </p:cTn>
                                        <p:tgtEl>
                                          <p:spTgt spid="161"/>
                                        </p:tgtEl>
                                        <p:attrNameLst>
                                          <p:attrName>style.visibility</p:attrName>
                                        </p:attrNameLst>
                                      </p:cBhvr>
                                      <p:to>
                                        <p:strVal val="visible"/>
                                      </p:to>
                                    </p:set>
                                    <p:animEffect transition="in" filter="randombar(horizontal)">
                                      <p:cBhvr>
                                        <p:cTn id="23" dur="500"/>
                                        <p:tgtEl>
                                          <p:spTgt spid="161"/>
                                        </p:tgtEl>
                                      </p:cBhvr>
                                    </p:animEffect>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80"/>
                                        </p:tgtEl>
                                        <p:attrNameLst>
                                          <p:attrName>style.visibility</p:attrName>
                                        </p:attrNameLst>
                                      </p:cBhvr>
                                      <p:to>
                                        <p:strVal val="visible"/>
                                      </p:to>
                                    </p:set>
                                    <p:anim calcmode="lin" valueType="num">
                                      <p:cBhvr>
                                        <p:cTn id="27" dur="500" fill="hold"/>
                                        <p:tgtEl>
                                          <p:spTgt spid="80"/>
                                        </p:tgtEl>
                                        <p:attrNameLst>
                                          <p:attrName>ppt_w</p:attrName>
                                        </p:attrNameLst>
                                      </p:cBhvr>
                                      <p:tavLst>
                                        <p:tav tm="0">
                                          <p:val>
                                            <p:fltVal val="0"/>
                                          </p:val>
                                        </p:tav>
                                        <p:tav tm="100000">
                                          <p:val>
                                            <p:strVal val="#ppt_w"/>
                                          </p:val>
                                        </p:tav>
                                      </p:tavLst>
                                    </p:anim>
                                    <p:anim calcmode="lin" valueType="num">
                                      <p:cBhvr>
                                        <p:cTn id="28" dur="500" fill="hold"/>
                                        <p:tgtEl>
                                          <p:spTgt spid="80"/>
                                        </p:tgtEl>
                                        <p:attrNameLst>
                                          <p:attrName>ppt_h</p:attrName>
                                        </p:attrNameLst>
                                      </p:cBhvr>
                                      <p:tavLst>
                                        <p:tav tm="0">
                                          <p:val>
                                            <p:fltVal val="0"/>
                                          </p:val>
                                        </p:tav>
                                        <p:tav tm="100000">
                                          <p:val>
                                            <p:strVal val="#ppt_h"/>
                                          </p:val>
                                        </p:tav>
                                      </p:tavLst>
                                    </p:anim>
                                    <p:animEffect transition="in" filter="fade">
                                      <p:cBhvr>
                                        <p:cTn id="29" dur="500"/>
                                        <p:tgtEl>
                                          <p:spTgt spid="80"/>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113"/>
                                        </p:tgtEl>
                                        <p:attrNameLst>
                                          <p:attrName>style.visibility</p:attrName>
                                        </p:attrNameLst>
                                      </p:cBhvr>
                                      <p:to>
                                        <p:strVal val="visible"/>
                                      </p:to>
                                    </p:set>
                                    <p:anim calcmode="lin" valueType="num">
                                      <p:cBhvr>
                                        <p:cTn id="33" dur="500" fill="hold"/>
                                        <p:tgtEl>
                                          <p:spTgt spid="113"/>
                                        </p:tgtEl>
                                        <p:attrNameLst>
                                          <p:attrName>ppt_w</p:attrName>
                                        </p:attrNameLst>
                                      </p:cBhvr>
                                      <p:tavLst>
                                        <p:tav tm="0">
                                          <p:val>
                                            <p:fltVal val="0"/>
                                          </p:val>
                                        </p:tav>
                                        <p:tav tm="100000">
                                          <p:val>
                                            <p:strVal val="#ppt_w"/>
                                          </p:val>
                                        </p:tav>
                                      </p:tavLst>
                                    </p:anim>
                                    <p:anim calcmode="lin" valueType="num">
                                      <p:cBhvr>
                                        <p:cTn id="34" dur="500" fill="hold"/>
                                        <p:tgtEl>
                                          <p:spTgt spid="113"/>
                                        </p:tgtEl>
                                        <p:attrNameLst>
                                          <p:attrName>ppt_h</p:attrName>
                                        </p:attrNameLst>
                                      </p:cBhvr>
                                      <p:tavLst>
                                        <p:tav tm="0">
                                          <p:val>
                                            <p:fltVal val="0"/>
                                          </p:val>
                                        </p:tav>
                                        <p:tav tm="100000">
                                          <p:val>
                                            <p:strVal val="#ppt_h"/>
                                          </p:val>
                                        </p:tav>
                                      </p:tavLst>
                                    </p:anim>
                                    <p:animEffect transition="in" filter="fade">
                                      <p:cBhvr>
                                        <p:cTn id="35" dur="500"/>
                                        <p:tgtEl>
                                          <p:spTgt spid="113"/>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114"/>
                                        </p:tgtEl>
                                        <p:attrNameLst>
                                          <p:attrName>style.visibility</p:attrName>
                                        </p:attrNameLst>
                                      </p:cBhvr>
                                      <p:to>
                                        <p:strVal val="visible"/>
                                      </p:to>
                                    </p:set>
                                    <p:anim calcmode="lin" valueType="num">
                                      <p:cBhvr>
                                        <p:cTn id="39" dur="500" fill="hold"/>
                                        <p:tgtEl>
                                          <p:spTgt spid="114"/>
                                        </p:tgtEl>
                                        <p:attrNameLst>
                                          <p:attrName>ppt_w</p:attrName>
                                        </p:attrNameLst>
                                      </p:cBhvr>
                                      <p:tavLst>
                                        <p:tav tm="0">
                                          <p:val>
                                            <p:fltVal val="0"/>
                                          </p:val>
                                        </p:tav>
                                        <p:tav tm="100000">
                                          <p:val>
                                            <p:strVal val="#ppt_w"/>
                                          </p:val>
                                        </p:tav>
                                      </p:tavLst>
                                    </p:anim>
                                    <p:anim calcmode="lin" valueType="num">
                                      <p:cBhvr>
                                        <p:cTn id="40" dur="500" fill="hold"/>
                                        <p:tgtEl>
                                          <p:spTgt spid="114"/>
                                        </p:tgtEl>
                                        <p:attrNameLst>
                                          <p:attrName>ppt_h</p:attrName>
                                        </p:attrNameLst>
                                      </p:cBhvr>
                                      <p:tavLst>
                                        <p:tav tm="0">
                                          <p:val>
                                            <p:fltVal val="0"/>
                                          </p:val>
                                        </p:tav>
                                        <p:tav tm="100000">
                                          <p:val>
                                            <p:strVal val="#ppt_h"/>
                                          </p:val>
                                        </p:tav>
                                      </p:tavLst>
                                    </p:anim>
                                    <p:animEffect transition="in" filter="fade">
                                      <p:cBhvr>
                                        <p:cTn id="41" dur="500"/>
                                        <p:tgtEl>
                                          <p:spTgt spid="114"/>
                                        </p:tgtEl>
                                      </p:cBhvr>
                                    </p:animEffect>
                                  </p:childTnLst>
                                </p:cTn>
                              </p:par>
                            </p:childTnLst>
                          </p:cTn>
                        </p:par>
                        <p:par>
                          <p:cTn id="42" fill="hold">
                            <p:stCondLst>
                              <p:cond delay="3500"/>
                            </p:stCondLst>
                            <p:childTnLst>
                              <p:par>
                                <p:cTn id="43" presetID="53" presetClass="entr" presetSubtype="16" fill="hold" grpId="0" nodeType="afterEffect">
                                  <p:stCondLst>
                                    <p:cond delay="0"/>
                                  </p:stCondLst>
                                  <p:childTnLst>
                                    <p:set>
                                      <p:cBhvr>
                                        <p:cTn id="44" dur="1" fill="hold">
                                          <p:stCondLst>
                                            <p:cond delay="0"/>
                                          </p:stCondLst>
                                        </p:cTn>
                                        <p:tgtEl>
                                          <p:spTgt spid="118"/>
                                        </p:tgtEl>
                                        <p:attrNameLst>
                                          <p:attrName>style.visibility</p:attrName>
                                        </p:attrNameLst>
                                      </p:cBhvr>
                                      <p:to>
                                        <p:strVal val="visible"/>
                                      </p:to>
                                    </p:set>
                                    <p:anim calcmode="lin" valueType="num">
                                      <p:cBhvr>
                                        <p:cTn id="45" dur="500" fill="hold"/>
                                        <p:tgtEl>
                                          <p:spTgt spid="118"/>
                                        </p:tgtEl>
                                        <p:attrNameLst>
                                          <p:attrName>ppt_w</p:attrName>
                                        </p:attrNameLst>
                                      </p:cBhvr>
                                      <p:tavLst>
                                        <p:tav tm="0">
                                          <p:val>
                                            <p:fltVal val="0"/>
                                          </p:val>
                                        </p:tav>
                                        <p:tav tm="100000">
                                          <p:val>
                                            <p:strVal val="#ppt_w"/>
                                          </p:val>
                                        </p:tav>
                                      </p:tavLst>
                                    </p:anim>
                                    <p:anim calcmode="lin" valueType="num">
                                      <p:cBhvr>
                                        <p:cTn id="46" dur="500" fill="hold"/>
                                        <p:tgtEl>
                                          <p:spTgt spid="118"/>
                                        </p:tgtEl>
                                        <p:attrNameLst>
                                          <p:attrName>ppt_h</p:attrName>
                                        </p:attrNameLst>
                                      </p:cBhvr>
                                      <p:tavLst>
                                        <p:tav tm="0">
                                          <p:val>
                                            <p:fltVal val="0"/>
                                          </p:val>
                                        </p:tav>
                                        <p:tav tm="100000">
                                          <p:val>
                                            <p:strVal val="#ppt_h"/>
                                          </p:val>
                                        </p:tav>
                                      </p:tavLst>
                                    </p:anim>
                                    <p:animEffect transition="in" filter="fade">
                                      <p:cBhvr>
                                        <p:cTn id="47" dur="500"/>
                                        <p:tgtEl>
                                          <p:spTgt spid="118"/>
                                        </p:tgtEl>
                                      </p:cBhvr>
                                    </p:animEffect>
                                  </p:childTnLst>
                                </p:cTn>
                              </p:par>
                            </p:childTnLst>
                          </p:cTn>
                        </p:par>
                        <p:par>
                          <p:cTn id="48" fill="hold">
                            <p:stCondLst>
                              <p:cond delay="4000"/>
                            </p:stCondLst>
                            <p:childTnLst>
                              <p:par>
                                <p:cTn id="49" presetID="22" presetClass="entr" presetSubtype="8" fill="hold" nodeType="after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left)">
                                      <p:cBhvr>
                                        <p:cTn id="51" dur="500"/>
                                        <p:tgtEl>
                                          <p:spTgt spid="2"/>
                                        </p:tgtEl>
                                      </p:cBhvr>
                                    </p:animEffect>
                                  </p:childTnLst>
                                </p:cTn>
                              </p:par>
                            </p:childTnLst>
                          </p:cTn>
                        </p:par>
                        <p:par>
                          <p:cTn id="52" fill="hold">
                            <p:stCondLst>
                              <p:cond delay="4500"/>
                            </p:stCondLst>
                            <p:childTnLst>
                              <p:par>
                                <p:cTn id="53" presetID="42" presetClass="entr" presetSubtype="0" fill="hold" grpId="0" nodeType="afterEffect">
                                  <p:stCondLst>
                                    <p:cond delay="0"/>
                                  </p:stCondLst>
                                  <p:childTnLst>
                                    <p:set>
                                      <p:cBhvr>
                                        <p:cTn id="54" dur="1" fill="hold">
                                          <p:stCondLst>
                                            <p:cond delay="0"/>
                                          </p:stCondLst>
                                        </p:cTn>
                                        <p:tgtEl>
                                          <p:spTgt spid="120"/>
                                        </p:tgtEl>
                                        <p:attrNameLst>
                                          <p:attrName>style.visibility</p:attrName>
                                        </p:attrNameLst>
                                      </p:cBhvr>
                                      <p:to>
                                        <p:strVal val="visible"/>
                                      </p:to>
                                    </p:set>
                                    <p:animEffect transition="in" filter="fade">
                                      <p:cBhvr>
                                        <p:cTn id="55" dur="1000"/>
                                        <p:tgtEl>
                                          <p:spTgt spid="120"/>
                                        </p:tgtEl>
                                      </p:cBhvr>
                                    </p:animEffect>
                                    <p:anim calcmode="lin" valueType="num">
                                      <p:cBhvr>
                                        <p:cTn id="56" dur="1000" fill="hold"/>
                                        <p:tgtEl>
                                          <p:spTgt spid="120"/>
                                        </p:tgtEl>
                                        <p:attrNameLst>
                                          <p:attrName>ppt_x</p:attrName>
                                        </p:attrNameLst>
                                      </p:cBhvr>
                                      <p:tavLst>
                                        <p:tav tm="0">
                                          <p:val>
                                            <p:strVal val="#ppt_x"/>
                                          </p:val>
                                        </p:tav>
                                        <p:tav tm="100000">
                                          <p:val>
                                            <p:strVal val="#ppt_x"/>
                                          </p:val>
                                        </p:tav>
                                      </p:tavLst>
                                    </p:anim>
                                    <p:anim calcmode="lin" valueType="num">
                                      <p:cBhvr>
                                        <p:cTn id="57" dur="1000" fill="hold"/>
                                        <p:tgtEl>
                                          <p:spTgt spid="12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22"/>
                                        </p:tgtEl>
                                        <p:attrNameLst>
                                          <p:attrName>style.visibility</p:attrName>
                                        </p:attrNameLst>
                                      </p:cBhvr>
                                      <p:to>
                                        <p:strVal val="visible"/>
                                      </p:to>
                                    </p:set>
                                    <p:animEffect transition="in" filter="fade">
                                      <p:cBhvr>
                                        <p:cTn id="60" dur="1000"/>
                                        <p:tgtEl>
                                          <p:spTgt spid="122"/>
                                        </p:tgtEl>
                                      </p:cBhvr>
                                    </p:animEffect>
                                    <p:anim calcmode="lin" valueType="num">
                                      <p:cBhvr>
                                        <p:cTn id="61" dur="1000" fill="hold"/>
                                        <p:tgtEl>
                                          <p:spTgt spid="122"/>
                                        </p:tgtEl>
                                        <p:attrNameLst>
                                          <p:attrName>ppt_x</p:attrName>
                                        </p:attrNameLst>
                                      </p:cBhvr>
                                      <p:tavLst>
                                        <p:tav tm="0">
                                          <p:val>
                                            <p:strVal val="#ppt_x"/>
                                          </p:val>
                                        </p:tav>
                                        <p:tav tm="100000">
                                          <p:val>
                                            <p:strVal val="#ppt_x"/>
                                          </p:val>
                                        </p:tav>
                                      </p:tavLst>
                                    </p:anim>
                                    <p:anim calcmode="lin" valueType="num">
                                      <p:cBhvr>
                                        <p:cTn id="62" dur="1000" fill="hold"/>
                                        <p:tgtEl>
                                          <p:spTgt spid="122"/>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30"/>
                                        </p:tgtEl>
                                        <p:attrNameLst>
                                          <p:attrName>style.visibility</p:attrName>
                                        </p:attrNameLst>
                                      </p:cBhvr>
                                      <p:to>
                                        <p:strVal val="visible"/>
                                      </p:to>
                                    </p:set>
                                    <p:animEffect transition="in" filter="fade">
                                      <p:cBhvr>
                                        <p:cTn id="65" dur="1000"/>
                                        <p:tgtEl>
                                          <p:spTgt spid="130"/>
                                        </p:tgtEl>
                                      </p:cBhvr>
                                    </p:animEffect>
                                    <p:anim calcmode="lin" valueType="num">
                                      <p:cBhvr>
                                        <p:cTn id="66" dur="1000" fill="hold"/>
                                        <p:tgtEl>
                                          <p:spTgt spid="130"/>
                                        </p:tgtEl>
                                        <p:attrNameLst>
                                          <p:attrName>ppt_x</p:attrName>
                                        </p:attrNameLst>
                                      </p:cBhvr>
                                      <p:tavLst>
                                        <p:tav tm="0">
                                          <p:val>
                                            <p:strVal val="#ppt_x"/>
                                          </p:val>
                                        </p:tav>
                                        <p:tav tm="100000">
                                          <p:val>
                                            <p:strVal val="#ppt_x"/>
                                          </p:val>
                                        </p:tav>
                                      </p:tavLst>
                                    </p:anim>
                                    <p:anim calcmode="lin" valueType="num">
                                      <p:cBhvr>
                                        <p:cTn id="67" dur="1000" fill="hold"/>
                                        <p:tgtEl>
                                          <p:spTgt spid="130"/>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31"/>
                                        </p:tgtEl>
                                        <p:attrNameLst>
                                          <p:attrName>style.visibility</p:attrName>
                                        </p:attrNameLst>
                                      </p:cBhvr>
                                      <p:to>
                                        <p:strVal val="visible"/>
                                      </p:to>
                                    </p:set>
                                    <p:animEffect transition="in" filter="fade">
                                      <p:cBhvr>
                                        <p:cTn id="70" dur="1000"/>
                                        <p:tgtEl>
                                          <p:spTgt spid="131"/>
                                        </p:tgtEl>
                                      </p:cBhvr>
                                    </p:animEffect>
                                    <p:anim calcmode="lin" valueType="num">
                                      <p:cBhvr>
                                        <p:cTn id="71" dur="1000" fill="hold"/>
                                        <p:tgtEl>
                                          <p:spTgt spid="131"/>
                                        </p:tgtEl>
                                        <p:attrNameLst>
                                          <p:attrName>ppt_x</p:attrName>
                                        </p:attrNameLst>
                                      </p:cBhvr>
                                      <p:tavLst>
                                        <p:tav tm="0">
                                          <p:val>
                                            <p:strVal val="#ppt_x"/>
                                          </p:val>
                                        </p:tav>
                                        <p:tav tm="100000">
                                          <p:val>
                                            <p:strVal val="#ppt_x"/>
                                          </p:val>
                                        </p:tav>
                                      </p:tavLst>
                                    </p:anim>
                                    <p:anim calcmode="lin" valueType="num">
                                      <p:cBhvr>
                                        <p:cTn id="72" dur="1000" fill="hold"/>
                                        <p:tgtEl>
                                          <p:spTgt spid="1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bldLvl="0" animBg="1"/>
      <p:bldP spid="120" grpId="0"/>
      <p:bldP spid="122" grpId="0"/>
      <p:bldP spid="130" grpId="0"/>
      <p:bldP spid="131" grpId="0"/>
      <p:bldP spid="139" grpId="0"/>
      <p:bldP spid="161" grpId="0"/>
      <p:bldP spid="80" grpId="0" bldLvl="0" animBg="1"/>
      <p:bldP spid="113" grpId="0" bldLvl="0" animBg="1"/>
      <p:bldP spid="114" grpId="0" bldLvl="0" animBg="1"/>
      <p:bldP spid="118"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57150"/>
            <a:ext cx="12195810" cy="6988810"/>
            <a:chOff x="-3" y="-69"/>
            <a:chExt cx="19206" cy="11006"/>
          </a:xfrm>
        </p:grpSpPr>
        <p:sp>
          <p:nvSpPr>
            <p:cNvPr id="12" name="矩形 11"/>
            <p:cNvSpPr/>
            <p:nvPr/>
          </p:nvSpPr>
          <p:spPr>
            <a:xfrm>
              <a:off x="-3" y="-69"/>
              <a:ext cx="19206" cy="11006"/>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 y="-69"/>
              <a:ext cx="19200" cy="10981"/>
            </a:xfrm>
            <a:prstGeom prst="rect">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mn-ea"/>
                <a:sym typeface="+mn-lt"/>
              </a:endParaRPr>
            </a:p>
          </p:txBody>
        </p:sp>
      </p:grpSp>
      <p:sp>
        <p:nvSpPr>
          <p:cNvPr id="14" name="矩形 13"/>
          <p:cNvSpPr/>
          <p:nvPr/>
        </p:nvSpPr>
        <p:spPr>
          <a:xfrm>
            <a:off x="610235" y="3808095"/>
            <a:ext cx="5239385" cy="922020"/>
          </a:xfrm>
          <a:prstGeom prst="rect">
            <a:avLst/>
          </a:prstGeom>
          <a:ln w="25400">
            <a:solidFill>
              <a:schemeClr val="bg1"/>
            </a:solidFill>
          </a:ln>
        </p:spPr>
        <p:txBody>
          <a:bodyPr wrap="square">
            <a:spAutoFit/>
          </a:bodyPr>
          <a:lstStyle/>
          <a:p>
            <a:pPr algn="ct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p>
        </p:txBody>
      </p:sp>
      <p:sp>
        <p:nvSpPr>
          <p:cNvPr id="15" name="文本框 14"/>
          <p:cNvSpPr txBox="1"/>
          <p:nvPr/>
        </p:nvSpPr>
        <p:spPr>
          <a:xfrm>
            <a:off x="12769516" y="6373505"/>
            <a:ext cx="415498" cy="369332"/>
          </a:xfrm>
          <a:prstGeom prst="rect">
            <a:avLst/>
          </a:prstGeom>
          <a:noFill/>
        </p:spPr>
        <p:txBody>
          <a:bodyPr wrap="none" rtlCol="0">
            <a:spAutoFit/>
          </a:bodyPr>
          <a:lstStyle/>
          <a:p>
            <a:r>
              <a:rPr lang="zh-CN" altLang="en-US" dirty="0"/>
              <a:t>。</a:t>
            </a:r>
          </a:p>
        </p:txBody>
      </p:sp>
      <p:sp>
        <p:nvSpPr>
          <p:cNvPr id="16" name="Rectangle 6"/>
          <p:cNvSpPr>
            <a:spLocks noChangeArrowheads="1"/>
          </p:cNvSpPr>
          <p:nvPr/>
        </p:nvSpPr>
        <p:spPr bwMode="auto">
          <a:xfrm>
            <a:off x="-1779" y="1858608"/>
            <a:ext cx="12195564" cy="1731433"/>
          </a:xfrm>
          <a:prstGeom prst="rect">
            <a:avLst/>
          </a:prstGeom>
          <a:solidFill>
            <a:srgbClr val="E8432E"/>
          </a:solidFill>
          <a:ln w="0">
            <a:noFill/>
            <a:prstDash val="solid"/>
            <a:miter lim="800000"/>
          </a:ln>
        </p:spPr>
        <p:txBody>
          <a:bodyPr vert="horz" wrap="square" lIns="121911" tIns="60956" rIns="121911" bIns="60956"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7" name="Freeform 7"/>
          <p:cNvSpPr/>
          <p:nvPr/>
        </p:nvSpPr>
        <p:spPr bwMode="auto">
          <a:xfrm>
            <a:off x="610345" y="1858607"/>
            <a:ext cx="3376283" cy="1731435"/>
          </a:xfrm>
          <a:custGeom>
            <a:avLst/>
            <a:gdLst>
              <a:gd name="T0" fmla="*/ 579 w 1583"/>
              <a:gd name="T1" fmla="*/ 0 h 1325"/>
              <a:gd name="T2" fmla="*/ 1583 w 1583"/>
              <a:gd name="T3" fmla="*/ 0 h 1325"/>
              <a:gd name="T4" fmla="*/ 1004 w 1583"/>
              <a:gd name="T5" fmla="*/ 1325 h 1325"/>
              <a:gd name="T6" fmla="*/ 0 w 1583"/>
              <a:gd name="T7" fmla="*/ 1325 h 1325"/>
              <a:gd name="T8" fmla="*/ 579 w 1583"/>
              <a:gd name="T9" fmla="*/ 0 h 1325"/>
            </a:gdLst>
            <a:ahLst/>
            <a:cxnLst>
              <a:cxn ang="0">
                <a:pos x="T0" y="T1"/>
              </a:cxn>
              <a:cxn ang="0">
                <a:pos x="T2" y="T3"/>
              </a:cxn>
              <a:cxn ang="0">
                <a:pos x="T4" y="T5"/>
              </a:cxn>
              <a:cxn ang="0">
                <a:pos x="T6" y="T7"/>
              </a:cxn>
              <a:cxn ang="0">
                <a:pos x="T8" y="T9"/>
              </a:cxn>
            </a:cxnLst>
            <a:rect l="0" t="0" r="r" b="b"/>
            <a:pathLst>
              <a:path w="1583" h="1325">
                <a:moveTo>
                  <a:pt x="579" y="0"/>
                </a:moveTo>
                <a:lnTo>
                  <a:pt x="1583" y="0"/>
                </a:lnTo>
                <a:lnTo>
                  <a:pt x="1004" y="1325"/>
                </a:lnTo>
                <a:lnTo>
                  <a:pt x="0" y="1325"/>
                </a:lnTo>
                <a:lnTo>
                  <a:pt x="579" y="0"/>
                </a:lnTo>
                <a:close/>
              </a:path>
            </a:pathLst>
          </a:custGeom>
          <a:solidFill>
            <a:srgbClr val="383F4E"/>
          </a:solidFill>
          <a:ln w="0">
            <a:noFill/>
            <a:prstDash val="solid"/>
            <a:round/>
          </a:ln>
        </p:spPr>
        <p:txBody>
          <a:bodyPr vert="horz" wrap="square" lIns="121911" tIns="60956" rIns="121911" bIns="60956" numCol="1" anchor="ctr" anchorCtr="1" compatLnSpc="1"/>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rPr>
              <a:t>04</a:t>
            </a:r>
            <a:endParaRPr kumimoji="0" lang="zh-CN" altLang="en-US"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endParaRPr>
          </a:p>
        </p:txBody>
      </p:sp>
      <p:sp>
        <p:nvSpPr>
          <p:cNvPr id="18" name="TextBox 48"/>
          <p:cNvSpPr txBox="1"/>
          <p:nvPr/>
        </p:nvSpPr>
        <p:spPr>
          <a:xfrm>
            <a:off x="3986629" y="2114465"/>
            <a:ext cx="6733508" cy="828675"/>
          </a:xfrm>
          <a:prstGeom prst="rect">
            <a:avLst/>
          </a:prstGeom>
          <a:noFill/>
        </p:spPr>
        <p:txBody>
          <a:bodyPr wrap="square" lIns="91439" tIns="45719" rIns="91439" bIns="45719"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财务专题分析</a:t>
            </a:r>
          </a:p>
        </p:txBody>
      </p:sp>
      <p:sp>
        <p:nvSpPr>
          <p:cNvPr id="19" name="TextBox 49"/>
          <p:cNvSpPr txBox="1"/>
          <p:nvPr/>
        </p:nvSpPr>
        <p:spPr>
          <a:xfrm>
            <a:off x="3986629" y="2983011"/>
            <a:ext cx="4100719" cy="420562"/>
          </a:xfrm>
          <a:prstGeom prst="rect">
            <a:avLst/>
          </a:prstGeom>
          <a:noFill/>
        </p:spPr>
        <p:txBody>
          <a:bodyPr wrap="square" lIns="91439" tIns="45719" rIns="91439" bIns="45719" rtlCol="0">
            <a:spAutoFit/>
          </a:bodyPr>
          <a:lstStyle/>
          <a:p>
            <a:pPr marL="0" marR="0" lvl="0" indent="0" algn="l" defTabSz="1218565" rtl="0" eaLnBrk="0" fontAlgn="auto" latinLnBrk="0" hangingPunct="0">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点击此处添加副标题文本内容</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200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childTnLst>
                          </p:cTn>
                        </p:par>
                        <p:par>
                          <p:cTn id="25" fill="hold">
                            <p:stCondLst>
                              <p:cond delay="500"/>
                            </p:stCondLst>
                            <p:childTnLst>
                              <p:par>
                                <p:cTn id="26" presetID="22" presetClass="entr" presetSubtype="8" fill="hold" grpId="0" nodeType="afterEffect">
                                  <p:stCondLst>
                                    <p:cond delay="0"/>
                                  </p:stCondLst>
                                  <p:iterate type="lt">
                                    <p:tmPct val="30000"/>
                                  </p:iterate>
                                  <p:childTnLst>
                                    <p:set>
                                      <p:cBhvr>
                                        <p:cTn id="27" dur="1" fill="hold">
                                          <p:stCondLst>
                                            <p:cond delay="0"/>
                                          </p:stCondLst>
                                        </p:cTn>
                                        <p:tgtEl>
                                          <p:spTgt spid="18"/>
                                        </p:tgtEl>
                                        <p:attrNameLst>
                                          <p:attrName>style.visibility</p:attrName>
                                        </p:attrNameLst>
                                      </p:cBhvr>
                                      <p:to>
                                        <p:strVal val="visible"/>
                                      </p:to>
                                    </p:set>
                                    <p:animEffect transition="in" filter="wipe(left)">
                                      <p:cBhvr>
                                        <p:cTn id="28" dur="200"/>
                                        <p:tgtEl>
                                          <p:spTgt spid="18"/>
                                        </p:tgtEl>
                                      </p:cBhvr>
                                    </p:animEffect>
                                  </p:childTnLst>
                                </p:cTn>
                              </p:par>
                              <p:par>
                                <p:cTn id="29" presetID="36" presetClass="emph" presetSubtype="0" fill="hold" grpId="1" nodeType="withEffect">
                                  <p:stCondLst>
                                    <p:cond delay="0"/>
                                  </p:stCondLst>
                                  <p:iterate type="lt">
                                    <p:tmPct val="30000"/>
                                  </p:iterate>
                                  <p:childTnLst>
                                    <p:animScale>
                                      <p:cBhvr>
                                        <p:cTn id="30" dur="50" autoRev="1" fill="hold">
                                          <p:stCondLst>
                                            <p:cond delay="0"/>
                                          </p:stCondLst>
                                        </p:cTn>
                                        <p:tgtEl>
                                          <p:spTgt spid="18"/>
                                        </p:tgtEl>
                                      </p:cBhvr>
                                      <p:to x="80000" y="100000"/>
                                    </p:animScale>
                                    <p:anim by="(#ppt_w*0.10)" calcmode="lin" valueType="num">
                                      <p:cBhvr>
                                        <p:cTn id="31" dur="50" autoRev="1" fill="hold">
                                          <p:stCondLst>
                                            <p:cond delay="0"/>
                                          </p:stCondLst>
                                        </p:cTn>
                                        <p:tgtEl>
                                          <p:spTgt spid="18"/>
                                        </p:tgtEl>
                                        <p:attrNameLst>
                                          <p:attrName>ppt_x</p:attrName>
                                        </p:attrNameLst>
                                      </p:cBhvr>
                                    </p:anim>
                                    <p:anim by="(-#ppt_w*0.10)" calcmode="lin" valueType="num">
                                      <p:cBhvr>
                                        <p:cTn id="32" dur="50" autoRev="1" fill="hold">
                                          <p:stCondLst>
                                            <p:cond delay="0"/>
                                          </p:stCondLst>
                                        </p:cTn>
                                        <p:tgtEl>
                                          <p:spTgt spid="18"/>
                                        </p:tgtEl>
                                        <p:attrNameLst>
                                          <p:attrName>ppt_y</p:attrName>
                                        </p:attrNameLst>
                                      </p:cBhvr>
                                    </p:anim>
                                    <p:animRot by="-480000">
                                      <p:cBhvr>
                                        <p:cTn id="33" dur="50" autoRev="1" fill="hold">
                                          <p:stCondLst>
                                            <p:cond delay="0"/>
                                          </p:stCondLst>
                                        </p:cTn>
                                        <p:tgtEl>
                                          <p:spTgt spid="18"/>
                                        </p:tgtEl>
                                        <p:attrNameLst>
                                          <p:attrName>r</p:attrName>
                                        </p:attrNameLst>
                                      </p:cBhvr>
                                    </p:animRot>
                                  </p:childTnLst>
                                </p:cTn>
                              </p:par>
                            </p:childTnLst>
                          </p:cTn>
                        </p:par>
                        <p:par>
                          <p:cTn id="34" fill="hold">
                            <p:stCondLst>
                              <p:cond delay="1000"/>
                            </p:stCondLst>
                            <p:childTnLst>
                              <p:par>
                                <p:cTn id="35" presetID="22" presetClass="entr" presetSubtype="8" fill="hold" grpId="0" nodeType="afterEffect">
                                  <p:stCondLst>
                                    <p:cond delay="0"/>
                                  </p:stCondLst>
                                  <p:iterate type="lt">
                                    <p:tmPct val="30000"/>
                                  </p:iterate>
                                  <p:childTnLst>
                                    <p:set>
                                      <p:cBhvr>
                                        <p:cTn id="36" dur="1" fill="hold">
                                          <p:stCondLst>
                                            <p:cond delay="0"/>
                                          </p:stCondLst>
                                        </p:cTn>
                                        <p:tgtEl>
                                          <p:spTgt spid="19"/>
                                        </p:tgtEl>
                                        <p:attrNameLst>
                                          <p:attrName>style.visibility</p:attrName>
                                        </p:attrNameLst>
                                      </p:cBhvr>
                                      <p:to>
                                        <p:strVal val="visible"/>
                                      </p:to>
                                    </p:set>
                                    <p:animEffect transition="in" filter="wipe(left)">
                                      <p:cBhvr>
                                        <p:cTn id="37" dur="200"/>
                                        <p:tgtEl>
                                          <p:spTgt spid="19"/>
                                        </p:tgtEl>
                                      </p:cBhvr>
                                    </p:animEffect>
                                  </p:childTnLst>
                                </p:cTn>
                              </p:par>
                              <p:par>
                                <p:cTn id="38" presetID="36" presetClass="emph" presetSubtype="0" fill="hold" grpId="1" nodeType="withEffect">
                                  <p:stCondLst>
                                    <p:cond delay="0"/>
                                  </p:stCondLst>
                                  <p:iterate type="lt">
                                    <p:tmPct val="30000"/>
                                  </p:iterate>
                                  <p:childTnLst>
                                    <p:animScale>
                                      <p:cBhvr>
                                        <p:cTn id="39" dur="50" autoRev="1" fill="hold">
                                          <p:stCondLst>
                                            <p:cond delay="0"/>
                                          </p:stCondLst>
                                        </p:cTn>
                                        <p:tgtEl>
                                          <p:spTgt spid="19"/>
                                        </p:tgtEl>
                                      </p:cBhvr>
                                      <p:to x="80000" y="100000"/>
                                    </p:animScale>
                                    <p:anim by="(#ppt_w*0.10)" calcmode="lin" valueType="num">
                                      <p:cBhvr>
                                        <p:cTn id="40" dur="50" autoRev="1" fill="hold">
                                          <p:stCondLst>
                                            <p:cond delay="0"/>
                                          </p:stCondLst>
                                        </p:cTn>
                                        <p:tgtEl>
                                          <p:spTgt spid="19"/>
                                        </p:tgtEl>
                                        <p:attrNameLst>
                                          <p:attrName>ppt_x</p:attrName>
                                        </p:attrNameLst>
                                      </p:cBhvr>
                                    </p:anim>
                                    <p:anim by="(-#ppt_w*0.10)" calcmode="lin" valueType="num">
                                      <p:cBhvr>
                                        <p:cTn id="41" dur="50" autoRev="1" fill="hold">
                                          <p:stCondLst>
                                            <p:cond delay="0"/>
                                          </p:stCondLst>
                                        </p:cTn>
                                        <p:tgtEl>
                                          <p:spTgt spid="19"/>
                                        </p:tgtEl>
                                        <p:attrNameLst>
                                          <p:attrName>ppt_y</p:attrName>
                                        </p:attrNameLst>
                                      </p:cBhvr>
                                    </p:anim>
                                    <p:animRot by="-480000">
                                      <p:cBhvr>
                                        <p:cTn id="42" dur="50" autoRev="1" fill="hold">
                                          <p:stCondLst>
                                            <p:cond delay="0"/>
                                          </p:stCondLst>
                                        </p:cTn>
                                        <p:tgtEl>
                                          <p:spTgt spid="19"/>
                                        </p:tgtEl>
                                        <p:attrNameLst>
                                          <p:attrName>r</p:attrName>
                                        </p:attrNameLst>
                                      </p:cBhvr>
                                    </p:animRot>
                                  </p:childTnLst>
                                </p:cTn>
                              </p:par>
                              <p:par>
                                <p:cTn id="43" presetID="2" presetClass="entr" presetSubtype="8"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0-#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P spid="16" grpId="0" bldLvl="0" animBg="1"/>
      <p:bldP spid="17" grpId="0" bldLvl="0" animBg="1"/>
      <p:bldP spid="18" grpId="0"/>
      <p:bldP spid="18" grpId="1"/>
      <p:bldP spid="19" grpId="0"/>
      <p:bldP spid="19"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30371" y="437661"/>
            <a:ext cx="2926080" cy="645160"/>
          </a:xfrm>
          <a:prstGeom prst="rect">
            <a:avLst/>
          </a:prstGeom>
        </p:spPr>
        <p:txBody>
          <a:bodyPr wrap="none">
            <a:spAutoFit/>
          </a:bodyPr>
          <a:lstStyle/>
          <a:p>
            <a:pPr>
              <a:defRPr/>
            </a:pPr>
            <a:r>
              <a:rPr lang="zh-CN" altLang="en-US" sz="3600" b="1" kern="0" dirty="0">
                <a:solidFill>
                  <a:srgbClr val="383F4E"/>
                </a:solidFill>
                <a:latin typeface="微软雅黑" panose="020B0503020204020204" pitchFamily="34" charset="-122"/>
                <a:ea typeface="微软雅黑" panose="020B0503020204020204" pitchFamily="34" charset="-122"/>
              </a:rPr>
              <a:t>代理商保证金</a:t>
            </a:r>
          </a:p>
        </p:txBody>
      </p:sp>
      <p:sp>
        <p:nvSpPr>
          <p:cNvPr id="3" name="椭圆 2"/>
          <p:cNvSpPr/>
          <p:nvPr/>
        </p:nvSpPr>
        <p:spPr>
          <a:xfrm>
            <a:off x="862965" y="2736215"/>
            <a:ext cx="2058670" cy="2060575"/>
          </a:xfrm>
          <a:prstGeom prst="ellipse">
            <a:avLst/>
          </a:prstGeom>
          <a:solidFill>
            <a:srgbClr val="E8432E"/>
          </a:solidFill>
          <a:ln w="19050">
            <a:noFill/>
          </a:ln>
        </p:spPr>
        <p:txBody>
          <a:bodyPr wrap="square" anchor="ctr">
            <a:noAutofit/>
          </a:bodyPr>
          <a:lstStyle/>
          <a:p>
            <a:pPr algn="ctr" defTabSz="629285"/>
            <a:r>
              <a:rPr lang="zh-CN" altLang="en-US" sz="2400" b="1" dirty="0">
                <a:solidFill>
                  <a:schemeClr val="bg1"/>
                </a:solidFill>
                <a:latin typeface="微软雅黑" panose="020B0503020204020204" pitchFamily="34" charset="-122"/>
                <a:ea typeface="微软雅黑" panose="020B0503020204020204" pitchFamily="34" charset="-122"/>
              </a:rPr>
              <a:t>（一）代理商保证金信息比对情况</a:t>
            </a:r>
          </a:p>
        </p:txBody>
      </p:sp>
      <p:cxnSp>
        <p:nvCxnSpPr>
          <p:cNvPr id="5" name="肘形连接符 4"/>
          <p:cNvCxnSpPr>
            <a:stCxn id="77" idx="2"/>
            <a:endCxn id="84" idx="3"/>
          </p:cNvCxnSpPr>
          <p:nvPr/>
        </p:nvCxnSpPr>
        <p:spPr>
          <a:xfrm rot="5400000">
            <a:off x="6596698" y="3721418"/>
            <a:ext cx="422275" cy="1071880"/>
          </a:xfrm>
          <a:prstGeom prst="bentConnector2">
            <a:avLst/>
          </a:prstGeom>
          <a:ln w="38100">
            <a:solidFill>
              <a:srgbClr val="E8432E"/>
            </a:solidFill>
            <a:tailEnd type="triangle"/>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4105056" y="2440690"/>
            <a:ext cx="590550" cy="593999"/>
          </a:xfrm>
          <a:prstGeom prst="ellipse">
            <a:avLst/>
          </a:prstGeom>
          <a:solidFill>
            <a:schemeClr val="bg1">
              <a:lumMod val="95000"/>
            </a:schemeClr>
          </a:solid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椭圆 7"/>
          <p:cNvSpPr/>
          <p:nvPr/>
        </p:nvSpPr>
        <p:spPr>
          <a:xfrm>
            <a:off x="4105056" y="4440457"/>
            <a:ext cx="590550" cy="593999"/>
          </a:xfrm>
          <a:prstGeom prst="ellipse">
            <a:avLst/>
          </a:prstGeom>
          <a:solidFill>
            <a:schemeClr val="bg1">
              <a:lumMod val="95000"/>
            </a:schemeClr>
          </a:solid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椭圆 8"/>
          <p:cNvSpPr/>
          <p:nvPr/>
        </p:nvSpPr>
        <p:spPr>
          <a:xfrm>
            <a:off x="4105056" y="3431587"/>
            <a:ext cx="590550" cy="593999"/>
          </a:xfrm>
          <a:prstGeom prst="ellipse">
            <a:avLst/>
          </a:prstGeom>
          <a:solidFill>
            <a:schemeClr val="bg1">
              <a:lumMod val="95000"/>
            </a:schemeClr>
          </a:solid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梯形 9"/>
          <p:cNvSpPr/>
          <p:nvPr/>
        </p:nvSpPr>
        <p:spPr>
          <a:xfrm rot="16200000">
            <a:off x="2559344" y="3505433"/>
            <a:ext cx="2351976" cy="463470"/>
          </a:xfrm>
          <a:prstGeom prst="trapezoid">
            <a:avLst>
              <a:gd name="adj" fmla="val 19323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nvGrpSpPr>
          <p:cNvPr id="11" name="组合 10"/>
          <p:cNvGrpSpPr>
            <a:grpSpLocks noChangeAspect="1"/>
          </p:cNvGrpSpPr>
          <p:nvPr/>
        </p:nvGrpSpPr>
        <p:grpSpPr>
          <a:xfrm>
            <a:off x="3051895" y="3440634"/>
            <a:ext cx="690782" cy="594000"/>
            <a:chOff x="3831423" y="3729598"/>
            <a:chExt cx="1107693" cy="952500"/>
          </a:xfrm>
        </p:grpSpPr>
        <p:sp>
          <p:nvSpPr>
            <p:cNvPr id="12" name="椭圆 11"/>
            <p:cNvSpPr/>
            <p:nvPr/>
          </p:nvSpPr>
          <p:spPr>
            <a:xfrm>
              <a:off x="3924300" y="3729598"/>
              <a:ext cx="927100" cy="952500"/>
            </a:xfrm>
            <a:prstGeom prst="ellipse">
              <a:avLst/>
            </a:prstGeom>
            <a:solidFill>
              <a:srgbClr val="383F4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矩形 12"/>
            <p:cNvSpPr/>
            <p:nvPr/>
          </p:nvSpPr>
          <p:spPr>
            <a:xfrm>
              <a:off x="3831423" y="3904842"/>
              <a:ext cx="1107693" cy="690943"/>
            </a:xfrm>
            <a:prstGeom prst="rect">
              <a:avLst/>
            </a:prstGeom>
          </p:spPr>
          <p:txBody>
            <a:bodyPr wrap="square">
              <a:spAutoFit/>
            </a:bodyPr>
            <a:lstStyle/>
            <a:p>
              <a:pPr algn="ctr"/>
              <a:r>
                <a:rPr lang="en-US" altLang="zh-CN" sz="1100" dirty="0">
                  <a:solidFill>
                    <a:schemeClr val="bg1"/>
                  </a:solidFill>
                  <a:latin typeface="微软雅黑" panose="020B0503020204020204" pitchFamily="34" charset="-122"/>
                  <a:ea typeface="微软雅黑" panose="020B0503020204020204" pitchFamily="34" charset="-122"/>
                </a:rPr>
                <a:t>266</a:t>
              </a:r>
              <a:r>
                <a:rPr lang="zh-CN" altLang="en-US" sz="1100" dirty="0">
                  <a:solidFill>
                    <a:schemeClr val="bg1"/>
                  </a:solidFill>
                  <a:latin typeface="微软雅黑" panose="020B0503020204020204" pitchFamily="34" charset="-122"/>
                  <a:ea typeface="微软雅黑" panose="020B0503020204020204" pitchFamily="34" charset="-122"/>
                </a:rPr>
                <a:t>家</a:t>
              </a:r>
              <a:endParaRPr lang="en-US" altLang="zh-CN" sz="1100" dirty="0">
                <a:solidFill>
                  <a:schemeClr val="bg1"/>
                </a:solidFill>
                <a:latin typeface="微软雅黑" panose="020B0503020204020204" pitchFamily="34" charset="-122"/>
                <a:ea typeface="微软雅黑" panose="020B0503020204020204" pitchFamily="34" charset="-122"/>
              </a:endParaRPr>
            </a:p>
            <a:p>
              <a:pPr algn="ctr"/>
              <a:r>
                <a:rPr lang="zh-CN" altLang="en-US" sz="1100" dirty="0">
                  <a:solidFill>
                    <a:schemeClr val="bg1"/>
                  </a:solidFill>
                  <a:latin typeface="微软雅黑" panose="020B0503020204020204" pitchFamily="34" charset="-122"/>
                  <a:ea typeface="微软雅黑" panose="020B0503020204020204" pitchFamily="34" charset="-122"/>
                </a:rPr>
                <a:t>专营店</a:t>
              </a:r>
            </a:p>
          </p:txBody>
        </p:sp>
      </p:grpSp>
      <p:grpSp>
        <p:nvGrpSpPr>
          <p:cNvPr id="14" name="组合 13"/>
          <p:cNvGrpSpPr>
            <a:grpSpLocks noChangeAspect="1"/>
          </p:cNvGrpSpPr>
          <p:nvPr/>
        </p:nvGrpSpPr>
        <p:grpSpPr>
          <a:xfrm>
            <a:off x="3800682" y="4443266"/>
            <a:ext cx="607859" cy="594000"/>
            <a:chOff x="3886597" y="3729598"/>
            <a:chExt cx="974722" cy="952500"/>
          </a:xfrm>
        </p:grpSpPr>
        <p:sp>
          <p:nvSpPr>
            <p:cNvPr id="15" name="椭圆 14"/>
            <p:cNvSpPr/>
            <p:nvPr/>
          </p:nvSpPr>
          <p:spPr>
            <a:xfrm>
              <a:off x="3924300" y="3729598"/>
              <a:ext cx="927100" cy="952500"/>
            </a:xfrm>
            <a:prstGeom prst="ellipse">
              <a:avLst/>
            </a:prstGeom>
            <a:solidFill>
              <a:srgbClr val="E8432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矩形 15"/>
            <p:cNvSpPr/>
            <p:nvPr/>
          </p:nvSpPr>
          <p:spPr>
            <a:xfrm>
              <a:off x="3886597" y="3869981"/>
              <a:ext cx="974722" cy="690943"/>
            </a:xfrm>
            <a:prstGeom prst="rect">
              <a:avLst/>
            </a:prstGeom>
          </p:spPr>
          <p:txBody>
            <a:bodyPr wrap="none">
              <a:spAutoFit/>
            </a:bodyPr>
            <a:lstStyle/>
            <a:p>
              <a:pPr algn="ctr"/>
              <a:r>
                <a:rPr lang="en-US" altLang="zh-CN" sz="1100" dirty="0">
                  <a:solidFill>
                    <a:schemeClr val="bg1"/>
                  </a:solidFill>
                  <a:latin typeface="微软雅黑" panose="020B0503020204020204" pitchFamily="34" charset="-122"/>
                  <a:ea typeface="微软雅黑" panose="020B0503020204020204" pitchFamily="34" charset="-122"/>
                </a:rPr>
                <a:t>77</a:t>
              </a:r>
              <a:r>
                <a:rPr lang="zh-CN" altLang="en-US" sz="1100" dirty="0">
                  <a:solidFill>
                    <a:schemeClr val="bg1"/>
                  </a:solidFill>
                  <a:latin typeface="微软雅黑" panose="020B0503020204020204" pitchFamily="34" charset="-122"/>
                  <a:ea typeface="微软雅黑" panose="020B0503020204020204" pitchFamily="34" charset="-122"/>
                </a:rPr>
                <a:t>家</a:t>
              </a:r>
              <a:endParaRPr lang="en-US" altLang="zh-CN" sz="1100" dirty="0">
                <a:solidFill>
                  <a:schemeClr val="bg1"/>
                </a:solidFill>
                <a:latin typeface="微软雅黑" panose="020B0503020204020204" pitchFamily="34" charset="-122"/>
                <a:ea typeface="微软雅黑" panose="020B0503020204020204" pitchFamily="34" charset="-122"/>
              </a:endParaRPr>
            </a:p>
            <a:p>
              <a:pPr algn="ctr"/>
              <a:r>
                <a:rPr lang="zh-CN" altLang="en-US" sz="1100" dirty="0">
                  <a:solidFill>
                    <a:schemeClr val="bg1"/>
                  </a:solidFill>
                  <a:latin typeface="微软雅黑" panose="020B0503020204020204" pitchFamily="34" charset="-122"/>
                  <a:ea typeface="微软雅黑" panose="020B0503020204020204" pitchFamily="34" charset="-122"/>
                </a:rPr>
                <a:t>专营店</a:t>
              </a:r>
            </a:p>
          </p:txBody>
        </p:sp>
      </p:grpSp>
      <p:grpSp>
        <p:nvGrpSpPr>
          <p:cNvPr id="17" name="组合 16"/>
          <p:cNvGrpSpPr>
            <a:grpSpLocks noChangeAspect="1"/>
          </p:cNvGrpSpPr>
          <p:nvPr/>
        </p:nvGrpSpPr>
        <p:grpSpPr>
          <a:xfrm>
            <a:off x="3800681" y="3441977"/>
            <a:ext cx="607859" cy="594000"/>
            <a:chOff x="3886597" y="3729598"/>
            <a:chExt cx="974723" cy="952500"/>
          </a:xfrm>
        </p:grpSpPr>
        <p:sp>
          <p:nvSpPr>
            <p:cNvPr id="18" name="椭圆 17"/>
            <p:cNvSpPr/>
            <p:nvPr/>
          </p:nvSpPr>
          <p:spPr>
            <a:xfrm>
              <a:off x="3924300" y="3729598"/>
              <a:ext cx="927100" cy="952500"/>
            </a:xfrm>
            <a:prstGeom prst="ellipse">
              <a:avLst/>
            </a:prstGeom>
            <a:solidFill>
              <a:srgbClr val="E8432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9" name="矩形 18"/>
            <p:cNvSpPr/>
            <p:nvPr/>
          </p:nvSpPr>
          <p:spPr>
            <a:xfrm>
              <a:off x="3886597" y="3869981"/>
              <a:ext cx="974723" cy="690943"/>
            </a:xfrm>
            <a:prstGeom prst="rect">
              <a:avLst/>
            </a:prstGeom>
          </p:spPr>
          <p:txBody>
            <a:bodyPr wrap="none">
              <a:spAutoFit/>
            </a:bodyPr>
            <a:lstStyle/>
            <a:p>
              <a:pPr algn="ctr"/>
              <a:r>
                <a:rPr lang="en-US" altLang="zh-CN" sz="1100" dirty="0">
                  <a:solidFill>
                    <a:schemeClr val="bg1"/>
                  </a:solidFill>
                  <a:latin typeface="微软雅黑" panose="020B0503020204020204" pitchFamily="34" charset="-122"/>
                  <a:ea typeface="微软雅黑" panose="020B0503020204020204" pitchFamily="34" charset="-122"/>
                </a:rPr>
                <a:t>8</a:t>
              </a:r>
              <a:r>
                <a:rPr lang="zh-CN" altLang="en-US" sz="1100" dirty="0">
                  <a:solidFill>
                    <a:schemeClr val="bg1"/>
                  </a:solidFill>
                  <a:latin typeface="微软雅黑" panose="020B0503020204020204" pitchFamily="34" charset="-122"/>
                  <a:ea typeface="微软雅黑" panose="020B0503020204020204" pitchFamily="34" charset="-122"/>
                </a:rPr>
                <a:t>家</a:t>
              </a:r>
              <a:endParaRPr lang="en-US" altLang="zh-CN" sz="1100" dirty="0">
                <a:solidFill>
                  <a:schemeClr val="bg1"/>
                </a:solidFill>
                <a:latin typeface="微软雅黑" panose="020B0503020204020204" pitchFamily="34" charset="-122"/>
                <a:ea typeface="微软雅黑" panose="020B0503020204020204" pitchFamily="34" charset="-122"/>
              </a:endParaRPr>
            </a:p>
            <a:p>
              <a:pPr algn="ctr"/>
              <a:r>
                <a:rPr lang="zh-CN" altLang="en-US" sz="1100" dirty="0">
                  <a:solidFill>
                    <a:schemeClr val="bg1"/>
                  </a:solidFill>
                  <a:latin typeface="微软雅黑" panose="020B0503020204020204" pitchFamily="34" charset="-122"/>
                  <a:ea typeface="微软雅黑" panose="020B0503020204020204" pitchFamily="34" charset="-122"/>
                </a:rPr>
                <a:t>专营店</a:t>
              </a:r>
            </a:p>
          </p:txBody>
        </p:sp>
      </p:grpSp>
      <p:grpSp>
        <p:nvGrpSpPr>
          <p:cNvPr id="20" name="组合 19"/>
          <p:cNvGrpSpPr>
            <a:grpSpLocks noChangeAspect="1"/>
          </p:cNvGrpSpPr>
          <p:nvPr/>
        </p:nvGrpSpPr>
        <p:grpSpPr>
          <a:xfrm>
            <a:off x="3803188" y="2440690"/>
            <a:ext cx="607859" cy="594000"/>
            <a:chOff x="3890618" y="3729598"/>
            <a:chExt cx="974723" cy="952500"/>
          </a:xfrm>
        </p:grpSpPr>
        <p:sp>
          <p:nvSpPr>
            <p:cNvPr id="21" name="椭圆 20"/>
            <p:cNvSpPr/>
            <p:nvPr/>
          </p:nvSpPr>
          <p:spPr>
            <a:xfrm>
              <a:off x="3924300" y="3729598"/>
              <a:ext cx="927100" cy="952500"/>
            </a:xfrm>
            <a:prstGeom prst="ellipse">
              <a:avLst/>
            </a:prstGeom>
            <a:solidFill>
              <a:srgbClr val="E8432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2" name="矩形 21"/>
            <p:cNvSpPr/>
            <p:nvPr/>
          </p:nvSpPr>
          <p:spPr>
            <a:xfrm>
              <a:off x="3890618" y="3874001"/>
              <a:ext cx="974723" cy="690943"/>
            </a:xfrm>
            <a:prstGeom prst="rect">
              <a:avLst/>
            </a:prstGeom>
          </p:spPr>
          <p:txBody>
            <a:bodyPr wrap="none">
              <a:spAutoFit/>
            </a:bodyPr>
            <a:lstStyle/>
            <a:p>
              <a:pPr algn="ctr"/>
              <a:r>
                <a:rPr lang="en-US" altLang="zh-CN" sz="1100" dirty="0">
                  <a:solidFill>
                    <a:schemeClr val="bg1"/>
                  </a:solidFill>
                  <a:latin typeface="微软雅黑" panose="020B0503020204020204" pitchFamily="34" charset="-122"/>
                  <a:ea typeface="微软雅黑" panose="020B0503020204020204" pitchFamily="34" charset="-122"/>
                </a:rPr>
                <a:t>181</a:t>
              </a:r>
              <a:r>
                <a:rPr lang="zh-CN" altLang="en-US" sz="1100" dirty="0">
                  <a:solidFill>
                    <a:schemeClr val="bg1"/>
                  </a:solidFill>
                  <a:latin typeface="微软雅黑" panose="020B0503020204020204" pitchFamily="34" charset="-122"/>
                  <a:ea typeface="微软雅黑" panose="020B0503020204020204" pitchFamily="34" charset="-122"/>
                </a:rPr>
                <a:t>家</a:t>
              </a:r>
              <a:endParaRPr lang="en-US" altLang="zh-CN" sz="1100" dirty="0">
                <a:solidFill>
                  <a:schemeClr val="bg1"/>
                </a:solidFill>
                <a:latin typeface="微软雅黑" panose="020B0503020204020204" pitchFamily="34" charset="-122"/>
                <a:ea typeface="微软雅黑" panose="020B0503020204020204" pitchFamily="34" charset="-122"/>
              </a:endParaRPr>
            </a:p>
            <a:p>
              <a:pPr algn="ctr"/>
              <a:r>
                <a:rPr lang="zh-CN" altLang="en-US" sz="1100" dirty="0">
                  <a:solidFill>
                    <a:schemeClr val="bg1"/>
                  </a:solidFill>
                  <a:latin typeface="微软雅黑" panose="020B0503020204020204" pitchFamily="34" charset="-122"/>
                  <a:ea typeface="微软雅黑" panose="020B0503020204020204" pitchFamily="34" charset="-122"/>
                </a:rPr>
                <a:t>专营店</a:t>
              </a:r>
            </a:p>
          </p:txBody>
        </p:sp>
      </p:grpSp>
      <p:grpSp>
        <p:nvGrpSpPr>
          <p:cNvPr id="23" name="组合 22"/>
          <p:cNvGrpSpPr>
            <a:grpSpLocks noChangeAspect="1"/>
          </p:cNvGrpSpPr>
          <p:nvPr/>
        </p:nvGrpSpPr>
        <p:grpSpPr>
          <a:xfrm>
            <a:off x="4405436" y="4443266"/>
            <a:ext cx="578721" cy="594000"/>
            <a:chOff x="3923402" y="3729598"/>
            <a:chExt cx="927998" cy="952500"/>
          </a:xfrm>
          <a:solidFill>
            <a:schemeClr val="bg1">
              <a:lumMod val="95000"/>
            </a:schemeClr>
          </a:solidFill>
        </p:grpSpPr>
        <p:sp>
          <p:nvSpPr>
            <p:cNvPr id="24" name="椭圆 23"/>
            <p:cNvSpPr/>
            <p:nvPr/>
          </p:nvSpPr>
          <p:spPr>
            <a:xfrm>
              <a:off x="3924300" y="3729598"/>
              <a:ext cx="927100" cy="95250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5" name="矩形 24"/>
            <p:cNvSpPr/>
            <p:nvPr/>
          </p:nvSpPr>
          <p:spPr>
            <a:xfrm>
              <a:off x="3923402" y="4030758"/>
              <a:ext cx="913032" cy="394824"/>
            </a:xfrm>
            <a:prstGeom prst="rect">
              <a:avLst/>
            </a:prstGeom>
            <a:noFill/>
            <a:ln>
              <a:noFill/>
            </a:ln>
          </p:spPr>
          <p:txBody>
            <a:bodyPr wrap="none">
              <a:spAutoFit/>
            </a:bodyPr>
            <a:lstStyle/>
            <a:p>
              <a:r>
                <a:rPr lang="zh-CN" altLang="en-US" sz="1000" dirty="0">
                  <a:solidFill>
                    <a:schemeClr val="bg1"/>
                  </a:solidFill>
                  <a:latin typeface="微软雅黑" panose="020B0503020204020204" pitchFamily="34" charset="-122"/>
                  <a:ea typeface="微软雅黑" panose="020B0503020204020204" pitchFamily="34" charset="-122"/>
                </a:rPr>
                <a:t>未稽核</a:t>
              </a:r>
            </a:p>
          </p:txBody>
        </p:sp>
      </p:grpSp>
      <p:grpSp>
        <p:nvGrpSpPr>
          <p:cNvPr id="26" name="组合 25"/>
          <p:cNvGrpSpPr>
            <a:grpSpLocks noChangeAspect="1"/>
          </p:cNvGrpSpPr>
          <p:nvPr/>
        </p:nvGrpSpPr>
        <p:grpSpPr>
          <a:xfrm>
            <a:off x="4405993" y="3441977"/>
            <a:ext cx="586668" cy="594000"/>
            <a:chOff x="3924300" y="3729598"/>
            <a:chExt cx="940743" cy="952500"/>
          </a:xfrm>
          <a:solidFill>
            <a:schemeClr val="bg1">
              <a:lumMod val="95000"/>
            </a:schemeClr>
          </a:solidFill>
        </p:grpSpPr>
        <p:sp>
          <p:nvSpPr>
            <p:cNvPr id="27" name="椭圆 26"/>
            <p:cNvSpPr/>
            <p:nvPr/>
          </p:nvSpPr>
          <p:spPr>
            <a:xfrm>
              <a:off x="3924300" y="3729598"/>
              <a:ext cx="927100" cy="95250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900">
                <a:latin typeface="微软雅黑" panose="020B0503020204020204" pitchFamily="34" charset="-122"/>
                <a:ea typeface="微软雅黑" panose="020B0503020204020204" pitchFamily="34" charset="-122"/>
              </a:endParaRPr>
            </a:p>
          </p:txBody>
        </p:sp>
        <p:sp>
          <p:nvSpPr>
            <p:cNvPr id="28" name="矩形 27"/>
            <p:cNvSpPr/>
            <p:nvPr/>
          </p:nvSpPr>
          <p:spPr>
            <a:xfrm>
              <a:off x="3952011" y="3943136"/>
              <a:ext cx="913032" cy="641591"/>
            </a:xfrm>
            <a:prstGeom prst="rect">
              <a:avLst/>
            </a:prstGeom>
            <a:noFill/>
            <a:ln>
              <a:noFill/>
            </a:ln>
          </p:spPr>
          <p:txBody>
            <a:bodyPr wrap="none">
              <a:spAutoFit/>
            </a:bodyPr>
            <a:lstStyle/>
            <a:p>
              <a:pPr algn="ctr"/>
              <a:r>
                <a:rPr lang="zh-CN" altLang="en-US" sz="1000" dirty="0">
                  <a:latin typeface="微软雅黑" panose="020B0503020204020204" pitchFamily="34" charset="-122"/>
                  <a:ea typeface="微软雅黑" panose="020B0503020204020204" pitchFamily="34" charset="-122"/>
                </a:rPr>
                <a:t>系统已</a:t>
              </a:r>
              <a:endParaRPr lang="en-US" altLang="zh-CN"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退款</a:t>
              </a:r>
            </a:p>
          </p:txBody>
        </p:sp>
      </p:grpSp>
      <p:grpSp>
        <p:nvGrpSpPr>
          <p:cNvPr id="29" name="组合 28"/>
          <p:cNvGrpSpPr>
            <a:grpSpLocks noChangeAspect="1"/>
          </p:cNvGrpSpPr>
          <p:nvPr/>
        </p:nvGrpSpPr>
        <p:grpSpPr>
          <a:xfrm>
            <a:off x="4405989" y="2440690"/>
            <a:ext cx="592322" cy="594000"/>
            <a:chOff x="3924300" y="3729598"/>
            <a:chExt cx="949811" cy="952500"/>
          </a:xfrm>
          <a:solidFill>
            <a:schemeClr val="bg1">
              <a:lumMod val="95000"/>
            </a:schemeClr>
          </a:solidFill>
        </p:grpSpPr>
        <p:sp>
          <p:nvSpPr>
            <p:cNvPr id="30" name="椭圆 29"/>
            <p:cNvSpPr/>
            <p:nvPr/>
          </p:nvSpPr>
          <p:spPr>
            <a:xfrm>
              <a:off x="3924300" y="3729598"/>
              <a:ext cx="927100" cy="95250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1" name="矩形 30"/>
            <p:cNvSpPr/>
            <p:nvPr/>
          </p:nvSpPr>
          <p:spPr>
            <a:xfrm>
              <a:off x="3927420" y="3918788"/>
              <a:ext cx="946691" cy="641591"/>
            </a:xfrm>
            <a:prstGeom prst="rect">
              <a:avLst/>
            </a:prstGeom>
            <a:noFill/>
            <a:ln>
              <a:noFill/>
            </a:ln>
          </p:spPr>
          <p:txBody>
            <a:bodyPr wrap="square">
              <a:spAutoFit/>
            </a:bodyPr>
            <a:lstStyle/>
            <a:p>
              <a:pPr algn="ctr"/>
              <a:r>
                <a:rPr lang="zh-CN" altLang="en-US" sz="1000" dirty="0">
                  <a:latin typeface="微软雅黑" panose="020B0503020204020204" pitchFamily="34" charset="-122"/>
                  <a:ea typeface="微软雅黑" panose="020B0503020204020204" pitchFamily="34" charset="-122"/>
                </a:rPr>
                <a:t>系统已受理</a:t>
              </a:r>
            </a:p>
          </p:txBody>
        </p:sp>
      </p:grpSp>
      <p:grpSp>
        <p:nvGrpSpPr>
          <p:cNvPr id="33" name="组合 32"/>
          <p:cNvGrpSpPr/>
          <p:nvPr/>
        </p:nvGrpSpPr>
        <p:grpSpPr>
          <a:xfrm>
            <a:off x="8300860" y="1536883"/>
            <a:ext cx="702000" cy="718794"/>
            <a:chOff x="8866758" y="2281646"/>
            <a:chExt cx="936000" cy="958392"/>
          </a:xfrm>
          <a:solidFill>
            <a:srgbClr val="E8432E"/>
          </a:solidFill>
        </p:grpSpPr>
        <p:sp>
          <p:nvSpPr>
            <p:cNvPr id="34" name="椭圆 33"/>
            <p:cNvSpPr/>
            <p:nvPr/>
          </p:nvSpPr>
          <p:spPr>
            <a:xfrm>
              <a:off x="8874034" y="2294646"/>
              <a:ext cx="920182" cy="945392"/>
            </a:xfrm>
            <a:prstGeom prst="ellipse">
              <a:avLst/>
            </a:prstGeom>
            <a:grp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5" name="任意多边形 34"/>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39" name="矩形 38"/>
          <p:cNvSpPr/>
          <p:nvPr/>
        </p:nvSpPr>
        <p:spPr>
          <a:xfrm>
            <a:off x="8364880" y="1611340"/>
            <a:ext cx="607509" cy="275590"/>
          </a:xfrm>
          <a:prstGeom prst="rect">
            <a:avLst/>
          </a:prstGeom>
        </p:spPr>
        <p:txBody>
          <a:bodyPr wrap="square">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10</a:t>
            </a:r>
            <a:r>
              <a:rPr lang="zh-CN" altLang="en-US" sz="1200" b="1" dirty="0">
                <a:solidFill>
                  <a:schemeClr val="bg1"/>
                </a:solidFill>
                <a:latin typeface="微软雅黑" panose="020B0503020204020204" pitchFamily="34" charset="-122"/>
                <a:ea typeface="微软雅黑" panose="020B0503020204020204" pitchFamily="34" charset="-122"/>
              </a:rPr>
              <a:t>家</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40" name="TextBox 98"/>
          <p:cNvSpPr txBox="1">
            <a:spLocks noChangeArrowheads="1"/>
          </p:cNvSpPr>
          <p:nvPr>
            <p:custDataLst>
              <p:tags r:id="rId1"/>
            </p:custDataLst>
          </p:nvPr>
        </p:nvSpPr>
        <p:spPr bwMode="auto">
          <a:xfrm>
            <a:off x="9204958" y="1767310"/>
            <a:ext cx="973240" cy="306705"/>
          </a:xfrm>
          <a:prstGeom prst="rect">
            <a:avLst/>
          </a:prstGeom>
          <a:noFill/>
          <a:ln w="9525">
            <a:noFill/>
            <a:miter lim="800000"/>
          </a:ln>
        </p:spPr>
        <p:txBody>
          <a:bodyPr wrap="square">
            <a:spAutoFit/>
          </a:bodyPr>
          <a:lstStyle/>
          <a:p>
            <a:r>
              <a:rPr lang="zh-CN" altLang="en-US" sz="1400" dirty="0">
                <a:latin typeface="微软雅黑" panose="020B0503020204020204" pitchFamily="34" charset="-122"/>
                <a:ea typeface="微软雅黑" panose="020B0503020204020204" pitchFamily="34" charset="-122"/>
              </a:rPr>
              <a:t>关门</a:t>
            </a:r>
          </a:p>
        </p:txBody>
      </p:sp>
      <p:grpSp>
        <p:nvGrpSpPr>
          <p:cNvPr id="41" name="组合 40"/>
          <p:cNvGrpSpPr/>
          <p:nvPr/>
        </p:nvGrpSpPr>
        <p:grpSpPr>
          <a:xfrm>
            <a:off x="8310351" y="2327112"/>
            <a:ext cx="702000" cy="718794"/>
            <a:chOff x="8866758" y="2281646"/>
            <a:chExt cx="936000" cy="958392"/>
          </a:xfrm>
          <a:solidFill>
            <a:srgbClr val="E8432E"/>
          </a:solidFill>
        </p:grpSpPr>
        <p:sp>
          <p:nvSpPr>
            <p:cNvPr id="42" name="椭圆 41"/>
            <p:cNvSpPr/>
            <p:nvPr/>
          </p:nvSpPr>
          <p:spPr>
            <a:xfrm>
              <a:off x="8874034" y="2294646"/>
              <a:ext cx="920182" cy="945392"/>
            </a:xfrm>
            <a:prstGeom prst="ellipse">
              <a:avLst/>
            </a:prstGeom>
            <a:grp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3" name="任意多边形 42"/>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6" name="椭圆 45"/>
            <p:cNvSpPr/>
            <p:nvPr/>
          </p:nvSpPr>
          <p:spPr>
            <a:xfrm>
              <a:off x="9064489" y="2768081"/>
              <a:ext cx="549499" cy="4055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47" name="矩形 46"/>
          <p:cNvSpPr/>
          <p:nvPr/>
        </p:nvSpPr>
        <p:spPr>
          <a:xfrm>
            <a:off x="8398436" y="2401569"/>
            <a:ext cx="515122" cy="275590"/>
          </a:xfrm>
          <a:prstGeom prst="rect">
            <a:avLst/>
          </a:prstGeom>
        </p:spPr>
        <p:txBody>
          <a:bodyPr wrap="square">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7</a:t>
            </a:r>
            <a:r>
              <a:rPr lang="zh-CN" altLang="en-US" sz="1200" b="1" dirty="0">
                <a:solidFill>
                  <a:schemeClr val="bg1"/>
                </a:solidFill>
                <a:latin typeface="微软雅黑" panose="020B0503020204020204" pitchFamily="34" charset="-122"/>
                <a:ea typeface="微软雅黑" panose="020B0503020204020204" pitchFamily="34" charset="-122"/>
              </a:rPr>
              <a:t>家</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48" name="TextBox 98"/>
          <p:cNvSpPr txBox="1">
            <a:spLocks noChangeArrowheads="1"/>
          </p:cNvSpPr>
          <p:nvPr>
            <p:custDataLst>
              <p:tags r:id="rId2"/>
            </p:custDataLst>
          </p:nvPr>
        </p:nvSpPr>
        <p:spPr bwMode="auto">
          <a:xfrm>
            <a:off x="9204958" y="2444723"/>
            <a:ext cx="1828416" cy="521970"/>
          </a:xfrm>
          <a:prstGeom prst="rect">
            <a:avLst/>
          </a:prstGeom>
          <a:noFill/>
          <a:ln w="9525">
            <a:noFill/>
            <a:miter lim="800000"/>
          </a:ln>
        </p:spPr>
        <p:txBody>
          <a:bodyPr wrap="square">
            <a:spAutoFit/>
          </a:bodyPr>
          <a:lstStyle/>
          <a:p>
            <a:r>
              <a:rPr lang="zh-CN" altLang="en-US" sz="1400" dirty="0">
                <a:latin typeface="微软雅黑" panose="020B0503020204020204" pitchFamily="34" charset="-122"/>
                <a:ea typeface="微软雅黑" panose="020B0503020204020204" pitchFamily="34" charset="-122"/>
              </a:rPr>
              <a:t>房租、补贴等置换为代办押金</a:t>
            </a:r>
          </a:p>
        </p:txBody>
      </p:sp>
      <p:grpSp>
        <p:nvGrpSpPr>
          <p:cNvPr id="49" name="组合 48"/>
          <p:cNvGrpSpPr/>
          <p:nvPr/>
        </p:nvGrpSpPr>
        <p:grpSpPr>
          <a:xfrm>
            <a:off x="8304160" y="3131946"/>
            <a:ext cx="702000" cy="718794"/>
            <a:chOff x="8866758" y="2281646"/>
            <a:chExt cx="936000" cy="958392"/>
          </a:xfrm>
          <a:solidFill>
            <a:srgbClr val="E8432E"/>
          </a:solidFill>
        </p:grpSpPr>
        <p:sp>
          <p:nvSpPr>
            <p:cNvPr id="50" name="椭圆 49"/>
            <p:cNvSpPr/>
            <p:nvPr/>
          </p:nvSpPr>
          <p:spPr>
            <a:xfrm>
              <a:off x="8874034" y="2294646"/>
              <a:ext cx="920182" cy="945392"/>
            </a:xfrm>
            <a:prstGeom prst="ellipse">
              <a:avLst/>
            </a:prstGeom>
            <a:grp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51" name="任意多边形 50"/>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55" name="矩形 54"/>
          <p:cNvSpPr/>
          <p:nvPr/>
        </p:nvSpPr>
        <p:spPr>
          <a:xfrm>
            <a:off x="8392245" y="3131638"/>
            <a:ext cx="515122" cy="275590"/>
          </a:xfrm>
          <a:prstGeom prst="rect">
            <a:avLst/>
          </a:prstGeom>
        </p:spPr>
        <p:txBody>
          <a:bodyPr wrap="square">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6</a:t>
            </a:r>
            <a:r>
              <a:rPr lang="zh-CN" altLang="en-US" sz="1200" b="1" dirty="0">
                <a:solidFill>
                  <a:schemeClr val="bg1"/>
                </a:solidFill>
                <a:latin typeface="微软雅黑" panose="020B0503020204020204" pitchFamily="34" charset="-122"/>
                <a:ea typeface="微软雅黑" panose="020B0503020204020204" pitchFamily="34" charset="-122"/>
              </a:rPr>
              <a:t>家</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6" name="TextBox 98"/>
          <p:cNvSpPr txBox="1">
            <a:spLocks noChangeArrowheads="1"/>
          </p:cNvSpPr>
          <p:nvPr>
            <p:custDataLst>
              <p:tags r:id="rId3"/>
            </p:custDataLst>
          </p:nvPr>
        </p:nvSpPr>
        <p:spPr bwMode="auto">
          <a:xfrm>
            <a:off x="9204958" y="3232836"/>
            <a:ext cx="1808550" cy="521970"/>
          </a:xfrm>
          <a:prstGeom prst="rect">
            <a:avLst/>
          </a:prstGeom>
          <a:noFill/>
          <a:ln w="9525">
            <a:noFill/>
            <a:miter lim="800000"/>
          </a:ln>
        </p:spPr>
        <p:txBody>
          <a:bodyPr wrap="square">
            <a:spAutoFit/>
          </a:bodyPr>
          <a:lstStyle/>
          <a:p>
            <a:r>
              <a:rPr lang="zh-CN" altLang="en-US" sz="1400" dirty="0">
                <a:latin typeface="微软雅黑" panose="020B0503020204020204" pitchFamily="34" charset="-122"/>
                <a:ea typeface="微软雅黑" panose="020B0503020204020204" pitchFamily="34" charset="-122"/>
              </a:rPr>
              <a:t>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市公司统谈装修补贴转保证金</a:t>
            </a:r>
          </a:p>
        </p:txBody>
      </p:sp>
      <p:grpSp>
        <p:nvGrpSpPr>
          <p:cNvPr id="57" name="组合 56"/>
          <p:cNvGrpSpPr/>
          <p:nvPr/>
        </p:nvGrpSpPr>
        <p:grpSpPr>
          <a:xfrm>
            <a:off x="8313654" y="3907571"/>
            <a:ext cx="702000" cy="718794"/>
            <a:chOff x="8866758" y="2281646"/>
            <a:chExt cx="936000" cy="958392"/>
          </a:xfrm>
          <a:solidFill>
            <a:srgbClr val="E8432E"/>
          </a:solidFill>
        </p:grpSpPr>
        <p:sp>
          <p:nvSpPr>
            <p:cNvPr id="58" name="椭圆 57"/>
            <p:cNvSpPr/>
            <p:nvPr/>
          </p:nvSpPr>
          <p:spPr>
            <a:xfrm>
              <a:off x="8874034" y="2294646"/>
              <a:ext cx="920182" cy="945392"/>
            </a:xfrm>
            <a:prstGeom prst="ellipse">
              <a:avLst/>
            </a:prstGeom>
            <a:grp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59" name="任意多边形 58"/>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63" name="矩形 62"/>
          <p:cNvSpPr/>
          <p:nvPr/>
        </p:nvSpPr>
        <p:spPr>
          <a:xfrm>
            <a:off x="8401739" y="3982028"/>
            <a:ext cx="515122" cy="275590"/>
          </a:xfrm>
          <a:prstGeom prst="rect">
            <a:avLst/>
          </a:prstGeom>
        </p:spPr>
        <p:txBody>
          <a:bodyPr wrap="square">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5</a:t>
            </a:r>
            <a:r>
              <a:rPr lang="zh-CN" altLang="en-US" sz="1200" b="1" dirty="0">
                <a:solidFill>
                  <a:schemeClr val="bg1"/>
                </a:solidFill>
                <a:latin typeface="微软雅黑" panose="020B0503020204020204" pitchFamily="34" charset="-122"/>
                <a:ea typeface="微软雅黑" panose="020B0503020204020204" pitchFamily="34" charset="-122"/>
              </a:rPr>
              <a:t>家</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4" name="TextBox 98"/>
          <p:cNvSpPr txBox="1">
            <a:spLocks noChangeArrowheads="1"/>
          </p:cNvSpPr>
          <p:nvPr>
            <p:custDataLst>
              <p:tags r:id="rId4"/>
            </p:custDataLst>
          </p:nvPr>
        </p:nvSpPr>
        <p:spPr bwMode="auto">
          <a:xfrm>
            <a:off x="9204958" y="4151251"/>
            <a:ext cx="1312844" cy="306705"/>
          </a:xfrm>
          <a:prstGeom prst="rect">
            <a:avLst/>
          </a:prstGeom>
          <a:noFill/>
          <a:ln w="9525">
            <a:noFill/>
            <a:miter lim="800000"/>
          </a:ln>
        </p:spPr>
        <p:txBody>
          <a:bodyPr wrap="square">
            <a:spAutoFit/>
          </a:bodyPr>
          <a:lstStyle/>
          <a:p>
            <a:r>
              <a:rPr lang="zh-CN" altLang="en-US" sz="1400" dirty="0">
                <a:latin typeface="微软雅黑" panose="020B0503020204020204" pitchFamily="34" charset="-122"/>
                <a:ea typeface="微软雅黑" panose="020B0503020204020204" pitchFamily="34" charset="-122"/>
              </a:rPr>
              <a:t>降为代理点</a:t>
            </a:r>
          </a:p>
        </p:txBody>
      </p:sp>
      <p:grpSp>
        <p:nvGrpSpPr>
          <p:cNvPr id="65" name="组合 64"/>
          <p:cNvGrpSpPr/>
          <p:nvPr/>
        </p:nvGrpSpPr>
        <p:grpSpPr>
          <a:xfrm>
            <a:off x="8327196" y="4714942"/>
            <a:ext cx="702000" cy="718794"/>
            <a:chOff x="8866758" y="2281646"/>
            <a:chExt cx="936000" cy="958392"/>
          </a:xfrm>
          <a:solidFill>
            <a:srgbClr val="E8432E"/>
          </a:solidFill>
        </p:grpSpPr>
        <p:sp>
          <p:nvSpPr>
            <p:cNvPr id="66" name="椭圆 65"/>
            <p:cNvSpPr/>
            <p:nvPr/>
          </p:nvSpPr>
          <p:spPr>
            <a:xfrm>
              <a:off x="8874034" y="2294646"/>
              <a:ext cx="920182" cy="945392"/>
            </a:xfrm>
            <a:prstGeom prst="ellipse">
              <a:avLst/>
            </a:prstGeom>
            <a:grp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7" name="任意多边形 66"/>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71" name="矩形 70"/>
          <p:cNvSpPr/>
          <p:nvPr/>
        </p:nvSpPr>
        <p:spPr>
          <a:xfrm>
            <a:off x="8404487" y="4724126"/>
            <a:ext cx="515122" cy="275590"/>
          </a:xfrm>
          <a:prstGeom prst="rect">
            <a:avLst/>
          </a:prstGeom>
        </p:spPr>
        <p:txBody>
          <a:bodyPr wrap="square">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2</a:t>
            </a:r>
            <a:r>
              <a:rPr lang="zh-CN" altLang="en-US" sz="1200" b="1" dirty="0">
                <a:solidFill>
                  <a:schemeClr val="bg1"/>
                </a:solidFill>
                <a:latin typeface="微软雅黑" panose="020B0503020204020204" pitchFamily="34" charset="-122"/>
                <a:ea typeface="微软雅黑" panose="020B0503020204020204" pitchFamily="34" charset="-122"/>
              </a:rPr>
              <a:t>家</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2" name="TextBox 98"/>
          <p:cNvSpPr txBox="1">
            <a:spLocks noChangeArrowheads="1"/>
          </p:cNvSpPr>
          <p:nvPr>
            <p:custDataLst>
              <p:tags r:id="rId5"/>
            </p:custDataLst>
          </p:nvPr>
        </p:nvSpPr>
        <p:spPr bwMode="auto">
          <a:xfrm>
            <a:off x="9204958" y="4799394"/>
            <a:ext cx="1803733" cy="521970"/>
          </a:xfrm>
          <a:prstGeom prst="rect">
            <a:avLst/>
          </a:prstGeom>
          <a:noFill/>
          <a:ln w="9525">
            <a:noFill/>
            <a:miter lim="800000"/>
          </a:ln>
        </p:spPr>
        <p:txBody>
          <a:bodyPr wrap="square">
            <a:spAutoFit/>
          </a:bodyPr>
          <a:lstStyle/>
          <a:p>
            <a:r>
              <a:rPr lang="zh-CN" altLang="en-US" sz="1400" dirty="0">
                <a:latin typeface="微软雅黑" panose="020B0503020204020204" pitchFamily="34" charset="-122"/>
                <a:ea typeface="微软雅黑" panose="020B0503020204020204" pitchFamily="34" charset="-122"/>
              </a:rPr>
              <a:t>拒缴或上报信息不实，待确认</a:t>
            </a:r>
          </a:p>
        </p:txBody>
      </p:sp>
      <p:sp>
        <p:nvSpPr>
          <p:cNvPr id="73" name="圆角矩形 72"/>
          <p:cNvSpPr/>
          <p:nvPr/>
        </p:nvSpPr>
        <p:spPr>
          <a:xfrm>
            <a:off x="5067600" y="2120175"/>
            <a:ext cx="893771" cy="339302"/>
          </a:xfrm>
          <a:prstGeom prst="roundRect">
            <a:avLst>
              <a:gd name="adj" fmla="val 50000"/>
            </a:avLst>
          </a:prstGeom>
          <a:solidFill>
            <a:srgbClr val="383F4E"/>
          </a:solidFill>
        </p:spPr>
        <p:txBody>
          <a:bodyPr wrap="none" anchor="ctr">
            <a:noAutofit/>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手工账系统</a:t>
            </a:r>
          </a:p>
        </p:txBody>
      </p:sp>
      <p:sp>
        <p:nvSpPr>
          <p:cNvPr id="74" name="圆角矩形 73"/>
          <p:cNvSpPr/>
          <p:nvPr/>
        </p:nvSpPr>
        <p:spPr>
          <a:xfrm>
            <a:off x="6106666" y="2120175"/>
            <a:ext cx="917925" cy="339302"/>
          </a:xfrm>
          <a:prstGeom prst="roundRect">
            <a:avLst>
              <a:gd name="adj" fmla="val 50000"/>
            </a:avLst>
          </a:prstGeom>
          <a:solidFill>
            <a:srgbClr val="E8432E"/>
          </a:solidFill>
        </p:spPr>
        <p:txBody>
          <a:bodyPr wrap="none" anchor="ctr">
            <a:noAutofit/>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押金管理系统</a:t>
            </a:r>
          </a:p>
        </p:txBody>
      </p:sp>
      <p:sp>
        <p:nvSpPr>
          <p:cNvPr id="75" name="TextBox 2104"/>
          <p:cNvSpPr txBox="1">
            <a:spLocks noChangeArrowheads="1"/>
          </p:cNvSpPr>
          <p:nvPr>
            <p:custDataLst>
              <p:tags r:id="rId6"/>
            </p:custDataLst>
          </p:nvPr>
        </p:nvSpPr>
        <p:spPr bwMode="auto">
          <a:xfrm>
            <a:off x="5217030" y="2546952"/>
            <a:ext cx="627452" cy="252730"/>
          </a:xfrm>
          <a:prstGeom prst="rect">
            <a:avLst/>
          </a:prstGeom>
          <a:noFill/>
          <a:ln w="9525">
            <a:noFill/>
            <a:miter lim="800000"/>
          </a:ln>
        </p:spPr>
        <p:txBody>
          <a:bodyPr>
            <a:spAutoFit/>
          </a:bodyPr>
          <a:lstStyle/>
          <a:p>
            <a:r>
              <a:rPr lang="en-US" altLang="zh-CN" sz="1050" dirty="0">
                <a:latin typeface="微软雅黑" panose="020B0503020204020204" pitchFamily="34" charset="-122"/>
                <a:ea typeface="微软雅黑" panose="020B0503020204020204" pitchFamily="34" charset="-122"/>
              </a:rPr>
              <a:t>41.1</a:t>
            </a:r>
            <a:r>
              <a:rPr lang="zh-CN" altLang="en-US" sz="1050" dirty="0">
                <a:latin typeface="微软雅黑" panose="020B0503020204020204" pitchFamily="34" charset="-122"/>
                <a:ea typeface="微软雅黑" panose="020B0503020204020204" pitchFamily="34" charset="-122"/>
              </a:rPr>
              <a:t>万</a:t>
            </a:r>
          </a:p>
        </p:txBody>
      </p:sp>
      <p:sp>
        <p:nvSpPr>
          <p:cNvPr id="76" name="TextBox 95"/>
          <p:cNvSpPr txBox="1">
            <a:spLocks noChangeArrowheads="1"/>
          </p:cNvSpPr>
          <p:nvPr>
            <p:custDataLst>
              <p:tags r:id="rId7"/>
            </p:custDataLst>
          </p:nvPr>
        </p:nvSpPr>
        <p:spPr bwMode="auto">
          <a:xfrm>
            <a:off x="6036161" y="2546952"/>
            <a:ext cx="776910" cy="252730"/>
          </a:xfrm>
          <a:prstGeom prst="rect">
            <a:avLst/>
          </a:prstGeom>
          <a:noFill/>
          <a:ln w="9525">
            <a:noFill/>
            <a:miter lim="800000"/>
          </a:ln>
        </p:spPr>
        <p:txBody>
          <a:bodyPr wrap="square">
            <a:spAutoFit/>
          </a:bodyPr>
          <a:lstStyle/>
          <a:p>
            <a:pPr algn="ctr"/>
            <a:r>
              <a:rPr lang="en-US" altLang="zh-CN" sz="1050" dirty="0">
                <a:latin typeface="微软雅黑" panose="020B0503020204020204" pitchFamily="34" charset="-122"/>
                <a:ea typeface="微软雅黑" panose="020B0503020204020204" pitchFamily="34" charset="-122"/>
              </a:rPr>
              <a:t>122.1</a:t>
            </a:r>
            <a:r>
              <a:rPr lang="zh-CN" altLang="en-US" sz="1050" dirty="0">
                <a:latin typeface="微软雅黑" panose="020B0503020204020204" pitchFamily="34" charset="-122"/>
                <a:ea typeface="微软雅黑" panose="020B0503020204020204" pitchFamily="34" charset="-122"/>
              </a:rPr>
              <a:t>万</a:t>
            </a:r>
          </a:p>
        </p:txBody>
      </p:sp>
      <p:sp>
        <p:nvSpPr>
          <p:cNvPr id="77" name="Text Box 121"/>
          <p:cNvSpPr txBox="1">
            <a:spLocks noChangeArrowheads="1"/>
          </p:cNvSpPr>
          <p:nvPr>
            <p:custDataLst>
              <p:tags r:id="rId8"/>
            </p:custDataLst>
          </p:nvPr>
        </p:nvSpPr>
        <p:spPr bwMode="auto">
          <a:xfrm>
            <a:off x="6751324" y="2962452"/>
            <a:ext cx="1183989" cy="1084214"/>
          </a:xfrm>
          <a:prstGeom prst="rect">
            <a:avLst/>
          </a:prstGeom>
          <a:solidFill>
            <a:srgbClr val="E8432E"/>
          </a:solidFill>
          <a:ln w="9525">
            <a:noFill/>
            <a:miter lim="800000"/>
          </a:ln>
        </p:spPr>
        <p:txBody>
          <a:bodyPr anchor="ctr"/>
          <a:lstStyle/>
          <a:p>
            <a:pPr algn="ctr">
              <a:lnSpc>
                <a:spcPct val="150000"/>
              </a:lnSpc>
              <a:defRPr/>
            </a:pPr>
            <a:r>
              <a:rPr lang="zh-CN" altLang="en-US" sz="1050" dirty="0">
                <a:solidFill>
                  <a:schemeClr val="bg1"/>
                </a:solidFill>
                <a:latin typeface="微软雅黑" panose="020B0503020204020204" pitchFamily="34" charset="-122"/>
                <a:ea typeface="微软雅黑" panose="020B0503020204020204" pitchFamily="34" charset="-122"/>
              </a:rPr>
              <a:t>前期通报的</a:t>
            </a:r>
            <a:r>
              <a:rPr lang="en-US" altLang="zh-CN" sz="1050" dirty="0">
                <a:solidFill>
                  <a:schemeClr val="bg1"/>
                </a:solidFill>
                <a:latin typeface="微软雅黑" panose="020B0503020204020204" pitchFamily="34" charset="-122"/>
                <a:ea typeface="微软雅黑" panose="020B0503020204020204" pitchFamily="34" charset="-122"/>
              </a:rPr>
              <a:t>60</a:t>
            </a:r>
            <a:r>
              <a:rPr lang="zh-CN" altLang="en-US" sz="1050" dirty="0">
                <a:solidFill>
                  <a:schemeClr val="bg1"/>
                </a:solidFill>
                <a:latin typeface="微软雅黑" panose="020B0503020204020204" pitchFamily="34" charset="-122"/>
                <a:ea typeface="微软雅黑" panose="020B0503020204020204" pitchFamily="34" charset="-122"/>
              </a:rPr>
              <a:t>家未缴保证金的专营店</a:t>
            </a:r>
            <a:endParaRPr lang="en-US" altLang="zh-CN" sz="1050" dirty="0">
              <a:solidFill>
                <a:schemeClr val="bg1"/>
              </a:solidFill>
              <a:latin typeface="微软雅黑" panose="020B0503020204020204" pitchFamily="34" charset="-122"/>
              <a:ea typeface="微软雅黑" panose="020B0503020204020204" pitchFamily="34" charset="-122"/>
            </a:endParaRPr>
          </a:p>
          <a:p>
            <a:pPr algn="ctr">
              <a:lnSpc>
                <a:spcPct val="150000"/>
              </a:lnSpc>
              <a:defRPr/>
            </a:pPr>
            <a:r>
              <a:rPr lang="zh-CN" altLang="en-US" sz="900" b="1" dirty="0">
                <a:solidFill>
                  <a:schemeClr val="bg1"/>
                </a:solidFill>
                <a:latin typeface="微软雅黑" panose="020B0503020204020204" pitchFamily="34" charset="-122"/>
                <a:ea typeface="微软雅黑" panose="020B0503020204020204" pitchFamily="34" charset="-122"/>
              </a:rPr>
              <a:t>（其中：</a:t>
            </a:r>
            <a:r>
              <a:rPr lang="en-US" altLang="zh-CN" sz="900" b="1" dirty="0">
                <a:solidFill>
                  <a:schemeClr val="bg1"/>
                </a:solidFill>
                <a:latin typeface="微软雅黑" panose="020B0503020204020204" pitchFamily="34" charset="-122"/>
                <a:ea typeface="微软雅黑" panose="020B0503020204020204" pitchFamily="34" charset="-122"/>
              </a:rPr>
              <a:t>1</a:t>
            </a:r>
            <a:r>
              <a:rPr lang="zh-CN" altLang="en-US" sz="900" b="1" dirty="0">
                <a:solidFill>
                  <a:schemeClr val="bg1"/>
                </a:solidFill>
                <a:latin typeface="微软雅黑" panose="020B0503020204020204" pitchFamily="34" charset="-122"/>
                <a:ea typeface="微软雅黑" panose="020B0503020204020204" pitchFamily="34" charset="-122"/>
              </a:rPr>
              <a:t>家分</a:t>
            </a:r>
            <a:r>
              <a:rPr lang="en-US" altLang="zh-CN" sz="900" b="1" dirty="0">
                <a:solidFill>
                  <a:schemeClr val="bg1"/>
                </a:solidFill>
                <a:latin typeface="微软雅黑" panose="020B0503020204020204" pitchFamily="34" charset="-122"/>
                <a:ea typeface="微软雅黑" panose="020B0503020204020204" pitchFamily="34" charset="-122"/>
              </a:rPr>
              <a:t>2</a:t>
            </a:r>
            <a:r>
              <a:rPr lang="zh-CN" altLang="en-US" sz="900" b="1" dirty="0">
                <a:solidFill>
                  <a:schemeClr val="bg1"/>
                </a:solidFill>
                <a:latin typeface="微软雅黑" panose="020B0503020204020204" pitchFamily="34" charset="-122"/>
                <a:ea typeface="微软雅黑" panose="020B0503020204020204" pitchFamily="34" charset="-122"/>
              </a:rPr>
              <a:t>个）</a:t>
            </a:r>
            <a:endParaRPr lang="zh-CN" altLang="en-US" sz="9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78" name="TextBox 96"/>
          <p:cNvSpPr txBox="1">
            <a:spLocks noChangeArrowheads="1"/>
          </p:cNvSpPr>
          <p:nvPr>
            <p:custDataLst>
              <p:tags r:id="rId9"/>
            </p:custDataLst>
          </p:nvPr>
        </p:nvSpPr>
        <p:spPr bwMode="auto">
          <a:xfrm>
            <a:off x="5237502" y="3598153"/>
            <a:ext cx="627452" cy="252730"/>
          </a:xfrm>
          <a:prstGeom prst="rect">
            <a:avLst/>
          </a:prstGeom>
          <a:noFill/>
          <a:ln w="9525">
            <a:noFill/>
            <a:miter lim="800000"/>
          </a:ln>
        </p:spPr>
        <p:txBody>
          <a:bodyPr>
            <a:spAutoFit/>
          </a:bodyPr>
          <a:lstStyle/>
          <a:p>
            <a:r>
              <a:rPr lang="en-US" altLang="zh-CN" sz="1050" dirty="0">
                <a:latin typeface="微软雅黑" panose="020B0503020204020204" pitchFamily="34" charset="-122"/>
                <a:ea typeface="微软雅黑" panose="020B0503020204020204" pitchFamily="34" charset="-122"/>
              </a:rPr>
              <a:t>5.9</a:t>
            </a:r>
            <a:r>
              <a:rPr lang="zh-CN" altLang="en-US" sz="1050" dirty="0">
                <a:latin typeface="微软雅黑" panose="020B0503020204020204" pitchFamily="34" charset="-122"/>
                <a:ea typeface="微软雅黑" panose="020B0503020204020204" pitchFamily="34" charset="-122"/>
              </a:rPr>
              <a:t>万</a:t>
            </a:r>
          </a:p>
        </p:txBody>
      </p:sp>
      <p:sp>
        <p:nvSpPr>
          <p:cNvPr id="79" name="TextBox 97"/>
          <p:cNvSpPr txBox="1">
            <a:spLocks noChangeArrowheads="1"/>
          </p:cNvSpPr>
          <p:nvPr>
            <p:custDataLst>
              <p:tags r:id="rId10"/>
            </p:custDataLst>
          </p:nvPr>
        </p:nvSpPr>
        <p:spPr bwMode="auto">
          <a:xfrm>
            <a:off x="6189699" y="3598153"/>
            <a:ext cx="627452" cy="252730"/>
          </a:xfrm>
          <a:prstGeom prst="rect">
            <a:avLst/>
          </a:prstGeom>
          <a:noFill/>
          <a:ln w="9525">
            <a:noFill/>
            <a:miter lim="800000"/>
          </a:ln>
        </p:spPr>
        <p:txBody>
          <a:bodyPr>
            <a:spAutoFit/>
          </a:bodyPr>
          <a:lstStyle/>
          <a:p>
            <a:r>
              <a:rPr lang="en-US" altLang="zh-CN" sz="1050" dirty="0">
                <a:latin typeface="微软雅黑" panose="020B0503020204020204" pitchFamily="34" charset="-122"/>
                <a:ea typeface="微软雅黑" panose="020B0503020204020204" pitchFamily="34" charset="-122"/>
              </a:rPr>
              <a:t>1.1</a:t>
            </a:r>
            <a:r>
              <a:rPr lang="zh-CN" altLang="en-US" sz="1050" dirty="0">
                <a:latin typeface="微软雅黑" panose="020B0503020204020204" pitchFamily="34" charset="-122"/>
                <a:ea typeface="微软雅黑" panose="020B0503020204020204" pitchFamily="34" charset="-122"/>
              </a:rPr>
              <a:t>万</a:t>
            </a:r>
          </a:p>
        </p:txBody>
      </p:sp>
      <p:cxnSp>
        <p:nvCxnSpPr>
          <p:cNvPr id="80" name="肘形连接符 79"/>
          <p:cNvCxnSpPr>
            <a:stCxn id="77" idx="0"/>
          </p:cNvCxnSpPr>
          <p:nvPr/>
        </p:nvCxnSpPr>
        <p:spPr>
          <a:xfrm rot="16200000" flipV="1">
            <a:off x="6329292" y="1947790"/>
            <a:ext cx="144519" cy="1884804"/>
          </a:xfrm>
          <a:prstGeom prst="bentConnector2">
            <a:avLst/>
          </a:prstGeom>
          <a:ln w="28575">
            <a:solidFill>
              <a:srgbClr val="E8432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1" name="肘形连接符 80"/>
          <p:cNvCxnSpPr>
            <a:endCxn id="76" idx="3"/>
          </p:cNvCxnSpPr>
          <p:nvPr/>
        </p:nvCxnSpPr>
        <p:spPr>
          <a:xfrm rot="10800000">
            <a:off x="6813071" y="2673275"/>
            <a:ext cx="833306" cy="281160"/>
          </a:xfrm>
          <a:prstGeom prst="bentConnector3">
            <a:avLst>
              <a:gd name="adj1" fmla="val 910"/>
            </a:avLst>
          </a:prstGeom>
          <a:ln w="28575">
            <a:solidFill>
              <a:srgbClr val="E8432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7066428" y="2387560"/>
            <a:ext cx="523240" cy="275590"/>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26</a:t>
            </a:r>
            <a:r>
              <a:rPr lang="zh-CN" altLang="en-US" sz="1200" b="1" dirty="0">
                <a:latin typeface="微软雅黑" panose="020B0503020204020204" pitchFamily="34" charset="-122"/>
                <a:ea typeface="微软雅黑" panose="020B0503020204020204" pitchFamily="34" charset="-122"/>
              </a:rPr>
              <a:t>家</a:t>
            </a:r>
          </a:p>
        </p:txBody>
      </p:sp>
      <p:sp>
        <p:nvSpPr>
          <p:cNvPr id="83" name="矩形 82"/>
          <p:cNvSpPr/>
          <p:nvPr/>
        </p:nvSpPr>
        <p:spPr>
          <a:xfrm>
            <a:off x="5606760" y="2844777"/>
            <a:ext cx="429260" cy="275590"/>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5</a:t>
            </a:r>
            <a:r>
              <a:rPr lang="zh-CN" altLang="en-US" sz="1200" b="1" dirty="0">
                <a:latin typeface="微软雅黑" panose="020B0503020204020204" pitchFamily="34" charset="-122"/>
                <a:ea typeface="微软雅黑" panose="020B0503020204020204" pitchFamily="34" charset="-122"/>
              </a:rPr>
              <a:t>家</a:t>
            </a:r>
          </a:p>
        </p:txBody>
      </p:sp>
      <p:sp>
        <p:nvSpPr>
          <p:cNvPr id="84" name="Text Box 73"/>
          <p:cNvSpPr txBox="1">
            <a:spLocks noChangeArrowheads="1"/>
          </p:cNvSpPr>
          <p:nvPr>
            <p:custDataLst>
              <p:tags r:id="rId11"/>
            </p:custDataLst>
          </p:nvPr>
        </p:nvSpPr>
        <p:spPr bwMode="auto">
          <a:xfrm>
            <a:off x="5241996" y="4282700"/>
            <a:ext cx="1029705" cy="371475"/>
          </a:xfrm>
          <a:prstGeom prst="rect">
            <a:avLst/>
          </a:prstGeom>
          <a:solidFill>
            <a:schemeClr val="tx1">
              <a:lumMod val="50000"/>
              <a:lumOff val="50000"/>
            </a:schemeClr>
          </a:solidFill>
          <a:ln w="9525">
            <a:solidFill>
              <a:srgbClr val="005DA2"/>
            </a:solidFill>
            <a:miter lim="800000"/>
          </a:ln>
        </p:spPr>
        <p:txBody>
          <a:bodyPr/>
          <a:lstStyle/>
          <a:p>
            <a:pPr algn="ctr" eaLnBrk="0" hangingPunct="0"/>
            <a:r>
              <a:rPr lang="en-US" altLang="zh-CN" sz="105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47</a:t>
            </a:r>
            <a:r>
              <a:rPr lang="zh-CN" altLang="en-US" sz="105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家代理商：</a:t>
            </a:r>
            <a:endParaRPr lang="zh-CN" altLang="en-US" sz="1050"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105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未稽核</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5" name="Text Box 72"/>
          <p:cNvSpPr txBox="1">
            <a:spLocks noChangeArrowheads="1"/>
          </p:cNvSpPr>
          <p:nvPr>
            <p:custDataLst>
              <p:tags r:id="rId12"/>
            </p:custDataLst>
          </p:nvPr>
        </p:nvSpPr>
        <p:spPr bwMode="auto">
          <a:xfrm>
            <a:off x="5241996" y="4829197"/>
            <a:ext cx="1029705" cy="370284"/>
          </a:xfrm>
          <a:prstGeom prst="rect">
            <a:avLst/>
          </a:prstGeom>
          <a:solidFill>
            <a:srgbClr val="383F4E"/>
          </a:solidFill>
          <a:ln w="9525">
            <a:noFill/>
            <a:miter lim="800000"/>
          </a:ln>
        </p:spPr>
        <p:txBody>
          <a:bodyPr anchor="ctr"/>
          <a:lstStyle/>
          <a:p>
            <a:pPr algn="ctr" eaLnBrk="0" hangingPunct="0"/>
            <a:r>
              <a:rPr lang="en-US" altLang="zh-CN" sz="105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30</a:t>
            </a:r>
            <a:r>
              <a:rPr lang="zh-CN" altLang="en-US" sz="105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家专营店</a:t>
            </a:r>
            <a:endParaRPr lang="zh-CN" altLang="en-US" sz="1050" dirty="0">
              <a:solidFill>
                <a:schemeClr val="bg1"/>
              </a:solidFill>
              <a:latin typeface="微软雅黑" panose="020B0503020204020204" pitchFamily="34" charset="-122"/>
              <a:ea typeface="微软雅黑" panose="020B0503020204020204" pitchFamily="34" charset="-122"/>
            </a:endParaRPr>
          </a:p>
        </p:txBody>
      </p:sp>
      <p:cxnSp>
        <p:nvCxnSpPr>
          <p:cNvPr id="86" name="肘形连接符 85"/>
          <p:cNvCxnSpPr>
            <a:stCxn id="24" idx="6"/>
            <a:endCxn id="84" idx="1"/>
          </p:cNvCxnSpPr>
          <p:nvPr/>
        </p:nvCxnSpPr>
        <p:spPr>
          <a:xfrm flipV="1">
            <a:off x="4984115" y="4468495"/>
            <a:ext cx="257810" cy="27178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肘形连接符 86"/>
          <p:cNvCxnSpPr>
            <a:stCxn id="24" idx="6"/>
            <a:endCxn id="85" idx="1"/>
          </p:cNvCxnSpPr>
          <p:nvPr/>
        </p:nvCxnSpPr>
        <p:spPr>
          <a:xfrm>
            <a:off x="4984115" y="4740275"/>
            <a:ext cx="257810" cy="27432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 name="组合 87"/>
          <p:cNvGrpSpPr/>
          <p:nvPr/>
        </p:nvGrpSpPr>
        <p:grpSpPr>
          <a:xfrm>
            <a:off x="6438392" y="4110403"/>
            <a:ext cx="743097" cy="718794"/>
            <a:chOff x="10549251" y="2281646"/>
            <a:chExt cx="990796" cy="958392"/>
          </a:xfrm>
        </p:grpSpPr>
        <p:grpSp>
          <p:nvGrpSpPr>
            <p:cNvPr id="89" name="组合 88"/>
            <p:cNvGrpSpPr/>
            <p:nvPr/>
          </p:nvGrpSpPr>
          <p:grpSpPr>
            <a:xfrm>
              <a:off x="10593654" y="2281646"/>
              <a:ext cx="946393" cy="958392"/>
              <a:chOff x="8874034" y="2281646"/>
              <a:chExt cx="946393" cy="958392"/>
            </a:xfrm>
          </p:grpSpPr>
          <p:sp>
            <p:nvSpPr>
              <p:cNvPr id="91" name="椭圆 90"/>
              <p:cNvSpPr/>
              <p:nvPr/>
            </p:nvSpPr>
            <p:spPr>
              <a:xfrm>
                <a:off x="8874034" y="2294646"/>
                <a:ext cx="920182" cy="945392"/>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nvGrpSpPr>
              <p:cNvPr id="92" name="组合 91"/>
              <p:cNvGrpSpPr/>
              <p:nvPr/>
            </p:nvGrpSpPr>
            <p:grpSpPr>
              <a:xfrm>
                <a:off x="9066182" y="2763544"/>
                <a:ext cx="549498" cy="405584"/>
                <a:chOff x="9101726" y="2763544"/>
                <a:chExt cx="472427" cy="405584"/>
              </a:xfrm>
            </p:grpSpPr>
            <p:sp>
              <p:nvSpPr>
                <p:cNvPr id="94" name="椭圆 93"/>
                <p:cNvSpPr/>
                <p:nvPr/>
              </p:nvSpPr>
              <p:spPr>
                <a:xfrm>
                  <a:off x="9132073" y="2763612"/>
                  <a:ext cx="413468" cy="405516"/>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5" name="椭圆 94"/>
                <p:cNvSpPr/>
                <p:nvPr/>
              </p:nvSpPr>
              <p:spPr>
                <a:xfrm>
                  <a:off x="9101726" y="2763544"/>
                  <a:ext cx="472427" cy="405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93" name="任意多边形 92"/>
              <p:cNvSpPr/>
              <p:nvPr/>
            </p:nvSpPr>
            <p:spPr>
              <a:xfrm>
                <a:off x="8884427" y="2281646"/>
                <a:ext cx="936000" cy="461555"/>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90" name="TextBox 98"/>
            <p:cNvSpPr txBox="1">
              <a:spLocks noChangeArrowheads="1"/>
            </p:cNvSpPr>
            <p:nvPr>
              <p:custDataLst>
                <p:tags r:id="rId13"/>
              </p:custDataLst>
            </p:nvPr>
          </p:nvSpPr>
          <p:spPr bwMode="auto">
            <a:xfrm>
              <a:off x="10549251" y="2392945"/>
              <a:ext cx="964790" cy="683948"/>
            </a:xfrm>
            <a:prstGeom prst="rect">
              <a:avLst/>
            </a:prstGeom>
            <a:noFill/>
            <a:ln w="9525">
              <a:noFill/>
              <a:miter lim="800000"/>
            </a:ln>
          </p:spPr>
          <p:txBody>
            <a:bodyPr wrap="square">
              <a:spAutoFit/>
            </a:bodyPr>
            <a:lstStyle/>
            <a:p>
              <a:pPr algn="ctr"/>
              <a:r>
                <a:rPr lang="en-US" altLang="zh-CN" sz="1500" dirty="0">
                  <a:solidFill>
                    <a:schemeClr val="bg1"/>
                  </a:solidFill>
                  <a:latin typeface="Impact" panose="020B0806030902050204" pitchFamily="34" charset="0"/>
                  <a:ea typeface="微软雅黑" panose="020B0503020204020204" pitchFamily="34" charset="-122"/>
                </a:rPr>
                <a:t>43.5</a:t>
              </a:r>
            </a:p>
            <a:p>
              <a:pPr algn="ctr">
                <a:lnSpc>
                  <a:spcPts val="375"/>
                </a:lnSpc>
              </a:pPr>
              <a:endParaRPr lang="en-US" altLang="zh-CN" sz="600" dirty="0">
                <a:solidFill>
                  <a:schemeClr val="bg1"/>
                </a:solidFill>
                <a:latin typeface="Impact" panose="020B0806030902050204" pitchFamily="34" charset="0"/>
                <a:ea typeface="微软雅黑" panose="020B0503020204020204" pitchFamily="34" charset="-122"/>
              </a:endParaRPr>
            </a:p>
            <a:p>
              <a:pPr algn="ctr"/>
              <a:r>
                <a:rPr lang="zh-CN" altLang="en-US" sz="900" dirty="0">
                  <a:latin typeface="Impact" panose="020B0806030902050204" pitchFamily="34" charset="0"/>
                  <a:ea typeface="微软雅黑" panose="020B0503020204020204" pitchFamily="34" charset="-122"/>
                </a:rPr>
                <a:t>万</a:t>
              </a:r>
            </a:p>
          </p:txBody>
        </p:sp>
      </p:grpSp>
      <p:cxnSp>
        <p:nvCxnSpPr>
          <p:cNvPr id="98" name="直接连接符 97"/>
          <p:cNvCxnSpPr/>
          <p:nvPr/>
        </p:nvCxnSpPr>
        <p:spPr>
          <a:xfrm>
            <a:off x="6036161" y="2120175"/>
            <a:ext cx="0" cy="1861853"/>
          </a:xfrm>
          <a:prstGeom prst="line">
            <a:avLst/>
          </a:prstGeom>
          <a:ln>
            <a:solidFill>
              <a:srgbClr val="FF6600"/>
            </a:solidFill>
            <a:prstDash val="dash"/>
          </a:ln>
        </p:spPr>
        <p:style>
          <a:lnRef idx="1">
            <a:schemeClr val="accent1"/>
          </a:lnRef>
          <a:fillRef idx="0">
            <a:schemeClr val="accent1"/>
          </a:fillRef>
          <a:effectRef idx="0">
            <a:schemeClr val="accent1"/>
          </a:effectRef>
          <a:fontRef idx="minor">
            <a:schemeClr val="tx1"/>
          </a:fontRef>
        </p:style>
      </p:cxnSp>
      <p:sp>
        <p:nvSpPr>
          <p:cNvPr id="101" name="KSO_Shape"/>
          <p:cNvSpPr>
            <a:spLocks noChangeAspect="1"/>
          </p:cNvSpPr>
          <p:nvPr/>
        </p:nvSpPr>
        <p:spPr>
          <a:xfrm>
            <a:off x="8570126" y="1947435"/>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02" name="KSO_Shape"/>
          <p:cNvSpPr>
            <a:spLocks noChangeAspect="1"/>
          </p:cNvSpPr>
          <p:nvPr/>
        </p:nvSpPr>
        <p:spPr>
          <a:xfrm>
            <a:off x="8563502" y="2735938"/>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03" name="KSO_Shape"/>
          <p:cNvSpPr>
            <a:spLocks noChangeAspect="1"/>
          </p:cNvSpPr>
          <p:nvPr/>
        </p:nvSpPr>
        <p:spPr>
          <a:xfrm>
            <a:off x="8570130" y="3524442"/>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04" name="KSO_Shape"/>
          <p:cNvSpPr>
            <a:spLocks noChangeAspect="1"/>
          </p:cNvSpPr>
          <p:nvPr/>
        </p:nvSpPr>
        <p:spPr>
          <a:xfrm>
            <a:off x="8563506" y="4326199"/>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05" name="KSO_Shape"/>
          <p:cNvSpPr>
            <a:spLocks noChangeAspect="1"/>
          </p:cNvSpPr>
          <p:nvPr/>
        </p:nvSpPr>
        <p:spPr>
          <a:xfrm>
            <a:off x="8576758" y="5121328"/>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cxnSp>
        <p:nvCxnSpPr>
          <p:cNvPr id="107" name="肘形连接符 106"/>
          <p:cNvCxnSpPr>
            <a:stCxn id="85" idx="3"/>
            <a:endCxn id="34" idx="2"/>
          </p:cNvCxnSpPr>
          <p:nvPr/>
        </p:nvCxnSpPr>
        <p:spPr>
          <a:xfrm flipV="1">
            <a:off x="6271895" y="1901825"/>
            <a:ext cx="2034540" cy="3112770"/>
          </a:xfrm>
          <a:prstGeom prst="bentConnector3">
            <a:avLst>
              <a:gd name="adj1" fmla="val 50000"/>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6271701" y="5014339"/>
            <a:ext cx="2050157"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par>
                                <p:cTn id="30" presetID="22" presetClass="entr" presetSubtype="8"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par>
                                <p:cTn id="33" presetID="22" presetClass="entr" presetSubtype="8"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par>
                                <p:cTn id="36" presetID="22" presetClass="entr" presetSubtype="8"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par>
                                <p:cTn id="39" presetID="22" presetClass="entr" presetSubtype="8"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left)">
                                      <p:cBhvr>
                                        <p:cTn id="41" dur="500"/>
                                        <p:tgtEl>
                                          <p:spTgt spid="23"/>
                                        </p:tgtEl>
                                      </p:cBhvr>
                                    </p:animEffect>
                                  </p:childTnLst>
                                </p:cTn>
                              </p:par>
                              <p:par>
                                <p:cTn id="42" presetID="22" presetClass="entr" presetSubtype="8"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500"/>
                                        <p:tgtEl>
                                          <p:spTgt spid="26"/>
                                        </p:tgtEl>
                                      </p:cBhvr>
                                    </p:animEffect>
                                  </p:childTnLst>
                                </p:cTn>
                              </p:par>
                              <p:par>
                                <p:cTn id="45" presetID="22" presetClass="entr" presetSubtype="8"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par>
                                <p:cTn id="48" presetID="22" presetClass="entr" presetSubtype="8"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wipe(left)">
                                      <p:cBhvr>
                                        <p:cTn id="50" dur="500"/>
                                        <p:tgtEl>
                                          <p:spTgt spid="3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left)">
                                      <p:cBhvr>
                                        <p:cTn id="53" dur="500"/>
                                        <p:tgtEl>
                                          <p:spTgt spid="39"/>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wipe(left)">
                                      <p:cBhvr>
                                        <p:cTn id="56" dur="500"/>
                                        <p:tgtEl>
                                          <p:spTgt spid="40"/>
                                        </p:tgtEl>
                                      </p:cBhvr>
                                    </p:animEffect>
                                  </p:childTnLst>
                                </p:cTn>
                              </p:par>
                              <p:par>
                                <p:cTn id="57" presetID="22" presetClass="entr" presetSubtype="8"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left)">
                                      <p:cBhvr>
                                        <p:cTn id="59" dur="500"/>
                                        <p:tgtEl>
                                          <p:spTgt spid="4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wipe(left)">
                                      <p:cBhvr>
                                        <p:cTn id="62" dur="500"/>
                                        <p:tgtEl>
                                          <p:spTgt spid="47"/>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wipe(left)">
                                      <p:cBhvr>
                                        <p:cTn id="65" dur="500"/>
                                        <p:tgtEl>
                                          <p:spTgt spid="48"/>
                                        </p:tgtEl>
                                      </p:cBhvr>
                                    </p:animEffect>
                                  </p:childTnLst>
                                </p:cTn>
                              </p:par>
                              <p:par>
                                <p:cTn id="66" presetID="22" presetClass="entr" presetSubtype="8" fill="hold"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wipe(left)">
                                      <p:cBhvr>
                                        <p:cTn id="68" dur="500"/>
                                        <p:tgtEl>
                                          <p:spTgt spid="49"/>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animEffect transition="in" filter="wipe(left)">
                                      <p:cBhvr>
                                        <p:cTn id="71" dur="500"/>
                                        <p:tgtEl>
                                          <p:spTgt spid="55"/>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wipe(left)">
                                      <p:cBhvr>
                                        <p:cTn id="74" dur="500"/>
                                        <p:tgtEl>
                                          <p:spTgt spid="56"/>
                                        </p:tgtEl>
                                      </p:cBhvr>
                                    </p:animEffect>
                                  </p:childTnLst>
                                </p:cTn>
                              </p:par>
                              <p:par>
                                <p:cTn id="75" presetID="22" presetClass="entr" presetSubtype="8" fill="hold" nodeType="with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wipe(left)">
                                      <p:cBhvr>
                                        <p:cTn id="77" dur="500"/>
                                        <p:tgtEl>
                                          <p:spTgt spid="57"/>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wipe(left)">
                                      <p:cBhvr>
                                        <p:cTn id="80" dur="500"/>
                                        <p:tgtEl>
                                          <p:spTgt spid="63"/>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4"/>
                                        </p:tgtEl>
                                        <p:attrNameLst>
                                          <p:attrName>style.visibility</p:attrName>
                                        </p:attrNameLst>
                                      </p:cBhvr>
                                      <p:to>
                                        <p:strVal val="visible"/>
                                      </p:to>
                                    </p:set>
                                    <p:animEffect transition="in" filter="wipe(left)">
                                      <p:cBhvr>
                                        <p:cTn id="83" dur="500"/>
                                        <p:tgtEl>
                                          <p:spTgt spid="64"/>
                                        </p:tgtEl>
                                      </p:cBhvr>
                                    </p:animEffect>
                                  </p:childTnLst>
                                </p:cTn>
                              </p:par>
                              <p:par>
                                <p:cTn id="84" presetID="22" presetClass="entr" presetSubtype="8" fill="hold" nodeType="withEffect">
                                  <p:stCondLst>
                                    <p:cond delay="0"/>
                                  </p:stCondLst>
                                  <p:childTnLst>
                                    <p:set>
                                      <p:cBhvr>
                                        <p:cTn id="85" dur="1" fill="hold">
                                          <p:stCondLst>
                                            <p:cond delay="0"/>
                                          </p:stCondLst>
                                        </p:cTn>
                                        <p:tgtEl>
                                          <p:spTgt spid="65"/>
                                        </p:tgtEl>
                                        <p:attrNameLst>
                                          <p:attrName>style.visibility</p:attrName>
                                        </p:attrNameLst>
                                      </p:cBhvr>
                                      <p:to>
                                        <p:strVal val="visible"/>
                                      </p:to>
                                    </p:set>
                                    <p:animEffect transition="in" filter="wipe(left)">
                                      <p:cBhvr>
                                        <p:cTn id="86" dur="500"/>
                                        <p:tgtEl>
                                          <p:spTgt spid="65"/>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71"/>
                                        </p:tgtEl>
                                        <p:attrNameLst>
                                          <p:attrName>style.visibility</p:attrName>
                                        </p:attrNameLst>
                                      </p:cBhvr>
                                      <p:to>
                                        <p:strVal val="visible"/>
                                      </p:to>
                                    </p:set>
                                    <p:animEffect transition="in" filter="wipe(left)">
                                      <p:cBhvr>
                                        <p:cTn id="89" dur="500"/>
                                        <p:tgtEl>
                                          <p:spTgt spid="71"/>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72"/>
                                        </p:tgtEl>
                                        <p:attrNameLst>
                                          <p:attrName>style.visibility</p:attrName>
                                        </p:attrNameLst>
                                      </p:cBhvr>
                                      <p:to>
                                        <p:strVal val="visible"/>
                                      </p:to>
                                    </p:set>
                                    <p:animEffect transition="in" filter="wipe(left)">
                                      <p:cBhvr>
                                        <p:cTn id="92" dur="500"/>
                                        <p:tgtEl>
                                          <p:spTgt spid="72"/>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73"/>
                                        </p:tgtEl>
                                        <p:attrNameLst>
                                          <p:attrName>style.visibility</p:attrName>
                                        </p:attrNameLst>
                                      </p:cBhvr>
                                      <p:to>
                                        <p:strVal val="visible"/>
                                      </p:to>
                                    </p:set>
                                    <p:animEffect transition="in" filter="wipe(left)">
                                      <p:cBhvr>
                                        <p:cTn id="95" dur="500"/>
                                        <p:tgtEl>
                                          <p:spTgt spid="73"/>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74"/>
                                        </p:tgtEl>
                                        <p:attrNameLst>
                                          <p:attrName>style.visibility</p:attrName>
                                        </p:attrNameLst>
                                      </p:cBhvr>
                                      <p:to>
                                        <p:strVal val="visible"/>
                                      </p:to>
                                    </p:set>
                                    <p:animEffect transition="in" filter="wipe(left)">
                                      <p:cBhvr>
                                        <p:cTn id="98" dur="500"/>
                                        <p:tgtEl>
                                          <p:spTgt spid="74"/>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75"/>
                                        </p:tgtEl>
                                        <p:attrNameLst>
                                          <p:attrName>style.visibility</p:attrName>
                                        </p:attrNameLst>
                                      </p:cBhvr>
                                      <p:to>
                                        <p:strVal val="visible"/>
                                      </p:to>
                                    </p:set>
                                    <p:animEffect transition="in" filter="wipe(left)">
                                      <p:cBhvr>
                                        <p:cTn id="101" dur="500"/>
                                        <p:tgtEl>
                                          <p:spTgt spid="75"/>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76"/>
                                        </p:tgtEl>
                                        <p:attrNameLst>
                                          <p:attrName>style.visibility</p:attrName>
                                        </p:attrNameLst>
                                      </p:cBhvr>
                                      <p:to>
                                        <p:strVal val="visible"/>
                                      </p:to>
                                    </p:set>
                                    <p:animEffect transition="in" filter="wipe(left)">
                                      <p:cBhvr>
                                        <p:cTn id="104" dur="500"/>
                                        <p:tgtEl>
                                          <p:spTgt spid="76"/>
                                        </p:tgtEl>
                                      </p:cBhvr>
                                    </p:animEffect>
                                  </p:childTnLst>
                                </p:cTn>
                              </p:par>
                              <p:par>
                                <p:cTn id="105" presetID="22" presetClass="entr" presetSubtype="8" fill="hold" grpId="0" nodeType="withEffect">
                                  <p:stCondLst>
                                    <p:cond delay="0"/>
                                  </p:stCondLst>
                                  <p:childTnLst>
                                    <p:set>
                                      <p:cBhvr>
                                        <p:cTn id="106" dur="1" fill="hold">
                                          <p:stCondLst>
                                            <p:cond delay="0"/>
                                          </p:stCondLst>
                                        </p:cTn>
                                        <p:tgtEl>
                                          <p:spTgt spid="77"/>
                                        </p:tgtEl>
                                        <p:attrNameLst>
                                          <p:attrName>style.visibility</p:attrName>
                                        </p:attrNameLst>
                                      </p:cBhvr>
                                      <p:to>
                                        <p:strVal val="visible"/>
                                      </p:to>
                                    </p:set>
                                    <p:animEffect transition="in" filter="wipe(left)">
                                      <p:cBhvr>
                                        <p:cTn id="107" dur="500"/>
                                        <p:tgtEl>
                                          <p:spTgt spid="77"/>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78"/>
                                        </p:tgtEl>
                                        <p:attrNameLst>
                                          <p:attrName>style.visibility</p:attrName>
                                        </p:attrNameLst>
                                      </p:cBhvr>
                                      <p:to>
                                        <p:strVal val="visible"/>
                                      </p:to>
                                    </p:set>
                                    <p:animEffect transition="in" filter="wipe(left)">
                                      <p:cBhvr>
                                        <p:cTn id="110" dur="500"/>
                                        <p:tgtEl>
                                          <p:spTgt spid="78"/>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79"/>
                                        </p:tgtEl>
                                        <p:attrNameLst>
                                          <p:attrName>style.visibility</p:attrName>
                                        </p:attrNameLst>
                                      </p:cBhvr>
                                      <p:to>
                                        <p:strVal val="visible"/>
                                      </p:to>
                                    </p:set>
                                    <p:animEffect transition="in" filter="wipe(left)">
                                      <p:cBhvr>
                                        <p:cTn id="113" dur="500"/>
                                        <p:tgtEl>
                                          <p:spTgt spid="79"/>
                                        </p:tgtEl>
                                      </p:cBhvr>
                                    </p:animEffect>
                                  </p:childTnLst>
                                </p:cTn>
                              </p:par>
                              <p:par>
                                <p:cTn id="114" presetID="22" presetClass="entr" presetSubtype="8" fill="hold" nodeType="withEffect">
                                  <p:stCondLst>
                                    <p:cond delay="0"/>
                                  </p:stCondLst>
                                  <p:childTnLst>
                                    <p:set>
                                      <p:cBhvr>
                                        <p:cTn id="115" dur="1" fill="hold">
                                          <p:stCondLst>
                                            <p:cond delay="0"/>
                                          </p:stCondLst>
                                        </p:cTn>
                                        <p:tgtEl>
                                          <p:spTgt spid="80"/>
                                        </p:tgtEl>
                                        <p:attrNameLst>
                                          <p:attrName>style.visibility</p:attrName>
                                        </p:attrNameLst>
                                      </p:cBhvr>
                                      <p:to>
                                        <p:strVal val="visible"/>
                                      </p:to>
                                    </p:set>
                                    <p:animEffect transition="in" filter="wipe(left)">
                                      <p:cBhvr>
                                        <p:cTn id="116" dur="500"/>
                                        <p:tgtEl>
                                          <p:spTgt spid="80"/>
                                        </p:tgtEl>
                                      </p:cBhvr>
                                    </p:animEffect>
                                  </p:childTnLst>
                                </p:cTn>
                              </p:par>
                              <p:par>
                                <p:cTn id="117" presetID="22" presetClass="entr" presetSubtype="8" fill="hold" nodeType="withEffect">
                                  <p:stCondLst>
                                    <p:cond delay="0"/>
                                  </p:stCondLst>
                                  <p:childTnLst>
                                    <p:set>
                                      <p:cBhvr>
                                        <p:cTn id="118" dur="1" fill="hold">
                                          <p:stCondLst>
                                            <p:cond delay="0"/>
                                          </p:stCondLst>
                                        </p:cTn>
                                        <p:tgtEl>
                                          <p:spTgt spid="81"/>
                                        </p:tgtEl>
                                        <p:attrNameLst>
                                          <p:attrName>style.visibility</p:attrName>
                                        </p:attrNameLst>
                                      </p:cBhvr>
                                      <p:to>
                                        <p:strVal val="visible"/>
                                      </p:to>
                                    </p:set>
                                    <p:animEffect transition="in" filter="wipe(left)">
                                      <p:cBhvr>
                                        <p:cTn id="119" dur="500"/>
                                        <p:tgtEl>
                                          <p:spTgt spid="81"/>
                                        </p:tgtEl>
                                      </p:cBhvr>
                                    </p:animEffect>
                                  </p:childTnLst>
                                </p:cTn>
                              </p:par>
                              <p:par>
                                <p:cTn id="120" presetID="22" presetClass="entr" presetSubtype="8" fill="hold" grpId="0" nodeType="withEffect">
                                  <p:stCondLst>
                                    <p:cond delay="0"/>
                                  </p:stCondLst>
                                  <p:childTnLst>
                                    <p:set>
                                      <p:cBhvr>
                                        <p:cTn id="121" dur="1" fill="hold">
                                          <p:stCondLst>
                                            <p:cond delay="0"/>
                                          </p:stCondLst>
                                        </p:cTn>
                                        <p:tgtEl>
                                          <p:spTgt spid="82"/>
                                        </p:tgtEl>
                                        <p:attrNameLst>
                                          <p:attrName>style.visibility</p:attrName>
                                        </p:attrNameLst>
                                      </p:cBhvr>
                                      <p:to>
                                        <p:strVal val="visible"/>
                                      </p:to>
                                    </p:set>
                                    <p:animEffect transition="in" filter="wipe(left)">
                                      <p:cBhvr>
                                        <p:cTn id="122" dur="500"/>
                                        <p:tgtEl>
                                          <p:spTgt spid="82"/>
                                        </p:tgtEl>
                                      </p:cBhvr>
                                    </p:animEffect>
                                  </p:childTnLst>
                                </p:cTn>
                              </p:par>
                              <p:par>
                                <p:cTn id="123" presetID="22" presetClass="entr" presetSubtype="8" fill="hold" grpId="0" nodeType="withEffect">
                                  <p:stCondLst>
                                    <p:cond delay="0"/>
                                  </p:stCondLst>
                                  <p:childTnLst>
                                    <p:set>
                                      <p:cBhvr>
                                        <p:cTn id="124" dur="1" fill="hold">
                                          <p:stCondLst>
                                            <p:cond delay="0"/>
                                          </p:stCondLst>
                                        </p:cTn>
                                        <p:tgtEl>
                                          <p:spTgt spid="83"/>
                                        </p:tgtEl>
                                        <p:attrNameLst>
                                          <p:attrName>style.visibility</p:attrName>
                                        </p:attrNameLst>
                                      </p:cBhvr>
                                      <p:to>
                                        <p:strVal val="visible"/>
                                      </p:to>
                                    </p:set>
                                    <p:animEffect transition="in" filter="wipe(left)">
                                      <p:cBhvr>
                                        <p:cTn id="125" dur="500"/>
                                        <p:tgtEl>
                                          <p:spTgt spid="83"/>
                                        </p:tgtEl>
                                      </p:cBhvr>
                                    </p:animEffect>
                                  </p:childTnLst>
                                </p:cTn>
                              </p:par>
                              <p:par>
                                <p:cTn id="126" presetID="22" presetClass="entr" presetSubtype="8" fill="hold" grpId="0" nodeType="withEffect">
                                  <p:stCondLst>
                                    <p:cond delay="0"/>
                                  </p:stCondLst>
                                  <p:childTnLst>
                                    <p:set>
                                      <p:cBhvr>
                                        <p:cTn id="127" dur="1" fill="hold">
                                          <p:stCondLst>
                                            <p:cond delay="0"/>
                                          </p:stCondLst>
                                        </p:cTn>
                                        <p:tgtEl>
                                          <p:spTgt spid="84"/>
                                        </p:tgtEl>
                                        <p:attrNameLst>
                                          <p:attrName>style.visibility</p:attrName>
                                        </p:attrNameLst>
                                      </p:cBhvr>
                                      <p:to>
                                        <p:strVal val="visible"/>
                                      </p:to>
                                    </p:set>
                                    <p:animEffect transition="in" filter="wipe(left)">
                                      <p:cBhvr>
                                        <p:cTn id="128" dur="500"/>
                                        <p:tgtEl>
                                          <p:spTgt spid="84"/>
                                        </p:tgtEl>
                                      </p:cBhvr>
                                    </p:animEffect>
                                  </p:childTnLst>
                                </p:cTn>
                              </p:par>
                              <p:par>
                                <p:cTn id="129" presetID="22" presetClass="entr" presetSubtype="8" fill="hold" grpId="0" nodeType="withEffect">
                                  <p:stCondLst>
                                    <p:cond delay="0"/>
                                  </p:stCondLst>
                                  <p:childTnLst>
                                    <p:set>
                                      <p:cBhvr>
                                        <p:cTn id="130" dur="1" fill="hold">
                                          <p:stCondLst>
                                            <p:cond delay="0"/>
                                          </p:stCondLst>
                                        </p:cTn>
                                        <p:tgtEl>
                                          <p:spTgt spid="85"/>
                                        </p:tgtEl>
                                        <p:attrNameLst>
                                          <p:attrName>style.visibility</p:attrName>
                                        </p:attrNameLst>
                                      </p:cBhvr>
                                      <p:to>
                                        <p:strVal val="visible"/>
                                      </p:to>
                                    </p:set>
                                    <p:animEffect transition="in" filter="wipe(left)">
                                      <p:cBhvr>
                                        <p:cTn id="131" dur="500"/>
                                        <p:tgtEl>
                                          <p:spTgt spid="85"/>
                                        </p:tgtEl>
                                      </p:cBhvr>
                                    </p:animEffect>
                                  </p:childTnLst>
                                </p:cTn>
                              </p:par>
                              <p:par>
                                <p:cTn id="132" presetID="22" presetClass="entr" presetSubtype="8" fill="hold" nodeType="withEffect">
                                  <p:stCondLst>
                                    <p:cond delay="0"/>
                                  </p:stCondLst>
                                  <p:childTnLst>
                                    <p:set>
                                      <p:cBhvr>
                                        <p:cTn id="133" dur="1" fill="hold">
                                          <p:stCondLst>
                                            <p:cond delay="0"/>
                                          </p:stCondLst>
                                        </p:cTn>
                                        <p:tgtEl>
                                          <p:spTgt spid="86"/>
                                        </p:tgtEl>
                                        <p:attrNameLst>
                                          <p:attrName>style.visibility</p:attrName>
                                        </p:attrNameLst>
                                      </p:cBhvr>
                                      <p:to>
                                        <p:strVal val="visible"/>
                                      </p:to>
                                    </p:set>
                                    <p:animEffect transition="in" filter="wipe(left)">
                                      <p:cBhvr>
                                        <p:cTn id="134" dur="500"/>
                                        <p:tgtEl>
                                          <p:spTgt spid="86"/>
                                        </p:tgtEl>
                                      </p:cBhvr>
                                    </p:animEffect>
                                  </p:childTnLst>
                                </p:cTn>
                              </p:par>
                              <p:par>
                                <p:cTn id="135" presetID="22" presetClass="entr" presetSubtype="8" fill="hold" nodeType="withEffect">
                                  <p:stCondLst>
                                    <p:cond delay="0"/>
                                  </p:stCondLst>
                                  <p:childTnLst>
                                    <p:set>
                                      <p:cBhvr>
                                        <p:cTn id="136" dur="1" fill="hold">
                                          <p:stCondLst>
                                            <p:cond delay="0"/>
                                          </p:stCondLst>
                                        </p:cTn>
                                        <p:tgtEl>
                                          <p:spTgt spid="87"/>
                                        </p:tgtEl>
                                        <p:attrNameLst>
                                          <p:attrName>style.visibility</p:attrName>
                                        </p:attrNameLst>
                                      </p:cBhvr>
                                      <p:to>
                                        <p:strVal val="visible"/>
                                      </p:to>
                                    </p:set>
                                    <p:animEffect transition="in" filter="wipe(left)">
                                      <p:cBhvr>
                                        <p:cTn id="137" dur="500"/>
                                        <p:tgtEl>
                                          <p:spTgt spid="87"/>
                                        </p:tgtEl>
                                      </p:cBhvr>
                                    </p:animEffect>
                                  </p:childTnLst>
                                </p:cTn>
                              </p:par>
                              <p:par>
                                <p:cTn id="138" presetID="22" presetClass="entr" presetSubtype="8" fill="hold" nodeType="withEffect">
                                  <p:stCondLst>
                                    <p:cond delay="0"/>
                                  </p:stCondLst>
                                  <p:childTnLst>
                                    <p:set>
                                      <p:cBhvr>
                                        <p:cTn id="139" dur="1" fill="hold">
                                          <p:stCondLst>
                                            <p:cond delay="0"/>
                                          </p:stCondLst>
                                        </p:cTn>
                                        <p:tgtEl>
                                          <p:spTgt spid="88"/>
                                        </p:tgtEl>
                                        <p:attrNameLst>
                                          <p:attrName>style.visibility</p:attrName>
                                        </p:attrNameLst>
                                      </p:cBhvr>
                                      <p:to>
                                        <p:strVal val="visible"/>
                                      </p:to>
                                    </p:set>
                                    <p:animEffect transition="in" filter="wipe(left)">
                                      <p:cBhvr>
                                        <p:cTn id="140" dur="500"/>
                                        <p:tgtEl>
                                          <p:spTgt spid="88"/>
                                        </p:tgtEl>
                                      </p:cBhvr>
                                    </p:animEffect>
                                  </p:childTnLst>
                                </p:cTn>
                              </p:par>
                              <p:par>
                                <p:cTn id="141" presetID="22" presetClass="entr" presetSubtype="8" fill="hold" nodeType="withEffect">
                                  <p:stCondLst>
                                    <p:cond delay="0"/>
                                  </p:stCondLst>
                                  <p:childTnLst>
                                    <p:set>
                                      <p:cBhvr>
                                        <p:cTn id="142" dur="1" fill="hold">
                                          <p:stCondLst>
                                            <p:cond delay="0"/>
                                          </p:stCondLst>
                                        </p:cTn>
                                        <p:tgtEl>
                                          <p:spTgt spid="98"/>
                                        </p:tgtEl>
                                        <p:attrNameLst>
                                          <p:attrName>style.visibility</p:attrName>
                                        </p:attrNameLst>
                                      </p:cBhvr>
                                      <p:to>
                                        <p:strVal val="visible"/>
                                      </p:to>
                                    </p:set>
                                    <p:animEffect transition="in" filter="wipe(left)">
                                      <p:cBhvr>
                                        <p:cTn id="143" dur="500"/>
                                        <p:tgtEl>
                                          <p:spTgt spid="98"/>
                                        </p:tgtEl>
                                      </p:cBhvr>
                                    </p:animEffect>
                                  </p:childTnLst>
                                </p:cTn>
                              </p:par>
                              <p:par>
                                <p:cTn id="144" presetID="22" presetClass="entr" presetSubtype="8" fill="hold" grpId="0" nodeType="withEffect">
                                  <p:stCondLst>
                                    <p:cond delay="0"/>
                                  </p:stCondLst>
                                  <p:childTnLst>
                                    <p:set>
                                      <p:cBhvr>
                                        <p:cTn id="145" dur="1" fill="hold">
                                          <p:stCondLst>
                                            <p:cond delay="0"/>
                                          </p:stCondLst>
                                        </p:cTn>
                                        <p:tgtEl>
                                          <p:spTgt spid="101"/>
                                        </p:tgtEl>
                                        <p:attrNameLst>
                                          <p:attrName>style.visibility</p:attrName>
                                        </p:attrNameLst>
                                      </p:cBhvr>
                                      <p:to>
                                        <p:strVal val="visible"/>
                                      </p:to>
                                    </p:set>
                                    <p:animEffect transition="in" filter="wipe(left)">
                                      <p:cBhvr>
                                        <p:cTn id="146" dur="500"/>
                                        <p:tgtEl>
                                          <p:spTgt spid="101"/>
                                        </p:tgtEl>
                                      </p:cBhvr>
                                    </p:animEffect>
                                  </p:childTnLst>
                                </p:cTn>
                              </p:par>
                              <p:par>
                                <p:cTn id="147" presetID="22" presetClass="entr" presetSubtype="8" fill="hold" grpId="0" nodeType="withEffect">
                                  <p:stCondLst>
                                    <p:cond delay="0"/>
                                  </p:stCondLst>
                                  <p:childTnLst>
                                    <p:set>
                                      <p:cBhvr>
                                        <p:cTn id="148" dur="1" fill="hold">
                                          <p:stCondLst>
                                            <p:cond delay="0"/>
                                          </p:stCondLst>
                                        </p:cTn>
                                        <p:tgtEl>
                                          <p:spTgt spid="102"/>
                                        </p:tgtEl>
                                        <p:attrNameLst>
                                          <p:attrName>style.visibility</p:attrName>
                                        </p:attrNameLst>
                                      </p:cBhvr>
                                      <p:to>
                                        <p:strVal val="visible"/>
                                      </p:to>
                                    </p:set>
                                    <p:animEffect transition="in" filter="wipe(left)">
                                      <p:cBhvr>
                                        <p:cTn id="149" dur="500"/>
                                        <p:tgtEl>
                                          <p:spTgt spid="102"/>
                                        </p:tgtEl>
                                      </p:cBhvr>
                                    </p:animEffect>
                                  </p:childTnLst>
                                </p:cTn>
                              </p:par>
                              <p:par>
                                <p:cTn id="150" presetID="22" presetClass="entr" presetSubtype="8" fill="hold" grpId="0" nodeType="withEffect">
                                  <p:stCondLst>
                                    <p:cond delay="0"/>
                                  </p:stCondLst>
                                  <p:childTnLst>
                                    <p:set>
                                      <p:cBhvr>
                                        <p:cTn id="151" dur="1" fill="hold">
                                          <p:stCondLst>
                                            <p:cond delay="0"/>
                                          </p:stCondLst>
                                        </p:cTn>
                                        <p:tgtEl>
                                          <p:spTgt spid="103"/>
                                        </p:tgtEl>
                                        <p:attrNameLst>
                                          <p:attrName>style.visibility</p:attrName>
                                        </p:attrNameLst>
                                      </p:cBhvr>
                                      <p:to>
                                        <p:strVal val="visible"/>
                                      </p:to>
                                    </p:set>
                                    <p:animEffect transition="in" filter="wipe(left)">
                                      <p:cBhvr>
                                        <p:cTn id="152" dur="500"/>
                                        <p:tgtEl>
                                          <p:spTgt spid="103"/>
                                        </p:tgtEl>
                                      </p:cBhvr>
                                    </p:animEffect>
                                  </p:childTnLst>
                                </p:cTn>
                              </p:par>
                              <p:par>
                                <p:cTn id="153" presetID="22" presetClass="entr" presetSubtype="8" fill="hold" grpId="0" nodeType="withEffect">
                                  <p:stCondLst>
                                    <p:cond delay="0"/>
                                  </p:stCondLst>
                                  <p:childTnLst>
                                    <p:set>
                                      <p:cBhvr>
                                        <p:cTn id="154" dur="1" fill="hold">
                                          <p:stCondLst>
                                            <p:cond delay="0"/>
                                          </p:stCondLst>
                                        </p:cTn>
                                        <p:tgtEl>
                                          <p:spTgt spid="104"/>
                                        </p:tgtEl>
                                        <p:attrNameLst>
                                          <p:attrName>style.visibility</p:attrName>
                                        </p:attrNameLst>
                                      </p:cBhvr>
                                      <p:to>
                                        <p:strVal val="visible"/>
                                      </p:to>
                                    </p:set>
                                    <p:animEffect transition="in" filter="wipe(left)">
                                      <p:cBhvr>
                                        <p:cTn id="155" dur="500"/>
                                        <p:tgtEl>
                                          <p:spTgt spid="104"/>
                                        </p:tgtEl>
                                      </p:cBhvr>
                                    </p:animEffect>
                                  </p:childTnLst>
                                </p:cTn>
                              </p:par>
                              <p:par>
                                <p:cTn id="156" presetID="22" presetClass="entr" presetSubtype="8" fill="hold" grpId="0" nodeType="withEffect">
                                  <p:stCondLst>
                                    <p:cond delay="0"/>
                                  </p:stCondLst>
                                  <p:childTnLst>
                                    <p:set>
                                      <p:cBhvr>
                                        <p:cTn id="157" dur="1" fill="hold">
                                          <p:stCondLst>
                                            <p:cond delay="0"/>
                                          </p:stCondLst>
                                        </p:cTn>
                                        <p:tgtEl>
                                          <p:spTgt spid="105"/>
                                        </p:tgtEl>
                                        <p:attrNameLst>
                                          <p:attrName>style.visibility</p:attrName>
                                        </p:attrNameLst>
                                      </p:cBhvr>
                                      <p:to>
                                        <p:strVal val="visible"/>
                                      </p:to>
                                    </p:set>
                                    <p:animEffect transition="in" filter="wipe(left)">
                                      <p:cBhvr>
                                        <p:cTn id="158" dur="500"/>
                                        <p:tgtEl>
                                          <p:spTgt spid="105"/>
                                        </p:tgtEl>
                                      </p:cBhvr>
                                    </p:animEffect>
                                  </p:childTnLst>
                                </p:cTn>
                              </p:par>
                              <p:par>
                                <p:cTn id="159" presetID="22" presetClass="entr" presetSubtype="8" fill="hold" nodeType="withEffect">
                                  <p:stCondLst>
                                    <p:cond delay="0"/>
                                  </p:stCondLst>
                                  <p:childTnLst>
                                    <p:set>
                                      <p:cBhvr>
                                        <p:cTn id="160" dur="1" fill="hold">
                                          <p:stCondLst>
                                            <p:cond delay="0"/>
                                          </p:stCondLst>
                                        </p:cTn>
                                        <p:tgtEl>
                                          <p:spTgt spid="107"/>
                                        </p:tgtEl>
                                        <p:attrNameLst>
                                          <p:attrName>style.visibility</p:attrName>
                                        </p:attrNameLst>
                                      </p:cBhvr>
                                      <p:to>
                                        <p:strVal val="visible"/>
                                      </p:to>
                                    </p:set>
                                    <p:animEffect transition="in" filter="wipe(left)">
                                      <p:cBhvr>
                                        <p:cTn id="161" dur="500"/>
                                        <p:tgtEl>
                                          <p:spTgt spid="107"/>
                                        </p:tgtEl>
                                      </p:cBhvr>
                                    </p:animEffect>
                                  </p:childTnLst>
                                </p:cTn>
                              </p:par>
                              <p:par>
                                <p:cTn id="162" presetID="22" presetClass="entr" presetSubtype="8" fill="hold" nodeType="withEffect">
                                  <p:stCondLst>
                                    <p:cond delay="0"/>
                                  </p:stCondLst>
                                  <p:childTnLst>
                                    <p:set>
                                      <p:cBhvr>
                                        <p:cTn id="163" dur="1" fill="hold">
                                          <p:stCondLst>
                                            <p:cond delay="0"/>
                                          </p:stCondLst>
                                        </p:cTn>
                                        <p:tgtEl>
                                          <p:spTgt spid="110"/>
                                        </p:tgtEl>
                                        <p:attrNameLst>
                                          <p:attrName>style.visibility</p:attrName>
                                        </p:attrNameLst>
                                      </p:cBhvr>
                                      <p:to>
                                        <p:strVal val="visible"/>
                                      </p:to>
                                    </p:set>
                                    <p:animEffect transition="in" filter="wipe(left)">
                                      <p:cBhvr>
                                        <p:cTn id="164"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 grpId="0" bldLvl="0" animBg="1"/>
      <p:bldP spid="8" grpId="0" bldLvl="0" animBg="1"/>
      <p:bldP spid="9" grpId="0" bldLvl="0" animBg="1"/>
      <p:bldP spid="10" grpId="0" bldLvl="0" animBg="1"/>
      <p:bldP spid="39" grpId="0"/>
      <p:bldP spid="40" grpId="0"/>
      <p:bldP spid="47" grpId="0"/>
      <p:bldP spid="48" grpId="0"/>
      <p:bldP spid="55" grpId="0"/>
      <p:bldP spid="56" grpId="0"/>
      <p:bldP spid="63" grpId="0"/>
      <p:bldP spid="64" grpId="0"/>
      <p:bldP spid="71" grpId="0"/>
      <p:bldP spid="72" grpId="0"/>
      <p:bldP spid="73" grpId="0" bldLvl="0" animBg="1"/>
      <p:bldP spid="74" grpId="0" bldLvl="0" animBg="1"/>
      <p:bldP spid="75" grpId="0"/>
      <p:bldP spid="76" grpId="0"/>
      <p:bldP spid="77" grpId="0" bldLvl="0" animBg="1"/>
      <p:bldP spid="78" grpId="0"/>
      <p:bldP spid="79" grpId="0"/>
      <p:bldP spid="82" grpId="0"/>
      <p:bldP spid="83" grpId="0"/>
      <p:bldP spid="84" grpId="0" bldLvl="0" animBg="1"/>
      <p:bldP spid="85" grpId="0" bldLvl="0" animBg="1"/>
      <p:bldP spid="101" grpId="0" bldLvl="0" animBg="1"/>
      <p:bldP spid="102" grpId="0" bldLvl="0" animBg="1"/>
      <p:bldP spid="103" grpId="0" bldLvl="0" animBg="1"/>
      <p:bldP spid="104" grpId="0" bldLvl="0" animBg="1"/>
      <p:bldP spid="10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 219"/>
          <p:cNvSpPr/>
          <p:nvPr/>
        </p:nvSpPr>
        <p:spPr>
          <a:xfrm rot="10800000">
            <a:off x="6021070" y="3593465"/>
            <a:ext cx="6170295" cy="2527300"/>
          </a:xfrm>
          <a:prstGeom prst="homePlate">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平行四边形 3"/>
          <p:cNvSpPr/>
          <p:nvPr/>
        </p:nvSpPr>
        <p:spPr>
          <a:xfrm>
            <a:off x="1860550" y="1842770"/>
            <a:ext cx="4942205" cy="3448685"/>
          </a:xfrm>
          <a:prstGeom prst="parallelogram">
            <a:avLst/>
          </a:prstGeom>
          <a:solidFill>
            <a:schemeClr val="bg1"/>
          </a:solidFill>
          <a:ln w="34925">
            <a:solidFill>
              <a:srgbClr val="C00000"/>
            </a:solidFill>
          </a:ln>
        </p:spPr>
        <p:txBody>
          <a:bodyPr wrap="square" anchor="ctr">
            <a:noAutofit/>
          </a:bodyPr>
          <a:lstStyle/>
          <a:p>
            <a:pPr marL="107950">
              <a:lnSpc>
                <a:spcPct val="150000"/>
              </a:lnSpc>
              <a:spcBef>
                <a:spcPct val="50000"/>
              </a:spcBef>
              <a:buClr>
                <a:srgbClr val="FF3300"/>
              </a:buClr>
            </a:pPr>
            <a:r>
              <a:rPr lang="zh-CN" altLang="en-US" sz="1600" dirty="0">
                <a:latin typeface="微软雅黑" panose="020B0503020204020204" pitchFamily="34" charset="-122"/>
                <a:ea typeface="微软雅黑" panose="020B0503020204020204" pitchFamily="34" charset="-122"/>
              </a:rPr>
              <a:t>在前期由各县区渠道协助收集了各代理商保证金的缴纳信息和押金单拍照取证后，转由业务支撑中心承接后续的信息比对工作，根据收集的押金单已初步比对了代理商保证金的缴纳信息，并对前期通报的</a:t>
            </a:r>
            <a:r>
              <a:rPr lang="en-US" altLang="zh-CN" sz="1600" dirty="0">
                <a:latin typeface="微软雅黑" panose="020B0503020204020204" pitchFamily="34" charset="-122"/>
                <a:ea typeface="微软雅黑" panose="020B0503020204020204" pitchFamily="34" charset="-122"/>
              </a:rPr>
              <a:t>60</a:t>
            </a:r>
            <a:r>
              <a:rPr lang="zh-CN" altLang="en-US" sz="1600" dirty="0">
                <a:latin typeface="微软雅黑" panose="020B0503020204020204" pitchFamily="34" charset="-122"/>
                <a:ea typeface="微软雅黑" panose="020B0503020204020204" pitchFamily="34" charset="-122"/>
              </a:rPr>
              <a:t>家未缴纳保证金网点的反馈情况加以进一步的稽核。</a:t>
            </a:r>
            <a:endParaRPr lang="en-US" altLang="zh-CN" sz="1600" dirty="0">
              <a:latin typeface="微软雅黑" panose="020B0503020204020204" pitchFamily="34" charset="-122"/>
              <a:ea typeface="微软雅黑" panose="020B0503020204020204" pitchFamily="34" charset="-122"/>
            </a:endParaRPr>
          </a:p>
        </p:txBody>
      </p:sp>
      <p:sp>
        <p:nvSpPr>
          <p:cNvPr id="2" name="平行四边形 1"/>
          <p:cNvSpPr/>
          <p:nvPr/>
        </p:nvSpPr>
        <p:spPr>
          <a:xfrm>
            <a:off x="1860242" y="1432836"/>
            <a:ext cx="4942512" cy="503582"/>
          </a:xfrm>
          <a:prstGeom prst="parallelogram">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代理商保证金信息比对进度汇报</a:t>
            </a:r>
          </a:p>
        </p:txBody>
      </p:sp>
      <p:sp>
        <p:nvSpPr>
          <p:cNvPr id="7" name="矩形 6"/>
          <p:cNvSpPr/>
          <p:nvPr/>
        </p:nvSpPr>
        <p:spPr>
          <a:xfrm>
            <a:off x="1571011" y="409086"/>
            <a:ext cx="2926080" cy="645160"/>
          </a:xfrm>
          <a:prstGeom prst="rect">
            <a:avLst/>
          </a:prstGeom>
        </p:spPr>
        <p:txBody>
          <a:bodyPr wrap="none">
            <a:spAutoFit/>
          </a:bodyPr>
          <a:lstStyle/>
          <a:p>
            <a:pPr>
              <a:defRPr/>
            </a:pPr>
            <a:r>
              <a:rPr lang="zh-CN" altLang="en-US" sz="3600" b="1" kern="0" dirty="0">
                <a:solidFill>
                  <a:srgbClr val="383F4E"/>
                </a:solidFill>
                <a:latin typeface="微软雅黑" panose="020B0503020204020204" pitchFamily="34" charset="-122"/>
                <a:ea typeface="微软雅黑" panose="020B0503020204020204" pitchFamily="34" charset="-122"/>
              </a:rPr>
              <a:t>代理商保证金</a:t>
            </a:r>
          </a:p>
        </p:txBody>
      </p:sp>
      <p:sp>
        <p:nvSpPr>
          <p:cNvPr id="9" name="TextBox 108"/>
          <p:cNvSpPr txBox="1">
            <a:spLocks noChangeArrowheads="1"/>
          </p:cNvSpPr>
          <p:nvPr>
            <p:custDataLst>
              <p:tags r:id="rId1"/>
            </p:custDataLst>
          </p:nvPr>
        </p:nvSpPr>
        <p:spPr bwMode="auto">
          <a:xfrm>
            <a:off x="7071995" y="3177540"/>
            <a:ext cx="4760595" cy="2943225"/>
          </a:xfrm>
          <a:prstGeom prst="rect">
            <a:avLst/>
          </a:prstGeom>
          <a:noFill/>
          <a:ln w="9525">
            <a:noFill/>
            <a:miter lim="800000"/>
          </a:ln>
        </p:spPr>
        <p:txBody>
          <a:bodyPr wrap="square" anchor="ctr">
            <a:noAutofit/>
          </a:bodyPr>
          <a:lstStyle/>
          <a:p>
            <a:pPr marL="107950">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a:t>
            </a:r>
          </a:p>
          <a:p>
            <a:pPr marL="107950">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181</a:t>
            </a:r>
            <a:r>
              <a:rPr lang="zh-CN" altLang="en-US" sz="1600" dirty="0">
                <a:solidFill>
                  <a:schemeClr val="bg1"/>
                </a:solidFill>
                <a:latin typeface="微软雅黑" panose="020B0503020204020204" pitchFamily="34" charset="-122"/>
                <a:ea typeface="微软雅黑" panose="020B0503020204020204" pitchFamily="34" charset="-122"/>
              </a:rPr>
              <a:t>家有受理信息的专营店中</a:t>
            </a:r>
            <a:r>
              <a:rPr lang="en-US" altLang="zh-CN" sz="1600" dirty="0">
                <a:solidFill>
                  <a:schemeClr val="bg1"/>
                </a:solidFill>
                <a:latin typeface="微软雅黑" panose="020B0503020204020204" pitchFamily="34" charset="-122"/>
                <a:ea typeface="微软雅黑" panose="020B0503020204020204" pitchFamily="34" charset="-122"/>
              </a:rPr>
              <a:t>20</a:t>
            </a:r>
            <a:r>
              <a:rPr lang="zh-CN" altLang="en-US" sz="1600" dirty="0">
                <a:solidFill>
                  <a:schemeClr val="bg1"/>
                </a:solidFill>
                <a:latin typeface="微软雅黑" panose="020B0503020204020204" pitchFamily="34" charset="-122"/>
                <a:ea typeface="微软雅黑" panose="020B0503020204020204" pitchFamily="34" charset="-122"/>
              </a:rPr>
              <a:t>家未缴足，部分是由于内部员工创业，押金减半，部分是余款用于缴纳房屋租赁押金，其他未说明原因；</a:t>
            </a:r>
            <a:r>
              <a:rPr lang="en-US" altLang="zh-CN" sz="1600" dirty="0">
                <a:solidFill>
                  <a:schemeClr val="bg1"/>
                </a:solidFill>
                <a:latin typeface="微软雅黑" panose="020B0503020204020204" pitchFamily="34" charset="-122"/>
                <a:ea typeface="微软雅黑" panose="020B0503020204020204" pitchFamily="34" charset="-122"/>
              </a:rPr>
              <a:t>8</a:t>
            </a:r>
            <a:r>
              <a:rPr lang="zh-CN" altLang="en-US" sz="1600" dirty="0">
                <a:solidFill>
                  <a:schemeClr val="bg1"/>
                </a:solidFill>
                <a:latin typeface="微软雅黑" panose="020B0503020204020204" pitchFamily="34" charset="-122"/>
                <a:ea typeface="微软雅黑" panose="020B0503020204020204" pitchFamily="34" charset="-122"/>
              </a:rPr>
              <a:t>家代理商上报已缴纳押金，且部分网点上报信息中有押金单拍照取，但系统中显示已退款证，有待进一步确认原因</a:t>
            </a:r>
          </a:p>
        </p:txBody>
      </p:sp>
      <p:grpSp>
        <p:nvGrpSpPr>
          <p:cNvPr id="13" name="组合 12"/>
          <p:cNvGrpSpPr/>
          <p:nvPr/>
        </p:nvGrpSpPr>
        <p:grpSpPr>
          <a:xfrm>
            <a:off x="8980778" y="2147906"/>
            <a:ext cx="1258957" cy="1260000"/>
            <a:chOff x="6281530" y="3428999"/>
            <a:chExt cx="1258957" cy="1260000"/>
          </a:xfrm>
        </p:grpSpPr>
        <p:sp>
          <p:nvSpPr>
            <p:cNvPr id="12" name="椭圆 11"/>
            <p:cNvSpPr/>
            <p:nvPr/>
          </p:nvSpPr>
          <p:spPr>
            <a:xfrm>
              <a:off x="6281530" y="3428999"/>
              <a:ext cx="1258957" cy="1260000"/>
            </a:xfrm>
            <a:prstGeom prst="ellipse">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510899" y="3828167"/>
              <a:ext cx="800219" cy="461665"/>
            </a:xfrm>
            <a:prstGeom prst="rect">
              <a:avLst/>
            </a:prstGeom>
          </p:spPr>
          <p:txBody>
            <a:bodyPr wrap="none">
              <a:sp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rPr>
                <a:t>注释</a:t>
              </a:r>
              <a:endParaRPr lang="zh-CN" altLang="en-US" sz="2400" dirty="0">
                <a:solidFill>
                  <a:schemeClr val="bg1"/>
                </a:solidFill>
              </a:endParaRPr>
            </a:p>
          </p:txBody>
        </p:sp>
      </p:grpSp>
      <p:sp>
        <p:nvSpPr>
          <p:cNvPr id="14" name="文本框 13"/>
          <p:cNvSpPr txBox="1"/>
          <p:nvPr/>
        </p:nvSpPr>
        <p:spPr>
          <a:xfrm>
            <a:off x="15042615" y="11172524"/>
            <a:ext cx="240665" cy="368300"/>
          </a:xfrm>
          <a:prstGeom prst="rect">
            <a:avLst/>
          </a:prstGeom>
          <a:noFill/>
        </p:spPr>
        <p:txBody>
          <a:bodyPr wrap="none" rtlCol="0">
            <a:spAutoFit/>
          </a:bodyPr>
          <a:lstStyle/>
          <a:p>
            <a:r>
              <a:rPr lang="en-US" altLang="zh-CN" dirty="0"/>
              <a:t>.</a:t>
            </a:r>
            <a:endParaRPr lang="zh-CN" altLang="en-US" dirty="0"/>
          </a:p>
        </p:txBody>
      </p:sp>
      <p:sp>
        <p:nvSpPr>
          <p:cNvPr id="3" name="椭圆 2"/>
          <p:cNvSpPr/>
          <p:nvPr/>
        </p:nvSpPr>
        <p:spPr>
          <a:xfrm>
            <a:off x="593725" y="2267585"/>
            <a:ext cx="2058670" cy="2060575"/>
          </a:xfrm>
          <a:prstGeom prst="ellipse">
            <a:avLst/>
          </a:prstGeom>
          <a:solidFill>
            <a:srgbClr val="E8432E"/>
          </a:solidFill>
          <a:ln w="19050">
            <a:noFill/>
          </a:ln>
        </p:spPr>
        <p:txBody>
          <a:bodyPr wrap="square" anchor="ctr">
            <a:noAutofit/>
          </a:bodyPr>
          <a:lstStyle/>
          <a:p>
            <a:pPr algn="ctr" defTabSz="629285"/>
            <a:r>
              <a:rPr lang="zh-CN" altLang="en-US" sz="2400" b="1" dirty="0">
                <a:solidFill>
                  <a:schemeClr val="bg1"/>
                </a:solidFill>
                <a:latin typeface="微软雅黑" panose="020B0503020204020204" pitchFamily="34" charset="-122"/>
                <a:ea typeface="微软雅黑" panose="020B0503020204020204" pitchFamily="34" charset="-122"/>
              </a:rPr>
              <a:t>（一）代理商保证金信息比对情况</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19"/>
                                        </p:tgtEl>
                                        <p:attrNameLst>
                                          <p:attrName>style.visibility</p:attrName>
                                        </p:attrNameLst>
                                      </p:cBhvr>
                                      <p:to>
                                        <p:strVal val="visible"/>
                                      </p:to>
                                    </p:set>
                                    <p:anim calcmode="lin" valueType="num">
                                      <p:cBhvr additive="base">
                                        <p:cTn id="17" dur="500" fill="hold"/>
                                        <p:tgtEl>
                                          <p:spTgt spid="219"/>
                                        </p:tgtEl>
                                        <p:attrNameLst>
                                          <p:attrName>ppt_x</p:attrName>
                                        </p:attrNameLst>
                                      </p:cBhvr>
                                      <p:tavLst>
                                        <p:tav tm="0">
                                          <p:val>
                                            <p:strVal val="1+#ppt_w/2"/>
                                          </p:val>
                                        </p:tav>
                                        <p:tav tm="100000">
                                          <p:val>
                                            <p:strVal val="#ppt_x"/>
                                          </p:val>
                                        </p:tav>
                                      </p:tavLst>
                                    </p:anim>
                                    <p:anim calcmode="lin" valueType="num">
                                      <p:cBhvr additive="base">
                                        <p:cTn id="18" dur="500" fill="hold"/>
                                        <p:tgtEl>
                                          <p:spTgt spid="219"/>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0" nodeType="clickEffect">
                                  <p:stCondLst>
                                    <p:cond delay="1500"/>
                                  </p:stCondLst>
                                  <p:childTnLst>
                                    <p:animEffect transition="out" filter="fade">
                                      <p:cBhvr>
                                        <p:cTn id="32" dur="500"/>
                                        <p:tgtEl>
                                          <p:spTgt spid="14"/>
                                        </p:tgtEl>
                                      </p:cBhvr>
                                    </p:animEffect>
                                    <p:set>
                                      <p:cBhvr>
                                        <p:cTn id="33" dur="1" fill="hold">
                                          <p:stCondLst>
                                            <p:cond delay="499"/>
                                          </p:stCondLst>
                                        </p:cTn>
                                        <p:tgtEl>
                                          <p:spTgt spid="14"/>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p:cTn id="38" dur="500" fill="hold"/>
                                        <p:tgtEl>
                                          <p:spTgt spid="3"/>
                                        </p:tgtEl>
                                        <p:attrNameLst>
                                          <p:attrName>ppt_w</p:attrName>
                                        </p:attrNameLst>
                                      </p:cBhvr>
                                      <p:tavLst>
                                        <p:tav tm="0">
                                          <p:val>
                                            <p:fltVal val="0"/>
                                          </p:val>
                                        </p:tav>
                                        <p:tav tm="100000">
                                          <p:val>
                                            <p:strVal val="#ppt_w"/>
                                          </p:val>
                                        </p:tav>
                                      </p:tavLst>
                                    </p:anim>
                                    <p:anim calcmode="lin" valueType="num">
                                      <p:cBhvr>
                                        <p:cTn id="39" dur="500" fill="hold"/>
                                        <p:tgtEl>
                                          <p:spTgt spid="3"/>
                                        </p:tgtEl>
                                        <p:attrNameLst>
                                          <p:attrName>ppt_h</p:attrName>
                                        </p:attrNameLst>
                                      </p:cBhvr>
                                      <p:tavLst>
                                        <p:tav tm="0">
                                          <p:val>
                                            <p:fltVal val="0"/>
                                          </p:val>
                                        </p:tav>
                                        <p:tav tm="100000">
                                          <p:val>
                                            <p:strVal val="#ppt_h"/>
                                          </p:val>
                                        </p:tav>
                                      </p:tavLst>
                                    </p:anim>
                                    <p:animEffect transition="in" filter="fade">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animBg="1"/>
      <p:bldP spid="4" grpId="0" bldLvl="0" animBg="1"/>
      <p:bldP spid="2" grpId="0" bldLvl="0" animBg="1"/>
      <p:bldP spid="9" grpId="0" bldLvl="0" animBg="1"/>
      <p:bldP spid="14" grpId="0"/>
      <p:bldP spid="3"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57041" y="409086"/>
            <a:ext cx="2926080" cy="645160"/>
          </a:xfrm>
          <a:prstGeom prst="rect">
            <a:avLst/>
          </a:prstGeom>
        </p:spPr>
        <p:txBody>
          <a:bodyPr wrap="none">
            <a:spAutoFit/>
          </a:bodyPr>
          <a:lstStyle/>
          <a:p>
            <a:pPr>
              <a:defRPr/>
            </a:pPr>
            <a:r>
              <a:rPr lang="zh-CN" altLang="en-US" sz="3600" b="1" kern="0" dirty="0">
                <a:latin typeface="微软雅黑" panose="020B0503020204020204" pitchFamily="34" charset="-122"/>
                <a:ea typeface="微软雅黑" panose="020B0503020204020204" pitchFamily="34" charset="-122"/>
              </a:rPr>
              <a:t>代理商保证金</a:t>
            </a:r>
            <a:endParaRPr lang="zh-CN" altLang="en-US" sz="3600" b="1" dirty="0">
              <a:latin typeface="微软雅黑" panose="020B0503020204020204" pitchFamily="34" charset="-122"/>
              <a:ea typeface="微软雅黑" panose="020B0503020204020204" pitchFamily="34" charset="-122"/>
            </a:endParaRPr>
          </a:p>
        </p:txBody>
      </p:sp>
      <p:sp>
        <p:nvSpPr>
          <p:cNvPr id="5" name="Text Box 20"/>
          <p:cNvSpPr txBox="1">
            <a:spLocks noChangeArrowheads="1"/>
          </p:cNvSpPr>
          <p:nvPr/>
        </p:nvSpPr>
        <p:spPr bwMode="auto">
          <a:xfrm>
            <a:off x="505460" y="1551940"/>
            <a:ext cx="3769995" cy="4495800"/>
          </a:xfrm>
          <a:prstGeom prst="rect">
            <a:avLst/>
          </a:prstGeom>
          <a:noFill/>
          <a:ln w="9525">
            <a:noFill/>
            <a:miter lim="800000"/>
          </a:ln>
        </p:spPr>
        <p:txBody>
          <a:bodyPr wrap="square" lIns="0" tIns="0" rIns="0" bIns="0">
            <a:spAutoFit/>
          </a:bodyPr>
          <a:lstStyle/>
          <a:p>
            <a:pPr marL="342900" indent="-342900" defTabSz="839470">
              <a:lnSpc>
                <a:spcPct val="150000"/>
              </a:lnSpc>
              <a:spcAft>
                <a:spcPts val="500"/>
              </a:spcAft>
              <a:buClr>
                <a:srgbClr val="C00000"/>
              </a:buClr>
              <a:buFont typeface="Wingdings" panose="05000000000000000000" pitchFamily="2" charset="2"/>
              <a:buChar char="l"/>
            </a:pPr>
            <a:r>
              <a:rPr lang="zh-CN" altLang="en-US" sz="1600" dirty="0">
                <a:effectLst/>
                <a:latin typeface="微软雅黑" panose="020B0503020204020204" pitchFamily="34" charset="-122"/>
                <a:ea typeface="微软雅黑" panose="020B0503020204020204" pitchFamily="34" charset="-122"/>
              </a:rPr>
              <a:t>以此次代理商保证金信息比对为主，对手工帐系统和押金管理系统中受理的记录进行初步筛查。除去系统中已退款的、系统中仍有</a:t>
            </a:r>
            <a:r>
              <a:rPr lang="en-US" altLang="zh-CN" sz="1600" b="1" dirty="0">
                <a:solidFill>
                  <a:srgbClr val="FF0000"/>
                </a:solidFill>
                <a:effectLst/>
                <a:latin typeface="微软雅黑" panose="020B0503020204020204" pitchFamily="34" charset="-122"/>
                <a:ea typeface="微软雅黑" panose="020B0503020204020204" pitchFamily="34" charset="-122"/>
              </a:rPr>
              <a:t>84.73</a:t>
            </a:r>
            <a:r>
              <a:rPr lang="zh-CN" altLang="en-US" sz="1600" b="1" dirty="0">
                <a:solidFill>
                  <a:srgbClr val="FF0000"/>
                </a:solidFill>
                <a:effectLst/>
                <a:latin typeface="微软雅黑" panose="020B0503020204020204" pitchFamily="34" charset="-122"/>
                <a:ea typeface="微软雅黑" panose="020B0503020204020204" pitchFamily="34" charset="-122"/>
              </a:rPr>
              <a:t>万元</a:t>
            </a:r>
            <a:r>
              <a:rPr lang="zh-CN" altLang="en-US" sz="1600" dirty="0">
                <a:effectLst/>
                <a:latin typeface="微软雅黑" panose="020B0503020204020204" pitchFamily="34" charset="-122"/>
                <a:ea typeface="微软雅黑" panose="020B0503020204020204" pitchFamily="34" charset="-122"/>
              </a:rPr>
              <a:t>的押金未核实清楚，其中手工帐系统</a:t>
            </a:r>
            <a:r>
              <a:rPr lang="en-US" altLang="zh-CN" sz="1600" dirty="0">
                <a:effectLst/>
                <a:latin typeface="微软雅黑" panose="020B0503020204020204" pitchFamily="34" charset="-122"/>
                <a:ea typeface="微软雅黑" panose="020B0503020204020204" pitchFamily="34" charset="-122"/>
              </a:rPr>
              <a:t>69</a:t>
            </a:r>
            <a:r>
              <a:rPr lang="zh-CN" altLang="en-US" sz="1600" dirty="0">
                <a:effectLst/>
                <a:latin typeface="微软雅黑" panose="020B0503020204020204" pitchFamily="34" charset="-122"/>
                <a:ea typeface="微软雅黑" panose="020B0503020204020204" pitchFamily="34" charset="-122"/>
              </a:rPr>
              <a:t>条记录，涉及金额</a:t>
            </a:r>
            <a:r>
              <a:rPr lang="en-US" altLang="zh-CN" sz="1600" b="1" dirty="0">
                <a:solidFill>
                  <a:srgbClr val="FF0000"/>
                </a:solidFill>
                <a:effectLst/>
                <a:latin typeface="微软雅黑" panose="020B0503020204020204" pitchFamily="34" charset="-122"/>
                <a:ea typeface="微软雅黑" panose="020B0503020204020204" pitchFamily="34" charset="-122"/>
              </a:rPr>
              <a:t>34.32</a:t>
            </a:r>
            <a:r>
              <a:rPr lang="zh-CN" altLang="en-US" sz="1600" b="1" dirty="0">
                <a:solidFill>
                  <a:srgbClr val="FF0000"/>
                </a:solidFill>
                <a:effectLst/>
                <a:latin typeface="微软雅黑" panose="020B0503020204020204" pitchFamily="34" charset="-122"/>
                <a:ea typeface="微软雅黑" panose="020B0503020204020204" pitchFamily="34" charset="-122"/>
              </a:rPr>
              <a:t>万元</a:t>
            </a:r>
            <a:r>
              <a:rPr lang="zh-CN" altLang="en-US" sz="1600" dirty="0">
                <a:effectLst/>
                <a:latin typeface="微软雅黑" panose="020B0503020204020204" pitchFamily="34" charset="-122"/>
                <a:ea typeface="微软雅黑" panose="020B0503020204020204" pitchFamily="34" charset="-122"/>
              </a:rPr>
              <a:t>；押金管理系统中</a:t>
            </a:r>
            <a:r>
              <a:rPr lang="en-US" altLang="zh-CN" sz="1600" dirty="0">
                <a:effectLst/>
                <a:latin typeface="微软雅黑" panose="020B0503020204020204" pitchFamily="34" charset="-122"/>
                <a:ea typeface="微软雅黑" panose="020B0503020204020204" pitchFamily="34" charset="-122"/>
              </a:rPr>
              <a:t>80</a:t>
            </a:r>
            <a:r>
              <a:rPr lang="zh-CN" altLang="en-US" sz="1600" dirty="0">
                <a:effectLst/>
                <a:latin typeface="微软雅黑" panose="020B0503020204020204" pitchFamily="34" charset="-122"/>
                <a:ea typeface="微软雅黑" panose="020B0503020204020204" pitchFamily="34" charset="-122"/>
              </a:rPr>
              <a:t>条记录，涉及金额</a:t>
            </a:r>
            <a:r>
              <a:rPr lang="en-US" altLang="zh-CN" sz="1600" b="1" dirty="0">
                <a:solidFill>
                  <a:srgbClr val="FF0000"/>
                </a:solidFill>
                <a:effectLst/>
                <a:latin typeface="微软雅黑" panose="020B0503020204020204" pitchFamily="34" charset="-122"/>
                <a:ea typeface="微软雅黑" panose="020B0503020204020204" pitchFamily="34" charset="-122"/>
              </a:rPr>
              <a:t>50.41</a:t>
            </a:r>
            <a:r>
              <a:rPr lang="zh-CN" altLang="en-US" sz="1600" b="1" dirty="0">
                <a:solidFill>
                  <a:srgbClr val="FF0000"/>
                </a:solidFill>
                <a:effectLst/>
                <a:latin typeface="微软雅黑" panose="020B0503020204020204" pitchFamily="34" charset="-122"/>
                <a:ea typeface="微软雅黑" panose="020B0503020204020204" pitchFamily="34" charset="-122"/>
              </a:rPr>
              <a:t>万元</a:t>
            </a:r>
            <a:r>
              <a:rPr lang="zh-CN" altLang="en-US" sz="1600" dirty="0">
                <a:effectLst/>
                <a:latin typeface="微软雅黑" panose="020B0503020204020204" pitchFamily="34" charset="-122"/>
                <a:ea typeface="微软雅黑" panose="020B0503020204020204" pitchFamily="34" charset="-122"/>
              </a:rPr>
              <a:t>。</a:t>
            </a:r>
          </a:p>
          <a:p>
            <a:pPr marL="342900" indent="-342900" defTabSz="839470">
              <a:lnSpc>
                <a:spcPct val="150000"/>
              </a:lnSpc>
              <a:spcAft>
                <a:spcPts val="500"/>
              </a:spcAft>
              <a:buClr>
                <a:srgbClr val="C00000"/>
              </a:buClr>
              <a:buFont typeface="Wingdings" panose="05000000000000000000" pitchFamily="2" charset="2"/>
              <a:buChar char="l"/>
            </a:pPr>
            <a:r>
              <a:rPr lang="zh-CN" altLang="en-US" sz="1600" dirty="0">
                <a:effectLst/>
                <a:latin typeface="微软雅黑" panose="020B0503020204020204" pitchFamily="34" charset="-122"/>
                <a:ea typeface="微软雅黑" panose="020B0503020204020204" pitchFamily="34" charset="-122"/>
              </a:rPr>
              <a:t>其中，部分单笔金额小于</a:t>
            </a:r>
            <a:r>
              <a:rPr lang="en-US" altLang="zh-CN" sz="1600" dirty="0">
                <a:effectLst/>
                <a:latin typeface="微软雅黑" panose="020B0503020204020204" pitchFamily="34" charset="-122"/>
                <a:ea typeface="微软雅黑" panose="020B0503020204020204" pitchFamily="34" charset="-122"/>
              </a:rPr>
              <a:t>1000</a:t>
            </a:r>
            <a:r>
              <a:rPr lang="zh-CN" altLang="en-US" sz="1600" dirty="0">
                <a:effectLst/>
                <a:latin typeface="微软雅黑" panose="020B0503020204020204" pitchFamily="34" charset="-122"/>
                <a:ea typeface="微软雅黑" panose="020B0503020204020204" pitchFamily="34" charset="-122"/>
              </a:rPr>
              <a:t>元，一般是其他话机押金、电子售卡押金等；部分金额较大的可能是代理点或专营店的押金，但仍需要核实是否存在实际已退款、系统未受理退款的情形</a:t>
            </a:r>
          </a:p>
        </p:txBody>
      </p:sp>
      <p:graphicFrame>
        <p:nvGraphicFramePr>
          <p:cNvPr id="6" name="表格 5"/>
          <p:cNvGraphicFramePr>
            <a:graphicFrameLocks noGrp="1"/>
          </p:cNvGraphicFramePr>
          <p:nvPr/>
        </p:nvGraphicFramePr>
        <p:xfrm>
          <a:off x="4791075" y="2929255"/>
          <a:ext cx="6149975" cy="3031021"/>
        </p:xfrm>
        <a:graphic>
          <a:graphicData uri="http://schemas.openxmlformats.org/drawingml/2006/table">
            <a:tbl>
              <a:tblPr firstRow="1" firstCol="1" bandRow="1">
                <a:tableStyleId>{C083E6E3-FA7D-4D7B-A595-EF9225AFEA82}</a:tableStyleId>
              </a:tblPr>
              <a:tblGrid>
                <a:gridCol w="1006475"/>
                <a:gridCol w="663575"/>
                <a:gridCol w="706120"/>
                <a:gridCol w="840740"/>
                <a:gridCol w="1005205"/>
                <a:gridCol w="857885"/>
                <a:gridCol w="1069975"/>
              </a:tblGrid>
              <a:tr h="426720">
                <a:tc rowSpan="2">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类别</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c rowSpan="2">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记录数</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c rowSpan="2">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涉及金额</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c gridSpan="2">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其中，单笔金额</a:t>
                      </a:r>
                      <a:endParaRPr lang="zh-CN" sz="1400" kern="100" dirty="0">
                        <a:solidFill>
                          <a:schemeClr val="bg1"/>
                        </a:solidFill>
                        <a:effectLst/>
                        <a:latin typeface="微软雅黑" panose="020B0503020204020204" pitchFamily="34" charset="-122"/>
                        <a:ea typeface="微软雅黑" panose="020B0503020204020204" pitchFamily="34" charset="-122"/>
                      </a:endParaRPr>
                    </a:p>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大于</a:t>
                      </a:r>
                      <a:r>
                        <a:rPr lang="en-US" sz="1400" kern="0" dirty="0">
                          <a:solidFill>
                            <a:schemeClr val="bg1"/>
                          </a:solidFill>
                          <a:effectLst/>
                          <a:latin typeface="微软雅黑" panose="020B0503020204020204" pitchFamily="34" charset="-122"/>
                          <a:ea typeface="微软雅黑" panose="020B0503020204020204" pitchFamily="34" charset="-122"/>
                        </a:rPr>
                        <a:t>1000</a:t>
                      </a:r>
                      <a:r>
                        <a:rPr lang="zh-CN" sz="1400" kern="0" dirty="0">
                          <a:solidFill>
                            <a:schemeClr val="bg1"/>
                          </a:solidFill>
                          <a:effectLst/>
                          <a:latin typeface="微软雅黑" panose="020B0503020204020204" pitchFamily="34" charset="-122"/>
                          <a:ea typeface="微软雅黑" panose="020B0503020204020204" pitchFamily="34" charset="-122"/>
                        </a:rPr>
                        <a:t>元</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83F4E"/>
                    </a:solidFill>
                  </a:tcPr>
                </a:tc>
                <a:tc hMerge="1">
                  <a:txBody>
                    <a:bodyPr/>
                    <a:lstStyle/>
                    <a:p>
                      <a:endParaRPr lang="zh-CN"/>
                    </a:p>
                  </a:txBody>
                  <a:tcPr/>
                </a:tc>
                <a:tc gridSpan="2">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其中，单笔金额</a:t>
                      </a:r>
                      <a:endParaRPr lang="zh-CN" sz="1400" kern="100" dirty="0">
                        <a:solidFill>
                          <a:schemeClr val="bg1"/>
                        </a:solidFill>
                        <a:effectLst/>
                        <a:latin typeface="微软雅黑" panose="020B0503020204020204" pitchFamily="34" charset="-122"/>
                        <a:ea typeface="微软雅黑" panose="020B0503020204020204" pitchFamily="34" charset="-122"/>
                      </a:endParaRPr>
                    </a:p>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大于</a:t>
                      </a:r>
                      <a:r>
                        <a:rPr lang="en-US" sz="1400" kern="0" dirty="0">
                          <a:solidFill>
                            <a:schemeClr val="bg1"/>
                          </a:solidFill>
                          <a:effectLst/>
                          <a:latin typeface="微软雅黑" panose="020B0503020204020204" pitchFamily="34" charset="-122"/>
                          <a:ea typeface="微软雅黑" panose="020B0503020204020204" pitchFamily="34" charset="-122"/>
                        </a:rPr>
                        <a:t>10000</a:t>
                      </a:r>
                      <a:r>
                        <a:rPr lang="zh-CN" sz="1400" kern="0" dirty="0">
                          <a:solidFill>
                            <a:schemeClr val="bg1"/>
                          </a:solidFill>
                          <a:effectLst/>
                          <a:latin typeface="微软雅黑" panose="020B0503020204020204" pitchFamily="34" charset="-122"/>
                          <a:ea typeface="微软雅黑" panose="020B0503020204020204" pitchFamily="34" charset="-122"/>
                        </a:rPr>
                        <a:t>元</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83F4E"/>
                    </a:solidFill>
                  </a:tcPr>
                </a:tc>
                <a:tc hMerge="1">
                  <a:txBody>
                    <a:bodyPr/>
                    <a:lstStyle/>
                    <a:p>
                      <a:endParaRPr lang="zh-CN"/>
                    </a:p>
                  </a:txBody>
                  <a:tcPr/>
                </a:tc>
              </a:tr>
              <a:tr h="723959">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记录数</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c>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涉及金额</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c>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记录数</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c>
                  <a:txBody>
                    <a:bodyPr/>
                    <a:lstStyle/>
                    <a:p>
                      <a:pPr algn="ctr">
                        <a:spcAft>
                          <a:spcPts val="0"/>
                        </a:spcAft>
                      </a:pPr>
                      <a:r>
                        <a:rPr lang="zh-CN" sz="1400" kern="0" dirty="0">
                          <a:solidFill>
                            <a:schemeClr val="bg1"/>
                          </a:solidFill>
                          <a:effectLst/>
                          <a:latin typeface="微软雅黑" panose="020B0503020204020204" pitchFamily="34" charset="-122"/>
                          <a:ea typeface="微软雅黑" panose="020B0503020204020204" pitchFamily="34" charset="-122"/>
                        </a:rPr>
                        <a:t>涉及金额</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383F4E"/>
                    </a:solidFill>
                  </a:tcPr>
                </a:tc>
              </a:tr>
              <a:tr h="627666">
                <a:tc>
                  <a:txBody>
                    <a:bodyPr/>
                    <a:lstStyle/>
                    <a:p>
                      <a:pPr algn="ctr">
                        <a:spcAft>
                          <a:spcPts val="0"/>
                        </a:spcAft>
                      </a:pPr>
                      <a:r>
                        <a:rPr lang="zh-CN" sz="1400" kern="0" dirty="0">
                          <a:effectLst/>
                          <a:latin typeface="微软雅黑" panose="020B0503020204020204" pitchFamily="34" charset="-122"/>
                          <a:ea typeface="微软雅黑" panose="020B0503020204020204" pitchFamily="34" charset="-122"/>
                        </a:rPr>
                        <a:t>手工帐</a:t>
                      </a:r>
                      <a:endParaRPr lang="en-US" altLang="zh-CN" sz="1400" kern="0" dirty="0">
                        <a:effectLst/>
                        <a:latin typeface="微软雅黑" panose="020B0503020204020204" pitchFamily="34" charset="-122"/>
                        <a:ea typeface="微软雅黑" panose="020B0503020204020204" pitchFamily="34" charset="-122"/>
                      </a:endParaRPr>
                    </a:p>
                    <a:p>
                      <a:pPr algn="ctr">
                        <a:spcAft>
                          <a:spcPts val="0"/>
                        </a:spcAft>
                      </a:pPr>
                      <a:r>
                        <a:rPr lang="zh-CN" sz="1400" kern="0" dirty="0">
                          <a:effectLst/>
                          <a:latin typeface="微软雅黑" panose="020B0503020204020204" pitchFamily="34" charset="-122"/>
                          <a:ea typeface="微软雅黑" panose="020B0503020204020204" pitchFamily="34" charset="-122"/>
                        </a:rPr>
                        <a:t>系统</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69</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a:effectLst/>
                          <a:latin typeface="微软雅黑" panose="020B0503020204020204" pitchFamily="34" charset="-122"/>
                          <a:ea typeface="微软雅黑" panose="020B0503020204020204" pitchFamily="34" charset="-122"/>
                        </a:rPr>
                        <a:t>34.32</a:t>
                      </a:r>
                      <a:endParaRPr lang="zh-CN" sz="1400" kern="10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a:effectLst/>
                          <a:latin typeface="微软雅黑" panose="020B0503020204020204" pitchFamily="34" charset="-122"/>
                          <a:ea typeface="微软雅黑" panose="020B0503020204020204" pitchFamily="34" charset="-122"/>
                        </a:rPr>
                        <a:t>62</a:t>
                      </a:r>
                      <a:endParaRPr lang="zh-CN" sz="1400" kern="10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34.05</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微软雅黑" panose="020B0503020204020204" pitchFamily="34" charset="-122"/>
                          <a:ea typeface="微软雅黑" panose="020B0503020204020204" pitchFamily="34" charset="-122"/>
                        </a:rPr>
                        <a:t>14</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微软雅黑" panose="020B0503020204020204" pitchFamily="34" charset="-122"/>
                          <a:ea typeface="微软雅黑" panose="020B0503020204020204" pitchFamily="34" charset="-122"/>
                        </a:rPr>
                        <a:t>17.00</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r>
              <a:tr h="772094">
                <a:tc>
                  <a:txBody>
                    <a:bodyPr/>
                    <a:lstStyle/>
                    <a:p>
                      <a:pPr algn="ctr">
                        <a:spcAft>
                          <a:spcPts val="0"/>
                        </a:spcAft>
                      </a:pPr>
                      <a:r>
                        <a:rPr lang="zh-CN" sz="1400" kern="0" dirty="0">
                          <a:effectLst/>
                          <a:latin typeface="微软雅黑" panose="020B0503020204020204" pitchFamily="34" charset="-122"/>
                          <a:ea typeface="微软雅黑" panose="020B0503020204020204" pitchFamily="34" charset="-122"/>
                        </a:rPr>
                        <a:t>押金管理系统</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80</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50.41</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58</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49.60</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100" dirty="0">
                          <a:effectLst/>
                          <a:latin typeface="微软雅黑" panose="020B0503020204020204" pitchFamily="34" charset="-122"/>
                          <a:ea typeface="微软雅黑" panose="020B0503020204020204" pitchFamily="34" charset="-122"/>
                        </a:rPr>
                        <a:t>4</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100" dirty="0">
                          <a:effectLst/>
                          <a:latin typeface="微软雅黑" panose="020B0503020204020204" pitchFamily="34" charset="-122"/>
                          <a:ea typeface="微软雅黑" panose="020B0503020204020204" pitchFamily="34" charset="-122"/>
                        </a:rPr>
                        <a:t>9.00</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r h="480582">
                <a:tc>
                  <a:txBody>
                    <a:bodyPr/>
                    <a:lstStyle/>
                    <a:p>
                      <a:pPr algn="ctr">
                        <a:spcAft>
                          <a:spcPts val="0"/>
                        </a:spcAft>
                      </a:pPr>
                      <a:r>
                        <a:rPr lang="zh-CN" sz="1400" kern="0" dirty="0">
                          <a:effectLst/>
                          <a:latin typeface="微软雅黑" panose="020B0503020204020204" pitchFamily="34" charset="-122"/>
                          <a:ea typeface="微软雅黑" panose="020B0503020204020204" pitchFamily="34" charset="-122"/>
                        </a:rPr>
                        <a:t>合计</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149</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84.73</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120 </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微软雅黑" panose="020B0503020204020204" pitchFamily="34" charset="-122"/>
                          <a:ea typeface="微软雅黑" panose="020B0503020204020204" pitchFamily="34" charset="-122"/>
                        </a:rPr>
                        <a:t>83.65 </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微软雅黑" panose="020B0503020204020204" pitchFamily="34" charset="-122"/>
                          <a:ea typeface="微软雅黑" panose="020B0503020204020204" pitchFamily="34" charset="-122"/>
                        </a:rPr>
                        <a:t>18 </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微软雅黑" panose="020B0503020204020204" pitchFamily="34" charset="-122"/>
                          <a:ea typeface="微软雅黑" panose="020B0503020204020204" pitchFamily="34" charset="-122"/>
                        </a:rPr>
                        <a:t>26.00 </a:t>
                      </a:r>
                      <a:endParaRPr lang="zh-CN" sz="1400" kern="100" dirty="0">
                        <a:solidFill>
                          <a:srgbClr val="31849B"/>
                        </a:solidFill>
                        <a:effectLst/>
                        <a:latin typeface="微软雅黑" panose="020B0503020204020204" pitchFamily="34" charset="-122"/>
                        <a:ea typeface="微软雅黑" panose="020B0503020204020204" pitchFamily="34" charset="-122"/>
                        <a:cs typeface="Times New Roman" panose="020206030504050203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7" name="TextBox 15"/>
          <p:cNvSpPr txBox="1">
            <a:spLocks noChangeArrowheads="1"/>
          </p:cNvSpPr>
          <p:nvPr/>
        </p:nvSpPr>
        <p:spPr bwMode="auto">
          <a:xfrm>
            <a:off x="4790829" y="2539293"/>
            <a:ext cx="1124204" cy="245110"/>
          </a:xfrm>
          <a:prstGeom prst="rect">
            <a:avLst/>
          </a:prstGeom>
          <a:noFill/>
          <a:ln w="9525">
            <a:noFill/>
            <a:miter lim="800000"/>
          </a:ln>
        </p:spPr>
        <p:txBody>
          <a:bodyPr wrap="square">
            <a:spAutoFit/>
          </a:bodyPr>
          <a:lstStyle/>
          <a:p>
            <a:pPr algn="r"/>
            <a:r>
              <a:rPr lang="zh-CN" altLang="en-US" sz="1000" dirty="0">
                <a:effectLst/>
                <a:latin typeface="微软雅黑" panose="020B0503020204020204" pitchFamily="34" charset="-122"/>
                <a:ea typeface="微软雅黑" panose="020B0503020204020204" pitchFamily="34" charset="-122"/>
              </a:rPr>
              <a:t>单位：万元</a:t>
            </a:r>
          </a:p>
        </p:txBody>
      </p:sp>
      <p:sp>
        <p:nvSpPr>
          <p:cNvPr id="8" name="文本框 7"/>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
        <p:nvSpPr>
          <p:cNvPr id="4" name="椭圆 3"/>
          <p:cNvSpPr/>
          <p:nvPr/>
        </p:nvSpPr>
        <p:spPr>
          <a:xfrm>
            <a:off x="8432800" y="723900"/>
            <a:ext cx="2058670" cy="2060575"/>
          </a:xfrm>
          <a:prstGeom prst="ellipse">
            <a:avLst/>
          </a:prstGeom>
          <a:solidFill>
            <a:srgbClr val="E8432E"/>
          </a:solidFill>
          <a:ln w="19050">
            <a:noFill/>
          </a:ln>
        </p:spPr>
        <p:txBody>
          <a:bodyPr wrap="square" anchor="ctr">
            <a:noAutofit/>
          </a:bodyPr>
          <a:lstStyle/>
          <a:p>
            <a:pPr algn="ctr" defTabSz="629285"/>
            <a:r>
              <a:rPr lang="zh-CN" altLang="en-US" sz="2400" b="1" dirty="0">
                <a:solidFill>
                  <a:schemeClr val="bg1"/>
                </a:solidFill>
                <a:latin typeface="微软雅黑" panose="020B0503020204020204" pitchFamily="34" charset="-122"/>
                <a:ea typeface="微软雅黑" panose="020B0503020204020204" pitchFamily="34" charset="-122"/>
              </a:rPr>
              <a:t>（二）系统数据的稽核过滤</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150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4"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70071" y="395116"/>
            <a:ext cx="2926080" cy="645160"/>
          </a:xfrm>
          <a:prstGeom prst="rect">
            <a:avLst/>
          </a:prstGeom>
        </p:spPr>
        <p:txBody>
          <a:bodyPr wrap="none">
            <a:spAutoFit/>
          </a:bodyPr>
          <a:lstStyle/>
          <a:p>
            <a:pPr>
              <a:defRPr/>
            </a:pPr>
            <a:r>
              <a:rPr lang="zh-CN" altLang="en-US" sz="3600" b="1" kern="0" dirty="0">
                <a:solidFill>
                  <a:srgbClr val="383F4E"/>
                </a:solidFill>
                <a:latin typeface="微软雅黑" panose="020B0503020204020204" pitchFamily="34" charset="-122"/>
                <a:ea typeface="微软雅黑" panose="020B0503020204020204" pitchFamily="34" charset="-122"/>
              </a:rPr>
              <a:t>代理商保证金</a:t>
            </a:r>
          </a:p>
        </p:txBody>
      </p:sp>
      <p:sp>
        <p:nvSpPr>
          <p:cNvPr id="6" name="矩形 5"/>
          <p:cNvSpPr/>
          <p:nvPr/>
        </p:nvSpPr>
        <p:spPr>
          <a:xfrm>
            <a:off x="3112135" y="1407795"/>
            <a:ext cx="5268595" cy="2527935"/>
          </a:xfrm>
          <a:prstGeom prst="rect">
            <a:avLst/>
          </a:prstGeom>
        </p:spPr>
        <p:txBody>
          <a:bodyPr wrap="square">
            <a:spAutoFit/>
          </a:bodyPr>
          <a:lstStyle/>
          <a:p>
            <a:pPr>
              <a:lnSpc>
                <a:spcPct val="150000"/>
              </a:lnSpc>
              <a:spcAft>
                <a:spcPts val="500"/>
              </a:spcAft>
              <a:buClr>
                <a:srgbClr val="C00000"/>
              </a:buClr>
              <a:defRPr/>
            </a:pPr>
            <a:r>
              <a:rPr lang="en-US" altLang="zh-CN" sz="2000" b="1" dirty="0">
                <a:solidFill>
                  <a:srgbClr val="383F4E"/>
                </a:solidFill>
                <a:latin typeface="微软雅黑" panose="020B0503020204020204" pitchFamily="34" charset="-122"/>
                <a:ea typeface="微软雅黑" panose="020B0503020204020204" pitchFamily="34" charset="-122"/>
              </a:rPr>
              <a:t>1</a:t>
            </a:r>
            <a:r>
              <a:rPr lang="zh-CN" altLang="en-US" sz="2000" b="1" dirty="0">
                <a:solidFill>
                  <a:srgbClr val="383F4E"/>
                </a:solidFill>
                <a:latin typeface="微软雅黑" panose="020B0503020204020204" pitchFamily="34" charset="-122"/>
                <a:ea typeface="微软雅黑" panose="020B0503020204020204" pitchFamily="34" charset="-122"/>
              </a:rPr>
              <a:t>、信息比对工作的强化</a:t>
            </a:r>
            <a:endParaRPr lang="zh-CN" altLang="en-US" sz="2000" b="1" dirty="0">
              <a:latin typeface="微软雅黑" panose="020B0503020204020204" pitchFamily="34" charset="-122"/>
              <a:ea typeface="微软雅黑" panose="020B0503020204020204" pitchFamily="34" charset="-122"/>
            </a:endParaRPr>
          </a:p>
          <a:p>
            <a:pPr>
              <a:lnSpc>
                <a:spcPct val="150000"/>
              </a:lnSpc>
              <a:spcAft>
                <a:spcPts val="500"/>
              </a:spcAft>
              <a:buClr>
                <a:srgbClr val="C00000"/>
              </a:buClr>
              <a:defRPr/>
            </a:pPr>
            <a:r>
              <a:rPr lang="zh-CN" altLang="en-US" sz="1600" b="1" dirty="0">
                <a:solidFill>
                  <a:srgbClr val="E8432E"/>
                </a:solidFill>
                <a:latin typeface="微软雅黑" panose="020B0503020204020204" pitchFamily="34" charset="-122"/>
                <a:ea typeface="微软雅黑" panose="020B0503020204020204" pitchFamily="34" charset="-122"/>
              </a:rPr>
              <a:t>（</a:t>
            </a:r>
            <a:r>
              <a:rPr lang="en-US" altLang="zh-CN" sz="1600" b="1" dirty="0">
                <a:solidFill>
                  <a:srgbClr val="E8432E"/>
                </a:solidFill>
                <a:latin typeface="微软雅黑" panose="020B0503020204020204" pitchFamily="34" charset="-122"/>
                <a:ea typeface="微软雅黑" panose="020B0503020204020204" pitchFamily="34" charset="-122"/>
              </a:rPr>
              <a:t>1</a:t>
            </a:r>
            <a:r>
              <a:rPr lang="zh-CN" altLang="en-US" sz="1600" b="1" dirty="0">
                <a:solidFill>
                  <a:srgbClr val="E8432E"/>
                </a:solidFill>
                <a:latin typeface="微软雅黑" panose="020B0503020204020204" pitchFamily="34" charset="-122"/>
                <a:ea typeface="微软雅黑" panose="020B0503020204020204" pitchFamily="34" charset="-122"/>
              </a:rPr>
              <a:t>）其余信息比对的协同配合</a:t>
            </a:r>
            <a:endParaRPr lang="zh-CN" altLang="en-US" sz="1600" b="1" dirty="0">
              <a:solidFill>
                <a:srgbClr val="000000"/>
              </a:solidFill>
              <a:latin typeface="微软雅黑" panose="020B0503020204020204" pitchFamily="34" charset="-122"/>
              <a:ea typeface="微软雅黑" panose="020B0503020204020204" pitchFamily="34" charset="-122"/>
            </a:endParaRPr>
          </a:p>
          <a:p>
            <a:pPr>
              <a:lnSpc>
                <a:spcPct val="150000"/>
              </a:lnSpc>
              <a:spcAft>
                <a:spcPts val="500"/>
              </a:spcAft>
              <a:buClr>
                <a:srgbClr val="C00000"/>
              </a:buClr>
              <a:defRPr/>
            </a:pPr>
            <a:r>
              <a:rPr lang="zh-CN" altLang="en-US" sz="1600" dirty="0">
                <a:solidFill>
                  <a:srgbClr val="000000"/>
                </a:solidFill>
                <a:latin typeface="微软雅黑" panose="020B0503020204020204" pitchFamily="34" charset="-122"/>
                <a:ea typeface="微软雅黑" panose="020B0503020204020204" pitchFamily="34" charset="-122"/>
              </a:rPr>
              <a:t>对于目前未稽核的</a:t>
            </a:r>
            <a:r>
              <a:rPr lang="en-US" altLang="zh-CN" sz="1600" dirty="0">
                <a:solidFill>
                  <a:srgbClr val="FF0000"/>
                </a:solidFill>
                <a:latin typeface="微软雅黑" panose="020B0503020204020204" pitchFamily="34" charset="-122"/>
                <a:ea typeface="微软雅黑" panose="020B0503020204020204" pitchFamily="34" charset="-122"/>
              </a:rPr>
              <a:t>47</a:t>
            </a:r>
            <a:r>
              <a:rPr lang="zh-CN" altLang="en-US" sz="1600" dirty="0">
                <a:solidFill>
                  <a:srgbClr val="FF0000"/>
                </a:solidFill>
                <a:latin typeface="微软雅黑" panose="020B0503020204020204" pitchFamily="34" charset="-122"/>
                <a:ea typeface="微软雅黑" panose="020B0503020204020204" pitchFamily="34" charset="-122"/>
              </a:rPr>
              <a:t>家</a:t>
            </a:r>
            <a:r>
              <a:rPr lang="zh-CN" altLang="en-US" sz="1600" dirty="0">
                <a:solidFill>
                  <a:srgbClr val="000000"/>
                </a:solidFill>
                <a:latin typeface="微软雅黑" panose="020B0503020204020204" pitchFamily="34" charset="-122"/>
                <a:ea typeface="微软雅黑" panose="020B0503020204020204" pitchFamily="34" charset="-122"/>
              </a:rPr>
              <a:t>，建议渠道运营中心配合业务支撑中心，收集尽可能多的信息字段，供业务支撑中心加以比对，并协调后续的核实工作，确保将先将这批专营店的保证金梳理工作完成到位。</a:t>
            </a:r>
          </a:p>
        </p:txBody>
      </p:sp>
      <p:sp>
        <p:nvSpPr>
          <p:cNvPr id="7" name="矩形 6"/>
          <p:cNvSpPr/>
          <p:nvPr/>
        </p:nvSpPr>
        <p:spPr>
          <a:xfrm>
            <a:off x="3112135" y="3935730"/>
            <a:ext cx="5183505" cy="2371090"/>
          </a:xfrm>
          <a:prstGeom prst="rect">
            <a:avLst/>
          </a:prstGeom>
        </p:spPr>
        <p:txBody>
          <a:bodyPr wrap="square">
            <a:spAutoFit/>
          </a:bodyPr>
          <a:lstStyle/>
          <a:p>
            <a:pPr>
              <a:lnSpc>
                <a:spcPct val="150000"/>
              </a:lnSpc>
              <a:spcAft>
                <a:spcPts val="500"/>
              </a:spcAft>
              <a:buClr>
                <a:srgbClr val="C00000"/>
              </a:buClr>
              <a:defRPr/>
            </a:pPr>
            <a:r>
              <a:rPr lang="zh-CN" altLang="en-US" sz="1600" b="1" dirty="0">
                <a:solidFill>
                  <a:srgbClr val="E8432E"/>
                </a:solidFill>
                <a:latin typeface="微软雅黑" panose="020B0503020204020204" pitchFamily="34" charset="-122"/>
                <a:ea typeface="微软雅黑" panose="020B0503020204020204" pitchFamily="34" charset="-122"/>
              </a:rPr>
              <a:t>（</a:t>
            </a:r>
            <a:r>
              <a:rPr lang="en-US" altLang="zh-CN" sz="1600" b="1" dirty="0">
                <a:solidFill>
                  <a:srgbClr val="E8432E"/>
                </a:solidFill>
                <a:latin typeface="微软雅黑" panose="020B0503020204020204" pitchFamily="34" charset="-122"/>
                <a:ea typeface="微软雅黑" panose="020B0503020204020204" pitchFamily="34" charset="-122"/>
              </a:rPr>
              <a:t>2</a:t>
            </a:r>
            <a:r>
              <a:rPr lang="zh-CN" altLang="en-US" sz="1600" b="1" dirty="0">
                <a:solidFill>
                  <a:srgbClr val="E8432E"/>
                </a:solidFill>
                <a:latin typeface="微软雅黑" panose="020B0503020204020204" pitchFamily="34" charset="-122"/>
                <a:ea typeface="微软雅黑" panose="020B0503020204020204" pitchFamily="34" charset="-122"/>
              </a:rPr>
              <a:t>）系统数据筛查</a:t>
            </a:r>
            <a:endParaRPr lang="zh-CN" altLang="en-US" sz="1600" b="1" dirty="0">
              <a:solidFill>
                <a:srgbClr val="000000"/>
              </a:solidFill>
              <a:latin typeface="微软雅黑" panose="020B0503020204020204" pitchFamily="34" charset="-122"/>
              <a:ea typeface="微软雅黑" panose="020B0503020204020204" pitchFamily="34" charset="-122"/>
            </a:endParaRPr>
          </a:p>
          <a:p>
            <a:pPr>
              <a:lnSpc>
                <a:spcPct val="150000"/>
              </a:lnSpc>
              <a:spcAft>
                <a:spcPts val="500"/>
              </a:spcAft>
              <a:buClr>
                <a:srgbClr val="C00000"/>
              </a:buClr>
              <a:defRPr/>
            </a:pPr>
            <a:r>
              <a:rPr lang="zh-CN" altLang="en-US" sz="1600" dirty="0">
                <a:solidFill>
                  <a:srgbClr val="000000"/>
                </a:solidFill>
                <a:latin typeface="微软雅黑" panose="020B0503020204020204" pitchFamily="34" charset="-122"/>
                <a:ea typeface="微软雅黑" panose="020B0503020204020204" pitchFamily="34" charset="-122"/>
              </a:rPr>
              <a:t>目前，未比对的代理商保证金有</a:t>
            </a:r>
            <a:r>
              <a:rPr lang="en-US" altLang="zh-CN" sz="1600" b="1" dirty="0">
                <a:solidFill>
                  <a:srgbClr val="FF0000"/>
                </a:solidFill>
                <a:latin typeface="微软雅黑" panose="020B0503020204020204" pitchFamily="34" charset="-122"/>
                <a:ea typeface="微软雅黑" panose="020B0503020204020204" pitchFamily="34" charset="-122"/>
              </a:rPr>
              <a:t>43.05</a:t>
            </a:r>
            <a:r>
              <a:rPr lang="zh-CN" altLang="en-US" sz="1600" b="1" dirty="0">
                <a:solidFill>
                  <a:srgbClr val="FF0000"/>
                </a:solidFill>
                <a:latin typeface="微软雅黑" panose="020B0503020204020204" pitchFamily="34" charset="-122"/>
                <a:ea typeface="微软雅黑" panose="020B0503020204020204" pitchFamily="34" charset="-122"/>
              </a:rPr>
              <a:t>万元</a:t>
            </a:r>
            <a:r>
              <a:rPr lang="zh-CN" altLang="en-US" sz="1600" dirty="0">
                <a:solidFill>
                  <a:srgbClr val="000000"/>
                </a:solidFill>
                <a:latin typeface="微软雅黑" panose="020B0503020204020204" pitchFamily="34" charset="-122"/>
                <a:ea typeface="微软雅黑" panose="020B0503020204020204" pitchFamily="34" charset="-122"/>
              </a:rPr>
              <a:t>，而系统中未稽核的受理记录有</a:t>
            </a:r>
            <a:r>
              <a:rPr lang="en-US" altLang="zh-CN" sz="1600" b="1" dirty="0">
                <a:solidFill>
                  <a:srgbClr val="FF0000"/>
                </a:solidFill>
                <a:latin typeface="微软雅黑" panose="020B0503020204020204" pitchFamily="34" charset="-122"/>
                <a:ea typeface="微软雅黑" panose="020B0503020204020204" pitchFamily="34" charset="-122"/>
              </a:rPr>
              <a:t>83.65</a:t>
            </a:r>
            <a:r>
              <a:rPr lang="zh-CN" altLang="en-US" sz="1600" b="1" dirty="0">
                <a:solidFill>
                  <a:srgbClr val="FF0000"/>
                </a:solidFill>
                <a:latin typeface="微软雅黑" panose="020B0503020204020204" pitchFamily="34" charset="-122"/>
                <a:ea typeface="微软雅黑" panose="020B0503020204020204" pitchFamily="34" charset="-122"/>
              </a:rPr>
              <a:t>万元</a:t>
            </a:r>
            <a:r>
              <a:rPr lang="zh-CN" altLang="en-US" sz="1600" dirty="0">
                <a:solidFill>
                  <a:srgbClr val="000000"/>
                </a:solidFill>
                <a:latin typeface="微软雅黑" panose="020B0503020204020204" pitchFamily="34" charset="-122"/>
                <a:ea typeface="微软雅黑" panose="020B0503020204020204" pitchFamily="34" charset="-122"/>
              </a:rPr>
              <a:t>，那么，待其余</a:t>
            </a:r>
            <a:r>
              <a:rPr lang="en-US" altLang="zh-CN" sz="1600" dirty="0">
                <a:solidFill>
                  <a:srgbClr val="000000"/>
                </a:solidFill>
                <a:latin typeface="微软雅黑" panose="020B0503020204020204" pitchFamily="34" charset="-122"/>
                <a:ea typeface="微软雅黑" panose="020B0503020204020204" pitchFamily="34" charset="-122"/>
              </a:rPr>
              <a:t>47</a:t>
            </a:r>
            <a:r>
              <a:rPr lang="zh-CN" altLang="en-US" sz="1600" dirty="0">
                <a:solidFill>
                  <a:srgbClr val="000000"/>
                </a:solidFill>
                <a:latin typeface="微软雅黑" panose="020B0503020204020204" pitchFamily="34" charset="-122"/>
                <a:ea typeface="微软雅黑" panose="020B0503020204020204" pitchFamily="34" charset="-122"/>
              </a:rPr>
              <a:t>家都比对完毕，系统中仍有不少于</a:t>
            </a:r>
            <a:r>
              <a:rPr lang="en-US" altLang="zh-CN" sz="1600" b="1" dirty="0">
                <a:solidFill>
                  <a:srgbClr val="FF0000"/>
                </a:solidFill>
                <a:latin typeface="微软雅黑" panose="020B0503020204020204" pitchFamily="34" charset="-122"/>
                <a:ea typeface="微软雅黑" panose="020B0503020204020204" pitchFamily="34" charset="-122"/>
              </a:rPr>
              <a:t>40.6</a:t>
            </a:r>
            <a:r>
              <a:rPr lang="zh-CN" altLang="en-US" sz="1600" b="1" dirty="0">
                <a:solidFill>
                  <a:srgbClr val="FF0000"/>
                </a:solidFill>
                <a:latin typeface="微软雅黑" panose="020B0503020204020204" pitchFamily="34" charset="-122"/>
                <a:ea typeface="微软雅黑" panose="020B0503020204020204" pitchFamily="34" charset="-122"/>
              </a:rPr>
              <a:t>万元</a:t>
            </a:r>
            <a:r>
              <a:rPr lang="zh-CN" altLang="en-US" sz="1600" dirty="0">
                <a:solidFill>
                  <a:srgbClr val="000000"/>
                </a:solidFill>
                <a:latin typeface="微软雅黑" panose="020B0503020204020204" pitchFamily="34" charset="-122"/>
                <a:ea typeface="微软雅黑" panose="020B0503020204020204" pitchFamily="34" charset="-122"/>
              </a:rPr>
              <a:t>的记录，还有待进一步筛查，是否存在错退的情况，或是退款与受理途径不一致造成的。</a:t>
            </a:r>
          </a:p>
        </p:txBody>
      </p:sp>
      <p:sp>
        <p:nvSpPr>
          <p:cNvPr id="9" name="文本框 8"/>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
        <p:nvSpPr>
          <p:cNvPr id="4" name="椭圆 3"/>
          <p:cNvSpPr/>
          <p:nvPr/>
        </p:nvSpPr>
        <p:spPr>
          <a:xfrm>
            <a:off x="461010" y="2398395"/>
            <a:ext cx="2058670" cy="2060575"/>
          </a:xfrm>
          <a:prstGeom prst="ellipse">
            <a:avLst/>
          </a:prstGeom>
          <a:solidFill>
            <a:srgbClr val="E8432E"/>
          </a:solidFill>
          <a:ln w="19050">
            <a:noFill/>
          </a:ln>
        </p:spPr>
        <p:txBody>
          <a:bodyPr wrap="square" anchor="ctr">
            <a:noAutofit/>
          </a:bodyPr>
          <a:lstStyle/>
          <a:p>
            <a:pPr algn="ctr" defTabSz="629285"/>
            <a:r>
              <a:rPr lang="zh-CN" altLang="en-US" sz="2400" b="1" dirty="0">
                <a:solidFill>
                  <a:schemeClr val="bg1"/>
                </a:solidFill>
                <a:latin typeface="微软雅黑" panose="020B0503020204020204" pitchFamily="34" charset="-122"/>
                <a:ea typeface="微软雅黑" panose="020B0503020204020204" pitchFamily="34" charset="-122"/>
              </a:rPr>
              <a:t>(三)下一步的工作安排</a:t>
            </a:r>
          </a:p>
        </p:txBody>
      </p:sp>
      <p:sp>
        <p:nvSpPr>
          <p:cNvPr id="12" name="矩形 11"/>
          <p:cNvSpPr/>
          <p:nvPr/>
        </p:nvSpPr>
        <p:spPr>
          <a:xfrm>
            <a:off x="8783325" y="1986587"/>
            <a:ext cx="2713781" cy="1371786"/>
          </a:xfrm>
          <a:prstGeom prst="rect">
            <a:avLst/>
          </a:prstGeom>
          <a:blipFill dpi="0" rotWithShape="0">
            <a:blip r:embed="rId3" cstate="print">
              <a:extLst>
                <a:ext uri="{28A0092B-C50C-407E-A947-70E740481C1C}">
                  <a14:useLocalDpi xmlns:a14="http://schemas.microsoft.com/office/drawing/2010/main"/>
                </a:ext>
              </a:extLst>
            </a:blip>
            <a:srcRect/>
            <a:stretch>
              <a:fillRect/>
            </a:stretch>
          </a:blip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defTabSz="1218565"/>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1" name="矩形 10"/>
          <p:cNvSpPr/>
          <p:nvPr/>
        </p:nvSpPr>
        <p:spPr>
          <a:xfrm>
            <a:off x="8783399" y="3936037"/>
            <a:ext cx="2713781" cy="1371786"/>
          </a:xfrm>
          <a:prstGeom prst="rect">
            <a:avLst/>
          </a:prstGeom>
          <a:blipFill dpi="0" rotWithShape="0">
            <a:blip r:embed="rId4" cstate="print"/>
            <a:srcRect/>
            <a:stretch>
              <a:fillRect/>
            </a:stretch>
          </a:blip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defTabSz="1218565"/>
            <a:endParaRPr lang="zh-CN" altLang="en-US" sz="1600"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150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par>
                                <p:cTn id="15" presetID="2" presetClass="entr" presetSubtype="8" decel="10000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1000" fill="hold"/>
                                        <p:tgtEl>
                                          <p:spTgt spid="12"/>
                                        </p:tgtEl>
                                        <p:attrNameLst>
                                          <p:attrName>ppt_x</p:attrName>
                                        </p:attrNameLst>
                                      </p:cBhvr>
                                      <p:tavLst>
                                        <p:tav tm="0">
                                          <p:val>
                                            <p:strVal val="0-#ppt_w/2"/>
                                          </p:val>
                                        </p:tav>
                                        <p:tav tm="100000">
                                          <p:val>
                                            <p:strVal val="#ppt_x"/>
                                          </p:val>
                                        </p:tav>
                                      </p:tavLst>
                                    </p:anim>
                                    <p:anim calcmode="lin" valueType="num">
                                      <p:cBhvr additive="base">
                                        <p:cTn id="18" dur="1000" fill="hold"/>
                                        <p:tgtEl>
                                          <p:spTgt spid="12"/>
                                        </p:tgtEl>
                                        <p:attrNameLst>
                                          <p:attrName>ppt_y</p:attrName>
                                        </p:attrNameLst>
                                      </p:cBhvr>
                                      <p:tavLst>
                                        <p:tav tm="0">
                                          <p:val>
                                            <p:strVal val="#ppt_y"/>
                                          </p:val>
                                        </p:tav>
                                        <p:tav tm="100000">
                                          <p:val>
                                            <p:strVal val="#ppt_y"/>
                                          </p:val>
                                        </p:tav>
                                      </p:tavLst>
                                    </p:anim>
                                  </p:childTnLst>
                                </p:cTn>
                              </p:par>
                              <p:par>
                                <p:cTn id="19" presetID="2" presetClass="entr" presetSubtype="8" decel="10000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1000" fill="hold"/>
                                        <p:tgtEl>
                                          <p:spTgt spid="11"/>
                                        </p:tgtEl>
                                        <p:attrNameLst>
                                          <p:attrName>ppt_x</p:attrName>
                                        </p:attrNameLst>
                                      </p:cBhvr>
                                      <p:tavLst>
                                        <p:tav tm="0">
                                          <p:val>
                                            <p:strVal val="0-#ppt_w/2"/>
                                          </p:val>
                                        </p:tav>
                                        <p:tav tm="100000">
                                          <p:val>
                                            <p:strVal val="#ppt_x"/>
                                          </p:val>
                                        </p:tav>
                                      </p:tavLst>
                                    </p:anim>
                                    <p:anim calcmode="lin" valueType="num">
                                      <p:cBhvr additive="base">
                                        <p:cTn id="22"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bldLvl="0" animBg="1"/>
      <p:bldP spid="12" grpId="0" bldLvl="0" animBg="1"/>
      <p:bldP spid="1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62121" y="437661"/>
            <a:ext cx="2926080" cy="645160"/>
          </a:xfrm>
          <a:prstGeom prst="rect">
            <a:avLst/>
          </a:prstGeom>
        </p:spPr>
        <p:txBody>
          <a:bodyPr wrap="none">
            <a:spAutoFit/>
          </a:bodyPr>
          <a:lstStyle/>
          <a:p>
            <a:pPr>
              <a:defRPr/>
            </a:pPr>
            <a:r>
              <a:rPr lang="zh-CN" altLang="en-US" sz="3600" b="1" kern="0" dirty="0">
                <a:solidFill>
                  <a:srgbClr val="383F4E"/>
                </a:solidFill>
                <a:latin typeface="微软雅黑" panose="020B0503020204020204" pitchFamily="34" charset="-122"/>
                <a:ea typeface="微软雅黑" panose="020B0503020204020204" pitchFamily="34" charset="-122"/>
              </a:rPr>
              <a:t>代理商保证金</a:t>
            </a:r>
          </a:p>
        </p:txBody>
      </p:sp>
      <p:sp>
        <p:nvSpPr>
          <p:cNvPr id="37" name="矩形 36"/>
          <p:cNvSpPr/>
          <p:nvPr/>
        </p:nvSpPr>
        <p:spPr>
          <a:xfrm>
            <a:off x="1174750" y="1561465"/>
            <a:ext cx="3507740" cy="1799590"/>
          </a:xfrm>
          <a:prstGeom prst="rect">
            <a:avLst/>
          </a:prstGeom>
        </p:spPr>
        <p:txBody>
          <a:bodyPr wrap="square">
            <a:spAutoFit/>
          </a:bodyPr>
          <a:lstStyle/>
          <a:p>
            <a:pPr>
              <a:lnSpc>
                <a:spcPct val="150000"/>
              </a:lnSpc>
              <a:defRPr/>
            </a:pP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）专营店降为代理点</a:t>
            </a:r>
          </a:p>
          <a:p>
            <a:pPr marL="171450" indent="-171450">
              <a:lnSpc>
                <a:spcPct val="150000"/>
              </a:lnSpc>
              <a:buClr>
                <a:srgbClr val="FF7619"/>
              </a:buClr>
              <a:buFont typeface="Wingdings" panose="05000000000000000000" pitchFamily="2" charset="2"/>
              <a:buChar char="l"/>
              <a:defRPr/>
            </a:pPr>
            <a:r>
              <a:rPr lang="zh-CN" altLang="en-US" sz="1200" dirty="0">
                <a:latin typeface="微软雅黑" panose="020B0503020204020204" pitchFamily="34" charset="-122"/>
                <a:ea typeface="微软雅黑" panose="020B0503020204020204" pitchFamily="34" charset="-122"/>
              </a:rPr>
              <a:t>专营店降为代理点后，应收回代理合同中协定的装修补贴等补贴，请渠道运营中心牵头，核实这</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家降为代理点的专营店的合同信息，及发放的装修补贴等信息，统计建立专营店所享受的所有补贴，并通知代理商缴回处理。</a:t>
            </a:r>
          </a:p>
        </p:txBody>
      </p:sp>
      <p:sp>
        <p:nvSpPr>
          <p:cNvPr id="38" name="矩形 37"/>
          <p:cNvSpPr/>
          <p:nvPr/>
        </p:nvSpPr>
        <p:spPr>
          <a:xfrm>
            <a:off x="1174750" y="3756025"/>
            <a:ext cx="4083050" cy="1799590"/>
          </a:xfrm>
          <a:prstGeom prst="rect">
            <a:avLst/>
          </a:prstGeom>
        </p:spPr>
        <p:txBody>
          <a:bodyPr wrap="square">
            <a:spAutoFit/>
          </a:bodyPr>
          <a:lstStyle/>
          <a:p>
            <a:pPr>
              <a:lnSpc>
                <a:spcPct val="150000"/>
              </a:lnSpc>
              <a:defRPr/>
            </a:pP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）系统中显示已退款</a:t>
            </a:r>
          </a:p>
          <a:p>
            <a:pPr marL="171450" indent="-171450">
              <a:lnSpc>
                <a:spcPct val="150000"/>
              </a:lnSpc>
              <a:buClr>
                <a:srgbClr val="FF7619"/>
              </a:buClr>
              <a:buFont typeface="Wingdings" panose="05000000000000000000" pitchFamily="2" charset="2"/>
              <a:buChar char="l"/>
              <a:defRPr/>
            </a:pPr>
            <a:r>
              <a:rPr lang="zh-CN" altLang="en-US" sz="1200" dirty="0">
                <a:latin typeface="微软雅黑" panose="020B0503020204020204" pitchFamily="34" charset="-122"/>
                <a:ea typeface="微软雅黑" panose="020B0503020204020204" pitchFamily="34" charset="-122"/>
              </a:rPr>
              <a:t>经查，根据代理商上报的信息筛查系统受理情况，有</a:t>
            </a:r>
            <a:r>
              <a:rPr lang="en-US" altLang="zh-CN" sz="1200" dirty="0">
                <a:latin typeface="微软雅黑" panose="020B0503020204020204" pitchFamily="34" charset="-122"/>
                <a:ea typeface="微软雅黑" panose="020B0503020204020204" pitchFamily="34" charset="-122"/>
              </a:rPr>
              <a:t>8</a:t>
            </a:r>
            <a:r>
              <a:rPr lang="zh-CN" altLang="en-US" sz="1200" dirty="0">
                <a:latin typeface="微软雅黑" panose="020B0503020204020204" pitchFamily="34" charset="-122"/>
                <a:ea typeface="微软雅黑" panose="020B0503020204020204" pitchFamily="34" charset="-122"/>
              </a:rPr>
              <a:t>家系统中显示已退款，且有</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家代理商仍持有押金单。</a:t>
            </a:r>
          </a:p>
          <a:p>
            <a:pPr marL="171450" indent="-171450">
              <a:lnSpc>
                <a:spcPct val="150000"/>
              </a:lnSpc>
              <a:buClr>
                <a:srgbClr val="FF7619"/>
              </a:buClr>
              <a:buFont typeface="Wingdings" panose="05000000000000000000" pitchFamily="2" charset="2"/>
              <a:buChar char="l"/>
              <a:defRPr/>
            </a:pPr>
            <a:r>
              <a:rPr lang="zh-CN" altLang="en-US" sz="1200" dirty="0">
                <a:latin typeface="微软雅黑" panose="020B0503020204020204" pitchFamily="34" charset="-122"/>
                <a:ea typeface="微软雅黑" panose="020B0503020204020204" pitchFamily="34" charset="-122"/>
              </a:rPr>
              <a:t>请业务支撑中心进一步稽核这部分押金退款的受理流程，审批手续是否齐全，是否存在押金错退的情形；并请渠道运营中心核实后，通知代理商补缴保证金。</a:t>
            </a:r>
          </a:p>
        </p:txBody>
      </p:sp>
      <p:sp>
        <p:nvSpPr>
          <p:cNvPr id="39" name="矩形 38"/>
          <p:cNvSpPr/>
          <p:nvPr/>
        </p:nvSpPr>
        <p:spPr>
          <a:xfrm>
            <a:off x="7395210" y="1561465"/>
            <a:ext cx="4010025" cy="2076450"/>
          </a:xfrm>
          <a:prstGeom prst="rect">
            <a:avLst/>
          </a:prstGeom>
        </p:spPr>
        <p:txBody>
          <a:bodyPr wrap="square">
            <a:spAutoFit/>
          </a:bodyPr>
          <a:lstStyle/>
          <a:p>
            <a:pPr>
              <a:lnSpc>
                <a:spcPct val="150000"/>
              </a:lnSpc>
              <a:defRPr/>
            </a:pP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）房租、补贴等置换为代办押金</a:t>
            </a:r>
          </a:p>
          <a:p>
            <a:pPr marL="171450" indent="-171450">
              <a:lnSpc>
                <a:spcPct val="150000"/>
              </a:lnSpc>
              <a:buClr>
                <a:srgbClr val="FF7619"/>
              </a:buClr>
              <a:buFont typeface="Wingdings" panose="05000000000000000000" pitchFamily="2" charset="2"/>
              <a:buChar char="l"/>
              <a:defRPr/>
            </a:pPr>
            <a:r>
              <a:rPr lang="zh-CN" altLang="en-US" sz="1200" dirty="0">
                <a:latin typeface="微软雅黑" panose="020B0503020204020204" pitchFamily="34" charset="-122"/>
                <a:ea typeface="微软雅黑" panose="020B0503020204020204" pitchFamily="34" charset="-122"/>
              </a:rPr>
              <a:t>对于房租、补贴等置换为代办押金的情形，建议新签合同取消此项条款，避免后续查账的麻烦。而这</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家历史的置换押金的代理商，请渠道运营中心核实后，做好台帐备查，包括应付房租、应发补贴等金额，并受理到押金管理系统中，以系统管理为主，台帐管理为辅，以免后续产生争议。</a:t>
            </a:r>
          </a:p>
        </p:txBody>
      </p:sp>
      <p:sp>
        <p:nvSpPr>
          <p:cNvPr id="40" name="矩形 39"/>
          <p:cNvSpPr/>
          <p:nvPr/>
        </p:nvSpPr>
        <p:spPr>
          <a:xfrm>
            <a:off x="7497445" y="4087495"/>
            <a:ext cx="3804920" cy="1799590"/>
          </a:xfrm>
          <a:prstGeom prst="rect">
            <a:avLst/>
          </a:prstGeom>
        </p:spPr>
        <p:txBody>
          <a:bodyPr wrap="square">
            <a:spAutoFit/>
          </a:bodyPr>
          <a:lstStyle/>
          <a:p>
            <a:pPr>
              <a:lnSpc>
                <a:spcPct val="150000"/>
              </a:lnSpc>
              <a:defRPr/>
            </a:pP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4</a:t>
            </a:r>
            <a:r>
              <a:rPr lang="zh-CN" altLang="en-US" sz="1400" b="1" dirty="0">
                <a:latin typeface="微软雅黑" panose="020B0503020204020204" pitchFamily="34" charset="-122"/>
                <a:ea typeface="微软雅黑" panose="020B0503020204020204" pitchFamily="34" charset="-122"/>
              </a:rPr>
              <a:t>）代理商信息维护系统</a:t>
            </a:r>
          </a:p>
          <a:p>
            <a:pPr marL="171450" indent="-171450">
              <a:lnSpc>
                <a:spcPct val="150000"/>
              </a:lnSpc>
              <a:buClr>
                <a:srgbClr val="FF7619"/>
              </a:buClr>
              <a:buFont typeface="Wingdings" panose="05000000000000000000" pitchFamily="2" charset="2"/>
              <a:buChar char="l"/>
              <a:defRPr/>
            </a:pPr>
            <a:r>
              <a:rPr lang="zh-CN" altLang="en-US" sz="1200" dirty="0">
                <a:latin typeface="微软雅黑" panose="020B0503020204020204" pitchFamily="34" charset="-122"/>
                <a:ea typeface="微软雅黑" panose="020B0503020204020204" pitchFamily="34" charset="-122"/>
              </a:rPr>
              <a:t>建议渠道运营中心牵头，各县区渠道配合，梳理所有专营店的合同约定保证金等信息，并根据稽核的结果，核实是否已缴足保证金，并做好台帐备查，将信息更新到单点的代理商信息维护系统中，并确保系统数据的更新维护，以备保证金对账之用。</a:t>
            </a:r>
          </a:p>
        </p:txBody>
      </p:sp>
      <p:sp>
        <p:nvSpPr>
          <p:cNvPr id="50" name="椭圆 49"/>
          <p:cNvSpPr/>
          <p:nvPr/>
        </p:nvSpPr>
        <p:spPr>
          <a:xfrm>
            <a:off x="5066665" y="2399030"/>
            <a:ext cx="2058670" cy="2060575"/>
          </a:xfrm>
          <a:prstGeom prst="ellipse">
            <a:avLst/>
          </a:prstGeom>
          <a:solidFill>
            <a:srgbClr val="E8432E"/>
          </a:solidFill>
          <a:ln w="19050">
            <a:noFill/>
          </a:ln>
        </p:spPr>
        <p:txBody>
          <a:bodyPr wrap="square" anchor="ctr">
            <a:noAutofit/>
          </a:bodyPr>
          <a:lstStyle/>
          <a:p>
            <a:pPr algn="ctr" defTabSz="629285"/>
            <a:r>
              <a:rPr lang="zh-CN" altLang="en-US" sz="2400" b="1" dirty="0">
                <a:solidFill>
                  <a:schemeClr val="bg1"/>
                </a:solidFill>
                <a:latin typeface="微软雅黑" panose="020B0503020204020204" pitchFamily="34" charset="-122"/>
                <a:ea typeface="微软雅黑" panose="020B0503020204020204" pitchFamily="34" charset="-122"/>
              </a:rPr>
              <a:t>(三)下一步的工作安排</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anim calcmode="lin" valueType="num">
                                      <p:cBhvr>
                                        <p:cTn id="8" dur="500" fill="hold"/>
                                        <p:tgtEl>
                                          <p:spTgt spid="37"/>
                                        </p:tgtEl>
                                        <p:attrNameLst>
                                          <p:attrName>ppt_x</p:attrName>
                                        </p:attrNameLst>
                                      </p:cBhvr>
                                      <p:tavLst>
                                        <p:tav tm="0">
                                          <p:val>
                                            <p:strVal val="#ppt_x"/>
                                          </p:val>
                                        </p:tav>
                                        <p:tav tm="100000">
                                          <p:val>
                                            <p:strVal val="#ppt_x"/>
                                          </p:val>
                                        </p:tav>
                                      </p:tavLst>
                                    </p:anim>
                                    <p:anim calcmode="lin" valueType="num">
                                      <p:cBhvr>
                                        <p:cTn id="9" dur="500" fill="hold"/>
                                        <p:tgtEl>
                                          <p:spTgt spid="3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anim calcmode="lin" valueType="num">
                                      <p:cBhvr>
                                        <p:cTn id="13" dur="500" fill="hold"/>
                                        <p:tgtEl>
                                          <p:spTgt spid="38"/>
                                        </p:tgtEl>
                                        <p:attrNameLst>
                                          <p:attrName>ppt_x</p:attrName>
                                        </p:attrNameLst>
                                      </p:cBhvr>
                                      <p:tavLst>
                                        <p:tav tm="0">
                                          <p:val>
                                            <p:strVal val="#ppt_x"/>
                                          </p:val>
                                        </p:tav>
                                        <p:tav tm="100000">
                                          <p:val>
                                            <p:strVal val="#ppt_x"/>
                                          </p:val>
                                        </p:tav>
                                      </p:tavLst>
                                    </p:anim>
                                    <p:anim calcmode="lin" valueType="num">
                                      <p:cBhvr>
                                        <p:cTn id="14" dur="5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anim calcmode="lin" valueType="num">
                                      <p:cBhvr>
                                        <p:cTn id="18" dur="500" fill="hold"/>
                                        <p:tgtEl>
                                          <p:spTgt spid="39"/>
                                        </p:tgtEl>
                                        <p:attrNameLst>
                                          <p:attrName>ppt_x</p:attrName>
                                        </p:attrNameLst>
                                      </p:cBhvr>
                                      <p:tavLst>
                                        <p:tav tm="0">
                                          <p:val>
                                            <p:strVal val="#ppt_x"/>
                                          </p:val>
                                        </p:tav>
                                        <p:tav tm="100000">
                                          <p:val>
                                            <p:strVal val="#ppt_x"/>
                                          </p:val>
                                        </p:tav>
                                      </p:tavLst>
                                    </p:anim>
                                    <p:anim calcmode="lin" valueType="num">
                                      <p:cBhvr>
                                        <p:cTn id="19" dur="5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anim calcmode="lin" valueType="num">
                                      <p:cBhvr>
                                        <p:cTn id="23" dur="500" fill="hold"/>
                                        <p:tgtEl>
                                          <p:spTgt spid="40"/>
                                        </p:tgtEl>
                                        <p:attrNameLst>
                                          <p:attrName>ppt_x</p:attrName>
                                        </p:attrNameLst>
                                      </p:cBhvr>
                                      <p:tavLst>
                                        <p:tav tm="0">
                                          <p:val>
                                            <p:strVal val="#ppt_x"/>
                                          </p:val>
                                        </p:tav>
                                        <p:tav tm="100000">
                                          <p:val>
                                            <p:strVal val="#ppt_x"/>
                                          </p:val>
                                        </p:tav>
                                      </p:tavLst>
                                    </p:anim>
                                    <p:anim calcmode="lin" valueType="num">
                                      <p:cBhvr>
                                        <p:cTn id="24"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50"/>
                                        </p:tgtEl>
                                        <p:attrNameLst>
                                          <p:attrName>style.visibility</p:attrName>
                                        </p:attrNameLst>
                                      </p:cBhvr>
                                      <p:to>
                                        <p:strVal val="visible"/>
                                      </p:to>
                                    </p:set>
                                    <p:anim calcmode="lin" valueType="num">
                                      <p:cBhvr>
                                        <p:cTn id="29" dur="500" fill="hold"/>
                                        <p:tgtEl>
                                          <p:spTgt spid="50"/>
                                        </p:tgtEl>
                                        <p:attrNameLst>
                                          <p:attrName>ppt_w</p:attrName>
                                        </p:attrNameLst>
                                      </p:cBhvr>
                                      <p:tavLst>
                                        <p:tav tm="0">
                                          <p:val>
                                            <p:fltVal val="0"/>
                                          </p:val>
                                        </p:tav>
                                        <p:tav tm="100000">
                                          <p:val>
                                            <p:strVal val="#ppt_w"/>
                                          </p:val>
                                        </p:tav>
                                      </p:tavLst>
                                    </p:anim>
                                    <p:anim calcmode="lin" valueType="num">
                                      <p:cBhvr>
                                        <p:cTn id="30" dur="500" fill="hold"/>
                                        <p:tgtEl>
                                          <p:spTgt spid="50"/>
                                        </p:tgtEl>
                                        <p:attrNameLst>
                                          <p:attrName>ppt_h</p:attrName>
                                        </p:attrNameLst>
                                      </p:cBhvr>
                                      <p:tavLst>
                                        <p:tav tm="0">
                                          <p:val>
                                            <p:fltVal val="0"/>
                                          </p:val>
                                        </p:tav>
                                        <p:tav tm="100000">
                                          <p:val>
                                            <p:strVal val="#ppt_h"/>
                                          </p:val>
                                        </p:tav>
                                      </p:tavLst>
                                    </p:anim>
                                    <p:animEffect transition="in" filter="fade">
                                      <p:cBhvr>
                                        <p:cTn id="3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50"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46" y="409086"/>
            <a:ext cx="2926080" cy="645160"/>
          </a:xfrm>
          <a:prstGeom prst="rect">
            <a:avLst/>
          </a:prstGeom>
        </p:spPr>
        <p:txBody>
          <a:bodyPr wrap="none">
            <a:spAutoFit/>
          </a:bodyPr>
          <a:lstStyle/>
          <a:p>
            <a:pPr>
              <a:defRPr/>
            </a:pPr>
            <a:r>
              <a:rPr lang="zh-CN" altLang="en-US" sz="3600" b="1" kern="0" dirty="0">
                <a:solidFill>
                  <a:srgbClr val="383F4E"/>
                </a:solidFill>
                <a:latin typeface="微软雅黑" panose="020B0503020204020204" pitchFamily="34" charset="-122"/>
                <a:ea typeface="微软雅黑" panose="020B0503020204020204" pitchFamily="34" charset="-122"/>
              </a:rPr>
              <a:t>代理商保证金</a:t>
            </a:r>
          </a:p>
        </p:txBody>
      </p:sp>
      <p:sp>
        <p:nvSpPr>
          <p:cNvPr id="49" name="矩形 48"/>
          <p:cNvSpPr/>
          <p:nvPr/>
        </p:nvSpPr>
        <p:spPr>
          <a:xfrm>
            <a:off x="5354320" y="1853565"/>
            <a:ext cx="4048125" cy="3830955"/>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      根据省公司渠道运营中心发布的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关于优化社会实体渠道保证金管理的通知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，销售型便利点按</a:t>
            </a:r>
            <a:r>
              <a:rPr lang="en-US" altLang="zh-CN" dirty="0">
                <a:latin typeface="微软雅黑" panose="020B0503020204020204" pitchFamily="34" charset="-122"/>
                <a:ea typeface="微软雅黑" panose="020B0503020204020204" pitchFamily="34" charset="-122"/>
              </a:rPr>
              <a:t>500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点，连锁店、独立店按</a:t>
            </a:r>
            <a:r>
              <a:rPr lang="en-US" altLang="zh-CN" dirty="0">
                <a:latin typeface="微软雅黑" panose="020B0503020204020204" pitchFamily="34" charset="-122"/>
                <a:ea typeface="微软雅黑" panose="020B0503020204020204" pitchFamily="34" charset="-122"/>
              </a:rPr>
              <a:t>1000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点，请渠道运营中心梳理普通代理点、市级连锁店和独立店的清单，一并转业务支撑中心稽核，对于未缴纳保证金的网点，通知补缴，确保代理商保证金管理工作的全面、有效开展。</a:t>
            </a:r>
          </a:p>
        </p:txBody>
      </p:sp>
      <p:sp>
        <p:nvSpPr>
          <p:cNvPr id="52" name="矩形 51"/>
          <p:cNvSpPr/>
          <p:nvPr/>
        </p:nvSpPr>
        <p:spPr>
          <a:xfrm>
            <a:off x="950153" y="2277551"/>
            <a:ext cx="4068417" cy="2981739"/>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10250905" y="7347284"/>
            <a:ext cx="240665" cy="368300"/>
          </a:xfrm>
          <a:prstGeom prst="rect">
            <a:avLst/>
          </a:prstGeom>
          <a:noFill/>
        </p:spPr>
        <p:txBody>
          <a:bodyPr wrap="none" rtlCol="0">
            <a:spAutoFit/>
          </a:bodyPr>
          <a:lstStyle/>
          <a:p>
            <a:r>
              <a:rPr lang="en-US" altLang="zh-CN" dirty="0"/>
              <a:t>.</a:t>
            </a:r>
            <a:endParaRPr lang="zh-CN" altLang="en-US" dirty="0"/>
          </a:p>
        </p:txBody>
      </p:sp>
      <p:sp>
        <p:nvSpPr>
          <p:cNvPr id="50" name="椭圆 49"/>
          <p:cNvSpPr/>
          <p:nvPr/>
        </p:nvSpPr>
        <p:spPr>
          <a:xfrm>
            <a:off x="9402445" y="3336925"/>
            <a:ext cx="2058670" cy="2060575"/>
          </a:xfrm>
          <a:prstGeom prst="ellipse">
            <a:avLst/>
          </a:prstGeom>
          <a:solidFill>
            <a:srgbClr val="E8432E"/>
          </a:solidFill>
          <a:ln w="19050">
            <a:noFill/>
          </a:ln>
        </p:spPr>
        <p:txBody>
          <a:bodyPr wrap="square" anchor="ctr">
            <a:noAutofit/>
          </a:bodyPr>
          <a:lstStyle/>
          <a:p>
            <a:pPr algn="ctr" defTabSz="629285"/>
            <a:r>
              <a:rPr lang="zh-CN" altLang="en-US" sz="2400" b="1" dirty="0">
                <a:solidFill>
                  <a:schemeClr val="bg1"/>
                </a:solidFill>
                <a:latin typeface="微软雅黑" panose="020B0503020204020204" pitchFamily="34" charset="-122"/>
                <a:ea typeface="微软雅黑" panose="020B0503020204020204" pitchFamily="34" charset="-122"/>
              </a:rPr>
              <a:t>(三)下一步的工作安排</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53"/>
                                        </p:tgtEl>
                                      </p:cBhvr>
                                    </p:animEffect>
                                    <p:set>
                                      <p:cBhvr>
                                        <p:cTn id="17" dur="1" fill="hold">
                                          <p:stCondLst>
                                            <p:cond delay="499"/>
                                          </p:stCondLst>
                                        </p:cTn>
                                        <p:tgtEl>
                                          <p:spTgt spid="5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 calcmode="lin" valueType="num">
                                      <p:cBhvr>
                                        <p:cTn id="22" dur="500" fill="hold"/>
                                        <p:tgtEl>
                                          <p:spTgt spid="50"/>
                                        </p:tgtEl>
                                        <p:attrNameLst>
                                          <p:attrName>ppt_w</p:attrName>
                                        </p:attrNameLst>
                                      </p:cBhvr>
                                      <p:tavLst>
                                        <p:tav tm="0">
                                          <p:val>
                                            <p:fltVal val="0"/>
                                          </p:val>
                                        </p:tav>
                                        <p:tav tm="100000">
                                          <p:val>
                                            <p:strVal val="#ppt_w"/>
                                          </p:val>
                                        </p:tav>
                                      </p:tavLst>
                                    </p:anim>
                                    <p:anim calcmode="lin" valueType="num">
                                      <p:cBhvr>
                                        <p:cTn id="23" dur="500" fill="hold"/>
                                        <p:tgtEl>
                                          <p:spTgt spid="50"/>
                                        </p:tgtEl>
                                        <p:attrNameLst>
                                          <p:attrName>ppt_h</p:attrName>
                                        </p:attrNameLst>
                                      </p:cBhvr>
                                      <p:tavLst>
                                        <p:tav tm="0">
                                          <p:val>
                                            <p:fltVal val="0"/>
                                          </p:val>
                                        </p:tav>
                                        <p:tav tm="100000">
                                          <p:val>
                                            <p:strVal val="#ppt_h"/>
                                          </p:val>
                                        </p:tav>
                                      </p:tavLst>
                                    </p:anim>
                                    <p:animEffect transition="in" filter="fade">
                                      <p:cBhvr>
                                        <p:cTn id="2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2" grpId="0" bldLvl="0" animBg="1"/>
      <p:bldP spid="53" grpId="0"/>
      <p:bldP spid="50"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0"/>
          <p:cNvSpPr txBox="1"/>
          <p:nvPr/>
        </p:nvSpPr>
        <p:spPr>
          <a:xfrm>
            <a:off x="4744085" y="2840990"/>
            <a:ext cx="2997200" cy="1014730"/>
          </a:xfrm>
          <a:prstGeom prst="rect">
            <a:avLst/>
          </a:prstGeom>
          <a:noFill/>
        </p:spPr>
        <p:txBody>
          <a:bodyPr wrap="square" lIns="91440" tIns="45720" rIns="91440" bIns="45720" rtlCol="0">
            <a:spAutoFit/>
          </a:bodyPr>
          <a:lstStyle/>
          <a:p>
            <a:pPr defTabSz="868045">
              <a:lnSpc>
                <a:spcPts val="1800"/>
              </a:lnSpc>
            </a:pPr>
            <a:r>
              <a:rPr lang="zh-CN" altLang="en-US" sz="1400" dirty="0">
                <a:latin typeface="微软雅黑" panose="020B0503020204020204" pitchFamily="34" charset="-122"/>
                <a:ea typeface="微软雅黑" panose="020B0503020204020204" pitchFamily="34" charset="-122"/>
              </a:rPr>
              <a:t>国内外服务外包行业的发展状况，然后具体解析了医药外包、软件与信息服务外包、物流外包等细分市场的发展状况。</a:t>
            </a:r>
          </a:p>
        </p:txBody>
      </p:sp>
      <p:sp>
        <p:nvSpPr>
          <p:cNvPr id="17" name="圆角矩形 16"/>
          <p:cNvSpPr/>
          <p:nvPr/>
        </p:nvSpPr>
        <p:spPr>
          <a:xfrm>
            <a:off x="4744117" y="2353372"/>
            <a:ext cx="1927984" cy="371059"/>
          </a:xfrm>
          <a:prstGeom prst="roundRect">
            <a:avLst>
              <a:gd name="adj" fmla="val 50000"/>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600" b="1" dirty="0">
                <a:solidFill>
                  <a:schemeClr val="bg1"/>
                </a:solidFill>
                <a:latin typeface="微软雅黑" panose="020B0503020204020204" pitchFamily="34" charset="-122"/>
                <a:ea typeface="微软雅黑" panose="020B0503020204020204" pitchFamily="34" charset="-122"/>
              </a:rPr>
              <a:t>渠道开发</a:t>
            </a:r>
          </a:p>
        </p:txBody>
      </p:sp>
      <p:sp>
        <p:nvSpPr>
          <p:cNvPr id="18" name="文本框 70"/>
          <p:cNvSpPr txBox="1"/>
          <p:nvPr/>
        </p:nvSpPr>
        <p:spPr>
          <a:xfrm>
            <a:off x="8352790" y="2811145"/>
            <a:ext cx="2767965" cy="1014730"/>
          </a:xfrm>
          <a:prstGeom prst="rect">
            <a:avLst/>
          </a:prstGeom>
          <a:noFill/>
        </p:spPr>
        <p:txBody>
          <a:bodyPr wrap="square" lIns="91440" tIns="45720" rIns="91440" bIns="45720" rtlCol="0">
            <a:spAutoFit/>
          </a:bodyPr>
          <a:lstStyle/>
          <a:p>
            <a:pPr lvl="0" algn="l" defTabSz="868045">
              <a:lnSpc>
                <a:spcPts val="1800"/>
              </a:lnSpc>
            </a:pPr>
            <a:r>
              <a:rPr lang="zh-CN" altLang="en-US" sz="1400" dirty="0">
                <a:latin typeface="微软雅黑" panose="020B0503020204020204" pitchFamily="34" charset="-122"/>
                <a:ea typeface="微软雅黑" panose="020B0503020204020204" pitchFamily="34" charset="-122"/>
                <a:sym typeface="+mn-ea"/>
              </a:rPr>
              <a:t>国内外服务外包行业的发展状况，然后具体解析了医药外包、软件与信息服务外包、物流外包等细分市场的发展状况。</a:t>
            </a:r>
          </a:p>
        </p:txBody>
      </p:sp>
      <p:sp>
        <p:nvSpPr>
          <p:cNvPr id="19" name="文本框 70"/>
          <p:cNvSpPr txBox="1"/>
          <p:nvPr/>
        </p:nvSpPr>
        <p:spPr>
          <a:xfrm>
            <a:off x="5858773" y="4564097"/>
            <a:ext cx="3555586" cy="783590"/>
          </a:xfrm>
          <a:prstGeom prst="rect">
            <a:avLst/>
          </a:prstGeom>
          <a:noFill/>
        </p:spPr>
        <p:txBody>
          <a:bodyPr wrap="square" lIns="91440" tIns="45720" rIns="91440" bIns="45720" rtlCol="0">
            <a:spAutoFit/>
          </a:bodyPr>
          <a:lstStyle/>
          <a:p>
            <a:pPr lvl="0" algn="l" defTabSz="868045">
              <a:lnSpc>
                <a:spcPts val="1800"/>
              </a:lnSpc>
            </a:pPr>
            <a:r>
              <a:rPr lang="zh-CN" altLang="en-US" sz="1400" dirty="0">
                <a:latin typeface="微软雅黑" panose="020B0503020204020204" pitchFamily="34" charset="-122"/>
                <a:ea typeface="微软雅黑" panose="020B0503020204020204" pitchFamily="34" charset="-122"/>
                <a:sym typeface="+mn-ea"/>
              </a:rPr>
              <a:t>国内外服务外包行业的发展状况，然后具体解析了医药外包、软件与信息服务外包、物流外包等细分市场的发展状况。</a:t>
            </a:r>
          </a:p>
        </p:txBody>
      </p:sp>
      <p:sp>
        <p:nvSpPr>
          <p:cNvPr id="21" name="圆角矩形 20"/>
          <p:cNvSpPr/>
          <p:nvPr/>
        </p:nvSpPr>
        <p:spPr>
          <a:xfrm>
            <a:off x="8352764" y="2353191"/>
            <a:ext cx="1927984" cy="371059"/>
          </a:xfrm>
          <a:prstGeom prst="roundRect">
            <a:avLst>
              <a:gd name="adj" fmla="val 50000"/>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600" b="1" dirty="0">
                <a:solidFill>
                  <a:schemeClr val="bg1"/>
                </a:solidFill>
                <a:latin typeface="微软雅黑" panose="020B0503020204020204" pitchFamily="34" charset="-122"/>
                <a:ea typeface="微软雅黑" panose="020B0503020204020204" pitchFamily="34" charset="-122"/>
              </a:rPr>
              <a:t>渠道开发</a:t>
            </a:r>
          </a:p>
        </p:txBody>
      </p:sp>
      <p:sp>
        <p:nvSpPr>
          <p:cNvPr id="22" name="圆角矩形 21"/>
          <p:cNvSpPr/>
          <p:nvPr/>
        </p:nvSpPr>
        <p:spPr>
          <a:xfrm>
            <a:off x="6671745" y="3984912"/>
            <a:ext cx="1927984" cy="371059"/>
          </a:xfrm>
          <a:prstGeom prst="roundRect">
            <a:avLst>
              <a:gd name="adj" fmla="val 50000"/>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600" b="1" dirty="0">
                <a:solidFill>
                  <a:schemeClr val="bg1"/>
                </a:solidFill>
                <a:latin typeface="微软雅黑" panose="020B0503020204020204" pitchFamily="34" charset="-122"/>
                <a:ea typeface="微软雅黑" panose="020B0503020204020204" pitchFamily="34" charset="-122"/>
              </a:rPr>
              <a:t>渠道开发</a:t>
            </a:r>
          </a:p>
        </p:txBody>
      </p:sp>
      <p:sp>
        <p:nvSpPr>
          <p:cNvPr id="38" name="矩形 37"/>
          <p:cNvSpPr/>
          <p:nvPr/>
        </p:nvSpPr>
        <p:spPr>
          <a:xfrm>
            <a:off x="1450996" y="409086"/>
            <a:ext cx="2926080" cy="645160"/>
          </a:xfrm>
          <a:prstGeom prst="rect">
            <a:avLst/>
          </a:prstGeom>
        </p:spPr>
        <p:txBody>
          <a:bodyPr wrap="none">
            <a:spAutoFit/>
          </a:bodyPr>
          <a:lstStyle/>
          <a:p>
            <a:pPr>
              <a:defRPr/>
            </a:pPr>
            <a:r>
              <a:rPr lang="zh-CN" altLang="en-US" sz="3600" b="1" kern="0" dirty="0">
                <a:solidFill>
                  <a:srgbClr val="383F4E"/>
                </a:solidFill>
                <a:latin typeface="微软雅黑" panose="020B0503020204020204" pitchFamily="34" charset="-122"/>
                <a:ea typeface="微软雅黑" panose="020B0503020204020204" pitchFamily="34" charset="-122"/>
              </a:rPr>
              <a:t>代理商保证金</a:t>
            </a:r>
          </a:p>
        </p:txBody>
      </p:sp>
      <p:grpSp>
        <p:nvGrpSpPr>
          <p:cNvPr id="59" name="组合 58"/>
          <p:cNvGrpSpPr/>
          <p:nvPr/>
        </p:nvGrpSpPr>
        <p:grpSpPr>
          <a:xfrm>
            <a:off x="171195" y="1555673"/>
            <a:ext cx="3954433" cy="3957941"/>
            <a:chOff x="1096493" y="1292090"/>
            <a:chExt cx="2966740" cy="2969372"/>
          </a:xfrm>
        </p:grpSpPr>
        <p:grpSp>
          <p:nvGrpSpPr>
            <p:cNvPr id="2" name="Group 60"/>
            <p:cNvGrpSpPr/>
            <p:nvPr/>
          </p:nvGrpSpPr>
          <p:grpSpPr>
            <a:xfrm>
              <a:off x="1946950" y="1486875"/>
              <a:ext cx="2116283" cy="2774587"/>
              <a:chOff x="12795250" y="366713"/>
              <a:chExt cx="2738438" cy="3589337"/>
            </a:xfrm>
          </p:grpSpPr>
          <p:sp>
            <p:nvSpPr>
              <p:cNvPr id="23" name="Freeform: Shape 61"/>
              <p:cNvSpPr/>
              <p:nvPr/>
            </p:nvSpPr>
            <p:spPr bwMode="auto">
              <a:xfrm>
                <a:off x="12795250" y="561975"/>
                <a:ext cx="2687638" cy="3394075"/>
              </a:xfrm>
              <a:custGeom>
                <a:avLst/>
                <a:gdLst>
                  <a:gd name="T0" fmla="*/ 9 w 424"/>
                  <a:gd name="T1" fmla="*/ 0 h 536"/>
                  <a:gd name="T2" fmla="*/ 0 w 424"/>
                  <a:gd name="T3" fmla="*/ 25 h 536"/>
                  <a:gd name="T4" fmla="*/ 0 w 424"/>
                  <a:gd name="T5" fmla="*/ 497 h 536"/>
                  <a:gd name="T6" fmla="*/ 39 w 424"/>
                  <a:gd name="T7" fmla="*/ 536 h 536"/>
                  <a:gd name="T8" fmla="*/ 391 w 424"/>
                  <a:gd name="T9" fmla="*/ 536 h 536"/>
                  <a:gd name="T10" fmla="*/ 424 w 424"/>
                  <a:gd name="T11" fmla="*/ 519 h 536"/>
                  <a:gd name="T12" fmla="*/ 393 w 424"/>
                  <a:gd name="T13" fmla="*/ 534 h 536"/>
                  <a:gd name="T14" fmla="*/ 42 w 424"/>
                  <a:gd name="T15" fmla="*/ 534 h 536"/>
                  <a:gd name="T16" fmla="*/ 2 w 424"/>
                  <a:gd name="T17" fmla="*/ 494 h 536"/>
                  <a:gd name="T18" fmla="*/ 2 w 424"/>
                  <a:gd name="T19" fmla="*/ 22 h 536"/>
                  <a:gd name="T20" fmla="*/ 9 w 424"/>
                  <a:gd name="T21"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4" h="536">
                    <a:moveTo>
                      <a:pt x="9" y="0"/>
                    </a:moveTo>
                    <a:cubicBezTo>
                      <a:pt x="3" y="6"/>
                      <a:pt x="0" y="15"/>
                      <a:pt x="0" y="25"/>
                    </a:cubicBezTo>
                    <a:cubicBezTo>
                      <a:pt x="0" y="497"/>
                      <a:pt x="0" y="497"/>
                      <a:pt x="0" y="497"/>
                    </a:cubicBezTo>
                    <a:cubicBezTo>
                      <a:pt x="0" y="519"/>
                      <a:pt x="18" y="536"/>
                      <a:pt x="39" y="536"/>
                    </a:cubicBezTo>
                    <a:cubicBezTo>
                      <a:pt x="391" y="536"/>
                      <a:pt x="391" y="536"/>
                      <a:pt x="391" y="536"/>
                    </a:cubicBezTo>
                    <a:cubicBezTo>
                      <a:pt x="405" y="536"/>
                      <a:pt x="416" y="530"/>
                      <a:pt x="424" y="519"/>
                    </a:cubicBezTo>
                    <a:cubicBezTo>
                      <a:pt x="416" y="528"/>
                      <a:pt x="405" y="534"/>
                      <a:pt x="393" y="534"/>
                    </a:cubicBezTo>
                    <a:cubicBezTo>
                      <a:pt x="42" y="534"/>
                      <a:pt x="42" y="534"/>
                      <a:pt x="42" y="534"/>
                    </a:cubicBezTo>
                    <a:cubicBezTo>
                      <a:pt x="20" y="534"/>
                      <a:pt x="2" y="516"/>
                      <a:pt x="2" y="494"/>
                    </a:cubicBezTo>
                    <a:cubicBezTo>
                      <a:pt x="2" y="22"/>
                      <a:pt x="2" y="22"/>
                      <a:pt x="2" y="22"/>
                    </a:cubicBezTo>
                    <a:cubicBezTo>
                      <a:pt x="2" y="14"/>
                      <a:pt x="5" y="6"/>
                      <a:pt x="9" y="0"/>
                    </a:cubicBezTo>
                  </a:path>
                </a:pathLst>
              </a:custGeom>
              <a:solidFill>
                <a:srgbClr val="939598"/>
              </a:solidFill>
              <a:ln>
                <a:noFill/>
              </a:ln>
            </p:spPr>
            <p:txBody>
              <a:bodyPr anchor="ctr"/>
              <a:lstStyle/>
              <a:p>
                <a:pPr algn="ctr" defTabSz="1218565"/>
                <a:endParaRPr sz="2400">
                  <a:solidFill>
                    <a:prstClr val="black"/>
                  </a:solidFill>
                  <a:latin typeface="Calibri" panose="020F0502020204030204"/>
                  <a:sym typeface="+mn-lt"/>
                </a:endParaRPr>
              </a:p>
            </p:txBody>
          </p:sp>
          <p:sp>
            <p:nvSpPr>
              <p:cNvPr id="3" name="Freeform: Shape 62"/>
              <p:cNvSpPr/>
              <p:nvPr/>
            </p:nvSpPr>
            <p:spPr bwMode="auto">
              <a:xfrm>
                <a:off x="12807950" y="455613"/>
                <a:ext cx="2725738" cy="3487737"/>
              </a:xfrm>
              <a:custGeom>
                <a:avLst/>
                <a:gdLst>
                  <a:gd name="T0" fmla="*/ 430 w 430"/>
                  <a:gd name="T1" fmla="*/ 511 h 551"/>
                  <a:gd name="T2" fmla="*/ 391 w 430"/>
                  <a:gd name="T3" fmla="*/ 551 h 551"/>
                  <a:gd name="T4" fmla="*/ 40 w 430"/>
                  <a:gd name="T5" fmla="*/ 551 h 551"/>
                  <a:gd name="T6" fmla="*/ 0 w 430"/>
                  <a:gd name="T7" fmla="*/ 511 h 551"/>
                  <a:gd name="T8" fmla="*/ 0 w 430"/>
                  <a:gd name="T9" fmla="*/ 39 h 551"/>
                  <a:gd name="T10" fmla="*/ 40 w 430"/>
                  <a:gd name="T11" fmla="*/ 0 h 551"/>
                  <a:gd name="T12" fmla="*/ 391 w 430"/>
                  <a:gd name="T13" fmla="*/ 0 h 551"/>
                  <a:gd name="T14" fmla="*/ 430 w 430"/>
                  <a:gd name="T15" fmla="*/ 39 h 551"/>
                  <a:gd name="T16" fmla="*/ 430 w 430"/>
                  <a:gd name="T17" fmla="*/ 51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0" h="551">
                    <a:moveTo>
                      <a:pt x="430" y="511"/>
                    </a:moveTo>
                    <a:cubicBezTo>
                      <a:pt x="430" y="533"/>
                      <a:pt x="413" y="551"/>
                      <a:pt x="391" y="551"/>
                    </a:cubicBezTo>
                    <a:cubicBezTo>
                      <a:pt x="40" y="551"/>
                      <a:pt x="40" y="551"/>
                      <a:pt x="40" y="551"/>
                    </a:cubicBezTo>
                    <a:cubicBezTo>
                      <a:pt x="18" y="551"/>
                      <a:pt x="0" y="533"/>
                      <a:pt x="0" y="511"/>
                    </a:cubicBezTo>
                    <a:cubicBezTo>
                      <a:pt x="0" y="39"/>
                      <a:pt x="0" y="39"/>
                      <a:pt x="0" y="39"/>
                    </a:cubicBezTo>
                    <a:cubicBezTo>
                      <a:pt x="0" y="17"/>
                      <a:pt x="18" y="0"/>
                      <a:pt x="40" y="0"/>
                    </a:cubicBezTo>
                    <a:cubicBezTo>
                      <a:pt x="391" y="0"/>
                      <a:pt x="391" y="0"/>
                      <a:pt x="391" y="0"/>
                    </a:cubicBezTo>
                    <a:cubicBezTo>
                      <a:pt x="413" y="0"/>
                      <a:pt x="430" y="17"/>
                      <a:pt x="430" y="39"/>
                    </a:cubicBezTo>
                    <a:cubicBezTo>
                      <a:pt x="430" y="511"/>
                      <a:pt x="430" y="511"/>
                      <a:pt x="430" y="511"/>
                    </a:cubicBezTo>
                  </a:path>
                </a:pathLst>
              </a:custGeom>
              <a:solidFill>
                <a:schemeClr val="tx2">
                  <a:lumMod val="20000"/>
                  <a:lumOff val="8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15" name="Freeform: Shape 64"/>
              <p:cNvSpPr/>
              <p:nvPr/>
            </p:nvSpPr>
            <p:spPr bwMode="auto">
              <a:xfrm>
                <a:off x="12934950" y="657225"/>
                <a:ext cx="2459038" cy="3133725"/>
              </a:xfrm>
              <a:custGeom>
                <a:avLst/>
                <a:gdLst>
                  <a:gd name="T0" fmla="*/ 1549 w 1549"/>
                  <a:gd name="T1" fmla="*/ 0 h 1974"/>
                  <a:gd name="T2" fmla="*/ 1541 w 1549"/>
                  <a:gd name="T3" fmla="*/ 0 h 1974"/>
                  <a:gd name="T4" fmla="*/ 1541 w 1549"/>
                  <a:gd name="T5" fmla="*/ 1962 h 1974"/>
                  <a:gd name="T6" fmla="*/ 355 w 1549"/>
                  <a:gd name="T7" fmla="*/ 1962 h 1974"/>
                  <a:gd name="T8" fmla="*/ 0 w 1549"/>
                  <a:gd name="T9" fmla="*/ 1619 h 1974"/>
                  <a:gd name="T10" fmla="*/ 0 w 1549"/>
                  <a:gd name="T11" fmla="*/ 1619 h 1974"/>
                  <a:gd name="T12" fmla="*/ 363 w 1549"/>
                  <a:gd name="T13" fmla="*/ 1974 h 1974"/>
                  <a:gd name="T14" fmla="*/ 1549 w 1549"/>
                  <a:gd name="T15" fmla="*/ 1974 h 1974"/>
                  <a:gd name="T16" fmla="*/ 1549 w 1549"/>
                  <a:gd name="T17"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9" h="1974">
                    <a:moveTo>
                      <a:pt x="1549" y="0"/>
                    </a:moveTo>
                    <a:lnTo>
                      <a:pt x="1541" y="0"/>
                    </a:lnTo>
                    <a:lnTo>
                      <a:pt x="1541" y="1962"/>
                    </a:lnTo>
                    <a:lnTo>
                      <a:pt x="355" y="1962"/>
                    </a:lnTo>
                    <a:lnTo>
                      <a:pt x="0" y="1619"/>
                    </a:lnTo>
                    <a:lnTo>
                      <a:pt x="0" y="1619"/>
                    </a:lnTo>
                    <a:lnTo>
                      <a:pt x="363" y="1974"/>
                    </a:lnTo>
                    <a:lnTo>
                      <a:pt x="1549" y="1974"/>
                    </a:lnTo>
                    <a:lnTo>
                      <a:pt x="1549" y="0"/>
                    </a:lnTo>
                  </a:path>
                </a:pathLst>
              </a:custGeom>
              <a:noFill/>
              <a:ln>
                <a:noFill/>
              </a:ln>
            </p:spPr>
            <p:txBody>
              <a:bodyPr anchor="ctr"/>
              <a:lstStyle/>
              <a:p>
                <a:pPr algn="ctr" defTabSz="1218565"/>
                <a:endParaRPr sz="2400">
                  <a:solidFill>
                    <a:prstClr val="black"/>
                  </a:solidFill>
                  <a:latin typeface="Calibri" panose="020F0502020204030204"/>
                  <a:sym typeface="+mn-lt"/>
                </a:endParaRPr>
              </a:p>
            </p:txBody>
          </p:sp>
          <p:sp>
            <p:nvSpPr>
              <p:cNvPr id="20" name="Freeform: Shape 65"/>
              <p:cNvSpPr/>
              <p:nvPr/>
            </p:nvSpPr>
            <p:spPr bwMode="auto">
              <a:xfrm>
                <a:off x="12915900" y="644525"/>
                <a:ext cx="2465388" cy="3127375"/>
              </a:xfrm>
              <a:custGeom>
                <a:avLst/>
                <a:gdLst>
                  <a:gd name="T0" fmla="*/ 367 w 1553"/>
                  <a:gd name="T1" fmla="*/ 1970 h 1970"/>
                  <a:gd name="T2" fmla="*/ 1553 w 1553"/>
                  <a:gd name="T3" fmla="*/ 1970 h 1970"/>
                  <a:gd name="T4" fmla="*/ 1553 w 1553"/>
                  <a:gd name="T5" fmla="*/ 0 h 1970"/>
                  <a:gd name="T6" fmla="*/ 0 w 1553"/>
                  <a:gd name="T7" fmla="*/ 0 h 1970"/>
                  <a:gd name="T8" fmla="*/ 0 w 1553"/>
                  <a:gd name="T9" fmla="*/ 1619 h 1970"/>
                  <a:gd name="T10" fmla="*/ 367 w 1553"/>
                  <a:gd name="T11" fmla="*/ 1970 h 1970"/>
                </a:gdLst>
                <a:ahLst/>
                <a:cxnLst>
                  <a:cxn ang="0">
                    <a:pos x="T0" y="T1"/>
                  </a:cxn>
                  <a:cxn ang="0">
                    <a:pos x="T2" y="T3"/>
                  </a:cxn>
                  <a:cxn ang="0">
                    <a:pos x="T4" y="T5"/>
                  </a:cxn>
                  <a:cxn ang="0">
                    <a:pos x="T6" y="T7"/>
                  </a:cxn>
                  <a:cxn ang="0">
                    <a:pos x="T8" y="T9"/>
                  </a:cxn>
                  <a:cxn ang="0">
                    <a:pos x="T10" y="T11"/>
                  </a:cxn>
                </a:cxnLst>
                <a:rect l="0" t="0" r="r" b="b"/>
                <a:pathLst>
                  <a:path w="1553" h="1970">
                    <a:moveTo>
                      <a:pt x="367" y="1970"/>
                    </a:moveTo>
                    <a:lnTo>
                      <a:pt x="1553" y="1970"/>
                    </a:lnTo>
                    <a:lnTo>
                      <a:pt x="1553" y="0"/>
                    </a:lnTo>
                    <a:lnTo>
                      <a:pt x="0" y="0"/>
                    </a:lnTo>
                    <a:lnTo>
                      <a:pt x="0" y="1619"/>
                    </a:lnTo>
                    <a:lnTo>
                      <a:pt x="367" y="1970"/>
                    </a:lnTo>
                    <a:close/>
                  </a:path>
                </a:pathLst>
              </a:custGeom>
              <a:solidFill>
                <a:schemeClr val="bg1"/>
              </a:solidFill>
              <a:ln>
                <a:noFill/>
              </a:ln>
            </p:spPr>
            <p:txBody>
              <a:bodyPr anchor="ctr"/>
              <a:lstStyle/>
              <a:p>
                <a:pPr algn="ctr" defTabSz="1218565"/>
                <a:endParaRPr sz="2400">
                  <a:solidFill>
                    <a:prstClr val="black"/>
                  </a:solidFill>
                  <a:latin typeface="Calibri" panose="020F0502020204030204"/>
                  <a:sym typeface="+mn-lt"/>
                </a:endParaRPr>
              </a:p>
            </p:txBody>
          </p:sp>
          <p:sp>
            <p:nvSpPr>
              <p:cNvPr id="30" name="Freeform: Shape 66"/>
              <p:cNvSpPr/>
              <p:nvPr/>
            </p:nvSpPr>
            <p:spPr bwMode="auto">
              <a:xfrm>
                <a:off x="12915900" y="644525"/>
                <a:ext cx="2465388" cy="3127375"/>
              </a:xfrm>
              <a:custGeom>
                <a:avLst/>
                <a:gdLst>
                  <a:gd name="T0" fmla="*/ 367 w 1553"/>
                  <a:gd name="T1" fmla="*/ 1970 h 1970"/>
                  <a:gd name="T2" fmla="*/ 1553 w 1553"/>
                  <a:gd name="T3" fmla="*/ 1970 h 1970"/>
                  <a:gd name="T4" fmla="*/ 1553 w 1553"/>
                  <a:gd name="T5" fmla="*/ 0 h 1970"/>
                  <a:gd name="T6" fmla="*/ 0 w 1553"/>
                  <a:gd name="T7" fmla="*/ 0 h 1970"/>
                  <a:gd name="T8" fmla="*/ 0 w 1553"/>
                  <a:gd name="T9" fmla="*/ 1619 h 1970"/>
                  <a:gd name="T10" fmla="*/ 367 w 1553"/>
                  <a:gd name="T11" fmla="*/ 1970 h 1970"/>
                </a:gdLst>
                <a:ahLst/>
                <a:cxnLst>
                  <a:cxn ang="0">
                    <a:pos x="T0" y="T1"/>
                  </a:cxn>
                  <a:cxn ang="0">
                    <a:pos x="T2" y="T3"/>
                  </a:cxn>
                  <a:cxn ang="0">
                    <a:pos x="T4" y="T5"/>
                  </a:cxn>
                  <a:cxn ang="0">
                    <a:pos x="T6" y="T7"/>
                  </a:cxn>
                  <a:cxn ang="0">
                    <a:pos x="T8" y="T9"/>
                  </a:cxn>
                  <a:cxn ang="0">
                    <a:pos x="T10" y="T11"/>
                  </a:cxn>
                </a:cxnLst>
                <a:rect l="0" t="0" r="r" b="b"/>
                <a:pathLst>
                  <a:path w="1553" h="1970">
                    <a:moveTo>
                      <a:pt x="367" y="1970"/>
                    </a:moveTo>
                    <a:lnTo>
                      <a:pt x="1553" y="1970"/>
                    </a:lnTo>
                    <a:lnTo>
                      <a:pt x="1553" y="0"/>
                    </a:lnTo>
                    <a:lnTo>
                      <a:pt x="0" y="0"/>
                    </a:lnTo>
                    <a:lnTo>
                      <a:pt x="0" y="1619"/>
                    </a:lnTo>
                    <a:lnTo>
                      <a:pt x="367" y="1970"/>
                    </a:lnTo>
                  </a:path>
                </a:pathLst>
              </a:custGeom>
              <a:noFill/>
              <a:ln>
                <a:noFill/>
              </a:ln>
            </p:spPr>
            <p:txBody>
              <a:bodyPr anchor="ctr"/>
              <a:lstStyle/>
              <a:p>
                <a:pPr algn="ctr" defTabSz="1218565"/>
                <a:endParaRPr sz="2400">
                  <a:solidFill>
                    <a:prstClr val="black"/>
                  </a:solidFill>
                  <a:latin typeface="Calibri" panose="020F0502020204030204"/>
                  <a:sym typeface="+mn-lt"/>
                </a:endParaRPr>
              </a:p>
            </p:txBody>
          </p:sp>
          <p:sp>
            <p:nvSpPr>
              <p:cNvPr id="39" name="Rectangle 67"/>
              <p:cNvSpPr/>
              <p:nvPr/>
            </p:nvSpPr>
            <p:spPr bwMode="auto">
              <a:xfrm>
                <a:off x="14228763" y="3360738"/>
                <a:ext cx="868363" cy="107950"/>
              </a:xfrm>
              <a:prstGeom prst="rect">
                <a:avLst/>
              </a:prstGeom>
              <a:solidFill>
                <a:schemeClr val="tx2">
                  <a:lumMod val="60000"/>
                  <a:lumOff val="4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40" name="Rectangle 68"/>
              <p:cNvSpPr/>
              <p:nvPr/>
            </p:nvSpPr>
            <p:spPr bwMode="auto">
              <a:xfrm>
                <a:off x="13214350" y="1423988"/>
                <a:ext cx="1882775" cy="5080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41" name="Rectangle 69"/>
              <p:cNvSpPr/>
              <p:nvPr/>
            </p:nvSpPr>
            <p:spPr bwMode="auto">
              <a:xfrm>
                <a:off x="13214350" y="1619250"/>
                <a:ext cx="1882775" cy="5715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42" name="Rectangle 70"/>
              <p:cNvSpPr/>
              <p:nvPr/>
            </p:nvSpPr>
            <p:spPr bwMode="auto">
              <a:xfrm>
                <a:off x="13214350" y="1822450"/>
                <a:ext cx="1882775" cy="5080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64" name="Rectangle 71"/>
              <p:cNvSpPr/>
              <p:nvPr/>
            </p:nvSpPr>
            <p:spPr bwMode="auto">
              <a:xfrm>
                <a:off x="13214350" y="2019300"/>
                <a:ext cx="1882775" cy="5715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65" name="Rectangle 72"/>
              <p:cNvSpPr/>
              <p:nvPr/>
            </p:nvSpPr>
            <p:spPr bwMode="auto">
              <a:xfrm>
                <a:off x="13214350" y="2220913"/>
                <a:ext cx="1882775" cy="5715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66" name="Rectangle 73"/>
              <p:cNvSpPr/>
              <p:nvPr/>
            </p:nvSpPr>
            <p:spPr bwMode="auto">
              <a:xfrm>
                <a:off x="13214350" y="2424113"/>
                <a:ext cx="1882775" cy="5080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67" name="Rectangle 74"/>
              <p:cNvSpPr/>
              <p:nvPr/>
            </p:nvSpPr>
            <p:spPr bwMode="auto">
              <a:xfrm>
                <a:off x="13214350" y="2619375"/>
                <a:ext cx="1882775" cy="5715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68" name="Rectangle 75"/>
              <p:cNvSpPr/>
              <p:nvPr/>
            </p:nvSpPr>
            <p:spPr bwMode="auto">
              <a:xfrm>
                <a:off x="13214350" y="2822575"/>
                <a:ext cx="1882775" cy="5080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69" name="Rectangle 76"/>
              <p:cNvSpPr/>
              <p:nvPr/>
            </p:nvSpPr>
            <p:spPr bwMode="auto">
              <a:xfrm>
                <a:off x="13214350" y="3025775"/>
                <a:ext cx="1882775" cy="50800"/>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70" name="Rectangle 77"/>
              <p:cNvSpPr/>
              <p:nvPr/>
            </p:nvSpPr>
            <p:spPr bwMode="auto">
              <a:xfrm>
                <a:off x="13511213" y="1006475"/>
                <a:ext cx="1325563" cy="106362"/>
              </a:xfrm>
              <a:prstGeom prst="rect">
                <a:avLst/>
              </a:pr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71" name="Freeform: Shape 78"/>
              <p:cNvSpPr/>
              <p:nvPr/>
            </p:nvSpPr>
            <p:spPr bwMode="auto">
              <a:xfrm>
                <a:off x="12915900" y="3214688"/>
                <a:ext cx="595313" cy="557212"/>
              </a:xfrm>
              <a:custGeom>
                <a:avLst/>
                <a:gdLst>
                  <a:gd name="T0" fmla="*/ 375 w 375"/>
                  <a:gd name="T1" fmla="*/ 0 h 351"/>
                  <a:gd name="T2" fmla="*/ 0 w 375"/>
                  <a:gd name="T3" fmla="*/ 0 h 351"/>
                  <a:gd name="T4" fmla="*/ 367 w 375"/>
                  <a:gd name="T5" fmla="*/ 351 h 351"/>
                  <a:gd name="T6" fmla="*/ 375 w 375"/>
                  <a:gd name="T7" fmla="*/ 0 h 351"/>
                </a:gdLst>
                <a:ahLst/>
                <a:cxnLst>
                  <a:cxn ang="0">
                    <a:pos x="T0" y="T1"/>
                  </a:cxn>
                  <a:cxn ang="0">
                    <a:pos x="T2" y="T3"/>
                  </a:cxn>
                  <a:cxn ang="0">
                    <a:pos x="T4" y="T5"/>
                  </a:cxn>
                  <a:cxn ang="0">
                    <a:pos x="T6" y="T7"/>
                  </a:cxn>
                </a:cxnLst>
                <a:rect l="0" t="0" r="r" b="b"/>
                <a:pathLst>
                  <a:path w="375" h="351">
                    <a:moveTo>
                      <a:pt x="375" y="0"/>
                    </a:moveTo>
                    <a:lnTo>
                      <a:pt x="0" y="0"/>
                    </a:lnTo>
                    <a:lnTo>
                      <a:pt x="367" y="351"/>
                    </a:lnTo>
                    <a:lnTo>
                      <a:pt x="375" y="0"/>
                    </a:lnTo>
                    <a:close/>
                  </a:path>
                </a:pathLst>
              </a:custGeom>
              <a:solidFill>
                <a:srgbClr val="BCBCB8"/>
              </a:solidFill>
              <a:ln>
                <a:noFill/>
              </a:ln>
            </p:spPr>
            <p:txBody>
              <a:bodyPr anchor="ctr"/>
              <a:lstStyle/>
              <a:p>
                <a:pPr algn="ctr" defTabSz="1218565"/>
                <a:endParaRPr sz="2400">
                  <a:solidFill>
                    <a:prstClr val="black"/>
                  </a:solidFill>
                  <a:latin typeface="Calibri" panose="020F0502020204030204"/>
                  <a:sym typeface="+mn-lt"/>
                </a:endParaRPr>
              </a:p>
            </p:txBody>
          </p:sp>
          <p:sp>
            <p:nvSpPr>
              <p:cNvPr id="72" name="Freeform: Shape 79"/>
              <p:cNvSpPr/>
              <p:nvPr/>
            </p:nvSpPr>
            <p:spPr bwMode="auto">
              <a:xfrm>
                <a:off x="12915900" y="3214688"/>
                <a:ext cx="595313" cy="557212"/>
              </a:xfrm>
              <a:custGeom>
                <a:avLst/>
                <a:gdLst>
                  <a:gd name="T0" fmla="*/ 375 w 375"/>
                  <a:gd name="T1" fmla="*/ 0 h 351"/>
                  <a:gd name="T2" fmla="*/ 0 w 375"/>
                  <a:gd name="T3" fmla="*/ 0 h 351"/>
                  <a:gd name="T4" fmla="*/ 367 w 375"/>
                  <a:gd name="T5" fmla="*/ 351 h 351"/>
                  <a:gd name="T6" fmla="*/ 375 w 375"/>
                  <a:gd name="T7" fmla="*/ 0 h 351"/>
                </a:gdLst>
                <a:ahLst/>
                <a:cxnLst>
                  <a:cxn ang="0">
                    <a:pos x="T0" y="T1"/>
                  </a:cxn>
                  <a:cxn ang="0">
                    <a:pos x="T2" y="T3"/>
                  </a:cxn>
                  <a:cxn ang="0">
                    <a:pos x="T4" y="T5"/>
                  </a:cxn>
                  <a:cxn ang="0">
                    <a:pos x="T6" y="T7"/>
                  </a:cxn>
                </a:cxnLst>
                <a:rect l="0" t="0" r="r" b="b"/>
                <a:pathLst>
                  <a:path w="375" h="351">
                    <a:moveTo>
                      <a:pt x="375" y="0"/>
                    </a:moveTo>
                    <a:lnTo>
                      <a:pt x="0" y="0"/>
                    </a:lnTo>
                    <a:lnTo>
                      <a:pt x="367" y="351"/>
                    </a:lnTo>
                    <a:lnTo>
                      <a:pt x="375" y="0"/>
                    </a:lnTo>
                  </a:path>
                </a:pathLst>
              </a:custGeom>
              <a:noFill/>
              <a:ln>
                <a:noFill/>
              </a:ln>
            </p:spPr>
            <p:txBody>
              <a:bodyPr anchor="ctr"/>
              <a:lstStyle/>
              <a:p>
                <a:pPr algn="ctr" defTabSz="1218565"/>
                <a:endParaRPr sz="2400">
                  <a:solidFill>
                    <a:prstClr val="black"/>
                  </a:solidFill>
                  <a:latin typeface="Calibri" panose="020F0502020204030204"/>
                  <a:sym typeface="+mn-lt"/>
                </a:endParaRPr>
              </a:p>
            </p:txBody>
          </p:sp>
          <p:sp>
            <p:nvSpPr>
              <p:cNvPr id="73" name="Freeform: Shape 80"/>
              <p:cNvSpPr/>
              <p:nvPr/>
            </p:nvSpPr>
            <p:spPr bwMode="auto">
              <a:xfrm>
                <a:off x="12915900" y="3214688"/>
                <a:ext cx="582613" cy="557212"/>
              </a:xfrm>
              <a:custGeom>
                <a:avLst/>
                <a:gdLst>
                  <a:gd name="T0" fmla="*/ 351 w 367"/>
                  <a:gd name="T1" fmla="*/ 20 h 351"/>
                  <a:gd name="T2" fmla="*/ 0 w 367"/>
                  <a:gd name="T3" fmla="*/ 0 h 351"/>
                  <a:gd name="T4" fmla="*/ 367 w 367"/>
                  <a:gd name="T5" fmla="*/ 351 h 351"/>
                  <a:gd name="T6" fmla="*/ 351 w 367"/>
                  <a:gd name="T7" fmla="*/ 20 h 351"/>
                </a:gdLst>
                <a:ahLst/>
                <a:cxnLst>
                  <a:cxn ang="0">
                    <a:pos x="T0" y="T1"/>
                  </a:cxn>
                  <a:cxn ang="0">
                    <a:pos x="T2" y="T3"/>
                  </a:cxn>
                  <a:cxn ang="0">
                    <a:pos x="T4" y="T5"/>
                  </a:cxn>
                  <a:cxn ang="0">
                    <a:pos x="T6" y="T7"/>
                  </a:cxn>
                </a:cxnLst>
                <a:rect l="0" t="0" r="r" b="b"/>
                <a:pathLst>
                  <a:path w="367" h="351">
                    <a:moveTo>
                      <a:pt x="351" y="20"/>
                    </a:moveTo>
                    <a:lnTo>
                      <a:pt x="0" y="0"/>
                    </a:lnTo>
                    <a:lnTo>
                      <a:pt x="367" y="351"/>
                    </a:lnTo>
                    <a:lnTo>
                      <a:pt x="351" y="20"/>
                    </a:lnTo>
                    <a:close/>
                  </a:path>
                </a:pathLst>
              </a:custGeom>
              <a:solidFill>
                <a:schemeClr val="tx2">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74" name="Rectangle 81"/>
              <p:cNvSpPr/>
              <p:nvPr/>
            </p:nvSpPr>
            <p:spPr bwMode="auto">
              <a:xfrm>
                <a:off x="13682662" y="366713"/>
                <a:ext cx="944563" cy="290512"/>
              </a:xfrm>
              <a:prstGeom prst="rect">
                <a:avLst/>
              </a:prstGeom>
              <a:solidFill>
                <a:schemeClr val="tx2"/>
              </a:solidFill>
              <a:ln>
                <a:noFill/>
              </a:ln>
            </p:spPr>
            <p:txBody>
              <a:bodyPr anchor="ctr"/>
              <a:lstStyle/>
              <a:p>
                <a:pPr algn="ctr" defTabSz="1218565"/>
                <a:endParaRPr sz="2400">
                  <a:solidFill>
                    <a:prstClr val="black"/>
                  </a:solidFill>
                  <a:latin typeface="Calibri" panose="020F0502020204030204"/>
                  <a:sym typeface="+mn-lt"/>
                </a:endParaRPr>
              </a:p>
            </p:txBody>
          </p:sp>
        </p:grpSp>
        <p:grpSp>
          <p:nvGrpSpPr>
            <p:cNvPr id="75" name="Group 82"/>
            <p:cNvGrpSpPr/>
            <p:nvPr/>
          </p:nvGrpSpPr>
          <p:grpSpPr>
            <a:xfrm>
              <a:off x="2621498" y="1292090"/>
              <a:ext cx="742587" cy="402073"/>
              <a:chOff x="17801829" y="5891398"/>
              <a:chExt cx="954592" cy="516864"/>
            </a:xfrm>
            <a:solidFill>
              <a:schemeClr val="tx2">
                <a:lumMod val="60000"/>
                <a:lumOff val="40000"/>
              </a:schemeClr>
            </a:solidFill>
          </p:grpSpPr>
          <p:sp>
            <p:nvSpPr>
              <p:cNvPr id="76" name="Freeform: Shape 83"/>
              <p:cNvSpPr/>
              <p:nvPr/>
            </p:nvSpPr>
            <p:spPr bwMode="auto">
              <a:xfrm>
                <a:off x="17801829" y="5891398"/>
                <a:ext cx="954592" cy="516864"/>
              </a:xfrm>
              <a:custGeom>
                <a:avLst/>
                <a:gdLst>
                  <a:gd name="T0" fmla="*/ 115 w 167"/>
                  <a:gd name="T1" fmla="*/ 42 h 88"/>
                  <a:gd name="T2" fmla="*/ 117 w 167"/>
                  <a:gd name="T3" fmla="*/ 33 h 88"/>
                  <a:gd name="T4" fmla="*/ 83 w 167"/>
                  <a:gd name="T5" fmla="*/ 0 h 88"/>
                  <a:gd name="T6" fmla="*/ 50 w 167"/>
                  <a:gd name="T7" fmla="*/ 33 h 88"/>
                  <a:gd name="T8" fmla="*/ 51 w 167"/>
                  <a:gd name="T9" fmla="*/ 42 h 88"/>
                  <a:gd name="T10" fmla="*/ 0 w 167"/>
                  <a:gd name="T11" fmla="*/ 42 h 88"/>
                  <a:gd name="T12" fmla="*/ 0 w 167"/>
                  <a:gd name="T13" fmla="*/ 88 h 88"/>
                  <a:gd name="T14" fmla="*/ 167 w 167"/>
                  <a:gd name="T15" fmla="*/ 88 h 88"/>
                  <a:gd name="T16" fmla="*/ 167 w 167"/>
                  <a:gd name="T17" fmla="*/ 42 h 88"/>
                  <a:gd name="T18" fmla="*/ 115 w 167"/>
                  <a:gd name="T19" fmla="*/ 4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88">
                    <a:moveTo>
                      <a:pt x="115" y="42"/>
                    </a:moveTo>
                    <a:cubicBezTo>
                      <a:pt x="116" y="39"/>
                      <a:pt x="117" y="36"/>
                      <a:pt x="117" y="33"/>
                    </a:cubicBezTo>
                    <a:cubicBezTo>
                      <a:pt x="117" y="15"/>
                      <a:pt x="102" y="0"/>
                      <a:pt x="83" y="0"/>
                    </a:cubicBezTo>
                    <a:cubicBezTo>
                      <a:pt x="65" y="0"/>
                      <a:pt x="50" y="15"/>
                      <a:pt x="50" y="33"/>
                    </a:cubicBezTo>
                    <a:cubicBezTo>
                      <a:pt x="50" y="36"/>
                      <a:pt x="51" y="39"/>
                      <a:pt x="51" y="42"/>
                    </a:cubicBezTo>
                    <a:cubicBezTo>
                      <a:pt x="0" y="42"/>
                      <a:pt x="0" y="42"/>
                      <a:pt x="0" y="42"/>
                    </a:cubicBezTo>
                    <a:cubicBezTo>
                      <a:pt x="0" y="88"/>
                      <a:pt x="0" y="88"/>
                      <a:pt x="0" y="88"/>
                    </a:cubicBezTo>
                    <a:cubicBezTo>
                      <a:pt x="167" y="88"/>
                      <a:pt x="167" y="88"/>
                      <a:pt x="167" y="88"/>
                    </a:cubicBezTo>
                    <a:cubicBezTo>
                      <a:pt x="167" y="42"/>
                      <a:pt x="167" y="42"/>
                      <a:pt x="167" y="42"/>
                    </a:cubicBezTo>
                    <a:lnTo>
                      <a:pt x="115" y="42"/>
                    </a:lnTo>
                    <a:close/>
                  </a:path>
                </a:pathLst>
              </a:custGeom>
              <a:grpFill/>
              <a:ln>
                <a:noFill/>
              </a:ln>
            </p:spPr>
            <p:txBody>
              <a:bodyPr anchor="ctr"/>
              <a:lstStyle/>
              <a:p>
                <a:pPr algn="ctr" defTabSz="1218565"/>
                <a:endParaRPr sz="2400">
                  <a:solidFill>
                    <a:prstClr val="black"/>
                  </a:solidFill>
                  <a:latin typeface="Calibri" panose="020F0502020204030204"/>
                  <a:sym typeface="+mn-lt"/>
                </a:endParaRPr>
              </a:p>
            </p:txBody>
          </p:sp>
          <p:sp>
            <p:nvSpPr>
              <p:cNvPr id="77" name="Oval 84"/>
              <p:cNvSpPr/>
              <p:nvPr/>
            </p:nvSpPr>
            <p:spPr bwMode="auto">
              <a:xfrm>
                <a:off x="18167266" y="5973356"/>
                <a:ext cx="229951" cy="230011"/>
              </a:xfrm>
              <a:prstGeom prst="ellipse">
                <a:avLst/>
              </a:prstGeom>
              <a:grpFill/>
              <a:ln>
                <a:noFill/>
              </a:ln>
            </p:spPr>
            <p:txBody>
              <a:bodyPr anchor="ctr"/>
              <a:lstStyle/>
              <a:p>
                <a:pPr algn="ctr" defTabSz="1218565"/>
                <a:endParaRPr sz="2400">
                  <a:solidFill>
                    <a:prstClr val="black"/>
                  </a:solidFill>
                  <a:latin typeface="Calibri" panose="020F0502020204030204"/>
                  <a:sym typeface="+mn-lt"/>
                </a:endParaRPr>
              </a:p>
            </p:txBody>
          </p:sp>
        </p:grpSp>
        <p:grpSp>
          <p:nvGrpSpPr>
            <p:cNvPr id="78" name="Group 85"/>
            <p:cNvGrpSpPr/>
            <p:nvPr/>
          </p:nvGrpSpPr>
          <p:grpSpPr>
            <a:xfrm rot="1080935">
              <a:off x="1096493" y="1970883"/>
              <a:ext cx="1994506" cy="710956"/>
              <a:chOff x="485775" y="495300"/>
              <a:chExt cx="5238750" cy="1866901"/>
            </a:xfrm>
          </p:grpSpPr>
          <p:sp>
            <p:nvSpPr>
              <p:cNvPr id="79" name="Freeform: Shape 86"/>
              <p:cNvSpPr/>
              <p:nvPr/>
            </p:nvSpPr>
            <p:spPr bwMode="auto">
              <a:xfrm>
                <a:off x="4603750" y="1674813"/>
                <a:ext cx="1120775" cy="687388"/>
              </a:xfrm>
              <a:custGeom>
                <a:avLst/>
                <a:gdLst>
                  <a:gd name="T0" fmla="*/ 6 w 117"/>
                  <a:gd name="T1" fmla="*/ 29 h 71"/>
                  <a:gd name="T2" fmla="*/ 0 w 117"/>
                  <a:gd name="T3" fmla="*/ 58 h 71"/>
                  <a:gd name="T4" fmla="*/ 63 w 117"/>
                  <a:gd name="T5" fmla="*/ 71 h 71"/>
                  <a:gd name="T6" fmla="*/ 115 w 117"/>
                  <a:gd name="T7" fmla="*/ 55 h 71"/>
                  <a:gd name="T8" fmla="*/ 115 w 117"/>
                  <a:gd name="T9" fmla="*/ 55 h 71"/>
                  <a:gd name="T10" fmla="*/ 115 w 117"/>
                  <a:gd name="T11" fmla="*/ 53 h 71"/>
                  <a:gd name="T12" fmla="*/ 68 w 117"/>
                  <a:gd name="T13" fmla="*/ 43 h 71"/>
                  <a:gd name="T14" fmla="*/ 62 w 117"/>
                  <a:gd name="T15" fmla="*/ 46 h 71"/>
                  <a:gd name="T16" fmla="*/ 57 w 117"/>
                  <a:gd name="T17" fmla="*/ 39 h 71"/>
                  <a:gd name="T18" fmla="*/ 64 w 117"/>
                  <a:gd name="T19" fmla="*/ 35 h 71"/>
                  <a:gd name="T20" fmla="*/ 68 w 117"/>
                  <a:gd name="T21" fmla="*/ 40 h 71"/>
                  <a:gd name="T22" fmla="*/ 116 w 117"/>
                  <a:gd name="T23" fmla="*/ 50 h 71"/>
                  <a:gd name="T24" fmla="*/ 117 w 117"/>
                  <a:gd name="T25" fmla="*/ 48 h 71"/>
                  <a:gd name="T26" fmla="*/ 117 w 117"/>
                  <a:gd name="T27" fmla="*/ 48 h 71"/>
                  <a:gd name="T28" fmla="*/ 75 w 117"/>
                  <a:gd name="T29" fmla="*/ 13 h 71"/>
                  <a:gd name="T30" fmla="*/ 12 w 117"/>
                  <a:gd name="T31" fmla="*/ 0 h 71"/>
                  <a:gd name="T32" fmla="*/ 6 w 117"/>
                  <a:gd name="T33" fmla="*/ 2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71">
                    <a:moveTo>
                      <a:pt x="6" y="29"/>
                    </a:moveTo>
                    <a:cubicBezTo>
                      <a:pt x="0" y="58"/>
                      <a:pt x="0" y="58"/>
                      <a:pt x="0" y="58"/>
                    </a:cubicBezTo>
                    <a:cubicBezTo>
                      <a:pt x="63" y="71"/>
                      <a:pt x="63" y="71"/>
                      <a:pt x="63" y="71"/>
                    </a:cubicBezTo>
                    <a:cubicBezTo>
                      <a:pt x="76" y="58"/>
                      <a:pt x="95" y="51"/>
                      <a:pt x="115" y="55"/>
                    </a:cubicBezTo>
                    <a:cubicBezTo>
                      <a:pt x="115" y="55"/>
                      <a:pt x="115" y="55"/>
                      <a:pt x="115" y="55"/>
                    </a:cubicBezTo>
                    <a:cubicBezTo>
                      <a:pt x="115" y="53"/>
                      <a:pt x="115" y="53"/>
                      <a:pt x="115" y="53"/>
                    </a:cubicBezTo>
                    <a:cubicBezTo>
                      <a:pt x="68" y="43"/>
                      <a:pt x="68" y="43"/>
                      <a:pt x="68" y="43"/>
                    </a:cubicBezTo>
                    <a:cubicBezTo>
                      <a:pt x="67" y="45"/>
                      <a:pt x="64" y="47"/>
                      <a:pt x="62" y="46"/>
                    </a:cubicBezTo>
                    <a:cubicBezTo>
                      <a:pt x="59" y="45"/>
                      <a:pt x="57" y="42"/>
                      <a:pt x="57" y="39"/>
                    </a:cubicBezTo>
                    <a:cubicBezTo>
                      <a:pt x="58" y="36"/>
                      <a:pt x="61" y="34"/>
                      <a:pt x="64" y="35"/>
                    </a:cubicBezTo>
                    <a:cubicBezTo>
                      <a:pt x="67" y="36"/>
                      <a:pt x="68" y="38"/>
                      <a:pt x="68" y="40"/>
                    </a:cubicBezTo>
                    <a:cubicBezTo>
                      <a:pt x="116" y="50"/>
                      <a:pt x="116" y="50"/>
                      <a:pt x="116" y="50"/>
                    </a:cubicBezTo>
                    <a:cubicBezTo>
                      <a:pt x="117" y="48"/>
                      <a:pt x="117" y="48"/>
                      <a:pt x="117" y="48"/>
                    </a:cubicBezTo>
                    <a:cubicBezTo>
                      <a:pt x="117" y="48"/>
                      <a:pt x="117" y="48"/>
                      <a:pt x="117" y="48"/>
                    </a:cubicBezTo>
                    <a:cubicBezTo>
                      <a:pt x="97" y="44"/>
                      <a:pt x="82" y="30"/>
                      <a:pt x="75" y="13"/>
                    </a:cubicBezTo>
                    <a:cubicBezTo>
                      <a:pt x="12" y="0"/>
                      <a:pt x="12" y="0"/>
                      <a:pt x="12" y="0"/>
                    </a:cubicBezTo>
                    <a:lnTo>
                      <a:pt x="6" y="29"/>
                    </a:lnTo>
                    <a:close/>
                  </a:path>
                </a:pathLst>
              </a:custGeom>
              <a:solidFill>
                <a:schemeClr val="accent1">
                  <a:lumMod val="60000"/>
                  <a:lumOff val="4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80" name="Freeform: Shape 87"/>
              <p:cNvSpPr/>
              <p:nvPr/>
            </p:nvSpPr>
            <p:spPr bwMode="auto">
              <a:xfrm>
                <a:off x="1549400" y="989013"/>
                <a:ext cx="3351213" cy="1335088"/>
              </a:xfrm>
              <a:custGeom>
                <a:avLst/>
                <a:gdLst>
                  <a:gd name="T0" fmla="*/ 2111 w 2111"/>
                  <a:gd name="T1" fmla="*/ 420 h 841"/>
                  <a:gd name="T2" fmla="*/ 2027 w 2111"/>
                  <a:gd name="T3" fmla="*/ 841 h 841"/>
                  <a:gd name="T4" fmla="*/ 0 w 2111"/>
                  <a:gd name="T5" fmla="*/ 426 h 841"/>
                  <a:gd name="T6" fmla="*/ 84 w 2111"/>
                  <a:gd name="T7" fmla="*/ 0 h 841"/>
                  <a:gd name="T8" fmla="*/ 2111 w 2111"/>
                  <a:gd name="T9" fmla="*/ 420 h 841"/>
                </a:gdLst>
                <a:ahLst/>
                <a:cxnLst>
                  <a:cxn ang="0">
                    <a:pos x="T0" y="T1"/>
                  </a:cxn>
                  <a:cxn ang="0">
                    <a:pos x="T2" y="T3"/>
                  </a:cxn>
                  <a:cxn ang="0">
                    <a:pos x="T4" y="T5"/>
                  </a:cxn>
                  <a:cxn ang="0">
                    <a:pos x="T6" y="T7"/>
                  </a:cxn>
                  <a:cxn ang="0">
                    <a:pos x="T8" y="T9"/>
                  </a:cxn>
                </a:cxnLst>
                <a:rect l="0" t="0" r="r" b="b"/>
                <a:pathLst>
                  <a:path w="2111" h="841">
                    <a:moveTo>
                      <a:pt x="2111" y="420"/>
                    </a:moveTo>
                    <a:lnTo>
                      <a:pt x="2027" y="841"/>
                    </a:lnTo>
                    <a:lnTo>
                      <a:pt x="0" y="426"/>
                    </a:lnTo>
                    <a:lnTo>
                      <a:pt x="84" y="0"/>
                    </a:lnTo>
                    <a:lnTo>
                      <a:pt x="2111" y="420"/>
                    </a:lnTo>
                    <a:close/>
                  </a:path>
                </a:pathLst>
              </a:custGeom>
              <a:solidFill>
                <a:srgbClr val="383F4E"/>
              </a:solidFill>
              <a:ln>
                <a:noFill/>
              </a:ln>
            </p:spPr>
            <p:txBody>
              <a:bodyPr anchor="ctr"/>
              <a:lstStyle/>
              <a:p>
                <a:pPr algn="ctr" defTabSz="1218565"/>
                <a:endParaRPr sz="2400">
                  <a:solidFill>
                    <a:prstClr val="black"/>
                  </a:solidFill>
                  <a:latin typeface="Calibri" panose="020F0502020204030204"/>
                  <a:sym typeface="+mn-lt"/>
                </a:endParaRPr>
              </a:p>
            </p:txBody>
          </p:sp>
          <p:sp>
            <p:nvSpPr>
              <p:cNvPr id="81" name="Freeform: Shape 88"/>
              <p:cNvSpPr/>
              <p:nvPr/>
            </p:nvSpPr>
            <p:spPr bwMode="auto">
              <a:xfrm>
                <a:off x="1414463" y="958850"/>
                <a:ext cx="3352800" cy="1344613"/>
              </a:xfrm>
              <a:custGeom>
                <a:avLst/>
                <a:gdLst>
                  <a:gd name="T0" fmla="*/ 2112 w 2112"/>
                  <a:gd name="T1" fmla="*/ 421 h 847"/>
                  <a:gd name="T2" fmla="*/ 2027 w 2112"/>
                  <a:gd name="T3" fmla="*/ 847 h 847"/>
                  <a:gd name="T4" fmla="*/ 0 w 2112"/>
                  <a:gd name="T5" fmla="*/ 427 h 847"/>
                  <a:gd name="T6" fmla="*/ 85 w 2112"/>
                  <a:gd name="T7" fmla="*/ 0 h 847"/>
                  <a:gd name="T8" fmla="*/ 2112 w 2112"/>
                  <a:gd name="T9" fmla="*/ 421 h 847"/>
                </a:gdLst>
                <a:ahLst/>
                <a:cxnLst>
                  <a:cxn ang="0">
                    <a:pos x="T0" y="T1"/>
                  </a:cxn>
                  <a:cxn ang="0">
                    <a:pos x="T2" y="T3"/>
                  </a:cxn>
                  <a:cxn ang="0">
                    <a:pos x="T4" y="T5"/>
                  </a:cxn>
                  <a:cxn ang="0">
                    <a:pos x="T6" y="T7"/>
                  </a:cxn>
                  <a:cxn ang="0">
                    <a:pos x="T8" y="T9"/>
                  </a:cxn>
                </a:cxnLst>
                <a:rect l="0" t="0" r="r" b="b"/>
                <a:pathLst>
                  <a:path w="2112" h="847">
                    <a:moveTo>
                      <a:pt x="2112" y="421"/>
                    </a:moveTo>
                    <a:lnTo>
                      <a:pt x="2027" y="847"/>
                    </a:lnTo>
                    <a:lnTo>
                      <a:pt x="0" y="427"/>
                    </a:lnTo>
                    <a:lnTo>
                      <a:pt x="85" y="0"/>
                    </a:lnTo>
                    <a:lnTo>
                      <a:pt x="2112" y="421"/>
                    </a:lnTo>
                    <a:close/>
                  </a:path>
                </a:pathLst>
              </a:custGeom>
              <a:solidFill>
                <a:schemeClr val="accent1">
                  <a:lumMod val="20000"/>
                  <a:lumOff val="8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82" name="Freeform: Shape 89"/>
              <p:cNvSpPr/>
              <p:nvPr/>
            </p:nvSpPr>
            <p:spPr bwMode="auto">
              <a:xfrm>
                <a:off x="485775" y="736600"/>
                <a:ext cx="536575" cy="862013"/>
              </a:xfrm>
              <a:custGeom>
                <a:avLst/>
                <a:gdLst>
                  <a:gd name="T0" fmla="*/ 37 w 56"/>
                  <a:gd name="T1" fmla="*/ 88 h 89"/>
                  <a:gd name="T2" fmla="*/ 39 w 56"/>
                  <a:gd name="T3" fmla="*/ 89 h 89"/>
                  <a:gd name="T4" fmla="*/ 56 w 56"/>
                  <a:gd name="T5" fmla="*/ 5 h 89"/>
                  <a:gd name="T6" fmla="*/ 54 w 56"/>
                  <a:gd name="T7" fmla="*/ 4 h 89"/>
                  <a:gd name="T8" fmla="*/ 5 w 56"/>
                  <a:gd name="T9" fmla="*/ 38 h 89"/>
                  <a:gd name="T10" fmla="*/ 37 w 56"/>
                  <a:gd name="T11" fmla="*/ 88 h 89"/>
                </a:gdLst>
                <a:ahLst/>
                <a:cxnLst>
                  <a:cxn ang="0">
                    <a:pos x="T0" y="T1"/>
                  </a:cxn>
                  <a:cxn ang="0">
                    <a:pos x="T2" y="T3"/>
                  </a:cxn>
                  <a:cxn ang="0">
                    <a:pos x="T4" y="T5"/>
                  </a:cxn>
                  <a:cxn ang="0">
                    <a:pos x="T6" y="T7"/>
                  </a:cxn>
                  <a:cxn ang="0">
                    <a:pos x="T8" y="T9"/>
                  </a:cxn>
                  <a:cxn ang="0">
                    <a:pos x="T10" y="T11"/>
                  </a:cxn>
                </a:cxnLst>
                <a:rect l="0" t="0" r="r" b="b"/>
                <a:pathLst>
                  <a:path w="56" h="89">
                    <a:moveTo>
                      <a:pt x="37" y="88"/>
                    </a:moveTo>
                    <a:cubicBezTo>
                      <a:pt x="39" y="89"/>
                      <a:pt x="39" y="89"/>
                      <a:pt x="39" y="89"/>
                    </a:cubicBezTo>
                    <a:cubicBezTo>
                      <a:pt x="56" y="5"/>
                      <a:pt x="56" y="5"/>
                      <a:pt x="56" y="5"/>
                    </a:cubicBezTo>
                    <a:cubicBezTo>
                      <a:pt x="54" y="4"/>
                      <a:pt x="54" y="4"/>
                      <a:pt x="54" y="4"/>
                    </a:cubicBezTo>
                    <a:cubicBezTo>
                      <a:pt x="32" y="0"/>
                      <a:pt x="10" y="15"/>
                      <a:pt x="5" y="38"/>
                    </a:cubicBezTo>
                    <a:cubicBezTo>
                      <a:pt x="0" y="61"/>
                      <a:pt x="15" y="83"/>
                      <a:pt x="37" y="88"/>
                    </a:cubicBezTo>
                    <a:close/>
                  </a:path>
                </a:pathLst>
              </a:custGeom>
              <a:solidFill>
                <a:schemeClr val="accent1">
                  <a:lumMod val="20000"/>
                  <a:lumOff val="80000"/>
                </a:schemeClr>
              </a:solidFill>
              <a:ln>
                <a:noFill/>
              </a:ln>
            </p:spPr>
            <p:txBody>
              <a:bodyPr anchor="ctr"/>
              <a:lstStyle/>
              <a:p>
                <a:pPr algn="ctr" defTabSz="1218565"/>
                <a:endParaRPr sz="2400">
                  <a:solidFill>
                    <a:prstClr val="black"/>
                  </a:solidFill>
                  <a:latin typeface="Calibri" panose="020F0502020204030204"/>
                  <a:sym typeface="+mn-lt"/>
                </a:endParaRPr>
              </a:p>
            </p:txBody>
          </p:sp>
          <p:sp>
            <p:nvSpPr>
              <p:cNvPr id="83" name="Freeform: Shape 90"/>
              <p:cNvSpPr/>
              <p:nvPr/>
            </p:nvSpPr>
            <p:spPr bwMode="auto">
              <a:xfrm>
                <a:off x="858838" y="495300"/>
                <a:ext cx="2087563" cy="1373188"/>
              </a:xfrm>
              <a:custGeom>
                <a:avLst/>
                <a:gdLst>
                  <a:gd name="T0" fmla="*/ 17 w 218"/>
                  <a:gd name="T1" fmla="*/ 30 h 142"/>
                  <a:gd name="T2" fmla="*/ 0 w 218"/>
                  <a:gd name="T3" fmla="*/ 114 h 142"/>
                  <a:gd name="T4" fmla="*/ 137 w 218"/>
                  <a:gd name="T5" fmla="*/ 142 h 142"/>
                  <a:gd name="T6" fmla="*/ 145 w 218"/>
                  <a:gd name="T7" fmla="*/ 136 h 142"/>
                  <a:gd name="T8" fmla="*/ 159 w 218"/>
                  <a:gd name="T9" fmla="*/ 65 h 142"/>
                  <a:gd name="T10" fmla="*/ 154 w 218"/>
                  <a:gd name="T11" fmla="*/ 58 h 142"/>
                  <a:gd name="T12" fmla="*/ 31 w 218"/>
                  <a:gd name="T13" fmla="*/ 32 h 142"/>
                  <a:gd name="T14" fmla="*/ 54 w 218"/>
                  <a:gd name="T15" fmla="*/ 18 h 142"/>
                  <a:gd name="T16" fmla="*/ 206 w 218"/>
                  <a:gd name="T17" fmla="*/ 49 h 142"/>
                  <a:gd name="T18" fmla="*/ 206 w 218"/>
                  <a:gd name="T19" fmla="*/ 49 h 142"/>
                  <a:gd name="T20" fmla="*/ 216 w 218"/>
                  <a:gd name="T21" fmla="*/ 44 h 142"/>
                  <a:gd name="T22" fmla="*/ 216 w 218"/>
                  <a:gd name="T23" fmla="*/ 44 h 142"/>
                  <a:gd name="T24" fmla="*/ 218 w 218"/>
                  <a:gd name="T25" fmla="*/ 36 h 142"/>
                  <a:gd name="T26" fmla="*/ 57 w 218"/>
                  <a:gd name="T27" fmla="*/ 3 h 142"/>
                  <a:gd name="T28" fmla="*/ 17 w 218"/>
                  <a:gd name="T29" fmla="*/ 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142">
                    <a:moveTo>
                      <a:pt x="17" y="30"/>
                    </a:moveTo>
                    <a:cubicBezTo>
                      <a:pt x="0" y="114"/>
                      <a:pt x="0" y="114"/>
                      <a:pt x="0" y="114"/>
                    </a:cubicBezTo>
                    <a:cubicBezTo>
                      <a:pt x="137" y="142"/>
                      <a:pt x="137" y="142"/>
                      <a:pt x="137" y="142"/>
                    </a:cubicBezTo>
                    <a:cubicBezTo>
                      <a:pt x="140" y="142"/>
                      <a:pt x="144" y="140"/>
                      <a:pt x="145" y="136"/>
                    </a:cubicBezTo>
                    <a:cubicBezTo>
                      <a:pt x="159" y="65"/>
                      <a:pt x="159" y="65"/>
                      <a:pt x="159" y="65"/>
                    </a:cubicBezTo>
                    <a:cubicBezTo>
                      <a:pt x="160" y="62"/>
                      <a:pt x="158" y="58"/>
                      <a:pt x="154" y="58"/>
                    </a:cubicBezTo>
                    <a:cubicBezTo>
                      <a:pt x="31" y="32"/>
                      <a:pt x="31" y="32"/>
                      <a:pt x="31" y="32"/>
                    </a:cubicBezTo>
                    <a:cubicBezTo>
                      <a:pt x="33" y="22"/>
                      <a:pt x="44" y="15"/>
                      <a:pt x="54" y="18"/>
                    </a:cubicBezTo>
                    <a:cubicBezTo>
                      <a:pt x="206" y="49"/>
                      <a:pt x="206" y="49"/>
                      <a:pt x="206" y="49"/>
                    </a:cubicBezTo>
                    <a:cubicBezTo>
                      <a:pt x="206" y="49"/>
                      <a:pt x="206" y="49"/>
                      <a:pt x="206" y="49"/>
                    </a:cubicBezTo>
                    <a:cubicBezTo>
                      <a:pt x="210" y="49"/>
                      <a:pt x="215" y="47"/>
                      <a:pt x="216" y="44"/>
                    </a:cubicBezTo>
                    <a:cubicBezTo>
                      <a:pt x="216" y="44"/>
                      <a:pt x="216" y="44"/>
                      <a:pt x="216" y="44"/>
                    </a:cubicBezTo>
                    <a:cubicBezTo>
                      <a:pt x="218" y="36"/>
                      <a:pt x="218" y="36"/>
                      <a:pt x="218" y="36"/>
                    </a:cubicBezTo>
                    <a:cubicBezTo>
                      <a:pt x="57" y="3"/>
                      <a:pt x="57" y="3"/>
                      <a:pt x="57" y="3"/>
                    </a:cubicBezTo>
                    <a:cubicBezTo>
                      <a:pt x="39" y="0"/>
                      <a:pt x="21" y="11"/>
                      <a:pt x="17" y="30"/>
                    </a:cubicBezTo>
                    <a:close/>
                  </a:path>
                </a:pathLst>
              </a:custGeom>
              <a:solidFill>
                <a:srgbClr val="383F4E"/>
              </a:solidFill>
              <a:ln>
                <a:noFill/>
              </a:ln>
            </p:spPr>
            <p:txBody>
              <a:bodyPr anchor="ctr"/>
              <a:lstStyle/>
              <a:p>
                <a:pPr algn="ctr" defTabSz="1218565"/>
                <a:endParaRPr sz="2400">
                  <a:solidFill>
                    <a:prstClr val="black"/>
                  </a:solidFill>
                  <a:latin typeface="Calibri" panose="020F0502020204030204"/>
                  <a:sym typeface="+mn-lt"/>
                </a:endParaRPr>
              </a:p>
            </p:txBody>
          </p:sp>
          <p:sp>
            <p:nvSpPr>
              <p:cNvPr id="84" name="Freeform: Shape 91"/>
              <p:cNvSpPr/>
              <p:nvPr/>
            </p:nvSpPr>
            <p:spPr bwMode="auto">
              <a:xfrm>
                <a:off x="993775" y="804863"/>
                <a:ext cx="344488" cy="850900"/>
              </a:xfrm>
              <a:custGeom>
                <a:avLst/>
                <a:gdLst>
                  <a:gd name="T0" fmla="*/ 114 w 217"/>
                  <a:gd name="T1" fmla="*/ 536 h 536"/>
                  <a:gd name="T2" fmla="*/ 217 w 217"/>
                  <a:gd name="T3" fmla="*/ 24 h 536"/>
                  <a:gd name="T4" fmla="*/ 102 w 217"/>
                  <a:gd name="T5" fmla="*/ 0 h 536"/>
                  <a:gd name="T6" fmla="*/ 0 w 217"/>
                  <a:gd name="T7" fmla="*/ 512 h 536"/>
                  <a:gd name="T8" fmla="*/ 114 w 217"/>
                  <a:gd name="T9" fmla="*/ 536 h 536"/>
                </a:gdLst>
                <a:ahLst/>
                <a:cxnLst>
                  <a:cxn ang="0">
                    <a:pos x="T0" y="T1"/>
                  </a:cxn>
                  <a:cxn ang="0">
                    <a:pos x="T2" y="T3"/>
                  </a:cxn>
                  <a:cxn ang="0">
                    <a:pos x="T4" y="T5"/>
                  </a:cxn>
                  <a:cxn ang="0">
                    <a:pos x="T6" y="T7"/>
                  </a:cxn>
                  <a:cxn ang="0">
                    <a:pos x="T8" y="T9"/>
                  </a:cxn>
                </a:cxnLst>
                <a:rect l="0" t="0" r="r" b="b"/>
                <a:pathLst>
                  <a:path w="217" h="536">
                    <a:moveTo>
                      <a:pt x="114" y="536"/>
                    </a:moveTo>
                    <a:lnTo>
                      <a:pt x="217" y="24"/>
                    </a:lnTo>
                    <a:lnTo>
                      <a:pt x="102" y="0"/>
                    </a:lnTo>
                    <a:lnTo>
                      <a:pt x="0" y="512"/>
                    </a:lnTo>
                    <a:lnTo>
                      <a:pt x="114" y="536"/>
                    </a:lnTo>
                    <a:close/>
                  </a:path>
                </a:pathLst>
              </a:custGeom>
              <a:solidFill>
                <a:schemeClr val="accent1">
                  <a:lumMod val="40000"/>
                  <a:lumOff val="60000"/>
                </a:schemeClr>
              </a:solidFill>
              <a:ln>
                <a:noFill/>
              </a:ln>
            </p:spPr>
            <p:txBody>
              <a:bodyPr anchor="ctr"/>
              <a:lstStyle/>
              <a:p>
                <a:pPr algn="ctr" defTabSz="1218565"/>
                <a:endParaRPr sz="2400">
                  <a:solidFill>
                    <a:prstClr val="black"/>
                  </a:solidFill>
                  <a:latin typeface="Calibri" panose="020F0502020204030204"/>
                  <a:sym typeface="+mn-lt"/>
                </a:endParaRPr>
              </a:p>
            </p:txBody>
          </p:sp>
        </p:gr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p:cTn id="33" dur="500" fill="hold"/>
                                        <p:tgtEl>
                                          <p:spTgt spid="59"/>
                                        </p:tgtEl>
                                        <p:attrNameLst>
                                          <p:attrName>ppt_w</p:attrName>
                                        </p:attrNameLst>
                                      </p:cBhvr>
                                      <p:tavLst>
                                        <p:tav tm="0">
                                          <p:val>
                                            <p:fltVal val="0"/>
                                          </p:val>
                                        </p:tav>
                                        <p:tav tm="100000">
                                          <p:val>
                                            <p:strVal val="#ppt_w"/>
                                          </p:val>
                                        </p:tav>
                                      </p:tavLst>
                                    </p:anim>
                                    <p:anim calcmode="lin" valueType="num">
                                      <p:cBhvr>
                                        <p:cTn id="34" dur="500" fill="hold"/>
                                        <p:tgtEl>
                                          <p:spTgt spid="59"/>
                                        </p:tgtEl>
                                        <p:attrNameLst>
                                          <p:attrName>ppt_h</p:attrName>
                                        </p:attrNameLst>
                                      </p:cBhvr>
                                      <p:tavLst>
                                        <p:tav tm="0">
                                          <p:val>
                                            <p:fltVal val="0"/>
                                          </p:val>
                                        </p:tav>
                                        <p:tav tm="100000">
                                          <p:val>
                                            <p:strVal val="#ppt_h"/>
                                          </p:val>
                                        </p:tav>
                                      </p:tavLst>
                                    </p:anim>
                                    <p:animEffect transition="in" filter="fade">
                                      <p:cBhvr>
                                        <p:cTn id="3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P spid="18" grpId="0"/>
      <p:bldP spid="19" grpId="0"/>
      <p:bldP spid="21" grpId="0" bldLvl="0" animBg="1"/>
      <p:bldP spid="22"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905" y="-6985"/>
            <a:ext cx="12195810" cy="6918960"/>
            <a:chOff x="-3" y="-11"/>
            <a:chExt cx="19206" cy="10807"/>
          </a:xfrm>
        </p:grpSpPr>
        <p:pic>
          <p:nvPicPr>
            <p:cNvPr id="2" name="图片占位符 16"/>
            <p:cNvPicPr>
              <a:picLocks noGrp="1"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3" y="-11"/>
              <a:ext cx="19206" cy="10807"/>
            </a:xfrm>
            <a:prstGeom prst="rect">
              <a:avLst/>
            </a:prstGeom>
          </p:spPr>
        </p:pic>
        <p:sp>
          <p:nvSpPr>
            <p:cNvPr id="7" name="矩形 6"/>
            <p:cNvSpPr/>
            <p:nvPr/>
          </p:nvSpPr>
          <p:spPr>
            <a:xfrm>
              <a:off x="3" y="-11"/>
              <a:ext cx="19200" cy="10800"/>
            </a:xfrm>
            <a:prstGeom prst="rect">
              <a:avLst/>
            </a:prstGeom>
            <a:solidFill>
              <a:srgbClr val="383F4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mn-ea"/>
                <a:sym typeface="+mn-lt"/>
              </a:endParaRPr>
            </a:p>
          </p:txBody>
        </p:sp>
      </p:grpSp>
      <p:sp>
        <p:nvSpPr>
          <p:cNvPr id="14" name="矩形 13"/>
          <p:cNvSpPr/>
          <p:nvPr/>
        </p:nvSpPr>
        <p:spPr>
          <a:xfrm>
            <a:off x="610235" y="3808095"/>
            <a:ext cx="5239385" cy="922020"/>
          </a:xfrm>
          <a:prstGeom prst="rect">
            <a:avLst/>
          </a:prstGeom>
          <a:ln w="25400">
            <a:solidFill>
              <a:schemeClr val="bg1"/>
            </a:solidFill>
          </a:ln>
        </p:spPr>
        <p:txBody>
          <a:bodyPr wrap="square">
            <a:spAutoFit/>
          </a:bodyPr>
          <a:lstStyle/>
          <a:p>
            <a:pPr algn="ct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此处添加内容此处添加内容此处添加内容此处添加内容此处添加内容此处添加内容此处添加内容此处添加内容</a:t>
            </a:r>
          </a:p>
        </p:txBody>
      </p:sp>
      <p:sp>
        <p:nvSpPr>
          <p:cNvPr id="15" name="文本框 14"/>
          <p:cNvSpPr txBox="1"/>
          <p:nvPr/>
        </p:nvSpPr>
        <p:spPr>
          <a:xfrm>
            <a:off x="12769516" y="6373505"/>
            <a:ext cx="415498" cy="369332"/>
          </a:xfrm>
          <a:prstGeom prst="rect">
            <a:avLst/>
          </a:prstGeom>
          <a:noFill/>
        </p:spPr>
        <p:txBody>
          <a:bodyPr wrap="none" rtlCol="0">
            <a:spAutoFit/>
          </a:bodyPr>
          <a:lstStyle/>
          <a:p>
            <a:r>
              <a:rPr lang="zh-CN" altLang="en-US" dirty="0"/>
              <a:t>。</a:t>
            </a:r>
          </a:p>
        </p:txBody>
      </p:sp>
      <p:sp>
        <p:nvSpPr>
          <p:cNvPr id="16" name="Rectangle 6"/>
          <p:cNvSpPr>
            <a:spLocks noChangeArrowheads="1"/>
          </p:cNvSpPr>
          <p:nvPr/>
        </p:nvSpPr>
        <p:spPr bwMode="auto">
          <a:xfrm>
            <a:off x="-1779" y="1858608"/>
            <a:ext cx="12195564" cy="1731433"/>
          </a:xfrm>
          <a:prstGeom prst="rect">
            <a:avLst/>
          </a:prstGeom>
          <a:solidFill>
            <a:srgbClr val="E8432E"/>
          </a:solidFill>
          <a:ln w="0">
            <a:noFill/>
            <a:prstDash val="solid"/>
            <a:miter lim="800000"/>
          </a:ln>
        </p:spPr>
        <p:txBody>
          <a:bodyPr vert="horz" wrap="square" lIns="121911" tIns="60956" rIns="121911" bIns="60956"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7" name="Freeform 7"/>
          <p:cNvSpPr/>
          <p:nvPr/>
        </p:nvSpPr>
        <p:spPr bwMode="auto">
          <a:xfrm>
            <a:off x="610345" y="1858607"/>
            <a:ext cx="3376283" cy="1731435"/>
          </a:xfrm>
          <a:custGeom>
            <a:avLst/>
            <a:gdLst>
              <a:gd name="T0" fmla="*/ 579 w 1583"/>
              <a:gd name="T1" fmla="*/ 0 h 1325"/>
              <a:gd name="T2" fmla="*/ 1583 w 1583"/>
              <a:gd name="T3" fmla="*/ 0 h 1325"/>
              <a:gd name="T4" fmla="*/ 1004 w 1583"/>
              <a:gd name="T5" fmla="*/ 1325 h 1325"/>
              <a:gd name="T6" fmla="*/ 0 w 1583"/>
              <a:gd name="T7" fmla="*/ 1325 h 1325"/>
              <a:gd name="T8" fmla="*/ 579 w 1583"/>
              <a:gd name="T9" fmla="*/ 0 h 1325"/>
            </a:gdLst>
            <a:ahLst/>
            <a:cxnLst>
              <a:cxn ang="0">
                <a:pos x="T0" y="T1"/>
              </a:cxn>
              <a:cxn ang="0">
                <a:pos x="T2" y="T3"/>
              </a:cxn>
              <a:cxn ang="0">
                <a:pos x="T4" y="T5"/>
              </a:cxn>
              <a:cxn ang="0">
                <a:pos x="T6" y="T7"/>
              </a:cxn>
              <a:cxn ang="0">
                <a:pos x="T8" y="T9"/>
              </a:cxn>
            </a:cxnLst>
            <a:rect l="0" t="0" r="r" b="b"/>
            <a:pathLst>
              <a:path w="1583" h="1325">
                <a:moveTo>
                  <a:pt x="579" y="0"/>
                </a:moveTo>
                <a:lnTo>
                  <a:pt x="1583" y="0"/>
                </a:lnTo>
                <a:lnTo>
                  <a:pt x="1004" y="1325"/>
                </a:lnTo>
                <a:lnTo>
                  <a:pt x="0" y="1325"/>
                </a:lnTo>
                <a:lnTo>
                  <a:pt x="579" y="0"/>
                </a:lnTo>
                <a:close/>
              </a:path>
            </a:pathLst>
          </a:custGeom>
          <a:solidFill>
            <a:srgbClr val="383F4E"/>
          </a:solidFill>
          <a:ln w="0">
            <a:noFill/>
            <a:prstDash val="solid"/>
            <a:round/>
          </a:ln>
        </p:spPr>
        <p:txBody>
          <a:bodyPr vert="horz" wrap="square" lIns="121911" tIns="60956" rIns="121911" bIns="60956" numCol="1" anchor="ctr" anchorCtr="1" compatLnSpc="1"/>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rPr>
              <a:t>0</a:t>
            </a:r>
            <a:r>
              <a:rPr kumimoji="0" lang="en-US" sz="6800" b="0" i="0" u="none" strike="noStrike" kern="1200" cap="none" spc="0" normalizeH="0" baseline="0" noProof="0" dirty="0">
                <a:ln>
                  <a:noFill/>
                </a:ln>
                <a:solidFill>
                  <a:prstClr val="white"/>
                </a:solidFill>
                <a:effectLst/>
                <a:uLnTx/>
                <a:uFillTx/>
                <a:latin typeface="Impact" panose="020B0806030902050204" pitchFamily="34" charset="0"/>
                <a:ea typeface="微软雅黑" panose="020B0503020204020204" pitchFamily="34" charset="-122"/>
                <a:cs typeface="+mn-cs"/>
              </a:rPr>
              <a:t>5</a:t>
            </a:r>
          </a:p>
        </p:txBody>
      </p:sp>
      <p:sp>
        <p:nvSpPr>
          <p:cNvPr id="18" name="TextBox 48"/>
          <p:cNvSpPr txBox="1"/>
          <p:nvPr/>
        </p:nvSpPr>
        <p:spPr>
          <a:xfrm>
            <a:off x="3986629" y="2114465"/>
            <a:ext cx="6733508" cy="828675"/>
          </a:xfrm>
          <a:prstGeom prst="rect">
            <a:avLst/>
          </a:prstGeom>
          <a:noFill/>
        </p:spPr>
        <p:txBody>
          <a:bodyPr wrap="square" lIns="91439" tIns="45719" rIns="91439" bIns="45719"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年度财务预算分析</a:t>
            </a:r>
          </a:p>
        </p:txBody>
      </p:sp>
      <p:sp>
        <p:nvSpPr>
          <p:cNvPr id="19" name="TextBox 49"/>
          <p:cNvSpPr txBox="1"/>
          <p:nvPr/>
        </p:nvSpPr>
        <p:spPr>
          <a:xfrm>
            <a:off x="3986629" y="2983011"/>
            <a:ext cx="4100719" cy="420562"/>
          </a:xfrm>
          <a:prstGeom prst="rect">
            <a:avLst/>
          </a:prstGeom>
          <a:noFill/>
        </p:spPr>
        <p:txBody>
          <a:bodyPr wrap="square" lIns="91439" tIns="45719" rIns="91439" bIns="45719" rtlCol="0">
            <a:spAutoFit/>
          </a:bodyPr>
          <a:lstStyle/>
          <a:p>
            <a:pPr marL="0" marR="0" lvl="0" indent="0" algn="l" defTabSz="1218565" rtl="0" eaLnBrk="0" fontAlgn="auto" latinLnBrk="0" hangingPunct="0">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点击此处添加副标题文本内容</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200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0-#ppt_w/2"/>
                                          </p:val>
                                        </p:tav>
                                        <p:tav tm="100000">
                                          <p:val>
                                            <p:strVal val="#ppt_x"/>
                                          </p:val>
                                        </p:tav>
                                      </p:tavLst>
                                    </p:anim>
                                    <p:anim calcmode="lin" valueType="num">
                                      <p:cBhvr additive="base">
                                        <p:cTn id="17"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par>
                          <p:cTn id="23" fill="hold">
                            <p:stCondLst>
                              <p:cond delay="500"/>
                            </p:stCondLst>
                            <p:childTnLst>
                              <p:par>
                                <p:cTn id="24" presetID="22" presetClass="entr" presetSubtype="8" fill="hold" grpId="0" nodeType="afterEffect">
                                  <p:stCondLst>
                                    <p:cond delay="0"/>
                                  </p:stCondLst>
                                  <p:iterate type="lt">
                                    <p:tmPct val="30000"/>
                                  </p:iterate>
                                  <p:childTnLst>
                                    <p:set>
                                      <p:cBhvr>
                                        <p:cTn id="25" dur="1" fill="hold">
                                          <p:stCondLst>
                                            <p:cond delay="0"/>
                                          </p:stCondLst>
                                        </p:cTn>
                                        <p:tgtEl>
                                          <p:spTgt spid="18"/>
                                        </p:tgtEl>
                                        <p:attrNameLst>
                                          <p:attrName>style.visibility</p:attrName>
                                        </p:attrNameLst>
                                      </p:cBhvr>
                                      <p:to>
                                        <p:strVal val="visible"/>
                                      </p:to>
                                    </p:set>
                                    <p:animEffect transition="in" filter="wipe(left)">
                                      <p:cBhvr>
                                        <p:cTn id="26" dur="200"/>
                                        <p:tgtEl>
                                          <p:spTgt spid="18"/>
                                        </p:tgtEl>
                                      </p:cBhvr>
                                    </p:animEffect>
                                  </p:childTnLst>
                                </p:cTn>
                              </p:par>
                              <p:par>
                                <p:cTn id="27" presetID="36" presetClass="emph" presetSubtype="0" fill="hold" grpId="1" nodeType="withEffect">
                                  <p:stCondLst>
                                    <p:cond delay="0"/>
                                  </p:stCondLst>
                                  <p:iterate type="lt">
                                    <p:tmPct val="30000"/>
                                  </p:iterate>
                                  <p:childTnLst>
                                    <p:animScale>
                                      <p:cBhvr>
                                        <p:cTn id="28" dur="50" autoRev="1" fill="hold">
                                          <p:stCondLst>
                                            <p:cond delay="0"/>
                                          </p:stCondLst>
                                        </p:cTn>
                                        <p:tgtEl>
                                          <p:spTgt spid="18"/>
                                        </p:tgtEl>
                                      </p:cBhvr>
                                      <p:to x="80000" y="100000"/>
                                    </p:animScale>
                                    <p:anim by="(#ppt_w*0.10)" calcmode="lin" valueType="num">
                                      <p:cBhvr>
                                        <p:cTn id="29" dur="50" autoRev="1" fill="hold">
                                          <p:stCondLst>
                                            <p:cond delay="0"/>
                                          </p:stCondLst>
                                        </p:cTn>
                                        <p:tgtEl>
                                          <p:spTgt spid="18"/>
                                        </p:tgtEl>
                                        <p:attrNameLst>
                                          <p:attrName>ppt_x</p:attrName>
                                        </p:attrNameLst>
                                      </p:cBhvr>
                                    </p:anim>
                                    <p:anim by="(-#ppt_w*0.10)" calcmode="lin" valueType="num">
                                      <p:cBhvr>
                                        <p:cTn id="30" dur="50" autoRev="1" fill="hold">
                                          <p:stCondLst>
                                            <p:cond delay="0"/>
                                          </p:stCondLst>
                                        </p:cTn>
                                        <p:tgtEl>
                                          <p:spTgt spid="18"/>
                                        </p:tgtEl>
                                        <p:attrNameLst>
                                          <p:attrName>ppt_y</p:attrName>
                                        </p:attrNameLst>
                                      </p:cBhvr>
                                    </p:anim>
                                    <p:animRot by="-480000">
                                      <p:cBhvr>
                                        <p:cTn id="31" dur="50" autoRev="1" fill="hold">
                                          <p:stCondLst>
                                            <p:cond delay="0"/>
                                          </p:stCondLst>
                                        </p:cTn>
                                        <p:tgtEl>
                                          <p:spTgt spid="18"/>
                                        </p:tgtEl>
                                        <p:attrNameLst>
                                          <p:attrName>r</p:attrName>
                                        </p:attrNameLst>
                                      </p:cBhvr>
                                    </p:animRot>
                                  </p:childTnLst>
                                </p:cTn>
                              </p:par>
                            </p:childTnLst>
                          </p:cTn>
                        </p:par>
                        <p:par>
                          <p:cTn id="32" fill="hold">
                            <p:stCondLst>
                              <p:cond delay="1120"/>
                            </p:stCondLst>
                            <p:childTnLst>
                              <p:par>
                                <p:cTn id="33" presetID="22" presetClass="entr" presetSubtype="8" fill="hold" grpId="0" nodeType="afterEffect">
                                  <p:stCondLst>
                                    <p:cond delay="0"/>
                                  </p:stCondLst>
                                  <p:iterate type="lt">
                                    <p:tmPct val="30000"/>
                                  </p:iterate>
                                  <p:childTnLst>
                                    <p:set>
                                      <p:cBhvr>
                                        <p:cTn id="34" dur="1" fill="hold">
                                          <p:stCondLst>
                                            <p:cond delay="0"/>
                                          </p:stCondLst>
                                        </p:cTn>
                                        <p:tgtEl>
                                          <p:spTgt spid="19"/>
                                        </p:tgtEl>
                                        <p:attrNameLst>
                                          <p:attrName>style.visibility</p:attrName>
                                        </p:attrNameLst>
                                      </p:cBhvr>
                                      <p:to>
                                        <p:strVal val="visible"/>
                                      </p:to>
                                    </p:set>
                                    <p:animEffect transition="in" filter="wipe(left)">
                                      <p:cBhvr>
                                        <p:cTn id="35" dur="200"/>
                                        <p:tgtEl>
                                          <p:spTgt spid="19"/>
                                        </p:tgtEl>
                                      </p:cBhvr>
                                    </p:animEffect>
                                  </p:childTnLst>
                                </p:cTn>
                              </p:par>
                              <p:par>
                                <p:cTn id="36" presetID="36" presetClass="emph" presetSubtype="0" fill="hold" grpId="1" nodeType="withEffect">
                                  <p:stCondLst>
                                    <p:cond delay="0"/>
                                  </p:stCondLst>
                                  <p:iterate type="lt">
                                    <p:tmPct val="30000"/>
                                  </p:iterate>
                                  <p:childTnLst>
                                    <p:animScale>
                                      <p:cBhvr>
                                        <p:cTn id="37" dur="50" autoRev="1" fill="hold">
                                          <p:stCondLst>
                                            <p:cond delay="0"/>
                                          </p:stCondLst>
                                        </p:cTn>
                                        <p:tgtEl>
                                          <p:spTgt spid="19"/>
                                        </p:tgtEl>
                                      </p:cBhvr>
                                      <p:to x="80000" y="100000"/>
                                    </p:animScale>
                                    <p:anim by="(#ppt_w*0.10)" calcmode="lin" valueType="num">
                                      <p:cBhvr>
                                        <p:cTn id="38" dur="50" autoRev="1" fill="hold">
                                          <p:stCondLst>
                                            <p:cond delay="0"/>
                                          </p:stCondLst>
                                        </p:cTn>
                                        <p:tgtEl>
                                          <p:spTgt spid="19"/>
                                        </p:tgtEl>
                                        <p:attrNameLst>
                                          <p:attrName>ppt_x</p:attrName>
                                        </p:attrNameLst>
                                      </p:cBhvr>
                                    </p:anim>
                                    <p:anim by="(-#ppt_w*0.10)" calcmode="lin" valueType="num">
                                      <p:cBhvr>
                                        <p:cTn id="39" dur="50" autoRev="1" fill="hold">
                                          <p:stCondLst>
                                            <p:cond delay="0"/>
                                          </p:stCondLst>
                                        </p:cTn>
                                        <p:tgtEl>
                                          <p:spTgt spid="19"/>
                                        </p:tgtEl>
                                        <p:attrNameLst>
                                          <p:attrName>ppt_y</p:attrName>
                                        </p:attrNameLst>
                                      </p:cBhvr>
                                    </p:anim>
                                    <p:animRot by="-480000">
                                      <p:cBhvr>
                                        <p:cTn id="40" dur="50" autoRev="1" fill="hold">
                                          <p:stCondLst>
                                            <p:cond delay="0"/>
                                          </p:stCondLst>
                                        </p:cTn>
                                        <p:tgtEl>
                                          <p:spTgt spid="19"/>
                                        </p:tgtEl>
                                        <p:attrNameLst>
                                          <p:attrName>r</p:attrName>
                                        </p:attrNameLst>
                                      </p:cBhvr>
                                    </p:animRot>
                                  </p:childTnLst>
                                </p:cTn>
                              </p:par>
                              <p:par>
                                <p:cTn id="41" presetID="2" presetClass="entr" presetSubtype="8"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0-#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P spid="16" grpId="0" bldLvl="0" animBg="1"/>
      <p:bldP spid="17" grpId="0" bldLvl="0" animBg="1"/>
      <p:bldP spid="18" grpId="0"/>
      <p:bldP spid="18" grpId="1"/>
      <p:bldP spid="19" grpId="0"/>
      <p:bldP spid="19"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974078" y="3578848"/>
            <a:ext cx="4244225" cy="972000"/>
          </a:xfrm>
          <a:prstGeom prst="rect">
            <a:avLst/>
          </a:prstGeom>
          <a:solidFill>
            <a:schemeClr val="bg1">
              <a:lumMod val="95000"/>
            </a:schemeClr>
          </a:solidFill>
          <a:ln w="6350">
            <a:noFill/>
          </a:ln>
          <a:effectLst>
            <a:outerShdw blurRad="190500" dist="228600" dir="2700000" algn="ctr">
              <a:srgbClr val="000000">
                <a:alpha val="30000"/>
              </a:srgbClr>
            </a:outerShdw>
          </a:effectLst>
        </p:spPr>
        <p:style>
          <a:lnRef idx="1">
            <a:schemeClr val="dk1"/>
          </a:lnRef>
          <a:fillRef idx="2">
            <a:schemeClr val="dk1"/>
          </a:fillRef>
          <a:effectRef idx="1">
            <a:schemeClr val="dk1"/>
          </a:effectRef>
          <a:fontRef idx="minor">
            <a:schemeClr val="dk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用户在房间消费时，账户余额不足时，通过房间的充值页面直接转到公司充值中心充值</a:t>
            </a:r>
            <a:endParaRPr lang="zh-CN" altLang="en-US" sz="1400" dirty="0"/>
          </a:p>
        </p:txBody>
      </p:sp>
      <p:sp>
        <p:nvSpPr>
          <p:cNvPr id="13" name="矩形 12"/>
          <p:cNvSpPr/>
          <p:nvPr/>
        </p:nvSpPr>
        <p:spPr>
          <a:xfrm>
            <a:off x="6688068" y="5361615"/>
            <a:ext cx="4244225" cy="972000"/>
          </a:xfrm>
          <a:prstGeom prst="rect">
            <a:avLst/>
          </a:prstGeom>
          <a:solidFill>
            <a:schemeClr val="bg1">
              <a:lumMod val="95000"/>
            </a:schemeClr>
          </a:solidFill>
          <a:ln w="6350">
            <a:noFill/>
          </a:ln>
          <a:effectLst>
            <a:outerShdw blurRad="190500" dist="228600" dir="2700000" algn="ctr">
              <a:srgbClr val="000000">
                <a:alpha val="30000"/>
              </a:srgbClr>
            </a:outerShdw>
          </a:effectLst>
        </p:spPr>
        <p:style>
          <a:lnRef idx="1">
            <a:schemeClr val="dk1"/>
          </a:lnRef>
          <a:fillRef idx="2">
            <a:schemeClr val="dk1"/>
          </a:fillRef>
          <a:effectRef idx="1">
            <a:schemeClr val="dk1"/>
          </a:effectRef>
          <a:fontRef idx="minor">
            <a:schemeClr val="dk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代理商通过充值中心页面完成代理商预存款充值</a:t>
            </a:r>
          </a:p>
        </p:txBody>
      </p:sp>
      <p:sp>
        <p:nvSpPr>
          <p:cNvPr id="14" name="矩形 13"/>
          <p:cNvSpPr/>
          <p:nvPr/>
        </p:nvSpPr>
        <p:spPr>
          <a:xfrm>
            <a:off x="1035298" y="1727160"/>
            <a:ext cx="4244225" cy="972000"/>
          </a:xfrm>
          <a:prstGeom prst="rect">
            <a:avLst/>
          </a:prstGeom>
          <a:solidFill>
            <a:schemeClr val="bg1">
              <a:lumMod val="95000"/>
            </a:schemeClr>
          </a:solidFill>
          <a:ln w="6350">
            <a:noFill/>
          </a:ln>
          <a:effectLst>
            <a:outerShdw blurRad="190500" dist="228600" dir="2700000" algn="ctr">
              <a:srgbClr val="000000">
                <a:alpha val="30000"/>
              </a:srgbClr>
            </a:outerShdw>
          </a:effectLst>
        </p:spPr>
        <p:style>
          <a:lnRef idx="1">
            <a:schemeClr val="dk1"/>
          </a:lnRef>
          <a:fillRef idx="2">
            <a:schemeClr val="dk1"/>
          </a:fillRef>
          <a:effectRef idx="1">
            <a:schemeClr val="dk1"/>
          </a:effectRef>
          <a:fontRef idx="minor">
            <a:schemeClr val="dk1"/>
          </a:fontRef>
        </p:style>
        <p:txBody>
          <a:bodyPr rtlCol="0" anchor="ctr"/>
          <a:lstStyle/>
          <a:p>
            <a:pPr>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用户进入社区后直接在网站充值中心充值</a:t>
            </a:r>
            <a:endParaRPr lang="en-US" altLang="zh-CN"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人民币兑换虚拟币或者 购买房间、</a:t>
            </a:r>
            <a:r>
              <a:rPr lang="en-US" altLang="zh-CN"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VIP</a:t>
            </a:r>
            <a:r>
              <a:rPr lang="zh-CN" altLang="en-US"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等</a:t>
            </a:r>
            <a:endParaRPr lang="en-US" altLang="zh-CN"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后台自动为用户增加虚拟币</a:t>
            </a:r>
            <a:endParaRPr lang="zh-CN" altLang="en-US" sz="1400" dirty="0"/>
          </a:p>
        </p:txBody>
      </p:sp>
      <p:sp>
        <p:nvSpPr>
          <p:cNvPr id="15" name="矩形 14"/>
          <p:cNvSpPr/>
          <p:nvPr/>
        </p:nvSpPr>
        <p:spPr>
          <a:xfrm>
            <a:off x="1035296" y="1547137"/>
            <a:ext cx="3600000" cy="180023"/>
          </a:xfrm>
          <a:prstGeom prst="rect">
            <a:avLst/>
          </a:prstGeom>
          <a:solidFill>
            <a:srgbClr val="E8432E"/>
          </a:solidFill>
          <a:ln>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
        <p:nvSpPr>
          <p:cNvPr id="16" name="矩形 15"/>
          <p:cNvSpPr/>
          <p:nvPr/>
        </p:nvSpPr>
        <p:spPr>
          <a:xfrm>
            <a:off x="967982" y="1073984"/>
            <a:ext cx="2244090" cy="460375"/>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zh-CN" sz="2400" b="1" spc="50" dirty="0">
                <a:ln w="11430">
                  <a:noFill/>
                </a:ln>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2400" b="1" spc="50" dirty="0">
                <a:ln w="11430">
                  <a:noFill/>
                </a:ln>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1</a:t>
            </a:r>
            <a:r>
              <a:rPr lang="zh-CN" altLang="en-US" sz="2400" b="1" spc="50" dirty="0">
                <a:ln w="11430">
                  <a:noFill/>
                </a:ln>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）前端消费</a:t>
            </a:r>
          </a:p>
        </p:txBody>
      </p:sp>
      <p:sp>
        <p:nvSpPr>
          <p:cNvPr id="17" name="矩形 16"/>
          <p:cNvSpPr/>
          <p:nvPr/>
        </p:nvSpPr>
        <p:spPr>
          <a:xfrm>
            <a:off x="3974076" y="3398825"/>
            <a:ext cx="3600000" cy="180023"/>
          </a:xfrm>
          <a:prstGeom prst="rect">
            <a:avLst/>
          </a:prstGeom>
          <a:solidFill>
            <a:srgbClr val="383F4E"/>
          </a:solidFill>
          <a:ln>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
        <p:nvSpPr>
          <p:cNvPr id="18" name="矩形 17"/>
          <p:cNvSpPr/>
          <p:nvPr/>
        </p:nvSpPr>
        <p:spPr>
          <a:xfrm>
            <a:off x="3897872" y="2925672"/>
            <a:ext cx="2244090" cy="460375"/>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zh-CN" sz="2400" b="1" spc="50" dirty="0">
                <a:ln w="11430"/>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2400" b="1" spc="50" dirty="0">
                <a:ln w="11430"/>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2</a:t>
            </a:r>
            <a:r>
              <a:rPr lang="zh-CN" altLang="en-US" sz="2400" b="1" spc="50" dirty="0">
                <a:ln w="11430"/>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）自主充值</a:t>
            </a:r>
          </a:p>
        </p:txBody>
      </p:sp>
      <p:sp>
        <p:nvSpPr>
          <p:cNvPr id="19" name="矩形 18"/>
          <p:cNvSpPr/>
          <p:nvPr/>
        </p:nvSpPr>
        <p:spPr>
          <a:xfrm>
            <a:off x="6683621" y="5180957"/>
            <a:ext cx="3600000" cy="180023"/>
          </a:xfrm>
          <a:prstGeom prst="rect">
            <a:avLst/>
          </a:prstGeom>
          <a:solidFill>
            <a:srgbClr val="E8432E"/>
          </a:solidFill>
          <a:ln>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
        <p:nvSpPr>
          <p:cNvPr id="20" name="矩形 19"/>
          <p:cNvSpPr/>
          <p:nvPr/>
        </p:nvSpPr>
        <p:spPr>
          <a:xfrm>
            <a:off x="6683617" y="4708356"/>
            <a:ext cx="3488690" cy="460375"/>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zh-CN" sz="2400" b="1" spc="50" dirty="0">
                <a:ln w="11430"/>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2400" b="1" spc="50" dirty="0">
                <a:ln w="11430"/>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3</a:t>
            </a:r>
            <a:r>
              <a:rPr lang="zh-CN" altLang="en-US" sz="2400" b="1" spc="50" dirty="0">
                <a:ln w="11430"/>
                <a:solidFill>
                  <a:srgbClr val="E8432E"/>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Arial" panose="020B0604020202020204" pitchFamily="34" charset="0"/>
              </a:rPr>
              <a:t>）代理商预存款充值</a:t>
            </a:r>
          </a:p>
        </p:txBody>
      </p:sp>
      <p:sp>
        <p:nvSpPr>
          <p:cNvPr id="23" name="矩形 22"/>
          <p:cNvSpPr/>
          <p:nvPr/>
        </p:nvSpPr>
        <p:spPr>
          <a:xfrm>
            <a:off x="967488" y="1534179"/>
            <a:ext cx="72000" cy="118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611741" y="5168634"/>
            <a:ext cx="72000" cy="118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897751" y="3385867"/>
            <a:ext cx="72000" cy="118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12416589" y="7251032"/>
            <a:ext cx="240665" cy="368300"/>
          </a:xfrm>
          <a:prstGeom prst="rect">
            <a:avLst/>
          </a:prstGeom>
          <a:noFill/>
        </p:spPr>
        <p:txBody>
          <a:bodyPr wrap="none" rtlCol="0">
            <a:spAutoFit/>
          </a:bodyPr>
          <a:lstStyle/>
          <a:p>
            <a:r>
              <a:rPr lang="en-US" altLang="zh-CN" dirty="0"/>
              <a:t>.</a:t>
            </a:r>
            <a:endParaRPr lang="zh-CN" altLang="en-US" dirty="0"/>
          </a:p>
        </p:txBody>
      </p:sp>
      <p:sp>
        <p:nvSpPr>
          <p:cNvPr id="54" name="矩形 53"/>
          <p:cNvSpPr/>
          <p:nvPr/>
        </p:nvSpPr>
        <p:spPr>
          <a:xfrm>
            <a:off x="1528466" y="395116"/>
            <a:ext cx="2011680" cy="645160"/>
          </a:xfrm>
          <a:prstGeom prst="rect">
            <a:avLst/>
          </a:prstGeom>
        </p:spPr>
        <p:txBody>
          <a:bodyPr wrap="none">
            <a:spAutoFit/>
          </a:bodyPr>
          <a:lstStyle/>
          <a:p>
            <a:r>
              <a:rPr lang="zh-CN" altLang="en-US" sz="3600" b="1" i="0" dirty="0">
                <a:solidFill>
                  <a:srgbClr val="383F4E"/>
                </a:solidFill>
                <a:effectLst/>
                <a:latin typeface="微软雅黑" panose="020B0503020204020204" pitchFamily="34" charset="-122"/>
                <a:ea typeface="微软雅黑" panose="020B0503020204020204" pitchFamily="34" charset="-122"/>
              </a:rPr>
              <a:t>盈利模式</a:t>
            </a:r>
          </a:p>
        </p:txBody>
      </p:sp>
      <p:pic>
        <p:nvPicPr>
          <p:cNvPr id="2" name="35465"/>
          <p:cNvPicPr>
            <a:picLocks noChangeAspect="1"/>
          </p:cNvPicPr>
          <p:nvPr>
            <p:custDataLst>
              <p:tags r:id="rId1"/>
            </p:custDataLst>
          </p:nvPr>
        </p:nvPicPr>
        <p:blipFill rotWithShape="1">
          <a:blip r:embed="rId6" cstate="print">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a:ext>
            </a:extLst>
          </a:blip>
          <a:srcRect/>
          <a:stretch>
            <a:fillRect/>
          </a:stretch>
        </p:blipFill>
        <p:spPr>
          <a:xfrm>
            <a:off x="6871970" y="1179195"/>
            <a:ext cx="3876675" cy="1898015"/>
          </a:xfrm>
          <a:custGeom>
            <a:avLst/>
            <a:gdLst>
              <a:gd name="connsiteX0" fmla="*/ 0 w 6025206"/>
              <a:gd name="connsiteY0" fmla="*/ 0 h 2772697"/>
              <a:gd name="connsiteX1" fmla="*/ 6025206 w 6025206"/>
              <a:gd name="connsiteY1" fmla="*/ 0 h 2772697"/>
              <a:gd name="connsiteX2" fmla="*/ 6025206 w 6025206"/>
              <a:gd name="connsiteY2" fmla="*/ 2772697 h 2772697"/>
              <a:gd name="connsiteX3" fmla="*/ 0 w 6025206"/>
              <a:gd name="connsiteY3" fmla="*/ 2772697 h 2772697"/>
            </a:gdLst>
            <a:ahLst/>
            <a:cxnLst>
              <a:cxn ang="0">
                <a:pos x="connsiteX0" y="connsiteY0"/>
              </a:cxn>
              <a:cxn ang="0">
                <a:pos x="connsiteX1" y="connsiteY1"/>
              </a:cxn>
              <a:cxn ang="0">
                <a:pos x="connsiteX2" y="connsiteY2"/>
              </a:cxn>
              <a:cxn ang="0">
                <a:pos x="connsiteX3" y="connsiteY3"/>
              </a:cxn>
            </a:cxnLst>
            <a:rect l="l" t="t" r="r" b="b"/>
            <a:pathLst>
              <a:path w="6025206" h="2772697">
                <a:moveTo>
                  <a:pt x="0" y="0"/>
                </a:moveTo>
                <a:lnTo>
                  <a:pt x="6025206" y="0"/>
                </a:lnTo>
                <a:lnTo>
                  <a:pt x="6025206" y="2772697"/>
                </a:lnTo>
                <a:lnTo>
                  <a:pt x="0" y="2772697"/>
                </a:lnTo>
                <a:close/>
              </a:path>
            </a:pathLst>
          </a:custGeom>
        </p:spPr>
      </p:pic>
      <p:pic>
        <p:nvPicPr>
          <p:cNvPr id="3" name="5436543"/>
          <p:cNvPicPr>
            <a:picLocks noChangeAspect="1"/>
          </p:cNvPicPr>
          <p:nvPr>
            <p:custDataLst>
              <p:tags r:id="rId2"/>
            </p:custDataLst>
          </p:nvPr>
        </p:nvPicPr>
        <p:blipFill>
          <a:blip r:embed="rId8" cstate="print">
            <a:extLst>
              <a:ext uri="{BEBA8EAE-BF5A-486C-A8C5-ECC9F3942E4B}">
                <a14:imgProps xmlns:a14="http://schemas.microsoft.com/office/drawing/2010/main">
                  <a14:imgLayer r:embed="rId9">
                    <a14:imgEffect>
                      <a14:saturation sat="66000"/>
                    </a14:imgEffect>
                  </a14:imgLayer>
                </a14:imgProps>
              </a:ext>
              <a:ext uri="{28A0092B-C50C-407E-A947-70E740481C1C}">
                <a14:useLocalDpi xmlns:a14="http://schemas.microsoft.com/office/drawing/2010/main"/>
              </a:ext>
            </a:extLst>
          </a:blip>
          <a:stretch>
            <a:fillRect/>
          </a:stretch>
        </p:blipFill>
        <p:spPr>
          <a:xfrm>
            <a:off x="2804478" y="4795846"/>
            <a:ext cx="1963645" cy="1388686"/>
          </a:xfrm>
          <a:custGeom>
            <a:avLst/>
            <a:gdLst>
              <a:gd name="connsiteX0" fmla="*/ 0 w 1963645"/>
              <a:gd name="connsiteY0" fmla="*/ 0 h 1755062"/>
              <a:gd name="connsiteX1" fmla="*/ 1963645 w 1963645"/>
              <a:gd name="connsiteY1" fmla="*/ 0 h 1755062"/>
              <a:gd name="connsiteX2" fmla="*/ 1963645 w 1963645"/>
              <a:gd name="connsiteY2" fmla="*/ 1755062 h 1755062"/>
              <a:gd name="connsiteX3" fmla="*/ 0 w 1963645"/>
              <a:gd name="connsiteY3" fmla="*/ 1755062 h 1755062"/>
            </a:gdLst>
            <a:ahLst/>
            <a:cxnLst>
              <a:cxn ang="0">
                <a:pos x="connsiteX0" y="connsiteY0"/>
              </a:cxn>
              <a:cxn ang="0">
                <a:pos x="connsiteX1" y="connsiteY1"/>
              </a:cxn>
              <a:cxn ang="0">
                <a:pos x="connsiteX2" y="connsiteY2"/>
              </a:cxn>
              <a:cxn ang="0">
                <a:pos x="connsiteX3" y="connsiteY3"/>
              </a:cxn>
            </a:cxnLst>
            <a:rect l="l" t="t" r="r" b="b"/>
            <a:pathLst>
              <a:path w="1963645" h="1755062">
                <a:moveTo>
                  <a:pt x="0" y="0"/>
                </a:moveTo>
                <a:lnTo>
                  <a:pt x="1963645" y="0"/>
                </a:lnTo>
                <a:lnTo>
                  <a:pt x="1963645" y="1755062"/>
                </a:lnTo>
                <a:lnTo>
                  <a:pt x="0" y="1755062"/>
                </a:lnTo>
                <a:close/>
              </a:path>
            </a:pathLst>
          </a:custGeom>
        </p:spPr>
      </p:pic>
      <p:pic>
        <p:nvPicPr>
          <p:cNvPr id="4" name="P343 32"/>
          <p:cNvPicPr>
            <a:picLocks noChangeAspect="1"/>
          </p:cNvPicPr>
          <p:nvPr>
            <p:custDataLst>
              <p:tags r:id="rId3"/>
            </p:custDataLst>
          </p:nvPr>
        </p:nvPicPr>
        <p:blipFill>
          <a:blip r:embed="rId10" cstate="print">
            <a:extLst>
              <a:ext uri="{28A0092B-C50C-407E-A947-70E740481C1C}">
                <a14:useLocalDpi xmlns:a14="http://schemas.microsoft.com/office/drawing/2010/main"/>
              </a:ext>
            </a:extLst>
          </a:blip>
          <a:stretch>
            <a:fillRect/>
          </a:stretch>
        </p:blipFill>
        <p:spPr>
          <a:xfrm>
            <a:off x="773697" y="4835960"/>
            <a:ext cx="1963645" cy="1308459"/>
          </a:xfrm>
          <a:custGeom>
            <a:avLst/>
            <a:gdLst>
              <a:gd name="connsiteX0" fmla="*/ 0 w 1963645"/>
              <a:gd name="connsiteY0" fmla="*/ 0 h 1755062"/>
              <a:gd name="connsiteX1" fmla="*/ 1963645 w 1963645"/>
              <a:gd name="connsiteY1" fmla="*/ 0 h 1755062"/>
              <a:gd name="connsiteX2" fmla="*/ 1963645 w 1963645"/>
              <a:gd name="connsiteY2" fmla="*/ 1755062 h 1755062"/>
              <a:gd name="connsiteX3" fmla="*/ 0 w 1963645"/>
              <a:gd name="connsiteY3" fmla="*/ 1755062 h 1755062"/>
            </a:gdLst>
            <a:ahLst/>
            <a:cxnLst>
              <a:cxn ang="0">
                <a:pos x="connsiteX0" y="connsiteY0"/>
              </a:cxn>
              <a:cxn ang="0">
                <a:pos x="connsiteX1" y="connsiteY1"/>
              </a:cxn>
              <a:cxn ang="0">
                <a:pos x="connsiteX2" y="connsiteY2"/>
              </a:cxn>
              <a:cxn ang="0">
                <a:pos x="connsiteX3" y="connsiteY3"/>
              </a:cxn>
            </a:cxnLst>
            <a:rect l="l" t="t" r="r" b="b"/>
            <a:pathLst>
              <a:path w="1963645" h="1755062">
                <a:moveTo>
                  <a:pt x="0" y="0"/>
                </a:moveTo>
                <a:lnTo>
                  <a:pt x="1963645" y="0"/>
                </a:lnTo>
                <a:lnTo>
                  <a:pt x="1963645" y="1755062"/>
                </a:lnTo>
                <a:lnTo>
                  <a:pt x="0" y="1755062"/>
                </a:lnTo>
                <a:close/>
              </a:path>
            </a:pathLst>
          </a:cu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2000"/>
                                  </p:stCondLst>
                                  <p:childTnLst>
                                    <p:animEffect transition="out" filter="fade">
                                      <p:cBhvr>
                                        <p:cTn id="48" dur="500"/>
                                        <p:tgtEl>
                                          <p:spTgt spid="50"/>
                                        </p:tgtEl>
                                      </p:cBhvr>
                                    </p:animEffect>
                                    <p:set>
                                      <p:cBhvr>
                                        <p:cTn id="49" dur="1" fill="hold">
                                          <p:stCondLst>
                                            <p:cond delay="499"/>
                                          </p:stCondLst>
                                        </p:cTn>
                                        <p:tgtEl>
                                          <p:spTgt spid="50"/>
                                        </p:tgtEl>
                                        <p:attrNameLst>
                                          <p:attrName>style.visibility</p:attrName>
                                        </p:attrNameLst>
                                      </p:cBhvr>
                                      <p:to>
                                        <p:strVal val="hidden"/>
                                      </p:to>
                                    </p:set>
                                  </p:childTnLst>
                                </p:cTn>
                              </p:par>
                              <p:par>
                                <p:cTn id="50" presetID="2" presetClass="entr" presetSubtype="8" fill="hold" nodeType="withEffect">
                                  <p:stCondLst>
                                    <p:cond delay="600"/>
                                  </p:stCondLst>
                                  <p:childTnLst>
                                    <p:set>
                                      <p:cBhvr>
                                        <p:cTn id="51" dur="1" fill="hold">
                                          <p:stCondLst>
                                            <p:cond delay="0"/>
                                          </p:stCondLst>
                                        </p:cTn>
                                        <p:tgtEl>
                                          <p:spTgt spid="2"/>
                                        </p:tgtEl>
                                        <p:attrNameLst>
                                          <p:attrName>style.visibility</p:attrName>
                                        </p:attrNameLst>
                                      </p:cBhvr>
                                      <p:to>
                                        <p:strVal val="visible"/>
                                      </p:to>
                                    </p:set>
                                    <p:anim calcmode="lin" valueType="num">
                                      <p:cBhvr additive="base">
                                        <p:cTn id="52" dur="500" fill="hold"/>
                                        <p:tgtEl>
                                          <p:spTgt spid="2"/>
                                        </p:tgtEl>
                                        <p:attrNameLst>
                                          <p:attrName>ppt_x</p:attrName>
                                        </p:attrNameLst>
                                      </p:cBhvr>
                                      <p:tavLst>
                                        <p:tav tm="0">
                                          <p:val>
                                            <p:strVal val="0-#ppt_w/2"/>
                                          </p:val>
                                        </p:tav>
                                        <p:tav tm="100000">
                                          <p:val>
                                            <p:strVal val="#ppt_x"/>
                                          </p:val>
                                        </p:tav>
                                      </p:tavLst>
                                    </p:anim>
                                    <p:anim calcmode="lin" valueType="num">
                                      <p:cBhvr additive="base">
                                        <p:cTn id="53" dur="500" fill="hold"/>
                                        <p:tgtEl>
                                          <p:spTgt spid="2"/>
                                        </p:tgtEl>
                                        <p:attrNameLst>
                                          <p:attrName>ppt_y</p:attrName>
                                        </p:attrNameLst>
                                      </p:cBhvr>
                                      <p:tavLst>
                                        <p:tav tm="0">
                                          <p:val>
                                            <p:strVal val="#ppt_y"/>
                                          </p:val>
                                        </p:tav>
                                        <p:tav tm="100000">
                                          <p:val>
                                            <p:strVal val="#ppt_y"/>
                                          </p:val>
                                        </p:tav>
                                      </p:tavLst>
                                    </p:anim>
                                  </p:childTnLst>
                                </p:cTn>
                              </p:par>
                              <p:par>
                                <p:cTn id="54" presetID="2" presetClass="entr" presetSubtype="2" fill="hold" nodeType="withEffect">
                                  <p:stCondLst>
                                    <p:cond delay="200"/>
                                  </p:stCondLst>
                                  <p:childTnLst>
                                    <p:set>
                                      <p:cBhvr>
                                        <p:cTn id="55" dur="1" fill="hold">
                                          <p:stCondLst>
                                            <p:cond delay="0"/>
                                          </p:stCondLst>
                                        </p:cTn>
                                        <p:tgtEl>
                                          <p:spTgt spid="3"/>
                                        </p:tgtEl>
                                        <p:attrNameLst>
                                          <p:attrName>style.visibility</p:attrName>
                                        </p:attrNameLst>
                                      </p:cBhvr>
                                      <p:to>
                                        <p:strVal val="visible"/>
                                      </p:to>
                                    </p:set>
                                    <p:anim calcmode="lin" valueType="num">
                                      <p:cBhvr additive="base">
                                        <p:cTn id="56" dur="500" fill="hold"/>
                                        <p:tgtEl>
                                          <p:spTgt spid="3"/>
                                        </p:tgtEl>
                                        <p:attrNameLst>
                                          <p:attrName>ppt_x</p:attrName>
                                        </p:attrNameLst>
                                      </p:cBhvr>
                                      <p:tavLst>
                                        <p:tav tm="0">
                                          <p:val>
                                            <p:strVal val="1+#ppt_w/2"/>
                                          </p:val>
                                        </p:tav>
                                        <p:tav tm="100000">
                                          <p:val>
                                            <p:strVal val="#ppt_x"/>
                                          </p:val>
                                        </p:tav>
                                      </p:tavLst>
                                    </p:anim>
                                    <p:anim calcmode="lin" valueType="num">
                                      <p:cBhvr additive="base">
                                        <p:cTn id="57" dur="500" fill="hold"/>
                                        <p:tgtEl>
                                          <p:spTgt spid="3"/>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400"/>
                                  </p:stCondLst>
                                  <p:childTnLst>
                                    <p:set>
                                      <p:cBhvr>
                                        <p:cTn id="59" dur="1" fill="hold">
                                          <p:stCondLst>
                                            <p:cond delay="0"/>
                                          </p:stCondLst>
                                        </p:cTn>
                                        <p:tgtEl>
                                          <p:spTgt spid="4"/>
                                        </p:tgtEl>
                                        <p:attrNameLst>
                                          <p:attrName>style.visibility</p:attrName>
                                        </p:attrNameLst>
                                      </p:cBhvr>
                                      <p:to>
                                        <p:strVal val="visible"/>
                                      </p:to>
                                    </p:set>
                                    <p:anim calcmode="lin" valueType="num">
                                      <p:cBhvr additive="base">
                                        <p:cTn id="60" dur="500" fill="hold"/>
                                        <p:tgtEl>
                                          <p:spTgt spid="4"/>
                                        </p:tgtEl>
                                        <p:attrNameLst>
                                          <p:attrName>ppt_x</p:attrName>
                                        </p:attrNameLst>
                                      </p:cBhvr>
                                      <p:tavLst>
                                        <p:tav tm="0">
                                          <p:val>
                                            <p:strVal val="0-#ppt_w/2"/>
                                          </p:val>
                                        </p:tav>
                                        <p:tav tm="100000">
                                          <p:val>
                                            <p:strVal val="#ppt_x"/>
                                          </p:val>
                                        </p:tav>
                                      </p:tavLst>
                                    </p:anim>
                                    <p:anim calcmode="lin" valueType="num">
                                      <p:cBhvr additive="base">
                                        <p:cTn id="61"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4" grpId="0" bldLvl="0" animBg="1"/>
      <p:bldP spid="15" grpId="0" bldLvl="0" animBg="1"/>
      <p:bldP spid="16" grpId="0"/>
      <p:bldP spid="17" grpId="0" bldLvl="0" animBg="1"/>
      <p:bldP spid="18" grpId="0"/>
      <p:bldP spid="19" grpId="0" bldLvl="0" animBg="1"/>
      <p:bldP spid="20" grpId="0"/>
      <p:bldP spid="23" grpId="0" bldLvl="0" animBg="1"/>
      <p:bldP spid="24" grpId="0" bldLvl="0" animBg="1"/>
      <p:bldP spid="25" grpId="0" bldLvl="0" animBg="1"/>
      <p:bldP spid="5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直接箭头连接符 36"/>
          <p:cNvCxnSpPr/>
          <p:nvPr/>
        </p:nvCxnSpPr>
        <p:spPr>
          <a:xfrm>
            <a:off x="3540125" y="5287645"/>
            <a:ext cx="2878455" cy="3810"/>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rot="5400000">
            <a:off x="358724" y="3893830"/>
            <a:ext cx="3564000" cy="180023"/>
          </a:xfrm>
          <a:prstGeom prst="rect">
            <a:avLst/>
          </a:prstGeom>
          <a:solidFill>
            <a:srgbClr val="E8432E"/>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22" name="TextBox 34"/>
          <p:cNvSpPr txBox="1"/>
          <p:nvPr/>
        </p:nvSpPr>
        <p:spPr>
          <a:xfrm>
            <a:off x="1068646" y="2885737"/>
            <a:ext cx="613410" cy="2263140"/>
          </a:xfrm>
          <a:prstGeom prst="rect">
            <a:avLst/>
          </a:prstGeom>
          <a:noFill/>
        </p:spPr>
        <p:txBody>
          <a:bodyPr vert="eaVert"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2800" b="1" spc="50" dirty="0">
                <a:ln w="11430"/>
                <a:latin typeface="微软雅黑" panose="020B0503020204020204" pitchFamily="34" charset="-122"/>
                <a:ea typeface="微软雅黑" panose="020B0503020204020204" pitchFamily="34" charset="-122"/>
              </a:rPr>
              <a:t>销售盈利流程</a:t>
            </a:r>
          </a:p>
        </p:txBody>
      </p:sp>
      <p:sp>
        <p:nvSpPr>
          <p:cNvPr id="26" name="矩形 25"/>
          <p:cNvSpPr/>
          <p:nvPr/>
        </p:nvSpPr>
        <p:spPr>
          <a:xfrm>
            <a:off x="2596515" y="2116455"/>
            <a:ext cx="1080135" cy="768985"/>
          </a:xfrm>
          <a:prstGeom prst="rect">
            <a:avLst/>
          </a:prstGeom>
          <a:solidFill>
            <a:schemeClr val="bg1"/>
          </a:solidFill>
          <a:ln>
            <a:noFill/>
          </a:ln>
          <a:effectLst>
            <a:outerShdw blurRad="190500" dist="228600" dir="2700000" algn="ctr">
              <a:srgbClr val="000000">
                <a:alpha val="30000"/>
              </a:srgbClr>
            </a:outerShdw>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600" dirty="0">
                <a:solidFill>
                  <a:srgbClr val="E8432E"/>
                </a:solidFill>
                <a:latin typeface="微软雅黑" panose="020B0503020204020204" pitchFamily="34" charset="-122"/>
                <a:ea typeface="微软雅黑" panose="020B0503020204020204" pitchFamily="34" charset="-122"/>
              </a:rPr>
              <a:t>自助充值</a:t>
            </a:r>
            <a:r>
              <a:rPr lang="en-US" altLang="zh-CN" sz="1600" dirty="0">
                <a:solidFill>
                  <a:srgbClr val="E8432E"/>
                </a:solidFill>
                <a:latin typeface="微软雅黑" panose="020B0503020204020204" pitchFamily="34" charset="-122"/>
                <a:ea typeface="微软雅黑" panose="020B0503020204020204" pitchFamily="34" charset="-122"/>
              </a:rPr>
              <a:t>29</a:t>
            </a:r>
          </a:p>
        </p:txBody>
      </p:sp>
      <p:sp>
        <p:nvSpPr>
          <p:cNvPr id="27" name="矩形 26"/>
          <p:cNvSpPr/>
          <p:nvPr/>
        </p:nvSpPr>
        <p:spPr>
          <a:xfrm>
            <a:off x="2596515" y="4789805"/>
            <a:ext cx="1259840" cy="635635"/>
          </a:xfrm>
          <a:prstGeom prst="rect">
            <a:avLst/>
          </a:prstGeom>
          <a:solidFill>
            <a:schemeClr val="bg1"/>
          </a:solidFill>
          <a:ln>
            <a:noFill/>
          </a:ln>
          <a:effectLst>
            <a:outerShdw blurRad="190500" dist="228600" dir="2700000" algn="ctr">
              <a:srgbClr val="000000">
                <a:alpha val="30000"/>
              </a:srgbClr>
            </a:outerShdw>
          </a:effectLst>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r>
              <a:rPr lang="zh-CN" altLang="en-US" sz="1600" dirty="0">
                <a:solidFill>
                  <a:srgbClr val="E8432E"/>
                </a:solidFill>
                <a:latin typeface="微软雅黑" panose="020B0503020204020204" pitchFamily="34" charset="-122"/>
                <a:ea typeface="微软雅黑" panose="020B0503020204020204" pitchFamily="34" charset="-122"/>
                <a:sym typeface="+mn-ea"/>
              </a:rPr>
              <a:t>前端消费1</a:t>
            </a:r>
          </a:p>
        </p:txBody>
      </p:sp>
      <p:sp>
        <p:nvSpPr>
          <p:cNvPr id="28" name="矩形 27"/>
          <p:cNvSpPr/>
          <p:nvPr/>
        </p:nvSpPr>
        <p:spPr>
          <a:xfrm>
            <a:off x="2596515" y="3239770"/>
            <a:ext cx="1260475" cy="805815"/>
          </a:xfrm>
          <a:prstGeom prst="rect">
            <a:avLst/>
          </a:prstGeom>
          <a:solidFill>
            <a:schemeClr val="bg1"/>
          </a:solidFill>
          <a:ln>
            <a:noFill/>
          </a:ln>
          <a:effectLst>
            <a:outerShdw blurRad="190500" dist="228600" dir="2700000" algn="ctr">
              <a:srgbClr val="000000">
                <a:alpha val="30000"/>
              </a:srgbClr>
            </a:outerShdw>
          </a:effectLst>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r>
              <a:rPr lang="zh-CN" altLang="en-US" sz="1600" dirty="0">
                <a:solidFill>
                  <a:srgbClr val="E8432E"/>
                </a:solidFill>
                <a:latin typeface="微软雅黑" panose="020B0503020204020204" pitchFamily="34" charset="-122"/>
                <a:ea typeface="微软雅黑" panose="020B0503020204020204" pitchFamily="34" charset="-122"/>
                <a:sym typeface="+mn-ea"/>
              </a:rPr>
              <a:t>代理商预存款70</a:t>
            </a:r>
          </a:p>
        </p:txBody>
      </p:sp>
      <p:sp>
        <p:nvSpPr>
          <p:cNvPr id="29" name="椭圆 28"/>
          <p:cNvSpPr/>
          <p:nvPr/>
        </p:nvSpPr>
        <p:spPr>
          <a:xfrm rot="5400000">
            <a:off x="5211717" y="3643038"/>
            <a:ext cx="3600460" cy="540069"/>
          </a:xfrm>
          <a:prstGeom prst="ellipse">
            <a:avLst/>
          </a:prstGeom>
          <a:solidFill>
            <a:schemeClr val="bg1"/>
          </a:solidFill>
          <a:ln>
            <a:noFill/>
          </a:ln>
          <a:effectLst>
            <a:outerShdw blurRad="190500" dist="228600" dir="2700000" algn="ctr">
              <a:srgbClr val="000000">
                <a:alpha val="30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30" name="TextBox 44"/>
          <p:cNvSpPr txBox="1"/>
          <p:nvPr/>
        </p:nvSpPr>
        <p:spPr>
          <a:xfrm>
            <a:off x="6812990" y="3176779"/>
            <a:ext cx="398145" cy="1612900"/>
          </a:xfrm>
          <a:prstGeom prst="rect">
            <a:avLst/>
          </a:prstGeom>
          <a:noFill/>
        </p:spPr>
        <p:txBody>
          <a:bodyPr vert="eaVert"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1400" b="1" spc="50" dirty="0">
                <a:ln w="11430"/>
                <a:solidFill>
                  <a:srgbClr val="002060"/>
                </a:solidFill>
                <a:effectLst/>
                <a:latin typeface="微软雅黑" panose="020B0503020204020204" pitchFamily="34" charset="-122"/>
                <a:ea typeface="微软雅黑" panose="020B0503020204020204" pitchFamily="34" charset="-122"/>
              </a:rPr>
              <a:t>公司第三方账户</a:t>
            </a:r>
            <a:r>
              <a:rPr lang="en-US" altLang="zh-CN" sz="1400" b="1" spc="50" dirty="0">
                <a:ln w="11430"/>
                <a:solidFill>
                  <a:srgbClr val="002060"/>
                </a:solidFill>
                <a:effectLst/>
                <a:latin typeface="微软雅黑" panose="020B0503020204020204" pitchFamily="34" charset="-122"/>
                <a:ea typeface="微软雅黑" panose="020B0503020204020204" pitchFamily="34" charset="-122"/>
              </a:rPr>
              <a:t>60</a:t>
            </a:r>
            <a:endParaRPr lang="zh-CN" altLang="en-US" sz="1400" b="1" spc="50" dirty="0">
              <a:ln w="11430"/>
              <a:solidFill>
                <a:srgbClr val="002060"/>
              </a:solidFill>
              <a:effectLst/>
              <a:latin typeface="微软雅黑" panose="020B0503020204020204" pitchFamily="34" charset="-122"/>
              <a:ea typeface="微软雅黑" panose="020B0503020204020204" pitchFamily="34" charset="-122"/>
            </a:endParaRPr>
          </a:p>
        </p:txBody>
      </p:sp>
      <p:sp>
        <p:nvSpPr>
          <p:cNvPr id="31" name="正五边形 30"/>
          <p:cNvSpPr/>
          <p:nvPr/>
        </p:nvSpPr>
        <p:spPr>
          <a:xfrm>
            <a:off x="8118066" y="3618817"/>
            <a:ext cx="2160276" cy="587203"/>
          </a:xfrm>
          <a:prstGeom prst="pentagon">
            <a:avLst/>
          </a:prstGeom>
          <a:solidFill>
            <a:schemeClr val="bg1"/>
          </a:solidFill>
          <a:ln>
            <a:noFill/>
          </a:ln>
          <a:effectLst>
            <a:outerShdw blurRad="190500" dist="228600" dir="2700000" algn="ctr">
              <a:srgbClr val="000000">
                <a:alpha val="30000"/>
              </a:srgb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结算公司账户</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zh-CN" altLang="en-US" sz="1200" dirty="0">
                <a:solidFill>
                  <a:schemeClr val="tx1"/>
                </a:solidFill>
                <a:latin typeface="微软雅黑" panose="020B0503020204020204" pitchFamily="34" charset="-122"/>
                <a:ea typeface="微软雅黑" panose="020B0503020204020204" pitchFamily="34" charset="-122"/>
              </a:rPr>
              <a:t>确认收入</a:t>
            </a:r>
            <a:r>
              <a:rPr lang="en-US" altLang="zh-CN" sz="1200" dirty="0">
                <a:solidFill>
                  <a:schemeClr val="tx1"/>
                </a:solidFill>
                <a:latin typeface="微软雅黑" panose="020B0503020204020204" pitchFamily="34" charset="-122"/>
                <a:ea typeface="微软雅黑" panose="020B0503020204020204" pitchFamily="34" charset="-122"/>
              </a:rPr>
              <a:t>60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2" name="圆角矩形 31"/>
          <p:cNvSpPr/>
          <p:nvPr/>
        </p:nvSpPr>
        <p:spPr>
          <a:xfrm>
            <a:off x="7454536" y="4746990"/>
            <a:ext cx="3600460" cy="540069"/>
          </a:xfrm>
          <a:prstGeom prst="roundRect">
            <a:avLst/>
          </a:prstGeom>
          <a:solidFill>
            <a:schemeClr val="bg1"/>
          </a:solidFill>
          <a:ln>
            <a:noFill/>
          </a:ln>
          <a:effectLst>
            <a:outerShdw blurRad="190500" dist="228600" dir="2700000" algn="ctr">
              <a:srgbClr val="000000">
                <a:alpha val="30000"/>
              </a:srgb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主营业务成本、营业税金及附加、销售费用、管理费用、财务费用、营业外支出、所得税支出</a:t>
            </a:r>
          </a:p>
        </p:txBody>
      </p:sp>
      <p:sp>
        <p:nvSpPr>
          <p:cNvPr id="33" name="对角圆角矩形 32"/>
          <p:cNvSpPr/>
          <p:nvPr/>
        </p:nvSpPr>
        <p:spPr>
          <a:xfrm>
            <a:off x="4568190" y="2597785"/>
            <a:ext cx="1692910" cy="1021080"/>
          </a:xfrm>
          <a:prstGeom prst="round2DiagRect">
            <a:avLst>
              <a:gd name="adj1" fmla="val 28277"/>
              <a:gd name="adj2" fmla="val 0"/>
            </a:avLst>
          </a:prstGeom>
          <a:solidFill>
            <a:schemeClr val="bg1"/>
          </a:solidFill>
          <a:ln>
            <a:noFill/>
          </a:ln>
          <a:effectLst>
            <a:outerShdw blurRad="190500" dist="228600" dir="2700000" algn="ctr">
              <a:srgbClr val="000000">
                <a:alpha val="30000"/>
              </a:srgb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400" dirty="0">
                <a:solidFill>
                  <a:srgbClr val="E8432E"/>
                </a:solidFill>
                <a:latin typeface="微软雅黑" panose="020B0503020204020204" pitchFamily="34" charset="-122"/>
                <a:ea typeface="微软雅黑" panose="020B0503020204020204" pitchFamily="34" charset="-122"/>
              </a:rPr>
              <a:t>兑点、点歌台提成、工资底薪励等</a:t>
            </a:r>
            <a:r>
              <a:rPr lang="en-US" altLang="zh-CN" sz="1400" dirty="0">
                <a:solidFill>
                  <a:srgbClr val="E8432E"/>
                </a:solidFill>
                <a:latin typeface="微软雅黑" panose="020B0503020204020204" pitchFamily="34" charset="-122"/>
                <a:ea typeface="微软雅黑" panose="020B0503020204020204" pitchFamily="34" charset="-122"/>
              </a:rPr>
              <a:t>40</a:t>
            </a:r>
          </a:p>
        </p:txBody>
      </p:sp>
      <p:cxnSp>
        <p:nvCxnSpPr>
          <p:cNvPr id="34" name="直接箭头连接符 33"/>
          <p:cNvCxnSpPr>
            <a:stCxn id="28" idx="3"/>
          </p:cNvCxnSpPr>
          <p:nvPr/>
        </p:nvCxnSpPr>
        <p:spPr>
          <a:xfrm flipV="1">
            <a:off x="3856990" y="3359150"/>
            <a:ext cx="695325" cy="28384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3676650" y="2476500"/>
            <a:ext cx="891540" cy="74485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3676650" y="2377440"/>
            <a:ext cx="2988310" cy="2540"/>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3913505" y="3909695"/>
            <a:ext cx="2347595" cy="190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7454265" y="3911600"/>
            <a:ext cx="663575" cy="2540"/>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9198204" y="4206460"/>
            <a:ext cx="0" cy="396000"/>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12416589" y="7251032"/>
            <a:ext cx="240665" cy="368300"/>
          </a:xfrm>
          <a:prstGeom prst="rect">
            <a:avLst/>
          </a:prstGeom>
          <a:noFill/>
        </p:spPr>
        <p:txBody>
          <a:bodyPr wrap="none" rtlCol="0">
            <a:spAutoFit/>
          </a:bodyPr>
          <a:lstStyle/>
          <a:p>
            <a:r>
              <a:rPr lang="en-US" altLang="zh-CN" dirty="0"/>
              <a:t>.</a:t>
            </a:r>
            <a:endParaRPr lang="zh-CN" altLang="en-US" dirty="0"/>
          </a:p>
        </p:txBody>
      </p:sp>
      <p:sp>
        <p:nvSpPr>
          <p:cNvPr id="54" name="矩形 53"/>
          <p:cNvSpPr/>
          <p:nvPr/>
        </p:nvSpPr>
        <p:spPr>
          <a:xfrm>
            <a:off x="1528466" y="395116"/>
            <a:ext cx="2011680" cy="645160"/>
          </a:xfrm>
          <a:prstGeom prst="rect">
            <a:avLst/>
          </a:prstGeom>
        </p:spPr>
        <p:txBody>
          <a:bodyPr wrap="none">
            <a:spAutoFit/>
          </a:bodyPr>
          <a:lstStyle/>
          <a:p>
            <a:r>
              <a:rPr lang="zh-CN" altLang="en-US" sz="3600" b="1" i="0" dirty="0">
                <a:solidFill>
                  <a:srgbClr val="383F4E"/>
                </a:solidFill>
                <a:effectLst/>
                <a:latin typeface="微软雅黑" panose="020B0503020204020204" pitchFamily="34" charset="-122"/>
                <a:ea typeface="微软雅黑" panose="020B0503020204020204" pitchFamily="34" charset="-122"/>
              </a:rPr>
              <a:t>盈利模式</a:t>
            </a:r>
          </a:p>
        </p:txBody>
      </p:sp>
      <p:pic>
        <p:nvPicPr>
          <p:cNvPr id="2" name="45074"/>
          <p:cNvPicPr>
            <a:picLocks noChangeAspect="1"/>
          </p:cNvPicPr>
          <p:nvPr>
            <p:custDataLst>
              <p:tags r:id="rId1"/>
            </p:custDataLst>
          </p:nvPr>
        </p:nvPicPr>
        <p:blipFill>
          <a:blip r:embed="rId4" cstate="print">
            <a:extLst>
              <a:ext uri="{28A0092B-C50C-407E-A947-70E740481C1C}">
                <a14:useLocalDpi xmlns:a14="http://schemas.microsoft.com/office/drawing/2010/main"/>
              </a:ext>
            </a:extLst>
          </a:blip>
          <a:stretch>
            <a:fillRect/>
          </a:stretch>
        </p:blipFill>
        <p:spPr>
          <a:xfrm>
            <a:off x="8314424" y="1912420"/>
            <a:ext cx="1963645" cy="1308459"/>
          </a:xfrm>
          <a:custGeom>
            <a:avLst/>
            <a:gdLst>
              <a:gd name="connsiteX0" fmla="*/ 0 w 1963645"/>
              <a:gd name="connsiteY0" fmla="*/ 0 h 1755062"/>
              <a:gd name="connsiteX1" fmla="*/ 1963645 w 1963645"/>
              <a:gd name="connsiteY1" fmla="*/ 0 h 1755062"/>
              <a:gd name="connsiteX2" fmla="*/ 1963645 w 1963645"/>
              <a:gd name="connsiteY2" fmla="*/ 1755062 h 1755062"/>
              <a:gd name="connsiteX3" fmla="*/ 0 w 1963645"/>
              <a:gd name="connsiteY3" fmla="*/ 1755062 h 1755062"/>
            </a:gdLst>
            <a:ahLst/>
            <a:cxnLst>
              <a:cxn ang="0">
                <a:pos x="connsiteX0" y="connsiteY0"/>
              </a:cxn>
              <a:cxn ang="0">
                <a:pos x="connsiteX1" y="connsiteY1"/>
              </a:cxn>
              <a:cxn ang="0">
                <a:pos x="connsiteX2" y="connsiteY2"/>
              </a:cxn>
              <a:cxn ang="0">
                <a:pos x="connsiteX3" y="connsiteY3"/>
              </a:cxn>
            </a:cxnLst>
            <a:rect l="l" t="t" r="r" b="b"/>
            <a:pathLst>
              <a:path w="1963645" h="1755062">
                <a:moveTo>
                  <a:pt x="0" y="0"/>
                </a:moveTo>
                <a:lnTo>
                  <a:pt x="1963645" y="0"/>
                </a:lnTo>
                <a:lnTo>
                  <a:pt x="1963645" y="1755062"/>
                </a:lnTo>
                <a:lnTo>
                  <a:pt x="0" y="1755062"/>
                </a:lnTo>
                <a:close/>
              </a:path>
            </a:pathLst>
          </a:cu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up)">
                                      <p:cBhvr>
                                        <p:cTn id="10" dur="500"/>
                                        <p:tgtEl>
                                          <p:spTgt spid="2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up)">
                                      <p:cBhvr>
                                        <p:cTn id="13" dur="500"/>
                                        <p:tgtEl>
                                          <p:spTgt spid="2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up)">
                                      <p:cBhvr>
                                        <p:cTn id="16" dur="500"/>
                                        <p:tgtEl>
                                          <p:spTgt spid="27"/>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500"/>
                                        <p:tgtEl>
                                          <p:spTgt spid="28"/>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500"/>
                                        <p:tgtEl>
                                          <p:spTgt spid="29"/>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up)">
                                      <p:cBhvr>
                                        <p:cTn id="25" dur="500"/>
                                        <p:tgtEl>
                                          <p:spTgt spid="30"/>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up)">
                                      <p:cBhvr>
                                        <p:cTn id="28" dur="500"/>
                                        <p:tgtEl>
                                          <p:spTgt spid="31"/>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up)">
                                      <p:cBhvr>
                                        <p:cTn id="31" dur="500"/>
                                        <p:tgtEl>
                                          <p:spTgt spid="32"/>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par>
                                <p:cTn id="35" presetID="22" presetClass="entr" presetSubtype="1"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up)">
                                      <p:cBhvr>
                                        <p:cTn id="37" dur="500"/>
                                        <p:tgtEl>
                                          <p:spTgt spid="34"/>
                                        </p:tgtEl>
                                      </p:cBhvr>
                                    </p:animEffect>
                                  </p:childTnLst>
                                </p:cTn>
                              </p:par>
                              <p:par>
                                <p:cTn id="38" presetID="22" presetClass="entr" presetSubtype="1" fill="hold"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up)">
                                      <p:cBhvr>
                                        <p:cTn id="40" dur="500"/>
                                        <p:tgtEl>
                                          <p:spTgt spid="35"/>
                                        </p:tgtEl>
                                      </p:cBhvr>
                                    </p:animEffect>
                                  </p:childTnLst>
                                </p:cTn>
                              </p:par>
                              <p:par>
                                <p:cTn id="41" presetID="22" presetClass="entr" presetSubtype="1"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up)">
                                      <p:cBhvr>
                                        <p:cTn id="43" dur="500"/>
                                        <p:tgtEl>
                                          <p:spTgt spid="36"/>
                                        </p:tgtEl>
                                      </p:cBhvr>
                                    </p:animEffect>
                                  </p:childTnLst>
                                </p:cTn>
                              </p:par>
                              <p:par>
                                <p:cTn id="44" presetID="22" presetClass="entr" presetSubtype="1"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up)">
                                      <p:cBhvr>
                                        <p:cTn id="46" dur="500"/>
                                        <p:tgtEl>
                                          <p:spTgt spid="37"/>
                                        </p:tgtEl>
                                      </p:cBhvr>
                                    </p:animEffect>
                                  </p:childTnLst>
                                </p:cTn>
                              </p:par>
                              <p:par>
                                <p:cTn id="47" presetID="22" presetClass="entr" presetSubtype="1"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up)">
                                      <p:cBhvr>
                                        <p:cTn id="49" dur="500"/>
                                        <p:tgtEl>
                                          <p:spTgt spid="38"/>
                                        </p:tgtEl>
                                      </p:cBhvr>
                                    </p:animEffect>
                                  </p:childTnLst>
                                </p:cTn>
                              </p:par>
                              <p:par>
                                <p:cTn id="50" presetID="22" presetClass="entr" presetSubtype="1"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up)">
                                      <p:cBhvr>
                                        <p:cTn id="52" dur="500"/>
                                        <p:tgtEl>
                                          <p:spTgt spid="39"/>
                                        </p:tgtEl>
                                      </p:cBhvr>
                                    </p:animEffect>
                                  </p:childTnLst>
                                </p:cTn>
                              </p:par>
                              <p:par>
                                <p:cTn id="53" presetID="22" presetClass="entr" presetSubtype="1"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up)">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0" nodeType="clickEffect">
                                  <p:stCondLst>
                                    <p:cond delay="2000"/>
                                  </p:stCondLst>
                                  <p:childTnLst>
                                    <p:animEffect transition="out" filter="fade">
                                      <p:cBhvr>
                                        <p:cTn id="59" dur="500"/>
                                        <p:tgtEl>
                                          <p:spTgt spid="50"/>
                                        </p:tgtEl>
                                      </p:cBhvr>
                                    </p:animEffect>
                                    <p:set>
                                      <p:cBhvr>
                                        <p:cTn id="60" dur="1" fill="hold">
                                          <p:stCondLst>
                                            <p:cond delay="499"/>
                                          </p:stCondLst>
                                        </p:cTn>
                                        <p:tgtEl>
                                          <p:spTgt spid="50"/>
                                        </p:tgtEl>
                                        <p:attrNameLst>
                                          <p:attrName>style.visibility</p:attrName>
                                        </p:attrNameLst>
                                      </p:cBhvr>
                                      <p:to>
                                        <p:strVal val="hidden"/>
                                      </p:to>
                                    </p:set>
                                  </p:childTnLst>
                                </p:cTn>
                              </p:par>
                            </p:childTnLst>
                          </p:cTn>
                        </p:par>
                        <p:par>
                          <p:cTn id="61" fill="hold">
                            <p:stCondLst>
                              <p:cond delay="2500"/>
                            </p:stCondLst>
                            <p:childTnLst>
                              <p:par>
                                <p:cTn id="62" presetID="2" presetClass="entr" presetSubtype="2" fill="hold" nodeType="afterEffect">
                                  <p:stCondLst>
                                    <p:cond delay="0"/>
                                  </p:stCondLst>
                                  <p:childTnLst>
                                    <p:set>
                                      <p:cBhvr>
                                        <p:cTn id="63" dur="1" fill="hold">
                                          <p:stCondLst>
                                            <p:cond delay="0"/>
                                          </p:stCondLst>
                                        </p:cTn>
                                        <p:tgtEl>
                                          <p:spTgt spid="2"/>
                                        </p:tgtEl>
                                        <p:attrNameLst>
                                          <p:attrName>style.visibility</p:attrName>
                                        </p:attrNameLst>
                                      </p:cBhvr>
                                      <p:to>
                                        <p:strVal val="visible"/>
                                      </p:to>
                                    </p:set>
                                    <p:anim calcmode="lin" valueType="num">
                                      <p:cBhvr additive="base">
                                        <p:cTn id="64" dur="500" fill="hold"/>
                                        <p:tgtEl>
                                          <p:spTgt spid="2"/>
                                        </p:tgtEl>
                                        <p:attrNameLst>
                                          <p:attrName>ppt_x</p:attrName>
                                        </p:attrNameLst>
                                      </p:cBhvr>
                                      <p:tavLst>
                                        <p:tav tm="0">
                                          <p:val>
                                            <p:strVal val="1+#ppt_w/2"/>
                                          </p:val>
                                        </p:tav>
                                        <p:tav tm="100000">
                                          <p:val>
                                            <p:strVal val="#ppt_x"/>
                                          </p:val>
                                        </p:tav>
                                      </p:tavLst>
                                    </p:anim>
                                    <p:anim calcmode="lin" valueType="num">
                                      <p:cBhvr additive="base">
                                        <p:cTn id="65"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p:bldP spid="26" grpId="0" bldLvl="0" animBg="1"/>
      <p:bldP spid="27" grpId="0" bldLvl="0" animBg="1"/>
      <p:bldP spid="28" grpId="0" bldLvl="0" animBg="1"/>
      <p:bldP spid="29" grpId="0" bldLvl="0" animBg="1"/>
      <p:bldP spid="30" grpId="0"/>
      <p:bldP spid="31" grpId="0" bldLvl="0" animBg="1"/>
      <p:bldP spid="32" grpId="0" bldLvl="0" animBg="1"/>
      <p:bldP spid="33" grpId="0" bldLvl="0" animBg="1"/>
      <p:bldP spid="5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40840" y="2062492"/>
            <a:ext cx="2113419" cy="4289768"/>
          </a:xfrm>
          <a:prstGeom prst="rect">
            <a:avLst/>
          </a:prstGeom>
        </p:spPr>
      </p:pic>
      <p:sp>
        <p:nvSpPr>
          <p:cNvPr id="51" name="矩形 50"/>
          <p:cNvSpPr/>
          <p:nvPr/>
        </p:nvSpPr>
        <p:spPr>
          <a:xfrm>
            <a:off x="4794501" y="2712092"/>
            <a:ext cx="2011680" cy="645160"/>
          </a:xfrm>
          <a:prstGeom prst="rect">
            <a:avLst/>
          </a:prstGeom>
        </p:spPr>
        <p:txBody>
          <a:bodyPr wrap="none">
            <a:spAutoFit/>
          </a:bodyPr>
          <a:lstStyle/>
          <a:p>
            <a:pPr algn="ctr"/>
            <a:r>
              <a:rPr lang="zh-CN" altLang="en-US" sz="3600" b="1" dirty="0">
                <a:latin typeface="微软雅黑" panose="020B0503020204020204" pitchFamily="34" charset="-122"/>
                <a:ea typeface="微软雅黑" panose="020B0503020204020204" pitchFamily="34" charset="-122"/>
              </a:rPr>
              <a:t>盈利模式</a:t>
            </a:r>
            <a:endParaRPr lang="zh-CN" altLang="en-US" sz="3600" b="1" dirty="0"/>
          </a:p>
        </p:txBody>
      </p:sp>
      <p:sp>
        <p:nvSpPr>
          <p:cNvPr id="52" name="矩形 51"/>
          <p:cNvSpPr/>
          <p:nvPr/>
        </p:nvSpPr>
        <p:spPr>
          <a:xfrm>
            <a:off x="4848146" y="3655374"/>
            <a:ext cx="1908000" cy="2239686"/>
          </a:xfrm>
          <a:prstGeom prst="rect">
            <a:avLst/>
          </a:prstGeom>
          <a:blipFill dpi="0" rotWithShape="1">
            <a:blip r:embed="rId4"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TextBox 8"/>
          <p:cNvSpPr txBox="1">
            <a:spLocks noChangeArrowheads="1"/>
          </p:cNvSpPr>
          <p:nvPr/>
        </p:nvSpPr>
        <p:spPr bwMode="auto">
          <a:xfrm>
            <a:off x="2622381" y="4990743"/>
            <a:ext cx="1614172"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68045"/>
            <a:r>
              <a:rPr lang="zh-CN" altLang="en-US" sz="1100" dirty="0">
                <a:latin typeface="微软雅黑" panose="020B0503020204020204" pitchFamily="34" charset="-122"/>
                <a:ea typeface="微软雅黑" panose="020B0503020204020204" pitchFamily="34" charset="-122"/>
              </a:rPr>
              <a:t>国内外服务外包行业的发展状况，然后具体解析了医药外包</a:t>
            </a:r>
            <a:endParaRPr lang="en-US" altLang="zh-CN" sz="1100" dirty="0">
              <a:latin typeface="微软雅黑" panose="020B0503020204020204" pitchFamily="34" charset="-122"/>
              <a:ea typeface="微软雅黑" panose="020B0503020204020204" pitchFamily="34" charset="-122"/>
            </a:endParaRPr>
          </a:p>
        </p:txBody>
      </p:sp>
      <p:sp>
        <p:nvSpPr>
          <p:cNvPr id="58" name="TextBox 8"/>
          <p:cNvSpPr txBox="1">
            <a:spLocks noChangeArrowheads="1"/>
          </p:cNvSpPr>
          <p:nvPr/>
        </p:nvSpPr>
        <p:spPr bwMode="auto">
          <a:xfrm>
            <a:off x="2630167" y="2211112"/>
            <a:ext cx="1614172"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68045"/>
            <a:r>
              <a:rPr lang="zh-CN" altLang="en-US" sz="1100" dirty="0">
                <a:latin typeface="微软雅黑" panose="020B0503020204020204" pitchFamily="34" charset="-122"/>
                <a:ea typeface="微软雅黑" panose="020B0503020204020204" pitchFamily="34" charset="-122"/>
              </a:rPr>
              <a:t>国内外服务外包行业的发展状况，然后具体解析了医药外包</a:t>
            </a:r>
            <a:endParaRPr lang="en-US" altLang="zh-CN" sz="1100" dirty="0">
              <a:latin typeface="微软雅黑" panose="020B0503020204020204" pitchFamily="34" charset="-122"/>
              <a:ea typeface="微软雅黑" panose="020B0503020204020204" pitchFamily="34" charset="-122"/>
            </a:endParaRPr>
          </a:p>
        </p:txBody>
      </p:sp>
      <p:sp>
        <p:nvSpPr>
          <p:cNvPr id="59" name="TextBox 8"/>
          <p:cNvSpPr txBox="1">
            <a:spLocks noChangeArrowheads="1"/>
          </p:cNvSpPr>
          <p:nvPr/>
        </p:nvSpPr>
        <p:spPr bwMode="auto">
          <a:xfrm>
            <a:off x="9581760" y="2151211"/>
            <a:ext cx="1614172"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68045"/>
            <a:r>
              <a:rPr lang="zh-CN" altLang="en-US" sz="1100" dirty="0">
                <a:latin typeface="微软雅黑" panose="020B0503020204020204" pitchFamily="34" charset="-122"/>
                <a:ea typeface="微软雅黑" panose="020B0503020204020204" pitchFamily="34" charset="-122"/>
              </a:rPr>
              <a:t>国内外服务外包行业的发展状况，然后具体解析了医药外包</a:t>
            </a:r>
            <a:endParaRPr lang="en-US" altLang="zh-CN" sz="1100" dirty="0">
              <a:latin typeface="微软雅黑" panose="020B0503020204020204" pitchFamily="34" charset="-122"/>
              <a:ea typeface="微软雅黑" panose="020B0503020204020204" pitchFamily="34" charset="-122"/>
            </a:endParaRPr>
          </a:p>
        </p:txBody>
      </p:sp>
      <p:sp>
        <p:nvSpPr>
          <p:cNvPr id="60" name="TextBox 8"/>
          <p:cNvSpPr txBox="1">
            <a:spLocks noChangeArrowheads="1"/>
          </p:cNvSpPr>
          <p:nvPr/>
        </p:nvSpPr>
        <p:spPr bwMode="auto">
          <a:xfrm>
            <a:off x="9602659" y="4861560"/>
            <a:ext cx="1614172"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68045"/>
            <a:r>
              <a:rPr lang="zh-CN" altLang="en-US" sz="1100" dirty="0">
                <a:latin typeface="微软雅黑" panose="020B0503020204020204" pitchFamily="34" charset="-122"/>
                <a:ea typeface="微软雅黑" panose="020B0503020204020204" pitchFamily="34" charset="-122"/>
              </a:rPr>
              <a:t>国内外服务外包行业的发展状况，然后具体解析了医药外包</a:t>
            </a:r>
            <a:endParaRPr lang="en-US" altLang="zh-CN" sz="1100" dirty="0">
              <a:latin typeface="微软雅黑" panose="020B0503020204020204" pitchFamily="34" charset="-122"/>
              <a:ea typeface="微软雅黑" panose="020B0503020204020204" pitchFamily="34" charset="-122"/>
            </a:endParaRPr>
          </a:p>
        </p:txBody>
      </p:sp>
      <p:sp>
        <p:nvSpPr>
          <p:cNvPr id="61" name="矩形 60"/>
          <p:cNvSpPr/>
          <p:nvPr/>
        </p:nvSpPr>
        <p:spPr>
          <a:xfrm>
            <a:off x="2630198" y="4632207"/>
            <a:ext cx="1238250" cy="368300"/>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盈利模式</a:t>
            </a:r>
            <a:r>
              <a:rPr lang="en-US" altLang="zh-CN" b="1" dirty="0">
                <a:latin typeface="微软雅黑" panose="020B0503020204020204" pitchFamily="34" charset="-122"/>
                <a:ea typeface="微软雅黑" panose="020B0503020204020204" pitchFamily="34" charset="-122"/>
              </a:rPr>
              <a:t>1</a:t>
            </a:r>
            <a:endParaRPr lang="zh-CN" altLang="en-US" b="1" dirty="0"/>
          </a:p>
        </p:txBody>
      </p:sp>
      <p:sp>
        <p:nvSpPr>
          <p:cNvPr id="62" name="矩形 61"/>
          <p:cNvSpPr/>
          <p:nvPr/>
        </p:nvSpPr>
        <p:spPr>
          <a:xfrm>
            <a:off x="2630167" y="1886328"/>
            <a:ext cx="1238250" cy="368300"/>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盈利模式</a:t>
            </a:r>
            <a:r>
              <a:rPr lang="en-US" altLang="zh-CN" b="1" dirty="0">
                <a:latin typeface="微软雅黑" panose="020B0503020204020204" pitchFamily="34" charset="-122"/>
                <a:ea typeface="微软雅黑" panose="020B0503020204020204" pitchFamily="34" charset="-122"/>
              </a:rPr>
              <a:t>2</a:t>
            </a:r>
            <a:endParaRPr lang="zh-CN" altLang="en-US" b="1" dirty="0"/>
          </a:p>
        </p:txBody>
      </p:sp>
      <p:sp>
        <p:nvSpPr>
          <p:cNvPr id="63" name="矩形 62"/>
          <p:cNvSpPr/>
          <p:nvPr/>
        </p:nvSpPr>
        <p:spPr>
          <a:xfrm>
            <a:off x="9581760" y="1766313"/>
            <a:ext cx="1238250" cy="368300"/>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盈利模式</a:t>
            </a:r>
            <a:r>
              <a:rPr lang="en-US" altLang="zh-CN" b="1" dirty="0">
                <a:latin typeface="微软雅黑" panose="020B0503020204020204" pitchFamily="34" charset="-122"/>
                <a:ea typeface="微软雅黑" panose="020B0503020204020204" pitchFamily="34" charset="-122"/>
              </a:rPr>
              <a:t>3</a:t>
            </a:r>
            <a:endParaRPr lang="zh-CN" altLang="en-US" b="1" dirty="0"/>
          </a:p>
        </p:txBody>
      </p:sp>
      <p:sp>
        <p:nvSpPr>
          <p:cNvPr id="64" name="矩形 63"/>
          <p:cNvSpPr/>
          <p:nvPr/>
        </p:nvSpPr>
        <p:spPr>
          <a:xfrm>
            <a:off x="9581390" y="4488697"/>
            <a:ext cx="1238250" cy="368300"/>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盈利模式</a:t>
            </a:r>
            <a:r>
              <a:rPr lang="en-US" altLang="zh-CN" b="1" dirty="0">
                <a:latin typeface="微软雅黑" panose="020B0503020204020204" pitchFamily="34" charset="-122"/>
                <a:ea typeface="微软雅黑" panose="020B0503020204020204" pitchFamily="34" charset="-122"/>
              </a:rPr>
              <a:t>4</a:t>
            </a:r>
            <a:endParaRPr lang="zh-CN" altLang="en-US" b="1" dirty="0"/>
          </a:p>
        </p:txBody>
      </p:sp>
      <p:sp>
        <p:nvSpPr>
          <p:cNvPr id="65" name="圆角矩形 64"/>
          <p:cNvSpPr/>
          <p:nvPr/>
        </p:nvSpPr>
        <p:spPr>
          <a:xfrm>
            <a:off x="4795139" y="1395108"/>
            <a:ext cx="2006112" cy="859783"/>
          </a:xfrm>
          <a:prstGeom prst="roundRect">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手机</a:t>
            </a:r>
            <a:r>
              <a:rPr lang="en-US" altLang="zh-CN" sz="2000" b="1" dirty="0">
                <a:latin typeface="微软雅黑" panose="020B0503020204020204" pitchFamily="34" charset="-122"/>
                <a:ea typeface="微软雅黑" panose="020B0503020204020204" pitchFamily="34" charset="-122"/>
              </a:rPr>
              <a:t>APP</a:t>
            </a:r>
            <a:r>
              <a:rPr lang="zh-CN" altLang="en-US" sz="2000" b="1" dirty="0">
                <a:latin typeface="微软雅黑" panose="020B0503020204020204" pitchFamily="34" charset="-122"/>
                <a:ea typeface="微软雅黑" panose="020B0503020204020204" pitchFamily="34" charset="-122"/>
              </a:rPr>
              <a:t>平台</a:t>
            </a:r>
          </a:p>
        </p:txBody>
      </p:sp>
      <p:sp>
        <p:nvSpPr>
          <p:cNvPr id="28" name="文本框 27"/>
          <p:cNvSpPr txBox="1"/>
          <p:nvPr/>
        </p:nvSpPr>
        <p:spPr>
          <a:xfrm>
            <a:off x="12416589" y="7251032"/>
            <a:ext cx="240665" cy="368300"/>
          </a:xfrm>
          <a:prstGeom prst="rect">
            <a:avLst/>
          </a:prstGeom>
          <a:noFill/>
        </p:spPr>
        <p:txBody>
          <a:bodyPr wrap="none" rtlCol="0">
            <a:spAutoFit/>
          </a:bodyPr>
          <a:lstStyle/>
          <a:p>
            <a:r>
              <a:rPr lang="en-US" altLang="zh-CN" dirty="0"/>
              <a:t>.</a:t>
            </a:r>
            <a:endParaRPr lang="zh-CN" altLang="en-US" dirty="0"/>
          </a:p>
        </p:txBody>
      </p:sp>
      <p:sp>
        <p:nvSpPr>
          <p:cNvPr id="32" name="矩形 31"/>
          <p:cNvSpPr/>
          <p:nvPr/>
        </p:nvSpPr>
        <p:spPr>
          <a:xfrm>
            <a:off x="1691026" y="434486"/>
            <a:ext cx="2011680" cy="645160"/>
          </a:xfrm>
          <a:prstGeom prst="rect">
            <a:avLst/>
          </a:prstGeom>
        </p:spPr>
        <p:txBody>
          <a:bodyPr wrap="none">
            <a:spAutoFit/>
          </a:bodyPr>
          <a:lstStyle/>
          <a:p>
            <a:r>
              <a:rPr lang="zh-CN" altLang="en-US" sz="3600" b="1" i="0" dirty="0">
                <a:solidFill>
                  <a:srgbClr val="333333"/>
                </a:solidFill>
                <a:effectLst/>
                <a:latin typeface="微软雅黑" panose="020B0503020204020204" pitchFamily="34" charset="-122"/>
                <a:ea typeface="微软雅黑" panose="020B0503020204020204" pitchFamily="34" charset="-122"/>
              </a:rPr>
              <a:t>盈利模式</a:t>
            </a:r>
            <a:endParaRPr lang="zh-CN" altLang="en-US" sz="3600" b="1" dirty="0"/>
          </a:p>
        </p:txBody>
      </p:sp>
      <p:sp>
        <p:nvSpPr>
          <p:cNvPr id="2" name="任意多边形 58"/>
          <p:cNvSpPr>
            <a:spLocks noChangeArrowheads="1"/>
          </p:cNvSpPr>
          <p:nvPr/>
        </p:nvSpPr>
        <p:spPr bwMode="auto">
          <a:xfrm rot="5400000">
            <a:off x="969434" y="1586594"/>
            <a:ext cx="1346200" cy="1534583"/>
          </a:xfrm>
          <a:custGeom>
            <a:avLst/>
            <a:gdLst>
              <a:gd name="T0" fmla="*/ 1150999 w 826161"/>
              <a:gd name="T1" fmla="*/ 1408304 h 940604"/>
              <a:gd name="T2" fmla="*/ 82892 w 826161"/>
              <a:gd name="T3" fmla="*/ 1408304 h 940604"/>
              <a:gd name="T4" fmla="*/ 0 w 826161"/>
              <a:gd name="T5" fmla="*/ 1325205 h 940604"/>
              <a:gd name="T6" fmla="*/ 0 w 826161"/>
              <a:gd name="T7" fmla="*/ 254446 h 940604"/>
              <a:gd name="T8" fmla="*/ 82892 w 826161"/>
              <a:gd name="T9" fmla="*/ 171348 h 940604"/>
              <a:gd name="T10" fmla="*/ 517810 w 826161"/>
              <a:gd name="T11" fmla="*/ 171348 h 940604"/>
              <a:gd name="T12" fmla="*/ 616947 w 826161"/>
              <a:gd name="T13" fmla="*/ 0 h 940604"/>
              <a:gd name="T14" fmla="*/ 716082 w 826161"/>
              <a:gd name="T15" fmla="*/ 171348 h 940604"/>
              <a:gd name="T16" fmla="*/ 1150999 w 826161"/>
              <a:gd name="T17" fmla="*/ 171348 h 940604"/>
              <a:gd name="T18" fmla="*/ 1233892 w 826161"/>
              <a:gd name="T19" fmla="*/ 254446 h 940604"/>
              <a:gd name="T20" fmla="*/ 1233892 w 826161"/>
              <a:gd name="T21" fmla="*/ 1325205 h 940604"/>
              <a:gd name="T22" fmla="*/ 1150999 w 826161"/>
              <a:gd name="T23" fmla="*/ 1408304 h 9406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6161"/>
              <a:gd name="T37" fmla="*/ 0 h 940604"/>
              <a:gd name="T38" fmla="*/ 826161 w 826161"/>
              <a:gd name="T39" fmla="*/ 940604 h 9406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solidFill>
            <a:srgbClr val="E8432E"/>
          </a:solidFill>
          <a:ln w="28575" cap="flat" cmpd="sng">
            <a:noFill/>
            <a:bevel/>
          </a:ln>
        </p:spPr>
        <p:txBody>
          <a:bodyPr anchor="ctr"/>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任意多边形 59"/>
          <p:cNvSpPr>
            <a:spLocks noChangeArrowheads="1"/>
          </p:cNvSpPr>
          <p:nvPr/>
        </p:nvSpPr>
        <p:spPr bwMode="auto">
          <a:xfrm rot="5400000">
            <a:off x="7820237" y="4395622"/>
            <a:ext cx="1346200" cy="1532467"/>
          </a:xfrm>
          <a:custGeom>
            <a:avLst/>
            <a:gdLst>
              <a:gd name="T0" fmla="*/ 1150999 w 826161"/>
              <a:gd name="T1" fmla="*/ 1404423 h 940604"/>
              <a:gd name="T2" fmla="*/ 82892 w 826161"/>
              <a:gd name="T3" fmla="*/ 1404423 h 940604"/>
              <a:gd name="T4" fmla="*/ 0 w 826161"/>
              <a:gd name="T5" fmla="*/ 1321554 h 940604"/>
              <a:gd name="T6" fmla="*/ 0 w 826161"/>
              <a:gd name="T7" fmla="*/ 253744 h 940604"/>
              <a:gd name="T8" fmla="*/ 82892 w 826161"/>
              <a:gd name="T9" fmla="*/ 170876 h 940604"/>
              <a:gd name="T10" fmla="*/ 517810 w 826161"/>
              <a:gd name="T11" fmla="*/ 170876 h 940604"/>
              <a:gd name="T12" fmla="*/ 616947 w 826161"/>
              <a:gd name="T13" fmla="*/ 0 h 940604"/>
              <a:gd name="T14" fmla="*/ 716082 w 826161"/>
              <a:gd name="T15" fmla="*/ 170876 h 940604"/>
              <a:gd name="T16" fmla="*/ 1150999 w 826161"/>
              <a:gd name="T17" fmla="*/ 170876 h 940604"/>
              <a:gd name="T18" fmla="*/ 1233892 w 826161"/>
              <a:gd name="T19" fmla="*/ 253744 h 940604"/>
              <a:gd name="T20" fmla="*/ 1233892 w 826161"/>
              <a:gd name="T21" fmla="*/ 1321554 h 940604"/>
              <a:gd name="T22" fmla="*/ 1150999 w 826161"/>
              <a:gd name="T23" fmla="*/ 1404423 h 9406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6161"/>
              <a:gd name="T37" fmla="*/ 0 h 940604"/>
              <a:gd name="T38" fmla="*/ 826161 w 826161"/>
              <a:gd name="T39" fmla="*/ 940604 h 9406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solidFill>
            <a:srgbClr val="383F4E"/>
          </a:solidFill>
          <a:ln w="28575" cap="flat" cmpd="sng">
            <a:noFill/>
            <a:bevel/>
          </a:ln>
        </p:spPr>
        <p:txBody>
          <a:bodyPr anchor="ctr"/>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任意多边形 60"/>
          <p:cNvSpPr>
            <a:spLocks noChangeArrowheads="1"/>
          </p:cNvSpPr>
          <p:nvPr/>
        </p:nvSpPr>
        <p:spPr bwMode="auto">
          <a:xfrm rot="5400000">
            <a:off x="7820237" y="1632526"/>
            <a:ext cx="1346200" cy="1532467"/>
          </a:xfrm>
          <a:custGeom>
            <a:avLst/>
            <a:gdLst>
              <a:gd name="T0" fmla="*/ 1150999 w 826161"/>
              <a:gd name="T1" fmla="*/ 1404423 h 940604"/>
              <a:gd name="T2" fmla="*/ 82892 w 826161"/>
              <a:gd name="T3" fmla="*/ 1404423 h 940604"/>
              <a:gd name="T4" fmla="*/ 0 w 826161"/>
              <a:gd name="T5" fmla="*/ 1321554 h 940604"/>
              <a:gd name="T6" fmla="*/ 0 w 826161"/>
              <a:gd name="T7" fmla="*/ 253744 h 940604"/>
              <a:gd name="T8" fmla="*/ 82892 w 826161"/>
              <a:gd name="T9" fmla="*/ 170876 h 940604"/>
              <a:gd name="T10" fmla="*/ 517810 w 826161"/>
              <a:gd name="T11" fmla="*/ 170876 h 940604"/>
              <a:gd name="T12" fmla="*/ 616947 w 826161"/>
              <a:gd name="T13" fmla="*/ 0 h 940604"/>
              <a:gd name="T14" fmla="*/ 716082 w 826161"/>
              <a:gd name="T15" fmla="*/ 170876 h 940604"/>
              <a:gd name="T16" fmla="*/ 1150999 w 826161"/>
              <a:gd name="T17" fmla="*/ 170876 h 940604"/>
              <a:gd name="T18" fmla="*/ 1233892 w 826161"/>
              <a:gd name="T19" fmla="*/ 253744 h 940604"/>
              <a:gd name="T20" fmla="*/ 1233892 w 826161"/>
              <a:gd name="T21" fmla="*/ 1321554 h 940604"/>
              <a:gd name="T22" fmla="*/ 1150999 w 826161"/>
              <a:gd name="T23" fmla="*/ 1404423 h 9406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6161"/>
              <a:gd name="T37" fmla="*/ 0 h 940604"/>
              <a:gd name="T38" fmla="*/ 826161 w 826161"/>
              <a:gd name="T39" fmla="*/ 940604 h 9406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solidFill>
            <a:srgbClr val="E8432E"/>
          </a:solidFill>
          <a:ln w="28575" cap="flat" cmpd="sng">
            <a:noFill/>
            <a:bevel/>
          </a:ln>
        </p:spPr>
        <p:txBody>
          <a:bodyPr anchor="ctr"/>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任意多边形 57"/>
          <p:cNvSpPr>
            <a:spLocks noChangeArrowheads="1"/>
          </p:cNvSpPr>
          <p:nvPr/>
        </p:nvSpPr>
        <p:spPr bwMode="auto">
          <a:xfrm rot="5400000">
            <a:off x="1027854" y="4360063"/>
            <a:ext cx="1346200" cy="1534583"/>
          </a:xfrm>
          <a:custGeom>
            <a:avLst/>
            <a:gdLst>
              <a:gd name="T0" fmla="*/ 1150999 w 826161"/>
              <a:gd name="T1" fmla="*/ 1408304 h 940604"/>
              <a:gd name="T2" fmla="*/ 82892 w 826161"/>
              <a:gd name="T3" fmla="*/ 1408304 h 940604"/>
              <a:gd name="T4" fmla="*/ 0 w 826161"/>
              <a:gd name="T5" fmla="*/ 1325205 h 940604"/>
              <a:gd name="T6" fmla="*/ 0 w 826161"/>
              <a:gd name="T7" fmla="*/ 254446 h 940604"/>
              <a:gd name="T8" fmla="*/ 82892 w 826161"/>
              <a:gd name="T9" fmla="*/ 171348 h 940604"/>
              <a:gd name="T10" fmla="*/ 517810 w 826161"/>
              <a:gd name="T11" fmla="*/ 171348 h 940604"/>
              <a:gd name="T12" fmla="*/ 616947 w 826161"/>
              <a:gd name="T13" fmla="*/ 0 h 940604"/>
              <a:gd name="T14" fmla="*/ 716082 w 826161"/>
              <a:gd name="T15" fmla="*/ 171348 h 940604"/>
              <a:gd name="T16" fmla="*/ 1150999 w 826161"/>
              <a:gd name="T17" fmla="*/ 171348 h 940604"/>
              <a:gd name="T18" fmla="*/ 1233892 w 826161"/>
              <a:gd name="T19" fmla="*/ 254446 h 940604"/>
              <a:gd name="T20" fmla="*/ 1233892 w 826161"/>
              <a:gd name="T21" fmla="*/ 1325205 h 940604"/>
              <a:gd name="T22" fmla="*/ 1150999 w 826161"/>
              <a:gd name="T23" fmla="*/ 1408304 h 9406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6161"/>
              <a:gd name="T37" fmla="*/ 0 h 940604"/>
              <a:gd name="T38" fmla="*/ 826161 w 826161"/>
              <a:gd name="T39" fmla="*/ 940604 h 9406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solidFill>
            <a:srgbClr val="383F4E"/>
          </a:solidFill>
          <a:ln w="28575" cap="flat" cmpd="sng">
            <a:noFill/>
            <a:bevel/>
          </a:ln>
        </p:spPr>
        <p:txBody>
          <a:bodyPr anchor="ctr"/>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4" name="Freeform 37"/>
          <p:cNvSpPr>
            <a:spLocks noEditPoints="1"/>
          </p:cNvSpPr>
          <p:nvPr/>
        </p:nvSpPr>
        <p:spPr bwMode="auto">
          <a:xfrm>
            <a:off x="1448441" y="4778672"/>
            <a:ext cx="387114" cy="618135"/>
          </a:xfrm>
          <a:custGeom>
            <a:avLst/>
            <a:gdLst>
              <a:gd name="T0" fmla="*/ 21 w 51"/>
              <a:gd name="T1" fmla="*/ 72 h 94"/>
              <a:gd name="T2" fmla="*/ 22 w 51"/>
              <a:gd name="T3" fmla="*/ 50 h 94"/>
              <a:gd name="T4" fmla="*/ 7 w 51"/>
              <a:gd name="T5" fmla="*/ 40 h 94"/>
              <a:gd name="T6" fmla="*/ 3 w 51"/>
              <a:gd name="T7" fmla="*/ 26 h 94"/>
              <a:gd name="T8" fmla="*/ 9 w 51"/>
              <a:gd name="T9" fmla="*/ 11 h 94"/>
              <a:gd name="T10" fmla="*/ 23 w 51"/>
              <a:gd name="T11" fmla="*/ 5 h 94"/>
              <a:gd name="T12" fmla="*/ 23 w 51"/>
              <a:gd name="T13" fmla="*/ 0 h 94"/>
              <a:gd name="T14" fmla="*/ 31 w 51"/>
              <a:gd name="T15" fmla="*/ 0 h 94"/>
              <a:gd name="T16" fmla="*/ 31 w 51"/>
              <a:gd name="T17" fmla="*/ 5 h 94"/>
              <a:gd name="T18" fmla="*/ 44 w 51"/>
              <a:gd name="T19" fmla="*/ 11 h 94"/>
              <a:gd name="T20" fmla="*/ 50 w 51"/>
              <a:gd name="T21" fmla="*/ 24 h 94"/>
              <a:gd name="T22" fmla="*/ 37 w 51"/>
              <a:gd name="T23" fmla="*/ 25 h 94"/>
              <a:gd name="T24" fmla="*/ 30 w 51"/>
              <a:gd name="T25" fmla="*/ 17 h 94"/>
              <a:gd name="T26" fmla="*/ 30 w 51"/>
              <a:gd name="T27" fmla="*/ 37 h 94"/>
              <a:gd name="T28" fmla="*/ 47 w 51"/>
              <a:gd name="T29" fmla="*/ 47 h 94"/>
              <a:gd name="T30" fmla="*/ 51 w 51"/>
              <a:gd name="T31" fmla="*/ 61 h 94"/>
              <a:gd name="T32" fmla="*/ 45 w 51"/>
              <a:gd name="T33" fmla="*/ 76 h 94"/>
              <a:gd name="T34" fmla="*/ 29 w 51"/>
              <a:gd name="T35" fmla="*/ 84 h 94"/>
              <a:gd name="T36" fmla="*/ 28 w 51"/>
              <a:gd name="T37" fmla="*/ 94 h 94"/>
              <a:gd name="T38" fmla="*/ 21 w 51"/>
              <a:gd name="T39" fmla="*/ 94 h 94"/>
              <a:gd name="T40" fmla="*/ 21 w 51"/>
              <a:gd name="T41" fmla="*/ 84 h 94"/>
              <a:gd name="T42" fmla="*/ 6 w 51"/>
              <a:gd name="T43" fmla="*/ 77 h 94"/>
              <a:gd name="T44" fmla="*/ 0 w 51"/>
              <a:gd name="T45" fmla="*/ 61 h 94"/>
              <a:gd name="T46" fmla="*/ 14 w 51"/>
              <a:gd name="T47" fmla="*/ 60 h 94"/>
              <a:gd name="T48" fmla="*/ 16 w 51"/>
              <a:gd name="T49" fmla="*/ 67 h 94"/>
              <a:gd name="T50" fmla="*/ 21 w 51"/>
              <a:gd name="T51" fmla="*/ 72 h 94"/>
              <a:gd name="T52" fmla="*/ 23 w 51"/>
              <a:gd name="T53" fmla="*/ 17 h 94"/>
              <a:gd name="T54" fmla="*/ 18 w 51"/>
              <a:gd name="T55" fmla="*/ 20 h 94"/>
              <a:gd name="T56" fmla="*/ 16 w 51"/>
              <a:gd name="T57" fmla="*/ 25 h 94"/>
              <a:gd name="T58" fmla="*/ 17 w 51"/>
              <a:gd name="T59" fmla="*/ 31 h 94"/>
              <a:gd name="T60" fmla="*/ 22 w 51"/>
              <a:gd name="T61" fmla="*/ 35 h 94"/>
              <a:gd name="T62" fmla="*/ 23 w 51"/>
              <a:gd name="T63" fmla="*/ 17 h 94"/>
              <a:gd name="T64" fmla="*/ 29 w 51"/>
              <a:gd name="T65" fmla="*/ 72 h 94"/>
              <a:gd name="T66" fmla="*/ 35 w 51"/>
              <a:gd name="T67" fmla="*/ 69 h 94"/>
              <a:gd name="T68" fmla="*/ 38 w 51"/>
              <a:gd name="T69" fmla="*/ 62 h 94"/>
              <a:gd name="T70" fmla="*/ 36 w 51"/>
              <a:gd name="T71" fmla="*/ 56 h 94"/>
              <a:gd name="T72" fmla="*/ 29 w 51"/>
              <a:gd name="T73" fmla="*/ 52 h 94"/>
              <a:gd name="T74" fmla="*/ 29 w 51"/>
              <a:gd name="T75" fmla="*/ 7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 h="94">
                <a:moveTo>
                  <a:pt x="21" y="72"/>
                </a:moveTo>
                <a:cubicBezTo>
                  <a:pt x="22" y="50"/>
                  <a:pt x="22" y="50"/>
                  <a:pt x="22" y="50"/>
                </a:cubicBezTo>
                <a:cubicBezTo>
                  <a:pt x="15" y="47"/>
                  <a:pt x="10" y="44"/>
                  <a:pt x="7" y="40"/>
                </a:cubicBezTo>
                <a:cubicBezTo>
                  <a:pt x="4" y="36"/>
                  <a:pt x="3" y="31"/>
                  <a:pt x="3" y="26"/>
                </a:cubicBezTo>
                <a:cubicBezTo>
                  <a:pt x="3" y="20"/>
                  <a:pt x="5" y="15"/>
                  <a:pt x="9" y="11"/>
                </a:cubicBezTo>
                <a:cubicBezTo>
                  <a:pt x="12" y="8"/>
                  <a:pt x="17" y="6"/>
                  <a:pt x="23" y="5"/>
                </a:cubicBezTo>
                <a:cubicBezTo>
                  <a:pt x="23" y="0"/>
                  <a:pt x="23" y="0"/>
                  <a:pt x="23" y="0"/>
                </a:cubicBezTo>
                <a:cubicBezTo>
                  <a:pt x="31" y="0"/>
                  <a:pt x="31" y="0"/>
                  <a:pt x="31" y="0"/>
                </a:cubicBezTo>
                <a:cubicBezTo>
                  <a:pt x="31" y="5"/>
                  <a:pt x="31" y="5"/>
                  <a:pt x="31" y="5"/>
                </a:cubicBezTo>
                <a:cubicBezTo>
                  <a:pt x="36" y="6"/>
                  <a:pt x="41" y="8"/>
                  <a:pt x="44" y="11"/>
                </a:cubicBezTo>
                <a:cubicBezTo>
                  <a:pt x="47" y="15"/>
                  <a:pt x="49" y="19"/>
                  <a:pt x="50" y="24"/>
                </a:cubicBezTo>
                <a:cubicBezTo>
                  <a:pt x="37" y="25"/>
                  <a:pt x="37" y="25"/>
                  <a:pt x="37" y="25"/>
                </a:cubicBezTo>
                <a:cubicBezTo>
                  <a:pt x="36" y="21"/>
                  <a:pt x="34" y="18"/>
                  <a:pt x="30" y="17"/>
                </a:cubicBezTo>
                <a:cubicBezTo>
                  <a:pt x="30" y="37"/>
                  <a:pt x="30" y="37"/>
                  <a:pt x="30" y="37"/>
                </a:cubicBezTo>
                <a:cubicBezTo>
                  <a:pt x="38" y="40"/>
                  <a:pt x="44" y="43"/>
                  <a:pt x="47" y="47"/>
                </a:cubicBezTo>
                <a:cubicBezTo>
                  <a:pt x="50" y="50"/>
                  <a:pt x="51" y="55"/>
                  <a:pt x="51" y="61"/>
                </a:cubicBezTo>
                <a:cubicBezTo>
                  <a:pt x="51" y="67"/>
                  <a:pt x="49" y="72"/>
                  <a:pt x="45" y="76"/>
                </a:cubicBezTo>
                <a:cubicBezTo>
                  <a:pt x="41" y="81"/>
                  <a:pt x="36" y="83"/>
                  <a:pt x="29" y="84"/>
                </a:cubicBezTo>
                <a:cubicBezTo>
                  <a:pt x="28" y="94"/>
                  <a:pt x="28" y="94"/>
                  <a:pt x="28" y="94"/>
                </a:cubicBezTo>
                <a:cubicBezTo>
                  <a:pt x="21" y="94"/>
                  <a:pt x="21" y="94"/>
                  <a:pt x="21" y="94"/>
                </a:cubicBezTo>
                <a:cubicBezTo>
                  <a:pt x="21" y="84"/>
                  <a:pt x="21" y="84"/>
                  <a:pt x="21" y="84"/>
                </a:cubicBezTo>
                <a:cubicBezTo>
                  <a:pt x="15" y="83"/>
                  <a:pt x="10" y="81"/>
                  <a:pt x="6" y="77"/>
                </a:cubicBezTo>
                <a:cubicBezTo>
                  <a:pt x="3" y="73"/>
                  <a:pt x="1" y="68"/>
                  <a:pt x="0" y="61"/>
                </a:cubicBezTo>
                <a:cubicBezTo>
                  <a:pt x="14" y="60"/>
                  <a:pt x="14" y="60"/>
                  <a:pt x="14" y="60"/>
                </a:cubicBezTo>
                <a:cubicBezTo>
                  <a:pt x="14" y="62"/>
                  <a:pt x="15" y="65"/>
                  <a:pt x="16" y="67"/>
                </a:cubicBezTo>
                <a:cubicBezTo>
                  <a:pt x="18" y="69"/>
                  <a:pt x="19" y="71"/>
                  <a:pt x="21" y="72"/>
                </a:cubicBezTo>
                <a:close/>
                <a:moveTo>
                  <a:pt x="23" y="17"/>
                </a:moveTo>
                <a:cubicBezTo>
                  <a:pt x="21" y="17"/>
                  <a:pt x="19" y="18"/>
                  <a:pt x="18" y="20"/>
                </a:cubicBezTo>
                <a:cubicBezTo>
                  <a:pt x="16" y="22"/>
                  <a:pt x="16" y="23"/>
                  <a:pt x="16" y="25"/>
                </a:cubicBezTo>
                <a:cubicBezTo>
                  <a:pt x="16" y="27"/>
                  <a:pt x="16" y="29"/>
                  <a:pt x="17" y="31"/>
                </a:cubicBezTo>
                <a:cubicBezTo>
                  <a:pt x="18" y="32"/>
                  <a:pt x="20" y="34"/>
                  <a:pt x="22" y="35"/>
                </a:cubicBezTo>
                <a:lnTo>
                  <a:pt x="23" y="17"/>
                </a:lnTo>
                <a:close/>
                <a:moveTo>
                  <a:pt x="29" y="72"/>
                </a:moveTo>
                <a:cubicBezTo>
                  <a:pt x="32" y="72"/>
                  <a:pt x="34" y="71"/>
                  <a:pt x="35" y="69"/>
                </a:cubicBezTo>
                <a:cubicBezTo>
                  <a:pt x="37" y="67"/>
                  <a:pt x="38" y="65"/>
                  <a:pt x="38" y="62"/>
                </a:cubicBezTo>
                <a:cubicBezTo>
                  <a:pt x="38" y="60"/>
                  <a:pt x="38" y="58"/>
                  <a:pt x="36" y="56"/>
                </a:cubicBezTo>
                <a:cubicBezTo>
                  <a:pt x="35" y="54"/>
                  <a:pt x="33" y="53"/>
                  <a:pt x="29" y="52"/>
                </a:cubicBezTo>
                <a:lnTo>
                  <a:pt x="29" y="72"/>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en Sans" panose="020B0606030504020204"/>
              <a:cs typeface="+mn-cs"/>
            </a:endParaRPr>
          </a:p>
        </p:txBody>
      </p:sp>
      <p:sp>
        <p:nvSpPr>
          <p:cNvPr id="35" name="Freeform 63"/>
          <p:cNvSpPr>
            <a:spLocks noEditPoints="1"/>
          </p:cNvSpPr>
          <p:nvPr/>
        </p:nvSpPr>
        <p:spPr bwMode="auto">
          <a:xfrm>
            <a:off x="8157094" y="4837084"/>
            <a:ext cx="563590" cy="640136"/>
          </a:xfrm>
          <a:custGeom>
            <a:avLst/>
            <a:gdLst>
              <a:gd name="T0" fmla="*/ 319 w 352"/>
              <a:gd name="T1" fmla="*/ 209 h 400"/>
              <a:gd name="T2" fmla="*/ 238 w 352"/>
              <a:gd name="T3" fmla="*/ 134 h 400"/>
              <a:gd name="T4" fmla="*/ 251 w 352"/>
              <a:gd name="T5" fmla="*/ 134 h 400"/>
              <a:gd name="T6" fmla="*/ 313 w 352"/>
              <a:gd name="T7" fmla="*/ 114 h 400"/>
              <a:gd name="T8" fmla="*/ 283 w 352"/>
              <a:gd name="T9" fmla="*/ 96 h 400"/>
              <a:gd name="T10" fmla="*/ 292 w 352"/>
              <a:gd name="T11" fmla="*/ 82 h 400"/>
              <a:gd name="T12" fmla="*/ 289 w 352"/>
              <a:gd name="T13" fmla="*/ 75 h 400"/>
              <a:gd name="T14" fmla="*/ 237 w 352"/>
              <a:gd name="T15" fmla="*/ 97 h 400"/>
              <a:gd name="T16" fmla="*/ 231 w 352"/>
              <a:gd name="T17" fmla="*/ 16 h 400"/>
              <a:gd name="T18" fmla="*/ 142 w 352"/>
              <a:gd name="T19" fmla="*/ 17 h 400"/>
              <a:gd name="T20" fmla="*/ 136 w 352"/>
              <a:gd name="T21" fmla="*/ 108 h 400"/>
              <a:gd name="T22" fmla="*/ 121 w 352"/>
              <a:gd name="T23" fmla="*/ 112 h 400"/>
              <a:gd name="T24" fmla="*/ 111 w 352"/>
              <a:gd name="T25" fmla="*/ 119 h 400"/>
              <a:gd name="T26" fmla="*/ 127 w 352"/>
              <a:gd name="T27" fmla="*/ 130 h 400"/>
              <a:gd name="T28" fmla="*/ 34 w 352"/>
              <a:gd name="T29" fmla="*/ 214 h 400"/>
              <a:gd name="T30" fmla="*/ 149 w 352"/>
              <a:gd name="T31" fmla="*/ 391 h 400"/>
              <a:gd name="T32" fmla="*/ 343 w 352"/>
              <a:gd name="T33" fmla="*/ 268 h 400"/>
              <a:gd name="T34" fmla="*/ 303 w 352"/>
              <a:gd name="T35" fmla="*/ 109 h 400"/>
              <a:gd name="T36" fmla="*/ 251 w 352"/>
              <a:gd name="T37" fmla="*/ 123 h 400"/>
              <a:gd name="T38" fmla="*/ 243 w 352"/>
              <a:gd name="T39" fmla="*/ 122 h 400"/>
              <a:gd name="T40" fmla="*/ 280 w 352"/>
              <a:gd name="T41" fmla="*/ 85 h 400"/>
              <a:gd name="T42" fmla="*/ 239 w 352"/>
              <a:gd name="T43" fmla="*/ 111 h 400"/>
              <a:gd name="T44" fmla="*/ 280 w 352"/>
              <a:gd name="T45" fmla="*/ 85 h 400"/>
              <a:gd name="T46" fmla="*/ 218 w 352"/>
              <a:gd name="T47" fmla="*/ 315 h 400"/>
              <a:gd name="T48" fmla="*/ 183 w 352"/>
              <a:gd name="T49" fmla="*/ 326 h 400"/>
              <a:gd name="T50" fmla="*/ 169 w 352"/>
              <a:gd name="T51" fmla="*/ 344 h 400"/>
              <a:gd name="T52" fmla="*/ 147 w 352"/>
              <a:gd name="T53" fmla="*/ 322 h 400"/>
              <a:gd name="T54" fmla="*/ 122 w 352"/>
              <a:gd name="T55" fmla="*/ 300 h 400"/>
              <a:gd name="T56" fmla="*/ 155 w 352"/>
              <a:gd name="T57" fmla="*/ 280 h 400"/>
              <a:gd name="T58" fmla="*/ 169 w 352"/>
              <a:gd name="T59" fmla="*/ 301 h 400"/>
              <a:gd name="T60" fmla="*/ 142 w 352"/>
              <a:gd name="T61" fmla="*/ 258 h 400"/>
              <a:gd name="T62" fmla="*/ 122 w 352"/>
              <a:gd name="T63" fmla="*/ 225 h 400"/>
              <a:gd name="T64" fmla="*/ 169 w 352"/>
              <a:gd name="T65" fmla="*/ 184 h 400"/>
              <a:gd name="T66" fmla="*/ 183 w 352"/>
              <a:gd name="T67" fmla="*/ 175 h 400"/>
              <a:gd name="T68" fmla="*/ 215 w 352"/>
              <a:gd name="T69" fmla="*/ 194 h 400"/>
              <a:gd name="T70" fmla="*/ 195 w 352"/>
              <a:gd name="T71" fmla="*/ 223 h 400"/>
              <a:gd name="T72" fmla="*/ 183 w 352"/>
              <a:gd name="T73" fmla="*/ 209 h 400"/>
              <a:gd name="T74" fmla="*/ 221 w 352"/>
              <a:gd name="T75" fmla="*/ 252 h 400"/>
              <a:gd name="T76" fmla="*/ 230 w 352"/>
              <a:gd name="T77" fmla="*/ 301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2" h="400">
                <a:moveTo>
                  <a:pt x="343" y="268"/>
                </a:moveTo>
                <a:cubicBezTo>
                  <a:pt x="339" y="245"/>
                  <a:pt x="331" y="231"/>
                  <a:pt x="319" y="209"/>
                </a:cubicBezTo>
                <a:cubicBezTo>
                  <a:pt x="308" y="192"/>
                  <a:pt x="288" y="172"/>
                  <a:pt x="273" y="160"/>
                </a:cubicBezTo>
                <a:cubicBezTo>
                  <a:pt x="262" y="151"/>
                  <a:pt x="249" y="143"/>
                  <a:pt x="238" y="134"/>
                </a:cubicBezTo>
                <a:cubicBezTo>
                  <a:pt x="241" y="134"/>
                  <a:pt x="241" y="134"/>
                  <a:pt x="241" y="134"/>
                </a:cubicBezTo>
                <a:cubicBezTo>
                  <a:pt x="251" y="134"/>
                  <a:pt x="251" y="134"/>
                  <a:pt x="251" y="134"/>
                </a:cubicBezTo>
                <a:cubicBezTo>
                  <a:pt x="258" y="134"/>
                  <a:pt x="266" y="134"/>
                  <a:pt x="274" y="133"/>
                </a:cubicBezTo>
                <a:cubicBezTo>
                  <a:pt x="283" y="132"/>
                  <a:pt x="306" y="128"/>
                  <a:pt x="313" y="114"/>
                </a:cubicBezTo>
                <a:cubicBezTo>
                  <a:pt x="318" y="104"/>
                  <a:pt x="314" y="99"/>
                  <a:pt x="311" y="97"/>
                </a:cubicBezTo>
                <a:cubicBezTo>
                  <a:pt x="306" y="93"/>
                  <a:pt x="295" y="94"/>
                  <a:pt x="283" y="96"/>
                </a:cubicBezTo>
                <a:cubicBezTo>
                  <a:pt x="288" y="92"/>
                  <a:pt x="291" y="88"/>
                  <a:pt x="292" y="84"/>
                </a:cubicBezTo>
                <a:cubicBezTo>
                  <a:pt x="292" y="84"/>
                  <a:pt x="292" y="83"/>
                  <a:pt x="292" y="82"/>
                </a:cubicBezTo>
                <a:cubicBezTo>
                  <a:pt x="292" y="80"/>
                  <a:pt x="292" y="78"/>
                  <a:pt x="290" y="76"/>
                </a:cubicBezTo>
                <a:cubicBezTo>
                  <a:pt x="289" y="75"/>
                  <a:pt x="289" y="75"/>
                  <a:pt x="289" y="75"/>
                </a:cubicBezTo>
                <a:cubicBezTo>
                  <a:pt x="287" y="74"/>
                  <a:pt x="287" y="74"/>
                  <a:pt x="287" y="74"/>
                </a:cubicBezTo>
                <a:cubicBezTo>
                  <a:pt x="272" y="72"/>
                  <a:pt x="251" y="83"/>
                  <a:pt x="237" y="97"/>
                </a:cubicBezTo>
                <a:cubicBezTo>
                  <a:pt x="252" y="77"/>
                  <a:pt x="280" y="51"/>
                  <a:pt x="285" y="30"/>
                </a:cubicBezTo>
                <a:cubicBezTo>
                  <a:pt x="266" y="29"/>
                  <a:pt x="247" y="25"/>
                  <a:pt x="231" y="16"/>
                </a:cubicBezTo>
                <a:cubicBezTo>
                  <a:pt x="216" y="8"/>
                  <a:pt x="209" y="0"/>
                  <a:pt x="191" y="3"/>
                </a:cubicBezTo>
                <a:cubicBezTo>
                  <a:pt x="174" y="5"/>
                  <a:pt x="158" y="13"/>
                  <a:pt x="142" y="17"/>
                </a:cubicBezTo>
                <a:cubicBezTo>
                  <a:pt x="124" y="22"/>
                  <a:pt x="108" y="15"/>
                  <a:pt x="90" y="18"/>
                </a:cubicBezTo>
                <a:cubicBezTo>
                  <a:pt x="87" y="49"/>
                  <a:pt x="125" y="79"/>
                  <a:pt x="136" y="108"/>
                </a:cubicBezTo>
                <a:cubicBezTo>
                  <a:pt x="131" y="109"/>
                  <a:pt x="126" y="110"/>
                  <a:pt x="121" y="112"/>
                </a:cubicBezTo>
                <a:cubicBezTo>
                  <a:pt x="121" y="112"/>
                  <a:pt x="121" y="112"/>
                  <a:pt x="121" y="112"/>
                </a:cubicBezTo>
                <a:cubicBezTo>
                  <a:pt x="118" y="113"/>
                  <a:pt x="115" y="114"/>
                  <a:pt x="114" y="116"/>
                </a:cubicBezTo>
                <a:cubicBezTo>
                  <a:pt x="111" y="119"/>
                  <a:pt x="111" y="119"/>
                  <a:pt x="111" y="119"/>
                </a:cubicBezTo>
                <a:cubicBezTo>
                  <a:pt x="113" y="123"/>
                  <a:pt x="113" y="123"/>
                  <a:pt x="113" y="123"/>
                </a:cubicBezTo>
                <a:cubicBezTo>
                  <a:pt x="116" y="127"/>
                  <a:pt x="120" y="129"/>
                  <a:pt x="127" y="130"/>
                </a:cubicBezTo>
                <a:cubicBezTo>
                  <a:pt x="113" y="139"/>
                  <a:pt x="96" y="149"/>
                  <a:pt x="84" y="159"/>
                </a:cubicBezTo>
                <a:cubicBezTo>
                  <a:pt x="69" y="172"/>
                  <a:pt x="46" y="198"/>
                  <a:pt x="34" y="214"/>
                </a:cubicBezTo>
                <a:cubicBezTo>
                  <a:pt x="13" y="240"/>
                  <a:pt x="0" y="275"/>
                  <a:pt x="6" y="307"/>
                </a:cubicBezTo>
                <a:cubicBezTo>
                  <a:pt x="18" y="370"/>
                  <a:pt x="92" y="391"/>
                  <a:pt x="149" y="391"/>
                </a:cubicBezTo>
                <a:cubicBezTo>
                  <a:pt x="212" y="391"/>
                  <a:pt x="293" y="400"/>
                  <a:pt x="335" y="348"/>
                </a:cubicBezTo>
                <a:cubicBezTo>
                  <a:pt x="352" y="327"/>
                  <a:pt x="347" y="295"/>
                  <a:pt x="343" y="268"/>
                </a:cubicBezTo>
                <a:close/>
                <a:moveTo>
                  <a:pt x="305" y="105"/>
                </a:moveTo>
                <a:cubicBezTo>
                  <a:pt x="305" y="105"/>
                  <a:pt x="305" y="106"/>
                  <a:pt x="303" y="109"/>
                </a:cubicBezTo>
                <a:cubicBezTo>
                  <a:pt x="299" y="117"/>
                  <a:pt x="284" y="121"/>
                  <a:pt x="273" y="123"/>
                </a:cubicBezTo>
                <a:cubicBezTo>
                  <a:pt x="266" y="124"/>
                  <a:pt x="258" y="124"/>
                  <a:pt x="251" y="123"/>
                </a:cubicBezTo>
                <a:cubicBezTo>
                  <a:pt x="243" y="123"/>
                  <a:pt x="243" y="123"/>
                  <a:pt x="243" y="123"/>
                </a:cubicBezTo>
                <a:cubicBezTo>
                  <a:pt x="243" y="122"/>
                  <a:pt x="243" y="122"/>
                  <a:pt x="243" y="122"/>
                </a:cubicBezTo>
                <a:cubicBezTo>
                  <a:pt x="263" y="112"/>
                  <a:pt x="300" y="101"/>
                  <a:pt x="305" y="105"/>
                </a:cubicBezTo>
                <a:close/>
                <a:moveTo>
                  <a:pt x="280" y="85"/>
                </a:moveTo>
                <a:cubicBezTo>
                  <a:pt x="275" y="90"/>
                  <a:pt x="260" y="99"/>
                  <a:pt x="251" y="104"/>
                </a:cubicBezTo>
                <a:cubicBezTo>
                  <a:pt x="247" y="106"/>
                  <a:pt x="243" y="108"/>
                  <a:pt x="239" y="111"/>
                </a:cubicBezTo>
                <a:cubicBezTo>
                  <a:pt x="239" y="111"/>
                  <a:pt x="239" y="111"/>
                  <a:pt x="239" y="111"/>
                </a:cubicBezTo>
                <a:cubicBezTo>
                  <a:pt x="249" y="98"/>
                  <a:pt x="267" y="86"/>
                  <a:pt x="280" y="85"/>
                </a:cubicBezTo>
                <a:close/>
                <a:moveTo>
                  <a:pt x="230" y="301"/>
                </a:moveTo>
                <a:cubicBezTo>
                  <a:pt x="227" y="306"/>
                  <a:pt x="223" y="311"/>
                  <a:pt x="218" y="315"/>
                </a:cubicBezTo>
                <a:cubicBezTo>
                  <a:pt x="213" y="319"/>
                  <a:pt x="208" y="322"/>
                  <a:pt x="203" y="323"/>
                </a:cubicBezTo>
                <a:cubicBezTo>
                  <a:pt x="197" y="325"/>
                  <a:pt x="191" y="326"/>
                  <a:pt x="183" y="326"/>
                </a:cubicBezTo>
                <a:cubicBezTo>
                  <a:pt x="183" y="344"/>
                  <a:pt x="183" y="344"/>
                  <a:pt x="183" y="344"/>
                </a:cubicBezTo>
                <a:cubicBezTo>
                  <a:pt x="169" y="344"/>
                  <a:pt x="169" y="344"/>
                  <a:pt x="169" y="344"/>
                </a:cubicBezTo>
                <a:cubicBezTo>
                  <a:pt x="169" y="326"/>
                  <a:pt x="169" y="326"/>
                  <a:pt x="169" y="326"/>
                </a:cubicBezTo>
                <a:cubicBezTo>
                  <a:pt x="160" y="326"/>
                  <a:pt x="152" y="324"/>
                  <a:pt x="147" y="322"/>
                </a:cubicBezTo>
                <a:cubicBezTo>
                  <a:pt x="141" y="320"/>
                  <a:pt x="136" y="317"/>
                  <a:pt x="132" y="313"/>
                </a:cubicBezTo>
                <a:cubicBezTo>
                  <a:pt x="127" y="309"/>
                  <a:pt x="124" y="305"/>
                  <a:pt x="122" y="300"/>
                </a:cubicBezTo>
                <a:cubicBezTo>
                  <a:pt x="120" y="296"/>
                  <a:pt x="118" y="291"/>
                  <a:pt x="117" y="284"/>
                </a:cubicBezTo>
                <a:cubicBezTo>
                  <a:pt x="155" y="280"/>
                  <a:pt x="155" y="280"/>
                  <a:pt x="155" y="280"/>
                </a:cubicBezTo>
                <a:cubicBezTo>
                  <a:pt x="156" y="286"/>
                  <a:pt x="158" y="291"/>
                  <a:pt x="160" y="293"/>
                </a:cubicBezTo>
                <a:cubicBezTo>
                  <a:pt x="162" y="296"/>
                  <a:pt x="165" y="299"/>
                  <a:pt x="169" y="301"/>
                </a:cubicBezTo>
                <a:cubicBezTo>
                  <a:pt x="169" y="267"/>
                  <a:pt x="169" y="267"/>
                  <a:pt x="169" y="267"/>
                </a:cubicBezTo>
                <a:cubicBezTo>
                  <a:pt x="156" y="264"/>
                  <a:pt x="147" y="261"/>
                  <a:pt x="142" y="258"/>
                </a:cubicBezTo>
                <a:cubicBezTo>
                  <a:pt x="137" y="255"/>
                  <a:pt x="132" y="251"/>
                  <a:pt x="128" y="246"/>
                </a:cubicBezTo>
                <a:cubicBezTo>
                  <a:pt x="124" y="240"/>
                  <a:pt x="122" y="233"/>
                  <a:pt x="122" y="225"/>
                </a:cubicBezTo>
                <a:cubicBezTo>
                  <a:pt x="122" y="213"/>
                  <a:pt x="126" y="204"/>
                  <a:pt x="134" y="196"/>
                </a:cubicBezTo>
                <a:cubicBezTo>
                  <a:pt x="142" y="189"/>
                  <a:pt x="154" y="185"/>
                  <a:pt x="169" y="184"/>
                </a:cubicBezTo>
                <a:cubicBezTo>
                  <a:pt x="169" y="175"/>
                  <a:pt x="169" y="175"/>
                  <a:pt x="169" y="175"/>
                </a:cubicBezTo>
                <a:cubicBezTo>
                  <a:pt x="183" y="175"/>
                  <a:pt x="183" y="175"/>
                  <a:pt x="183" y="175"/>
                </a:cubicBezTo>
                <a:cubicBezTo>
                  <a:pt x="183" y="184"/>
                  <a:pt x="183" y="184"/>
                  <a:pt x="183" y="184"/>
                </a:cubicBezTo>
                <a:cubicBezTo>
                  <a:pt x="197" y="185"/>
                  <a:pt x="208" y="188"/>
                  <a:pt x="215" y="194"/>
                </a:cubicBezTo>
                <a:cubicBezTo>
                  <a:pt x="223" y="200"/>
                  <a:pt x="228" y="208"/>
                  <a:pt x="230" y="218"/>
                </a:cubicBezTo>
                <a:cubicBezTo>
                  <a:pt x="195" y="223"/>
                  <a:pt x="195" y="223"/>
                  <a:pt x="195" y="223"/>
                </a:cubicBezTo>
                <a:cubicBezTo>
                  <a:pt x="193" y="219"/>
                  <a:pt x="191" y="216"/>
                  <a:pt x="190" y="214"/>
                </a:cubicBezTo>
                <a:cubicBezTo>
                  <a:pt x="189" y="212"/>
                  <a:pt x="186" y="211"/>
                  <a:pt x="183" y="209"/>
                </a:cubicBezTo>
                <a:cubicBezTo>
                  <a:pt x="183" y="236"/>
                  <a:pt x="183" y="236"/>
                  <a:pt x="183" y="236"/>
                </a:cubicBezTo>
                <a:cubicBezTo>
                  <a:pt x="202" y="241"/>
                  <a:pt x="215" y="247"/>
                  <a:pt x="221" y="252"/>
                </a:cubicBezTo>
                <a:cubicBezTo>
                  <a:pt x="230" y="260"/>
                  <a:pt x="234" y="270"/>
                  <a:pt x="234" y="282"/>
                </a:cubicBezTo>
                <a:cubicBezTo>
                  <a:pt x="234" y="288"/>
                  <a:pt x="233" y="295"/>
                  <a:pt x="230" y="301"/>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cs"/>
            </a:endParaRPr>
          </a:p>
        </p:txBody>
      </p:sp>
      <p:grpSp>
        <p:nvGrpSpPr>
          <p:cNvPr id="36" name="组合 35"/>
          <p:cNvGrpSpPr/>
          <p:nvPr/>
        </p:nvGrpSpPr>
        <p:grpSpPr>
          <a:xfrm>
            <a:off x="1314934" y="2110105"/>
            <a:ext cx="532252" cy="433386"/>
            <a:chOff x="3922713" y="842963"/>
            <a:chExt cx="623888" cy="508001"/>
          </a:xfrm>
          <a:solidFill>
            <a:schemeClr val="bg1"/>
          </a:solidFill>
        </p:grpSpPr>
        <p:sp>
          <p:nvSpPr>
            <p:cNvPr id="37" name="Freeform 74"/>
            <p:cNvSpPr>
              <a:spLocks noEditPoints="1"/>
            </p:cNvSpPr>
            <p:nvPr/>
          </p:nvSpPr>
          <p:spPr bwMode="auto">
            <a:xfrm>
              <a:off x="3922713" y="1012826"/>
              <a:ext cx="565150" cy="338138"/>
            </a:xfrm>
            <a:custGeom>
              <a:avLst/>
              <a:gdLst>
                <a:gd name="T0" fmla="*/ 100 w 356"/>
                <a:gd name="T1" fmla="*/ 80 h 213"/>
                <a:gd name="T2" fmla="*/ 100 w 356"/>
                <a:gd name="T3" fmla="*/ 213 h 213"/>
                <a:gd name="T4" fmla="*/ 159 w 356"/>
                <a:gd name="T5" fmla="*/ 213 h 213"/>
                <a:gd name="T6" fmla="*/ 159 w 356"/>
                <a:gd name="T7" fmla="*/ 80 h 213"/>
                <a:gd name="T8" fmla="*/ 128 w 356"/>
                <a:gd name="T9" fmla="*/ 57 h 213"/>
                <a:gd name="T10" fmla="*/ 100 w 356"/>
                <a:gd name="T11" fmla="*/ 80 h 213"/>
                <a:gd name="T12" fmla="*/ 0 w 356"/>
                <a:gd name="T13" fmla="*/ 213 h 213"/>
                <a:gd name="T14" fmla="*/ 60 w 356"/>
                <a:gd name="T15" fmla="*/ 213 h 213"/>
                <a:gd name="T16" fmla="*/ 60 w 356"/>
                <a:gd name="T17" fmla="*/ 113 h 213"/>
                <a:gd name="T18" fmla="*/ 0 w 356"/>
                <a:gd name="T19" fmla="*/ 161 h 213"/>
                <a:gd name="T20" fmla="*/ 0 w 356"/>
                <a:gd name="T21" fmla="*/ 213 h 213"/>
                <a:gd name="T22" fmla="*/ 296 w 356"/>
                <a:gd name="T23" fmla="*/ 50 h 213"/>
                <a:gd name="T24" fmla="*/ 296 w 356"/>
                <a:gd name="T25" fmla="*/ 213 h 213"/>
                <a:gd name="T26" fmla="*/ 356 w 356"/>
                <a:gd name="T27" fmla="*/ 213 h 213"/>
                <a:gd name="T28" fmla="*/ 356 w 356"/>
                <a:gd name="T29" fmla="*/ 0 h 213"/>
                <a:gd name="T30" fmla="*/ 296 w 356"/>
                <a:gd name="T31" fmla="*/ 50 h 213"/>
                <a:gd name="T32" fmla="*/ 197 w 356"/>
                <a:gd name="T33" fmla="*/ 116 h 213"/>
                <a:gd name="T34" fmla="*/ 197 w 356"/>
                <a:gd name="T35" fmla="*/ 213 h 213"/>
                <a:gd name="T36" fmla="*/ 256 w 356"/>
                <a:gd name="T37" fmla="*/ 213 h 213"/>
                <a:gd name="T38" fmla="*/ 256 w 356"/>
                <a:gd name="T39" fmla="*/ 85 h 213"/>
                <a:gd name="T40" fmla="*/ 209 w 356"/>
                <a:gd name="T41" fmla="*/ 125 h 213"/>
                <a:gd name="T42" fmla="*/ 197 w 356"/>
                <a:gd name="T43" fmla="*/ 11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6" h="213">
                  <a:moveTo>
                    <a:pt x="100" y="80"/>
                  </a:moveTo>
                  <a:lnTo>
                    <a:pt x="100" y="213"/>
                  </a:lnTo>
                  <a:lnTo>
                    <a:pt x="159" y="213"/>
                  </a:lnTo>
                  <a:lnTo>
                    <a:pt x="159" y="80"/>
                  </a:lnTo>
                  <a:lnTo>
                    <a:pt x="128" y="57"/>
                  </a:lnTo>
                  <a:lnTo>
                    <a:pt x="100" y="80"/>
                  </a:lnTo>
                  <a:close/>
                  <a:moveTo>
                    <a:pt x="0" y="213"/>
                  </a:moveTo>
                  <a:lnTo>
                    <a:pt x="60" y="213"/>
                  </a:lnTo>
                  <a:lnTo>
                    <a:pt x="60" y="113"/>
                  </a:lnTo>
                  <a:lnTo>
                    <a:pt x="0" y="161"/>
                  </a:lnTo>
                  <a:lnTo>
                    <a:pt x="0" y="213"/>
                  </a:lnTo>
                  <a:close/>
                  <a:moveTo>
                    <a:pt x="296" y="50"/>
                  </a:moveTo>
                  <a:lnTo>
                    <a:pt x="296" y="213"/>
                  </a:lnTo>
                  <a:lnTo>
                    <a:pt x="356" y="213"/>
                  </a:lnTo>
                  <a:lnTo>
                    <a:pt x="356" y="0"/>
                  </a:lnTo>
                  <a:lnTo>
                    <a:pt x="296" y="50"/>
                  </a:lnTo>
                  <a:close/>
                  <a:moveTo>
                    <a:pt x="197" y="116"/>
                  </a:moveTo>
                  <a:lnTo>
                    <a:pt x="197" y="213"/>
                  </a:lnTo>
                  <a:lnTo>
                    <a:pt x="256" y="213"/>
                  </a:lnTo>
                  <a:lnTo>
                    <a:pt x="256" y="85"/>
                  </a:lnTo>
                  <a:lnTo>
                    <a:pt x="209" y="125"/>
                  </a:lnTo>
                  <a:lnTo>
                    <a:pt x="197"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cs"/>
              </a:endParaRPr>
            </a:p>
          </p:txBody>
        </p:sp>
        <p:sp>
          <p:nvSpPr>
            <p:cNvPr id="38" name="Freeform 75"/>
            <p:cNvSpPr/>
            <p:nvPr/>
          </p:nvSpPr>
          <p:spPr bwMode="auto">
            <a:xfrm>
              <a:off x="3922713" y="842963"/>
              <a:ext cx="623888" cy="368300"/>
            </a:xfrm>
            <a:custGeom>
              <a:avLst/>
              <a:gdLst>
                <a:gd name="T0" fmla="*/ 393 w 393"/>
                <a:gd name="T1" fmla="*/ 0 h 232"/>
                <a:gd name="T2" fmla="*/ 282 w 393"/>
                <a:gd name="T3" fmla="*/ 0 h 232"/>
                <a:gd name="T4" fmla="*/ 330 w 393"/>
                <a:gd name="T5" fmla="*/ 48 h 232"/>
                <a:gd name="T6" fmla="*/ 209 w 393"/>
                <a:gd name="T7" fmla="*/ 149 h 232"/>
                <a:gd name="T8" fmla="*/ 128 w 393"/>
                <a:gd name="T9" fmla="*/ 81 h 232"/>
                <a:gd name="T10" fmla="*/ 0 w 393"/>
                <a:gd name="T11" fmla="*/ 187 h 232"/>
                <a:gd name="T12" fmla="*/ 0 w 393"/>
                <a:gd name="T13" fmla="*/ 232 h 232"/>
                <a:gd name="T14" fmla="*/ 128 w 393"/>
                <a:gd name="T15" fmla="*/ 126 h 232"/>
                <a:gd name="T16" fmla="*/ 209 w 393"/>
                <a:gd name="T17" fmla="*/ 194 h 232"/>
                <a:gd name="T18" fmla="*/ 353 w 393"/>
                <a:gd name="T19" fmla="*/ 71 h 232"/>
                <a:gd name="T20" fmla="*/ 393 w 393"/>
                <a:gd name="T21" fmla="*/ 112 h 232"/>
                <a:gd name="T22" fmla="*/ 393 w 393"/>
                <a:gd name="T23"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3" h="232">
                  <a:moveTo>
                    <a:pt x="393" y="0"/>
                  </a:moveTo>
                  <a:lnTo>
                    <a:pt x="282" y="0"/>
                  </a:lnTo>
                  <a:lnTo>
                    <a:pt x="330" y="48"/>
                  </a:lnTo>
                  <a:lnTo>
                    <a:pt x="209" y="149"/>
                  </a:lnTo>
                  <a:lnTo>
                    <a:pt x="128" y="81"/>
                  </a:lnTo>
                  <a:lnTo>
                    <a:pt x="0" y="187"/>
                  </a:lnTo>
                  <a:lnTo>
                    <a:pt x="0" y="232"/>
                  </a:lnTo>
                  <a:lnTo>
                    <a:pt x="128" y="126"/>
                  </a:lnTo>
                  <a:lnTo>
                    <a:pt x="209" y="194"/>
                  </a:lnTo>
                  <a:lnTo>
                    <a:pt x="353" y="71"/>
                  </a:lnTo>
                  <a:lnTo>
                    <a:pt x="393" y="112"/>
                  </a:lnTo>
                  <a:lnTo>
                    <a:pt x="39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cs"/>
              </a:endParaRPr>
            </a:p>
          </p:txBody>
        </p:sp>
      </p:grpSp>
      <p:sp>
        <p:nvSpPr>
          <p:cNvPr id="39" name="KSO_Shape"/>
          <p:cNvSpPr/>
          <p:nvPr/>
        </p:nvSpPr>
        <p:spPr bwMode="auto">
          <a:xfrm>
            <a:off x="8114566" y="2134706"/>
            <a:ext cx="581149" cy="440705"/>
          </a:xfrm>
          <a:custGeom>
            <a:avLst/>
            <a:gdLst>
              <a:gd name="T0" fmla="*/ 104753 w 3040062"/>
              <a:gd name="T1" fmla="*/ 1241540 h 2303463"/>
              <a:gd name="T2" fmla="*/ 251725 w 3040062"/>
              <a:gd name="T3" fmla="*/ 1260899 h 2303463"/>
              <a:gd name="T4" fmla="*/ 265692 w 3040062"/>
              <a:gd name="T5" fmla="*/ 1110467 h 2303463"/>
              <a:gd name="T6" fmla="*/ 844867 w 3040062"/>
              <a:gd name="T7" fmla="*/ 970596 h 2303463"/>
              <a:gd name="T8" fmla="*/ 870584 w 3040062"/>
              <a:gd name="T9" fmla="*/ 987377 h 2303463"/>
              <a:gd name="T10" fmla="*/ 872172 w 3040062"/>
              <a:gd name="T11" fmla="*/ 1402771 h 2303463"/>
              <a:gd name="T12" fmla="*/ 848359 w 3040062"/>
              <a:gd name="T13" fmla="*/ 1421768 h 2303463"/>
              <a:gd name="T14" fmla="*/ 615315 w 3040062"/>
              <a:gd name="T15" fmla="*/ 1415119 h 2303463"/>
              <a:gd name="T16" fmla="*/ 603250 w 3040062"/>
              <a:gd name="T17" fmla="*/ 1002891 h 2303463"/>
              <a:gd name="T18" fmla="*/ 617855 w 3040062"/>
              <a:gd name="T19" fmla="*/ 975662 h 2303463"/>
              <a:gd name="T20" fmla="*/ 1240437 w 3040062"/>
              <a:gd name="T21" fmla="*/ 749300 h 2303463"/>
              <a:gd name="T22" fmla="*/ 1265867 w 3040062"/>
              <a:gd name="T23" fmla="*/ 766421 h 2303463"/>
              <a:gd name="T24" fmla="*/ 1267138 w 3040062"/>
              <a:gd name="T25" fmla="*/ 1402743 h 2303463"/>
              <a:gd name="T26" fmla="*/ 1243616 w 3040062"/>
              <a:gd name="T27" fmla="*/ 1421766 h 2303463"/>
              <a:gd name="T28" fmla="*/ 1010298 w 3040062"/>
              <a:gd name="T29" fmla="*/ 1415108 h 2303463"/>
              <a:gd name="T30" fmla="*/ 998537 w 3040062"/>
              <a:gd name="T31" fmla="*/ 782273 h 2303463"/>
              <a:gd name="T32" fmla="*/ 1012841 w 3040062"/>
              <a:gd name="T33" fmla="*/ 755007 h 2303463"/>
              <a:gd name="T34" fmla="*/ 2175011 w 3040062"/>
              <a:gd name="T35" fmla="*/ 666432 h 2303463"/>
              <a:gd name="T36" fmla="*/ 2235666 w 3040062"/>
              <a:gd name="T37" fmla="*/ 692135 h 2303463"/>
              <a:gd name="T38" fmla="*/ 2277268 w 3040062"/>
              <a:gd name="T39" fmla="*/ 742271 h 2303463"/>
              <a:gd name="T40" fmla="*/ 2290605 w 3040062"/>
              <a:gd name="T41" fmla="*/ 1286150 h 2303463"/>
              <a:gd name="T42" fmla="*/ 2948603 w 3040062"/>
              <a:gd name="T43" fmla="*/ 1365796 h 2303463"/>
              <a:gd name="T44" fmla="*/ 3005765 w 3040062"/>
              <a:gd name="T45" fmla="*/ 1408316 h 2303463"/>
              <a:gd name="T46" fmla="*/ 3036887 w 3040062"/>
              <a:gd name="T47" fmla="*/ 1473366 h 2303463"/>
              <a:gd name="T48" fmla="*/ 3035616 w 3040062"/>
              <a:gd name="T49" fmla="*/ 2191451 h 2303463"/>
              <a:gd name="T50" fmla="*/ 3001319 w 3040062"/>
              <a:gd name="T51" fmla="*/ 2254597 h 2303463"/>
              <a:gd name="T52" fmla="*/ 2941934 w 3040062"/>
              <a:gd name="T53" fmla="*/ 2294578 h 2303463"/>
              <a:gd name="T54" fmla="*/ 2171200 w 3040062"/>
              <a:gd name="T55" fmla="*/ 2303146 h 2303463"/>
              <a:gd name="T56" fmla="*/ 2113403 w 3040062"/>
              <a:gd name="T57" fmla="*/ 2292040 h 2303463"/>
              <a:gd name="T58" fmla="*/ 1552263 w 3040062"/>
              <a:gd name="T59" fmla="*/ 1741815 h 2303463"/>
              <a:gd name="T60" fmla="*/ 1526223 w 3040062"/>
              <a:gd name="T61" fmla="*/ 1686919 h 2303463"/>
              <a:gd name="T62" fmla="*/ 1529081 w 3040062"/>
              <a:gd name="T63" fmla="*/ 1626946 h 2303463"/>
              <a:gd name="T64" fmla="*/ 1560520 w 3040062"/>
              <a:gd name="T65" fmla="*/ 1574272 h 2303463"/>
              <a:gd name="T66" fmla="*/ 1612919 w 3040062"/>
              <a:gd name="T67" fmla="*/ 1542858 h 2303463"/>
              <a:gd name="T68" fmla="*/ 1673891 w 3040062"/>
              <a:gd name="T69" fmla="*/ 1539685 h 2303463"/>
              <a:gd name="T70" fmla="*/ 1728513 w 3040062"/>
              <a:gd name="T71" fmla="*/ 1565705 h 2303463"/>
              <a:gd name="T72" fmla="*/ 2024167 w 3040062"/>
              <a:gd name="T73" fmla="*/ 760992 h 2303463"/>
              <a:gd name="T74" fmla="*/ 2057829 w 3040062"/>
              <a:gd name="T75" fmla="*/ 704828 h 2303463"/>
              <a:gd name="T76" fmla="*/ 2113721 w 3040062"/>
              <a:gd name="T77" fmla="*/ 670875 h 2303463"/>
              <a:gd name="T78" fmla="*/ 1640947 w 3040062"/>
              <a:gd name="T79" fmla="*/ 485773 h 2303463"/>
              <a:gd name="T80" fmla="*/ 1662436 w 3040062"/>
              <a:gd name="T81" fmla="*/ 507334 h 2303463"/>
              <a:gd name="T82" fmla="*/ 1658328 w 3040062"/>
              <a:gd name="T83" fmla="*/ 1408133 h 2303463"/>
              <a:gd name="T84" fmla="*/ 1631151 w 3040062"/>
              <a:gd name="T85" fmla="*/ 1422401 h 2303463"/>
              <a:gd name="T86" fmla="*/ 1401409 w 3040062"/>
              <a:gd name="T87" fmla="*/ 1410669 h 2303463"/>
              <a:gd name="T88" fmla="*/ 1394457 w 3040062"/>
              <a:gd name="T89" fmla="*/ 510505 h 2303463"/>
              <a:gd name="T90" fmla="*/ 1413734 w 3040062"/>
              <a:gd name="T91" fmla="*/ 486725 h 2303463"/>
              <a:gd name="T92" fmla="*/ 2856582 w 3040062"/>
              <a:gd name="T93" fmla="*/ 2539 h 2303463"/>
              <a:gd name="T94" fmla="*/ 2942924 w 3040062"/>
              <a:gd name="T95" fmla="*/ 45384 h 2303463"/>
              <a:gd name="T96" fmla="*/ 3001649 w 3040062"/>
              <a:gd name="T97" fmla="*/ 130121 h 2303463"/>
              <a:gd name="T98" fmla="*/ 3021012 w 3040062"/>
              <a:gd name="T99" fmla="*/ 1276768 h 2303463"/>
              <a:gd name="T100" fmla="*/ 2944193 w 3040062"/>
              <a:gd name="T101" fmla="*/ 1247252 h 2303463"/>
              <a:gd name="T102" fmla="*/ 374889 w 3040062"/>
              <a:gd name="T103" fmla="*/ 1959424 h 2303463"/>
              <a:gd name="T104" fmla="*/ 127291 w 3040062"/>
              <a:gd name="T105" fmla="*/ 2259336 h 2303463"/>
              <a:gd name="T106" fmla="*/ 50472 w 3040062"/>
              <a:gd name="T107" fmla="*/ 2198402 h 2303463"/>
              <a:gd name="T108" fmla="*/ 6349 w 3040062"/>
              <a:gd name="T109" fmla="*/ 2100970 h 2303463"/>
              <a:gd name="T110" fmla="*/ 3809 w 3040062"/>
              <a:gd name="T111" fmla="*/ 183438 h 2303463"/>
              <a:gd name="T112" fmla="*/ 44441 w 3040062"/>
              <a:gd name="T113" fmla="*/ 83468 h 2303463"/>
              <a:gd name="T114" fmla="*/ 118720 w 3040062"/>
              <a:gd name="T115" fmla="*/ 17773 h 230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0062" h="2303463">
                <a:moveTo>
                  <a:pt x="124116" y="1098725"/>
                </a:moveTo>
                <a:lnTo>
                  <a:pt x="120307" y="1099042"/>
                </a:lnTo>
                <a:lnTo>
                  <a:pt x="116498" y="1099994"/>
                </a:lnTo>
                <a:lnTo>
                  <a:pt x="113324" y="1101898"/>
                </a:lnTo>
                <a:lnTo>
                  <a:pt x="110467" y="1104120"/>
                </a:lnTo>
                <a:lnTo>
                  <a:pt x="108245" y="1107294"/>
                </a:lnTo>
                <a:lnTo>
                  <a:pt x="106340" y="1110467"/>
                </a:lnTo>
                <a:lnTo>
                  <a:pt x="105071" y="1114276"/>
                </a:lnTo>
                <a:lnTo>
                  <a:pt x="104753" y="1118084"/>
                </a:lnTo>
                <a:lnTo>
                  <a:pt x="104753" y="1241540"/>
                </a:lnTo>
                <a:lnTo>
                  <a:pt x="105071" y="1245348"/>
                </a:lnTo>
                <a:lnTo>
                  <a:pt x="106340" y="1249157"/>
                </a:lnTo>
                <a:lnTo>
                  <a:pt x="108245" y="1252330"/>
                </a:lnTo>
                <a:lnTo>
                  <a:pt x="110467" y="1255187"/>
                </a:lnTo>
                <a:lnTo>
                  <a:pt x="113324" y="1257726"/>
                </a:lnTo>
                <a:lnTo>
                  <a:pt x="116498" y="1259312"/>
                </a:lnTo>
                <a:lnTo>
                  <a:pt x="120307" y="1260899"/>
                </a:lnTo>
                <a:lnTo>
                  <a:pt x="124116" y="1261217"/>
                </a:lnTo>
                <a:lnTo>
                  <a:pt x="247598" y="1261217"/>
                </a:lnTo>
                <a:lnTo>
                  <a:pt x="251725" y="1260899"/>
                </a:lnTo>
                <a:lnTo>
                  <a:pt x="255216" y="1259312"/>
                </a:lnTo>
                <a:lnTo>
                  <a:pt x="258708" y="1257726"/>
                </a:lnTo>
                <a:lnTo>
                  <a:pt x="261565" y="1255187"/>
                </a:lnTo>
                <a:lnTo>
                  <a:pt x="264105" y="1252330"/>
                </a:lnTo>
                <a:lnTo>
                  <a:pt x="265692" y="1249157"/>
                </a:lnTo>
                <a:lnTo>
                  <a:pt x="266644" y="1245348"/>
                </a:lnTo>
                <a:lnTo>
                  <a:pt x="266961" y="1241540"/>
                </a:lnTo>
                <a:lnTo>
                  <a:pt x="266961" y="1118084"/>
                </a:lnTo>
                <a:lnTo>
                  <a:pt x="266644" y="1114276"/>
                </a:lnTo>
                <a:lnTo>
                  <a:pt x="265692" y="1110467"/>
                </a:lnTo>
                <a:lnTo>
                  <a:pt x="264105" y="1107294"/>
                </a:lnTo>
                <a:lnTo>
                  <a:pt x="261565" y="1104120"/>
                </a:lnTo>
                <a:lnTo>
                  <a:pt x="258708" y="1101898"/>
                </a:lnTo>
                <a:lnTo>
                  <a:pt x="255216" y="1099994"/>
                </a:lnTo>
                <a:lnTo>
                  <a:pt x="251725" y="1099042"/>
                </a:lnTo>
                <a:lnTo>
                  <a:pt x="247598" y="1098725"/>
                </a:lnTo>
                <a:lnTo>
                  <a:pt x="124116" y="1098725"/>
                </a:lnTo>
                <a:close/>
                <a:moveTo>
                  <a:pt x="636270" y="969963"/>
                </a:moveTo>
                <a:lnTo>
                  <a:pt x="841692" y="969963"/>
                </a:lnTo>
                <a:lnTo>
                  <a:pt x="844867" y="970596"/>
                </a:lnTo>
                <a:lnTo>
                  <a:pt x="848359" y="970913"/>
                </a:lnTo>
                <a:lnTo>
                  <a:pt x="851534" y="971546"/>
                </a:lnTo>
                <a:lnTo>
                  <a:pt x="854709" y="972813"/>
                </a:lnTo>
                <a:lnTo>
                  <a:pt x="857567" y="974396"/>
                </a:lnTo>
                <a:lnTo>
                  <a:pt x="860107" y="975662"/>
                </a:lnTo>
                <a:lnTo>
                  <a:pt x="862647" y="977878"/>
                </a:lnTo>
                <a:lnTo>
                  <a:pt x="865187" y="979778"/>
                </a:lnTo>
                <a:lnTo>
                  <a:pt x="867092" y="982311"/>
                </a:lnTo>
                <a:lnTo>
                  <a:pt x="868997" y="984844"/>
                </a:lnTo>
                <a:lnTo>
                  <a:pt x="870584" y="987377"/>
                </a:lnTo>
                <a:lnTo>
                  <a:pt x="872172" y="990226"/>
                </a:lnTo>
                <a:lnTo>
                  <a:pt x="873124" y="993076"/>
                </a:lnTo>
                <a:lnTo>
                  <a:pt x="873760" y="996242"/>
                </a:lnTo>
                <a:lnTo>
                  <a:pt x="874712" y="999725"/>
                </a:lnTo>
                <a:lnTo>
                  <a:pt x="874712" y="1002891"/>
                </a:lnTo>
                <a:lnTo>
                  <a:pt x="874712" y="1389790"/>
                </a:lnTo>
                <a:lnTo>
                  <a:pt x="874712" y="1393273"/>
                </a:lnTo>
                <a:lnTo>
                  <a:pt x="873760" y="1396439"/>
                </a:lnTo>
                <a:lnTo>
                  <a:pt x="873124" y="1399605"/>
                </a:lnTo>
                <a:lnTo>
                  <a:pt x="872172" y="1402771"/>
                </a:lnTo>
                <a:lnTo>
                  <a:pt x="870584" y="1405304"/>
                </a:lnTo>
                <a:lnTo>
                  <a:pt x="868997" y="1408154"/>
                </a:lnTo>
                <a:lnTo>
                  <a:pt x="867092" y="1410686"/>
                </a:lnTo>
                <a:lnTo>
                  <a:pt x="865187" y="1413219"/>
                </a:lnTo>
                <a:lnTo>
                  <a:pt x="862647" y="1415119"/>
                </a:lnTo>
                <a:lnTo>
                  <a:pt x="860107" y="1417019"/>
                </a:lnTo>
                <a:lnTo>
                  <a:pt x="857567" y="1418602"/>
                </a:lnTo>
                <a:lnTo>
                  <a:pt x="854709" y="1420185"/>
                </a:lnTo>
                <a:lnTo>
                  <a:pt x="851534" y="1421135"/>
                </a:lnTo>
                <a:lnTo>
                  <a:pt x="848359" y="1421768"/>
                </a:lnTo>
                <a:lnTo>
                  <a:pt x="844867" y="1422401"/>
                </a:lnTo>
                <a:lnTo>
                  <a:pt x="841692" y="1422401"/>
                </a:lnTo>
                <a:lnTo>
                  <a:pt x="636270" y="1422401"/>
                </a:lnTo>
                <a:lnTo>
                  <a:pt x="632777" y="1422401"/>
                </a:lnTo>
                <a:lnTo>
                  <a:pt x="629920" y="1421768"/>
                </a:lnTo>
                <a:lnTo>
                  <a:pt x="626745" y="1421135"/>
                </a:lnTo>
                <a:lnTo>
                  <a:pt x="623570" y="1420185"/>
                </a:lnTo>
                <a:lnTo>
                  <a:pt x="620713" y="1418602"/>
                </a:lnTo>
                <a:lnTo>
                  <a:pt x="617855" y="1417019"/>
                </a:lnTo>
                <a:lnTo>
                  <a:pt x="615315" y="1415119"/>
                </a:lnTo>
                <a:lnTo>
                  <a:pt x="613093" y="1413219"/>
                </a:lnTo>
                <a:lnTo>
                  <a:pt x="610870" y="1410686"/>
                </a:lnTo>
                <a:lnTo>
                  <a:pt x="608965" y="1408154"/>
                </a:lnTo>
                <a:lnTo>
                  <a:pt x="607378" y="1405304"/>
                </a:lnTo>
                <a:lnTo>
                  <a:pt x="606108" y="1402771"/>
                </a:lnTo>
                <a:lnTo>
                  <a:pt x="605155" y="1399605"/>
                </a:lnTo>
                <a:lnTo>
                  <a:pt x="603885" y="1396439"/>
                </a:lnTo>
                <a:lnTo>
                  <a:pt x="603568" y="1393273"/>
                </a:lnTo>
                <a:lnTo>
                  <a:pt x="603250" y="1389790"/>
                </a:lnTo>
                <a:lnTo>
                  <a:pt x="603250" y="1002891"/>
                </a:lnTo>
                <a:lnTo>
                  <a:pt x="603568" y="999725"/>
                </a:lnTo>
                <a:lnTo>
                  <a:pt x="603885" y="996242"/>
                </a:lnTo>
                <a:lnTo>
                  <a:pt x="605155" y="993076"/>
                </a:lnTo>
                <a:lnTo>
                  <a:pt x="606108" y="990226"/>
                </a:lnTo>
                <a:lnTo>
                  <a:pt x="607378" y="987377"/>
                </a:lnTo>
                <a:lnTo>
                  <a:pt x="608965" y="984844"/>
                </a:lnTo>
                <a:lnTo>
                  <a:pt x="610870" y="982311"/>
                </a:lnTo>
                <a:lnTo>
                  <a:pt x="613093" y="979778"/>
                </a:lnTo>
                <a:lnTo>
                  <a:pt x="615315" y="977878"/>
                </a:lnTo>
                <a:lnTo>
                  <a:pt x="617855" y="975662"/>
                </a:lnTo>
                <a:lnTo>
                  <a:pt x="620713" y="974396"/>
                </a:lnTo>
                <a:lnTo>
                  <a:pt x="623570" y="972813"/>
                </a:lnTo>
                <a:lnTo>
                  <a:pt x="626745" y="971546"/>
                </a:lnTo>
                <a:lnTo>
                  <a:pt x="629920" y="970913"/>
                </a:lnTo>
                <a:lnTo>
                  <a:pt x="632777" y="970596"/>
                </a:lnTo>
                <a:lnTo>
                  <a:pt x="636270" y="969963"/>
                </a:lnTo>
                <a:close/>
                <a:moveTo>
                  <a:pt x="1027781" y="749300"/>
                </a:moveTo>
                <a:lnTo>
                  <a:pt x="1031278" y="749300"/>
                </a:lnTo>
                <a:lnTo>
                  <a:pt x="1236940" y="749300"/>
                </a:lnTo>
                <a:lnTo>
                  <a:pt x="1240437" y="749300"/>
                </a:lnTo>
                <a:lnTo>
                  <a:pt x="1243616" y="750251"/>
                </a:lnTo>
                <a:lnTo>
                  <a:pt x="1246476" y="750885"/>
                </a:lnTo>
                <a:lnTo>
                  <a:pt x="1249655" y="751837"/>
                </a:lnTo>
                <a:lnTo>
                  <a:pt x="1252516" y="753105"/>
                </a:lnTo>
                <a:lnTo>
                  <a:pt x="1255377" y="755007"/>
                </a:lnTo>
                <a:lnTo>
                  <a:pt x="1257920" y="756592"/>
                </a:lnTo>
                <a:lnTo>
                  <a:pt x="1260145" y="758812"/>
                </a:lnTo>
                <a:lnTo>
                  <a:pt x="1262370" y="761348"/>
                </a:lnTo>
                <a:lnTo>
                  <a:pt x="1264595" y="763567"/>
                </a:lnTo>
                <a:lnTo>
                  <a:pt x="1265867" y="766421"/>
                </a:lnTo>
                <a:lnTo>
                  <a:pt x="1267138" y="769274"/>
                </a:lnTo>
                <a:lnTo>
                  <a:pt x="1268410" y="772445"/>
                </a:lnTo>
                <a:lnTo>
                  <a:pt x="1269363" y="775615"/>
                </a:lnTo>
                <a:lnTo>
                  <a:pt x="1269681" y="778786"/>
                </a:lnTo>
                <a:lnTo>
                  <a:pt x="1269999" y="782273"/>
                </a:lnTo>
                <a:lnTo>
                  <a:pt x="1269999" y="1389744"/>
                </a:lnTo>
                <a:lnTo>
                  <a:pt x="1269681" y="1393231"/>
                </a:lnTo>
                <a:lnTo>
                  <a:pt x="1269363" y="1396402"/>
                </a:lnTo>
                <a:lnTo>
                  <a:pt x="1268410" y="1399572"/>
                </a:lnTo>
                <a:lnTo>
                  <a:pt x="1267138" y="1402743"/>
                </a:lnTo>
                <a:lnTo>
                  <a:pt x="1265867" y="1405279"/>
                </a:lnTo>
                <a:lnTo>
                  <a:pt x="1264595" y="1408133"/>
                </a:lnTo>
                <a:lnTo>
                  <a:pt x="1262370" y="1410669"/>
                </a:lnTo>
                <a:lnTo>
                  <a:pt x="1260145" y="1413206"/>
                </a:lnTo>
                <a:lnTo>
                  <a:pt x="1257920" y="1415108"/>
                </a:lnTo>
                <a:lnTo>
                  <a:pt x="1255377" y="1417010"/>
                </a:lnTo>
                <a:lnTo>
                  <a:pt x="1252516" y="1418595"/>
                </a:lnTo>
                <a:lnTo>
                  <a:pt x="1249655" y="1420181"/>
                </a:lnTo>
                <a:lnTo>
                  <a:pt x="1246476" y="1421132"/>
                </a:lnTo>
                <a:lnTo>
                  <a:pt x="1243616" y="1421766"/>
                </a:lnTo>
                <a:lnTo>
                  <a:pt x="1240437" y="1422400"/>
                </a:lnTo>
                <a:lnTo>
                  <a:pt x="1236940" y="1422400"/>
                </a:lnTo>
                <a:lnTo>
                  <a:pt x="1031278" y="1422400"/>
                </a:lnTo>
                <a:lnTo>
                  <a:pt x="1027781" y="1422400"/>
                </a:lnTo>
                <a:lnTo>
                  <a:pt x="1024602" y="1421766"/>
                </a:lnTo>
                <a:lnTo>
                  <a:pt x="1021424" y="1421132"/>
                </a:lnTo>
                <a:lnTo>
                  <a:pt x="1018245" y="1420181"/>
                </a:lnTo>
                <a:lnTo>
                  <a:pt x="1015384" y="1418595"/>
                </a:lnTo>
                <a:lnTo>
                  <a:pt x="1012841" y="1417010"/>
                </a:lnTo>
                <a:lnTo>
                  <a:pt x="1010298" y="1415108"/>
                </a:lnTo>
                <a:lnTo>
                  <a:pt x="1007755" y="1413206"/>
                </a:lnTo>
                <a:lnTo>
                  <a:pt x="1005848" y="1410669"/>
                </a:lnTo>
                <a:lnTo>
                  <a:pt x="1003941" y="1408133"/>
                </a:lnTo>
                <a:lnTo>
                  <a:pt x="1002351" y="1405279"/>
                </a:lnTo>
                <a:lnTo>
                  <a:pt x="1000762" y="1402743"/>
                </a:lnTo>
                <a:lnTo>
                  <a:pt x="999808" y="1399572"/>
                </a:lnTo>
                <a:lnTo>
                  <a:pt x="999173" y="1396402"/>
                </a:lnTo>
                <a:lnTo>
                  <a:pt x="998537" y="1393231"/>
                </a:lnTo>
                <a:lnTo>
                  <a:pt x="998537" y="1389744"/>
                </a:lnTo>
                <a:lnTo>
                  <a:pt x="998537" y="782273"/>
                </a:lnTo>
                <a:lnTo>
                  <a:pt x="998537" y="778786"/>
                </a:lnTo>
                <a:lnTo>
                  <a:pt x="999173" y="775615"/>
                </a:lnTo>
                <a:lnTo>
                  <a:pt x="999808" y="772445"/>
                </a:lnTo>
                <a:lnTo>
                  <a:pt x="1000762" y="769274"/>
                </a:lnTo>
                <a:lnTo>
                  <a:pt x="1002351" y="766421"/>
                </a:lnTo>
                <a:lnTo>
                  <a:pt x="1003941" y="763567"/>
                </a:lnTo>
                <a:lnTo>
                  <a:pt x="1005848" y="761348"/>
                </a:lnTo>
                <a:lnTo>
                  <a:pt x="1007755" y="758812"/>
                </a:lnTo>
                <a:lnTo>
                  <a:pt x="1010298" y="756592"/>
                </a:lnTo>
                <a:lnTo>
                  <a:pt x="1012841" y="755007"/>
                </a:lnTo>
                <a:lnTo>
                  <a:pt x="1015384" y="753105"/>
                </a:lnTo>
                <a:lnTo>
                  <a:pt x="1018245" y="751837"/>
                </a:lnTo>
                <a:lnTo>
                  <a:pt x="1021424" y="750885"/>
                </a:lnTo>
                <a:lnTo>
                  <a:pt x="1024602" y="750251"/>
                </a:lnTo>
                <a:lnTo>
                  <a:pt x="1027781" y="749300"/>
                </a:lnTo>
                <a:close/>
                <a:moveTo>
                  <a:pt x="2147065" y="665163"/>
                </a:moveTo>
                <a:lnTo>
                  <a:pt x="2154052" y="665163"/>
                </a:lnTo>
                <a:lnTo>
                  <a:pt x="2161038" y="665163"/>
                </a:lnTo>
                <a:lnTo>
                  <a:pt x="2168025" y="665798"/>
                </a:lnTo>
                <a:lnTo>
                  <a:pt x="2175011" y="666432"/>
                </a:lnTo>
                <a:lnTo>
                  <a:pt x="2181680" y="667702"/>
                </a:lnTo>
                <a:lnTo>
                  <a:pt x="2188349" y="669288"/>
                </a:lnTo>
                <a:lnTo>
                  <a:pt x="2194700" y="670875"/>
                </a:lnTo>
                <a:lnTo>
                  <a:pt x="2201369" y="673413"/>
                </a:lnTo>
                <a:lnTo>
                  <a:pt x="2207085" y="675952"/>
                </a:lnTo>
                <a:lnTo>
                  <a:pt x="2213437" y="678173"/>
                </a:lnTo>
                <a:lnTo>
                  <a:pt x="2219471" y="681346"/>
                </a:lnTo>
                <a:lnTo>
                  <a:pt x="2224869" y="684519"/>
                </a:lnTo>
                <a:lnTo>
                  <a:pt x="2230585" y="688327"/>
                </a:lnTo>
                <a:lnTo>
                  <a:pt x="2235666" y="692135"/>
                </a:lnTo>
                <a:lnTo>
                  <a:pt x="2241065" y="695943"/>
                </a:lnTo>
                <a:lnTo>
                  <a:pt x="2245829" y="700702"/>
                </a:lnTo>
                <a:lnTo>
                  <a:pt x="2250910" y="704828"/>
                </a:lnTo>
                <a:lnTo>
                  <a:pt x="2255356" y="709587"/>
                </a:lnTo>
                <a:lnTo>
                  <a:pt x="2259484" y="714347"/>
                </a:lnTo>
                <a:lnTo>
                  <a:pt x="2263612" y="719741"/>
                </a:lnTo>
                <a:lnTo>
                  <a:pt x="2267423" y="724819"/>
                </a:lnTo>
                <a:lnTo>
                  <a:pt x="2270916" y="730530"/>
                </a:lnTo>
                <a:lnTo>
                  <a:pt x="2274092" y="736559"/>
                </a:lnTo>
                <a:lnTo>
                  <a:pt x="2277268" y="742271"/>
                </a:lnTo>
                <a:lnTo>
                  <a:pt x="2280126" y="748300"/>
                </a:lnTo>
                <a:lnTo>
                  <a:pt x="2282666" y="754646"/>
                </a:lnTo>
                <a:lnTo>
                  <a:pt x="2284572" y="760992"/>
                </a:lnTo>
                <a:lnTo>
                  <a:pt x="2286477" y="767021"/>
                </a:lnTo>
                <a:lnTo>
                  <a:pt x="2287747" y="773685"/>
                </a:lnTo>
                <a:lnTo>
                  <a:pt x="2289018" y="780349"/>
                </a:lnTo>
                <a:lnTo>
                  <a:pt x="2289970" y="787330"/>
                </a:lnTo>
                <a:lnTo>
                  <a:pt x="2290605" y="794311"/>
                </a:lnTo>
                <a:lnTo>
                  <a:pt x="2290605" y="801292"/>
                </a:lnTo>
                <a:lnTo>
                  <a:pt x="2290605" y="1286150"/>
                </a:lnTo>
                <a:lnTo>
                  <a:pt x="2884137" y="1353738"/>
                </a:lnTo>
                <a:lnTo>
                  <a:pt x="2890488" y="1354055"/>
                </a:lnTo>
                <a:lnTo>
                  <a:pt x="2898110" y="1354372"/>
                </a:lnTo>
                <a:lnTo>
                  <a:pt x="2905732" y="1355007"/>
                </a:lnTo>
                <a:lnTo>
                  <a:pt x="2913353" y="1355642"/>
                </a:lnTo>
                <a:lnTo>
                  <a:pt x="2920657" y="1357228"/>
                </a:lnTo>
                <a:lnTo>
                  <a:pt x="2927644" y="1358815"/>
                </a:lnTo>
                <a:lnTo>
                  <a:pt x="2934948" y="1361036"/>
                </a:lnTo>
                <a:lnTo>
                  <a:pt x="2941934" y="1362940"/>
                </a:lnTo>
                <a:lnTo>
                  <a:pt x="2948603" y="1365796"/>
                </a:lnTo>
                <a:lnTo>
                  <a:pt x="2955272" y="1368969"/>
                </a:lnTo>
                <a:lnTo>
                  <a:pt x="2961941" y="1372142"/>
                </a:lnTo>
                <a:lnTo>
                  <a:pt x="2968292" y="1375633"/>
                </a:lnTo>
                <a:lnTo>
                  <a:pt x="2974008" y="1379758"/>
                </a:lnTo>
                <a:lnTo>
                  <a:pt x="2980042" y="1383883"/>
                </a:lnTo>
                <a:lnTo>
                  <a:pt x="2985758" y="1388008"/>
                </a:lnTo>
                <a:lnTo>
                  <a:pt x="2990839" y="1393085"/>
                </a:lnTo>
                <a:lnTo>
                  <a:pt x="2996238" y="1397845"/>
                </a:lnTo>
                <a:lnTo>
                  <a:pt x="3001319" y="1403239"/>
                </a:lnTo>
                <a:lnTo>
                  <a:pt x="3005765" y="1408316"/>
                </a:lnTo>
                <a:lnTo>
                  <a:pt x="3010529" y="1414345"/>
                </a:lnTo>
                <a:lnTo>
                  <a:pt x="3014657" y="1419739"/>
                </a:lnTo>
                <a:lnTo>
                  <a:pt x="3018468" y="1426086"/>
                </a:lnTo>
                <a:lnTo>
                  <a:pt x="3021961" y="1432432"/>
                </a:lnTo>
                <a:lnTo>
                  <a:pt x="3025454" y="1438778"/>
                </a:lnTo>
                <a:lnTo>
                  <a:pt x="3028312" y="1445125"/>
                </a:lnTo>
                <a:lnTo>
                  <a:pt x="3030853" y="1452106"/>
                </a:lnTo>
                <a:lnTo>
                  <a:pt x="3033393" y="1459087"/>
                </a:lnTo>
                <a:lnTo>
                  <a:pt x="3035616" y="1466067"/>
                </a:lnTo>
                <a:lnTo>
                  <a:pt x="3036887" y="1473366"/>
                </a:lnTo>
                <a:lnTo>
                  <a:pt x="3038474" y="1480664"/>
                </a:lnTo>
                <a:lnTo>
                  <a:pt x="3039427" y="1488280"/>
                </a:lnTo>
                <a:lnTo>
                  <a:pt x="3040062" y="1495895"/>
                </a:lnTo>
                <a:lnTo>
                  <a:pt x="3040062" y="1503511"/>
                </a:lnTo>
                <a:lnTo>
                  <a:pt x="3040062" y="2154008"/>
                </a:lnTo>
                <a:lnTo>
                  <a:pt x="3040062" y="2161623"/>
                </a:lnTo>
                <a:lnTo>
                  <a:pt x="3039427" y="2169556"/>
                </a:lnTo>
                <a:lnTo>
                  <a:pt x="3038474" y="2177172"/>
                </a:lnTo>
                <a:lnTo>
                  <a:pt x="3036887" y="2184470"/>
                </a:lnTo>
                <a:lnTo>
                  <a:pt x="3035616" y="2191451"/>
                </a:lnTo>
                <a:lnTo>
                  <a:pt x="3033393" y="2198749"/>
                </a:lnTo>
                <a:lnTo>
                  <a:pt x="3030853" y="2205730"/>
                </a:lnTo>
                <a:lnTo>
                  <a:pt x="3028312" y="2212394"/>
                </a:lnTo>
                <a:lnTo>
                  <a:pt x="3025454" y="2219057"/>
                </a:lnTo>
                <a:lnTo>
                  <a:pt x="3021961" y="2225404"/>
                </a:lnTo>
                <a:lnTo>
                  <a:pt x="3018468" y="2231433"/>
                </a:lnTo>
                <a:lnTo>
                  <a:pt x="3014657" y="2237779"/>
                </a:lnTo>
                <a:lnTo>
                  <a:pt x="3010529" y="2243808"/>
                </a:lnTo>
                <a:lnTo>
                  <a:pt x="3005765" y="2249202"/>
                </a:lnTo>
                <a:lnTo>
                  <a:pt x="3001319" y="2254597"/>
                </a:lnTo>
                <a:lnTo>
                  <a:pt x="2996238" y="2259674"/>
                </a:lnTo>
                <a:lnTo>
                  <a:pt x="2990839" y="2264433"/>
                </a:lnTo>
                <a:lnTo>
                  <a:pt x="2985758" y="2269510"/>
                </a:lnTo>
                <a:lnTo>
                  <a:pt x="2980042" y="2273953"/>
                </a:lnTo>
                <a:lnTo>
                  <a:pt x="2974008" y="2278078"/>
                </a:lnTo>
                <a:lnTo>
                  <a:pt x="2968292" y="2281886"/>
                </a:lnTo>
                <a:lnTo>
                  <a:pt x="2961941" y="2285376"/>
                </a:lnTo>
                <a:lnTo>
                  <a:pt x="2955272" y="2288867"/>
                </a:lnTo>
                <a:lnTo>
                  <a:pt x="2948603" y="2291723"/>
                </a:lnTo>
                <a:lnTo>
                  <a:pt x="2941934" y="2294578"/>
                </a:lnTo>
                <a:lnTo>
                  <a:pt x="2934948" y="2297117"/>
                </a:lnTo>
                <a:lnTo>
                  <a:pt x="2927644" y="2298703"/>
                </a:lnTo>
                <a:lnTo>
                  <a:pt x="2920657" y="2300607"/>
                </a:lnTo>
                <a:lnTo>
                  <a:pt x="2913353" y="2301877"/>
                </a:lnTo>
                <a:lnTo>
                  <a:pt x="2905732" y="2302829"/>
                </a:lnTo>
                <a:lnTo>
                  <a:pt x="2898110" y="2303146"/>
                </a:lnTo>
                <a:lnTo>
                  <a:pt x="2890488" y="2303463"/>
                </a:lnTo>
                <a:lnTo>
                  <a:pt x="2177552" y="2303463"/>
                </a:lnTo>
                <a:lnTo>
                  <a:pt x="2173423" y="2303146"/>
                </a:lnTo>
                <a:lnTo>
                  <a:pt x="2171200" y="2303146"/>
                </a:lnTo>
                <a:lnTo>
                  <a:pt x="2169613" y="2303146"/>
                </a:lnTo>
                <a:lnTo>
                  <a:pt x="2162944" y="2303146"/>
                </a:lnTo>
                <a:lnTo>
                  <a:pt x="2156275" y="2303146"/>
                </a:lnTo>
                <a:lnTo>
                  <a:pt x="2149924" y="2302511"/>
                </a:lnTo>
                <a:lnTo>
                  <a:pt x="2143572" y="2301559"/>
                </a:lnTo>
                <a:lnTo>
                  <a:pt x="2137538" y="2300607"/>
                </a:lnTo>
                <a:lnTo>
                  <a:pt x="2131187" y="2298703"/>
                </a:lnTo>
                <a:lnTo>
                  <a:pt x="2125153" y="2297117"/>
                </a:lnTo>
                <a:lnTo>
                  <a:pt x="2119437" y="2294896"/>
                </a:lnTo>
                <a:lnTo>
                  <a:pt x="2113403" y="2292040"/>
                </a:lnTo>
                <a:lnTo>
                  <a:pt x="2107370" y="2289501"/>
                </a:lnTo>
                <a:lnTo>
                  <a:pt x="2101971" y="2286645"/>
                </a:lnTo>
                <a:lnTo>
                  <a:pt x="2096572" y="2283155"/>
                </a:lnTo>
                <a:lnTo>
                  <a:pt x="2091491" y="2279665"/>
                </a:lnTo>
                <a:lnTo>
                  <a:pt x="2086093" y="2275222"/>
                </a:lnTo>
                <a:lnTo>
                  <a:pt x="2081329" y="2271097"/>
                </a:lnTo>
                <a:lnTo>
                  <a:pt x="2076883" y="2266972"/>
                </a:lnTo>
                <a:lnTo>
                  <a:pt x="1560520" y="1751334"/>
                </a:lnTo>
                <a:lnTo>
                  <a:pt x="1556074" y="1746574"/>
                </a:lnTo>
                <a:lnTo>
                  <a:pt x="1552263" y="1741815"/>
                </a:lnTo>
                <a:lnTo>
                  <a:pt x="1548135" y="1737055"/>
                </a:lnTo>
                <a:lnTo>
                  <a:pt x="1544642" y="1731661"/>
                </a:lnTo>
                <a:lnTo>
                  <a:pt x="1541466" y="1726583"/>
                </a:lnTo>
                <a:lnTo>
                  <a:pt x="1538291" y="1720872"/>
                </a:lnTo>
                <a:lnTo>
                  <a:pt x="1535432" y="1715477"/>
                </a:lnTo>
                <a:lnTo>
                  <a:pt x="1532892" y="1709766"/>
                </a:lnTo>
                <a:lnTo>
                  <a:pt x="1530987" y="1704054"/>
                </a:lnTo>
                <a:lnTo>
                  <a:pt x="1529081" y="1698342"/>
                </a:lnTo>
                <a:lnTo>
                  <a:pt x="1527493" y="1692631"/>
                </a:lnTo>
                <a:lnTo>
                  <a:pt x="1526223" y="1686919"/>
                </a:lnTo>
                <a:lnTo>
                  <a:pt x="1525270" y="1680890"/>
                </a:lnTo>
                <a:lnTo>
                  <a:pt x="1524635" y="1674544"/>
                </a:lnTo>
                <a:lnTo>
                  <a:pt x="1524000" y="1668515"/>
                </a:lnTo>
                <a:lnTo>
                  <a:pt x="1524000" y="1662803"/>
                </a:lnTo>
                <a:lnTo>
                  <a:pt x="1524000" y="1656774"/>
                </a:lnTo>
                <a:lnTo>
                  <a:pt x="1524635" y="1650428"/>
                </a:lnTo>
                <a:lnTo>
                  <a:pt x="1525270" y="1644716"/>
                </a:lnTo>
                <a:lnTo>
                  <a:pt x="1526223" y="1638687"/>
                </a:lnTo>
                <a:lnTo>
                  <a:pt x="1527493" y="1632658"/>
                </a:lnTo>
                <a:lnTo>
                  <a:pt x="1529081" y="1626946"/>
                </a:lnTo>
                <a:lnTo>
                  <a:pt x="1530987" y="1621235"/>
                </a:lnTo>
                <a:lnTo>
                  <a:pt x="1532892" y="1615523"/>
                </a:lnTo>
                <a:lnTo>
                  <a:pt x="1535432" y="1609811"/>
                </a:lnTo>
                <a:lnTo>
                  <a:pt x="1538291" y="1604417"/>
                </a:lnTo>
                <a:lnTo>
                  <a:pt x="1541466" y="1599023"/>
                </a:lnTo>
                <a:lnTo>
                  <a:pt x="1544642" y="1593628"/>
                </a:lnTo>
                <a:lnTo>
                  <a:pt x="1548135" y="1588551"/>
                </a:lnTo>
                <a:lnTo>
                  <a:pt x="1552263" y="1583474"/>
                </a:lnTo>
                <a:lnTo>
                  <a:pt x="1556074" y="1578714"/>
                </a:lnTo>
                <a:lnTo>
                  <a:pt x="1560520" y="1574272"/>
                </a:lnTo>
                <a:lnTo>
                  <a:pt x="1564966" y="1569830"/>
                </a:lnTo>
                <a:lnTo>
                  <a:pt x="1570047" y="1565705"/>
                </a:lnTo>
                <a:lnTo>
                  <a:pt x="1574811" y="1561897"/>
                </a:lnTo>
                <a:lnTo>
                  <a:pt x="1579574" y="1558406"/>
                </a:lnTo>
                <a:lnTo>
                  <a:pt x="1584973" y="1554916"/>
                </a:lnTo>
                <a:lnTo>
                  <a:pt x="1590054" y="1552060"/>
                </a:lnTo>
                <a:lnTo>
                  <a:pt x="1595770" y="1549521"/>
                </a:lnTo>
                <a:lnTo>
                  <a:pt x="1601486" y="1546666"/>
                </a:lnTo>
                <a:lnTo>
                  <a:pt x="1606885" y="1544444"/>
                </a:lnTo>
                <a:lnTo>
                  <a:pt x="1612919" y="1542858"/>
                </a:lnTo>
                <a:lnTo>
                  <a:pt x="1618635" y="1540954"/>
                </a:lnTo>
                <a:lnTo>
                  <a:pt x="1624669" y="1539685"/>
                </a:lnTo>
                <a:lnTo>
                  <a:pt x="1630702" y="1538733"/>
                </a:lnTo>
                <a:lnTo>
                  <a:pt x="1637054" y="1538098"/>
                </a:lnTo>
                <a:lnTo>
                  <a:pt x="1642770" y="1537463"/>
                </a:lnTo>
                <a:lnTo>
                  <a:pt x="1649121" y="1537146"/>
                </a:lnTo>
                <a:lnTo>
                  <a:pt x="1655473" y="1537463"/>
                </a:lnTo>
                <a:lnTo>
                  <a:pt x="1661824" y="1538098"/>
                </a:lnTo>
                <a:lnTo>
                  <a:pt x="1667858" y="1538733"/>
                </a:lnTo>
                <a:lnTo>
                  <a:pt x="1673891" y="1539685"/>
                </a:lnTo>
                <a:lnTo>
                  <a:pt x="1679925" y="1540954"/>
                </a:lnTo>
                <a:lnTo>
                  <a:pt x="1685641" y="1542858"/>
                </a:lnTo>
                <a:lnTo>
                  <a:pt x="1691675" y="1544444"/>
                </a:lnTo>
                <a:lnTo>
                  <a:pt x="1697391" y="1546666"/>
                </a:lnTo>
                <a:lnTo>
                  <a:pt x="1702790" y="1549521"/>
                </a:lnTo>
                <a:lnTo>
                  <a:pt x="1708506" y="1552060"/>
                </a:lnTo>
                <a:lnTo>
                  <a:pt x="1713587" y="1554916"/>
                </a:lnTo>
                <a:lnTo>
                  <a:pt x="1718986" y="1558406"/>
                </a:lnTo>
                <a:lnTo>
                  <a:pt x="1723749" y="1561897"/>
                </a:lnTo>
                <a:lnTo>
                  <a:pt x="1728513" y="1565705"/>
                </a:lnTo>
                <a:lnTo>
                  <a:pt x="1733594" y="1569830"/>
                </a:lnTo>
                <a:lnTo>
                  <a:pt x="1738040" y="1574272"/>
                </a:lnTo>
                <a:lnTo>
                  <a:pt x="2017816" y="1853827"/>
                </a:lnTo>
                <a:lnTo>
                  <a:pt x="2017816" y="801292"/>
                </a:lnTo>
                <a:lnTo>
                  <a:pt x="2018133" y="794311"/>
                </a:lnTo>
                <a:lnTo>
                  <a:pt x="2018451" y="787330"/>
                </a:lnTo>
                <a:lnTo>
                  <a:pt x="2019404" y="780349"/>
                </a:lnTo>
                <a:lnTo>
                  <a:pt x="2020674" y="773685"/>
                </a:lnTo>
                <a:lnTo>
                  <a:pt x="2021944" y="767021"/>
                </a:lnTo>
                <a:lnTo>
                  <a:pt x="2024167" y="760992"/>
                </a:lnTo>
                <a:lnTo>
                  <a:pt x="2026073" y="754646"/>
                </a:lnTo>
                <a:lnTo>
                  <a:pt x="2028613" y="748300"/>
                </a:lnTo>
                <a:lnTo>
                  <a:pt x="2031471" y="742271"/>
                </a:lnTo>
                <a:lnTo>
                  <a:pt x="2034329" y="736559"/>
                </a:lnTo>
                <a:lnTo>
                  <a:pt x="2037823" y="730530"/>
                </a:lnTo>
                <a:lnTo>
                  <a:pt x="2040998" y="724819"/>
                </a:lnTo>
                <a:lnTo>
                  <a:pt x="2045127" y="719741"/>
                </a:lnTo>
                <a:lnTo>
                  <a:pt x="2048937" y="714347"/>
                </a:lnTo>
                <a:lnTo>
                  <a:pt x="2053383" y="709587"/>
                </a:lnTo>
                <a:lnTo>
                  <a:pt x="2057829" y="704828"/>
                </a:lnTo>
                <a:lnTo>
                  <a:pt x="2062275" y="700702"/>
                </a:lnTo>
                <a:lnTo>
                  <a:pt x="2067674" y="695943"/>
                </a:lnTo>
                <a:lnTo>
                  <a:pt x="2072437" y="692135"/>
                </a:lnTo>
                <a:lnTo>
                  <a:pt x="2078154" y="688327"/>
                </a:lnTo>
                <a:lnTo>
                  <a:pt x="2083552" y="684519"/>
                </a:lnTo>
                <a:lnTo>
                  <a:pt x="2089268" y="681346"/>
                </a:lnTo>
                <a:lnTo>
                  <a:pt x="2095302" y="678173"/>
                </a:lnTo>
                <a:lnTo>
                  <a:pt x="2101018" y="675952"/>
                </a:lnTo>
                <a:lnTo>
                  <a:pt x="2107370" y="673413"/>
                </a:lnTo>
                <a:lnTo>
                  <a:pt x="2113721" y="670875"/>
                </a:lnTo>
                <a:lnTo>
                  <a:pt x="2120390" y="669288"/>
                </a:lnTo>
                <a:lnTo>
                  <a:pt x="2127059" y="667702"/>
                </a:lnTo>
                <a:lnTo>
                  <a:pt x="2133728" y="666432"/>
                </a:lnTo>
                <a:lnTo>
                  <a:pt x="2140079" y="665798"/>
                </a:lnTo>
                <a:lnTo>
                  <a:pt x="2147065" y="665163"/>
                </a:lnTo>
                <a:close/>
                <a:moveTo>
                  <a:pt x="1426690" y="484188"/>
                </a:moveTo>
                <a:lnTo>
                  <a:pt x="1631151" y="484188"/>
                </a:lnTo>
                <a:lnTo>
                  <a:pt x="1634627" y="484505"/>
                </a:lnTo>
                <a:lnTo>
                  <a:pt x="1637787" y="484822"/>
                </a:lnTo>
                <a:lnTo>
                  <a:pt x="1640947" y="485773"/>
                </a:lnTo>
                <a:lnTo>
                  <a:pt x="1644107" y="486725"/>
                </a:lnTo>
                <a:lnTo>
                  <a:pt x="1646635" y="488310"/>
                </a:lnTo>
                <a:lnTo>
                  <a:pt x="1649479" y="489895"/>
                </a:lnTo>
                <a:lnTo>
                  <a:pt x="1652008" y="491798"/>
                </a:lnTo>
                <a:lnTo>
                  <a:pt x="1654536" y="493700"/>
                </a:lnTo>
                <a:lnTo>
                  <a:pt x="1656432" y="496237"/>
                </a:lnTo>
                <a:lnTo>
                  <a:pt x="1658328" y="498773"/>
                </a:lnTo>
                <a:lnTo>
                  <a:pt x="1659908" y="501310"/>
                </a:lnTo>
                <a:lnTo>
                  <a:pt x="1661488" y="504164"/>
                </a:lnTo>
                <a:lnTo>
                  <a:pt x="1662436" y="507334"/>
                </a:lnTo>
                <a:lnTo>
                  <a:pt x="1663068" y="510505"/>
                </a:lnTo>
                <a:lnTo>
                  <a:pt x="1663700" y="513676"/>
                </a:lnTo>
                <a:lnTo>
                  <a:pt x="1663700" y="517164"/>
                </a:lnTo>
                <a:lnTo>
                  <a:pt x="1663700" y="1389743"/>
                </a:lnTo>
                <a:lnTo>
                  <a:pt x="1663700" y="1393231"/>
                </a:lnTo>
                <a:lnTo>
                  <a:pt x="1663068" y="1396401"/>
                </a:lnTo>
                <a:lnTo>
                  <a:pt x="1662436" y="1399572"/>
                </a:lnTo>
                <a:lnTo>
                  <a:pt x="1661488" y="1402743"/>
                </a:lnTo>
                <a:lnTo>
                  <a:pt x="1659908" y="1405279"/>
                </a:lnTo>
                <a:lnTo>
                  <a:pt x="1658328" y="1408133"/>
                </a:lnTo>
                <a:lnTo>
                  <a:pt x="1656432" y="1410669"/>
                </a:lnTo>
                <a:lnTo>
                  <a:pt x="1654536" y="1413206"/>
                </a:lnTo>
                <a:lnTo>
                  <a:pt x="1652008" y="1415108"/>
                </a:lnTo>
                <a:lnTo>
                  <a:pt x="1649479" y="1417011"/>
                </a:lnTo>
                <a:lnTo>
                  <a:pt x="1646635" y="1418596"/>
                </a:lnTo>
                <a:lnTo>
                  <a:pt x="1644107" y="1420182"/>
                </a:lnTo>
                <a:lnTo>
                  <a:pt x="1640947" y="1421133"/>
                </a:lnTo>
                <a:lnTo>
                  <a:pt x="1637787" y="1421767"/>
                </a:lnTo>
                <a:lnTo>
                  <a:pt x="1634627" y="1422401"/>
                </a:lnTo>
                <a:lnTo>
                  <a:pt x="1631151" y="1422401"/>
                </a:lnTo>
                <a:lnTo>
                  <a:pt x="1426690" y="1422401"/>
                </a:lnTo>
                <a:lnTo>
                  <a:pt x="1423214" y="1422401"/>
                </a:lnTo>
                <a:lnTo>
                  <a:pt x="1420054" y="1421767"/>
                </a:lnTo>
                <a:lnTo>
                  <a:pt x="1416894" y="1421133"/>
                </a:lnTo>
                <a:lnTo>
                  <a:pt x="1413734" y="1420182"/>
                </a:lnTo>
                <a:lnTo>
                  <a:pt x="1411206" y="1418596"/>
                </a:lnTo>
                <a:lnTo>
                  <a:pt x="1408362" y="1417011"/>
                </a:lnTo>
                <a:lnTo>
                  <a:pt x="1405834" y="1415108"/>
                </a:lnTo>
                <a:lnTo>
                  <a:pt x="1403622" y="1413206"/>
                </a:lnTo>
                <a:lnTo>
                  <a:pt x="1401409" y="1410669"/>
                </a:lnTo>
                <a:lnTo>
                  <a:pt x="1399513" y="1408133"/>
                </a:lnTo>
                <a:lnTo>
                  <a:pt x="1397933" y="1405279"/>
                </a:lnTo>
                <a:lnTo>
                  <a:pt x="1396669" y="1402743"/>
                </a:lnTo>
                <a:lnTo>
                  <a:pt x="1395405" y="1399572"/>
                </a:lnTo>
                <a:lnTo>
                  <a:pt x="1394457" y="1396401"/>
                </a:lnTo>
                <a:lnTo>
                  <a:pt x="1394141" y="1393231"/>
                </a:lnTo>
                <a:lnTo>
                  <a:pt x="1393825" y="1389743"/>
                </a:lnTo>
                <a:lnTo>
                  <a:pt x="1393825" y="517164"/>
                </a:lnTo>
                <a:lnTo>
                  <a:pt x="1394141" y="513676"/>
                </a:lnTo>
                <a:lnTo>
                  <a:pt x="1394457" y="510505"/>
                </a:lnTo>
                <a:lnTo>
                  <a:pt x="1395405" y="507334"/>
                </a:lnTo>
                <a:lnTo>
                  <a:pt x="1396669" y="504164"/>
                </a:lnTo>
                <a:lnTo>
                  <a:pt x="1397933" y="501310"/>
                </a:lnTo>
                <a:lnTo>
                  <a:pt x="1399513" y="498773"/>
                </a:lnTo>
                <a:lnTo>
                  <a:pt x="1401409" y="496237"/>
                </a:lnTo>
                <a:lnTo>
                  <a:pt x="1403622" y="493700"/>
                </a:lnTo>
                <a:lnTo>
                  <a:pt x="1405834" y="491798"/>
                </a:lnTo>
                <a:lnTo>
                  <a:pt x="1408362" y="489895"/>
                </a:lnTo>
                <a:lnTo>
                  <a:pt x="1411206" y="488310"/>
                </a:lnTo>
                <a:lnTo>
                  <a:pt x="1413734" y="486725"/>
                </a:lnTo>
                <a:lnTo>
                  <a:pt x="1416894" y="485773"/>
                </a:lnTo>
                <a:lnTo>
                  <a:pt x="1420054" y="484822"/>
                </a:lnTo>
                <a:lnTo>
                  <a:pt x="1423214" y="484505"/>
                </a:lnTo>
                <a:lnTo>
                  <a:pt x="1426690" y="484188"/>
                </a:lnTo>
                <a:close/>
                <a:moveTo>
                  <a:pt x="183794" y="0"/>
                </a:moveTo>
                <a:lnTo>
                  <a:pt x="193952" y="0"/>
                </a:lnTo>
                <a:lnTo>
                  <a:pt x="2827060" y="0"/>
                </a:lnTo>
                <a:lnTo>
                  <a:pt x="2837218" y="0"/>
                </a:lnTo>
                <a:lnTo>
                  <a:pt x="2847059" y="952"/>
                </a:lnTo>
                <a:lnTo>
                  <a:pt x="2856582" y="2539"/>
                </a:lnTo>
                <a:lnTo>
                  <a:pt x="2866105" y="4443"/>
                </a:lnTo>
                <a:lnTo>
                  <a:pt x="2875628" y="6982"/>
                </a:lnTo>
                <a:lnTo>
                  <a:pt x="2884516" y="10156"/>
                </a:lnTo>
                <a:lnTo>
                  <a:pt x="2893721" y="13964"/>
                </a:lnTo>
                <a:lnTo>
                  <a:pt x="2902292" y="17773"/>
                </a:lnTo>
                <a:lnTo>
                  <a:pt x="2911180" y="22851"/>
                </a:lnTo>
                <a:lnTo>
                  <a:pt x="2919433" y="27611"/>
                </a:lnTo>
                <a:lnTo>
                  <a:pt x="2927369" y="33324"/>
                </a:lnTo>
                <a:lnTo>
                  <a:pt x="2935623" y="39036"/>
                </a:lnTo>
                <a:lnTo>
                  <a:pt x="2942924" y="45384"/>
                </a:lnTo>
                <a:lnTo>
                  <a:pt x="2950225" y="52366"/>
                </a:lnTo>
                <a:lnTo>
                  <a:pt x="2957525" y="59665"/>
                </a:lnTo>
                <a:lnTo>
                  <a:pt x="2964192" y="67282"/>
                </a:lnTo>
                <a:lnTo>
                  <a:pt x="2970540" y="74899"/>
                </a:lnTo>
                <a:lnTo>
                  <a:pt x="2976571" y="83468"/>
                </a:lnTo>
                <a:lnTo>
                  <a:pt x="2982285" y="92037"/>
                </a:lnTo>
                <a:lnTo>
                  <a:pt x="2987682" y="101240"/>
                </a:lnTo>
                <a:lnTo>
                  <a:pt x="2992761" y="110444"/>
                </a:lnTo>
                <a:lnTo>
                  <a:pt x="2997522" y="119965"/>
                </a:lnTo>
                <a:lnTo>
                  <a:pt x="3001649" y="130121"/>
                </a:lnTo>
                <a:lnTo>
                  <a:pt x="3005458" y="140276"/>
                </a:lnTo>
                <a:lnTo>
                  <a:pt x="3008950" y="150749"/>
                </a:lnTo>
                <a:lnTo>
                  <a:pt x="3012124" y="161540"/>
                </a:lnTo>
                <a:lnTo>
                  <a:pt x="3014663" y="172330"/>
                </a:lnTo>
                <a:lnTo>
                  <a:pt x="3016885" y="183438"/>
                </a:lnTo>
                <a:lnTo>
                  <a:pt x="3018473" y="194546"/>
                </a:lnTo>
                <a:lnTo>
                  <a:pt x="3019742" y="205971"/>
                </a:lnTo>
                <a:lnTo>
                  <a:pt x="3020695" y="218031"/>
                </a:lnTo>
                <a:lnTo>
                  <a:pt x="3021012" y="229774"/>
                </a:lnTo>
                <a:lnTo>
                  <a:pt x="3021012" y="1276768"/>
                </a:lnTo>
                <a:lnTo>
                  <a:pt x="3013711" y="1272642"/>
                </a:lnTo>
                <a:lnTo>
                  <a:pt x="3006410" y="1268833"/>
                </a:lnTo>
                <a:lnTo>
                  <a:pt x="2999109" y="1265342"/>
                </a:lnTo>
                <a:lnTo>
                  <a:pt x="2991808" y="1262169"/>
                </a:lnTo>
                <a:lnTo>
                  <a:pt x="2983872" y="1258995"/>
                </a:lnTo>
                <a:lnTo>
                  <a:pt x="2976254" y="1256139"/>
                </a:lnTo>
                <a:lnTo>
                  <a:pt x="2968318" y="1253282"/>
                </a:lnTo>
                <a:lnTo>
                  <a:pt x="2960382" y="1251061"/>
                </a:lnTo>
                <a:lnTo>
                  <a:pt x="2952129" y="1248839"/>
                </a:lnTo>
                <a:lnTo>
                  <a:pt x="2944193" y="1247252"/>
                </a:lnTo>
                <a:lnTo>
                  <a:pt x="2935940" y="1245348"/>
                </a:lnTo>
                <a:lnTo>
                  <a:pt x="2927369" y="1244079"/>
                </a:lnTo>
                <a:lnTo>
                  <a:pt x="2919116" y="1242809"/>
                </a:lnTo>
                <a:lnTo>
                  <a:pt x="2910863" y="1242175"/>
                </a:lnTo>
                <a:lnTo>
                  <a:pt x="2901975" y="1241540"/>
                </a:lnTo>
                <a:lnTo>
                  <a:pt x="2893404" y="1241540"/>
                </a:lnTo>
                <a:lnTo>
                  <a:pt x="2646123" y="1213294"/>
                </a:lnTo>
                <a:lnTo>
                  <a:pt x="2646123" y="313876"/>
                </a:lnTo>
                <a:lnTo>
                  <a:pt x="374889" y="313876"/>
                </a:lnTo>
                <a:lnTo>
                  <a:pt x="374889" y="1959424"/>
                </a:lnTo>
                <a:lnTo>
                  <a:pt x="1610021" y="1959424"/>
                </a:lnTo>
                <a:lnTo>
                  <a:pt x="1923646" y="2273300"/>
                </a:lnTo>
                <a:lnTo>
                  <a:pt x="193952" y="2273300"/>
                </a:lnTo>
                <a:lnTo>
                  <a:pt x="183794" y="2273300"/>
                </a:lnTo>
                <a:lnTo>
                  <a:pt x="173953" y="2272348"/>
                </a:lnTo>
                <a:lnTo>
                  <a:pt x="164113" y="2270761"/>
                </a:lnTo>
                <a:lnTo>
                  <a:pt x="154908" y="2268857"/>
                </a:lnTo>
                <a:lnTo>
                  <a:pt x="145385" y="2266318"/>
                </a:lnTo>
                <a:lnTo>
                  <a:pt x="136496" y="2263144"/>
                </a:lnTo>
                <a:lnTo>
                  <a:pt x="127291" y="2259336"/>
                </a:lnTo>
                <a:lnTo>
                  <a:pt x="118720" y="2255528"/>
                </a:lnTo>
                <a:lnTo>
                  <a:pt x="109832" y="2250450"/>
                </a:lnTo>
                <a:lnTo>
                  <a:pt x="101579" y="2245689"/>
                </a:lnTo>
                <a:lnTo>
                  <a:pt x="93326" y="2240294"/>
                </a:lnTo>
                <a:lnTo>
                  <a:pt x="85390" y="2234264"/>
                </a:lnTo>
                <a:lnTo>
                  <a:pt x="77771" y="2227917"/>
                </a:lnTo>
                <a:lnTo>
                  <a:pt x="70470" y="2220935"/>
                </a:lnTo>
                <a:lnTo>
                  <a:pt x="63487" y="2213635"/>
                </a:lnTo>
                <a:lnTo>
                  <a:pt x="56821" y="2206018"/>
                </a:lnTo>
                <a:lnTo>
                  <a:pt x="50472" y="2198402"/>
                </a:lnTo>
                <a:lnTo>
                  <a:pt x="44441" y="2189833"/>
                </a:lnTo>
                <a:lnTo>
                  <a:pt x="38727" y="2181264"/>
                </a:lnTo>
                <a:lnTo>
                  <a:pt x="33013" y="2172060"/>
                </a:lnTo>
                <a:lnTo>
                  <a:pt x="28252" y="2162856"/>
                </a:lnTo>
                <a:lnTo>
                  <a:pt x="23490" y="2153335"/>
                </a:lnTo>
                <a:lnTo>
                  <a:pt x="19364" y="2143180"/>
                </a:lnTo>
                <a:lnTo>
                  <a:pt x="15237" y="2133024"/>
                </a:lnTo>
                <a:lnTo>
                  <a:pt x="11745" y="2122551"/>
                </a:lnTo>
                <a:lnTo>
                  <a:pt x="8888" y="2112078"/>
                </a:lnTo>
                <a:lnTo>
                  <a:pt x="6349" y="2100970"/>
                </a:lnTo>
                <a:lnTo>
                  <a:pt x="3809" y="2089862"/>
                </a:lnTo>
                <a:lnTo>
                  <a:pt x="2540" y="2078754"/>
                </a:lnTo>
                <a:lnTo>
                  <a:pt x="952" y="2067329"/>
                </a:lnTo>
                <a:lnTo>
                  <a:pt x="318" y="2055269"/>
                </a:lnTo>
                <a:lnTo>
                  <a:pt x="0" y="2043844"/>
                </a:lnTo>
                <a:lnTo>
                  <a:pt x="0" y="229774"/>
                </a:lnTo>
                <a:lnTo>
                  <a:pt x="318" y="218031"/>
                </a:lnTo>
                <a:lnTo>
                  <a:pt x="952" y="205971"/>
                </a:lnTo>
                <a:lnTo>
                  <a:pt x="2540" y="194546"/>
                </a:lnTo>
                <a:lnTo>
                  <a:pt x="3809" y="183438"/>
                </a:lnTo>
                <a:lnTo>
                  <a:pt x="6349" y="172330"/>
                </a:lnTo>
                <a:lnTo>
                  <a:pt x="8888" y="161540"/>
                </a:lnTo>
                <a:lnTo>
                  <a:pt x="11745" y="150749"/>
                </a:lnTo>
                <a:lnTo>
                  <a:pt x="15237" y="140276"/>
                </a:lnTo>
                <a:lnTo>
                  <a:pt x="19364" y="130121"/>
                </a:lnTo>
                <a:lnTo>
                  <a:pt x="23490" y="119965"/>
                </a:lnTo>
                <a:lnTo>
                  <a:pt x="28252" y="110444"/>
                </a:lnTo>
                <a:lnTo>
                  <a:pt x="33013" y="101240"/>
                </a:lnTo>
                <a:lnTo>
                  <a:pt x="38727" y="92037"/>
                </a:lnTo>
                <a:lnTo>
                  <a:pt x="44441" y="83468"/>
                </a:lnTo>
                <a:lnTo>
                  <a:pt x="50472" y="74899"/>
                </a:lnTo>
                <a:lnTo>
                  <a:pt x="56821" y="67282"/>
                </a:lnTo>
                <a:lnTo>
                  <a:pt x="63487" y="59665"/>
                </a:lnTo>
                <a:lnTo>
                  <a:pt x="70470" y="52366"/>
                </a:lnTo>
                <a:lnTo>
                  <a:pt x="77771" y="45384"/>
                </a:lnTo>
                <a:lnTo>
                  <a:pt x="85390" y="39036"/>
                </a:lnTo>
                <a:lnTo>
                  <a:pt x="93326" y="33324"/>
                </a:lnTo>
                <a:lnTo>
                  <a:pt x="101579" y="27611"/>
                </a:lnTo>
                <a:lnTo>
                  <a:pt x="109832" y="22851"/>
                </a:lnTo>
                <a:lnTo>
                  <a:pt x="118720" y="17773"/>
                </a:lnTo>
                <a:lnTo>
                  <a:pt x="127291" y="13964"/>
                </a:lnTo>
                <a:lnTo>
                  <a:pt x="136496" y="10156"/>
                </a:lnTo>
                <a:lnTo>
                  <a:pt x="145385" y="6982"/>
                </a:lnTo>
                <a:lnTo>
                  <a:pt x="154908" y="4443"/>
                </a:lnTo>
                <a:lnTo>
                  <a:pt x="164113" y="2539"/>
                </a:lnTo>
                <a:lnTo>
                  <a:pt x="173953" y="952"/>
                </a:lnTo>
                <a:lnTo>
                  <a:pt x="183794"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500" fill="hold"/>
                                        <p:tgtEl>
                                          <p:spTgt spid="51"/>
                                        </p:tgtEl>
                                        <p:attrNameLst>
                                          <p:attrName>ppt_w</p:attrName>
                                        </p:attrNameLst>
                                      </p:cBhvr>
                                      <p:tavLst>
                                        <p:tav tm="0">
                                          <p:val>
                                            <p:fltVal val="0"/>
                                          </p:val>
                                        </p:tav>
                                        <p:tav tm="100000">
                                          <p:val>
                                            <p:strVal val="#ppt_w"/>
                                          </p:val>
                                        </p:tav>
                                      </p:tavLst>
                                    </p:anim>
                                    <p:anim calcmode="lin" valueType="num">
                                      <p:cBhvr>
                                        <p:cTn id="13" dur="500" fill="hold"/>
                                        <p:tgtEl>
                                          <p:spTgt spid="51"/>
                                        </p:tgtEl>
                                        <p:attrNameLst>
                                          <p:attrName>ppt_h</p:attrName>
                                        </p:attrNameLst>
                                      </p:cBhvr>
                                      <p:tavLst>
                                        <p:tav tm="0">
                                          <p:val>
                                            <p:fltVal val="0"/>
                                          </p:val>
                                        </p:tav>
                                        <p:tav tm="100000">
                                          <p:val>
                                            <p:strVal val="#ppt_h"/>
                                          </p:val>
                                        </p:tav>
                                      </p:tavLst>
                                    </p:anim>
                                    <p:animEffect transition="in" filter="fade">
                                      <p:cBhvr>
                                        <p:cTn id="14" dur="500"/>
                                        <p:tgtEl>
                                          <p:spTgt spid="5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p:cTn id="17" dur="500" fill="hold"/>
                                        <p:tgtEl>
                                          <p:spTgt spid="52"/>
                                        </p:tgtEl>
                                        <p:attrNameLst>
                                          <p:attrName>ppt_w</p:attrName>
                                        </p:attrNameLst>
                                      </p:cBhvr>
                                      <p:tavLst>
                                        <p:tav tm="0">
                                          <p:val>
                                            <p:fltVal val="0"/>
                                          </p:val>
                                        </p:tav>
                                        <p:tav tm="100000">
                                          <p:val>
                                            <p:strVal val="#ppt_w"/>
                                          </p:val>
                                        </p:tav>
                                      </p:tavLst>
                                    </p:anim>
                                    <p:anim calcmode="lin" valueType="num">
                                      <p:cBhvr>
                                        <p:cTn id="18" dur="500" fill="hold"/>
                                        <p:tgtEl>
                                          <p:spTgt spid="52"/>
                                        </p:tgtEl>
                                        <p:attrNameLst>
                                          <p:attrName>ppt_h</p:attrName>
                                        </p:attrNameLst>
                                      </p:cBhvr>
                                      <p:tavLst>
                                        <p:tav tm="0">
                                          <p:val>
                                            <p:fltVal val="0"/>
                                          </p:val>
                                        </p:tav>
                                        <p:tav tm="100000">
                                          <p:val>
                                            <p:strVal val="#ppt_h"/>
                                          </p:val>
                                        </p:tav>
                                      </p:tavLst>
                                    </p:anim>
                                    <p:animEffect transition="in" filter="fade">
                                      <p:cBhvr>
                                        <p:cTn id="19" dur="500"/>
                                        <p:tgtEl>
                                          <p:spTgt spid="5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5"/>
                                        </p:tgtEl>
                                        <p:attrNameLst>
                                          <p:attrName>style.visibility</p:attrName>
                                        </p:attrNameLst>
                                      </p:cBhvr>
                                      <p:to>
                                        <p:strVal val="visible"/>
                                      </p:to>
                                    </p:set>
                                    <p:anim calcmode="lin" valueType="num">
                                      <p:cBhvr>
                                        <p:cTn id="22" dur="500" fill="hold"/>
                                        <p:tgtEl>
                                          <p:spTgt spid="65"/>
                                        </p:tgtEl>
                                        <p:attrNameLst>
                                          <p:attrName>ppt_w</p:attrName>
                                        </p:attrNameLst>
                                      </p:cBhvr>
                                      <p:tavLst>
                                        <p:tav tm="0">
                                          <p:val>
                                            <p:fltVal val="0"/>
                                          </p:val>
                                        </p:tav>
                                        <p:tav tm="100000">
                                          <p:val>
                                            <p:strVal val="#ppt_w"/>
                                          </p:val>
                                        </p:tav>
                                      </p:tavLst>
                                    </p:anim>
                                    <p:anim calcmode="lin" valueType="num">
                                      <p:cBhvr>
                                        <p:cTn id="23" dur="500" fill="hold"/>
                                        <p:tgtEl>
                                          <p:spTgt spid="65"/>
                                        </p:tgtEl>
                                        <p:attrNameLst>
                                          <p:attrName>ppt_h</p:attrName>
                                        </p:attrNameLst>
                                      </p:cBhvr>
                                      <p:tavLst>
                                        <p:tav tm="0">
                                          <p:val>
                                            <p:fltVal val="0"/>
                                          </p:val>
                                        </p:tav>
                                        <p:tav tm="100000">
                                          <p:val>
                                            <p:strVal val="#ppt_h"/>
                                          </p:val>
                                        </p:tav>
                                      </p:tavLst>
                                    </p:anim>
                                    <p:animEffect transition="in" filter="fade">
                                      <p:cBhvr>
                                        <p:cTn id="24" dur="500"/>
                                        <p:tgtEl>
                                          <p:spTgt spid="65"/>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anim calcmode="lin" valueType="num">
                                      <p:cBhvr additive="base">
                                        <p:cTn id="27" dur="500" fill="hold"/>
                                        <p:tgtEl>
                                          <p:spTgt spid="57"/>
                                        </p:tgtEl>
                                        <p:attrNameLst>
                                          <p:attrName>ppt_x</p:attrName>
                                        </p:attrNameLst>
                                      </p:cBhvr>
                                      <p:tavLst>
                                        <p:tav tm="0">
                                          <p:val>
                                            <p:strVal val="#ppt_x"/>
                                          </p:val>
                                        </p:tav>
                                        <p:tav tm="100000">
                                          <p:val>
                                            <p:strVal val="#ppt_x"/>
                                          </p:val>
                                        </p:tav>
                                      </p:tavLst>
                                    </p:anim>
                                    <p:anim calcmode="lin" valueType="num">
                                      <p:cBhvr additive="base">
                                        <p:cTn id="28" dur="500" fill="hold"/>
                                        <p:tgtEl>
                                          <p:spTgt spid="5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 calcmode="lin" valueType="num">
                                      <p:cBhvr additive="base">
                                        <p:cTn id="31" dur="500" fill="hold"/>
                                        <p:tgtEl>
                                          <p:spTgt spid="61"/>
                                        </p:tgtEl>
                                        <p:attrNameLst>
                                          <p:attrName>ppt_x</p:attrName>
                                        </p:attrNameLst>
                                      </p:cBhvr>
                                      <p:tavLst>
                                        <p:tav tm="0">
                                          <p:val>
                                            <p:strVal val="#ppt_x"/>
                                          </p:val>
                                        </p:tav>
                                        <p:tav tm="100000">
                                          <p:val>
                                            <p:strVal val="#ppt_x"/>
                                          </p:val>
                                        </p:tav>
                                      </p:tavLst>
                                    </p:anim>
                                    <p:anim calcmode="lin" valueType="num">
                                      <p:cBhvr additive="base">
                                        <p:cTn id="32" dur="500" fill="hold"/>
                                        <p:tgtEl>
                                          <p:spTgt spid="6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 calcmode="lin" valueType="num">
                                      <p:cBhvr additive="base">
                                        <p:cTn id="35" dur="500" fill="hold"/>
                                        <p:tgtEl>
                                          <p:spTgt spid="58"/>
                                        </p:tgtEl>
                                        <p:attrNameLst>
                                          <p:attrName>ppt_x</p:attrName>
                                        </p:attrNameLst>
                                      </p:cBhvr>
                                      <p:tavLst>
                                        <p:tav tm="0">
                                          <p:val>
                                            <p:strVal val="#ppt_x"/>
                                          </p:val>
                                        </p:tav>
                                        <p:tav tm="100000">
                                          <p:val>
                                            <p:strVal val="#ppt_x"/>
                                          </p:val>
                                        </p:tav>
                                      </p:tavLst>
                                    </p:anim>
                                    <p:anim calcmode="lin" valueType="num">
                                      <p:cBhvr additive="base">
                                        <p:cTn id="36" dur="500" fill="hold"/>
                                        <p:tgtEl>
                                          <p:spTgt spid="5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anim calcmode="lin" valueType="num">
                                      <p:cBhvr additive="base">
                                        <p:cTn id="39" dur="500" fill="hold"/>
                                        <p:tgtEl>
                                          <p:spTgt spid="62"/>
                                        </p:tgtEl>
                                        <p:attrNameLst>
                                          <p:attrName>ppt_x</p:attrName>
                                        </p:attrNameLst>
                                      </p:cBhvr>
                                      <p:tavLst>
                                        <p:tav tm="0">
                                          <p:val>
                                            <p:strVal val="#ppt_x"/>
                                          </p:val>
                                        </p:tav>
                                        <p:tav tm="100000">
                                          <p:val>
                                            <p:strVal val="#ppt_x"/>
                                          </p:val>
                                        </p:tav>
                                      </p:tavLst>
                                    </p:anim>
                                    <p:anim calcmode="lin" valueType="num">
                                      <p:cBhvr additive="base">
                                        <p:cTn id="40" dur="500" fill="hold"/>
                                        <p:tgtEl>
                                          <p:spTgt spid="6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anim calcmode="lin" valueType="num">
                                      <p:cBhvr additive="base">
                                        <p:cTn id="43" dur="500" fill="hold"/>
                                        <p:tgtEl>
                                          <p:spTgt spid="59"/>
                                        </p:tgtEl>
                                        <p:attrNameLst>
                                          <p:attrName>ppt_x</p:attrName>
                                        </p:attrNameLst>
                                      </p:cBhvr>
                                      <p:tavLst>
                                        <p:tav tm="0">
                                          <p:val>
                                            <p:strVal val="#ppt_x"/>
                                          </p:val>
                                        </p:tav>
                                        <p:tav tm="100000">
                                          <p:val>
                                            <p:strVal val="#ppt_x"/>
                                          </p:val>
                                        </p:tav>
                                      </p:tavLst>
                                    </p:anim>
                                    <p:anim calcmode="lin" valueType="num">
                                      <p:cBhvr additive="base">
                                        <p:cTn id="44" dur="500" fill="hold"/>
                                        <p:tgtEl>
                                          <p:spTgt spid="5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anim calcmode="lin" valueType="num">
                                      <p:cBhvr additive="base">
                                        <p:cTn id="47" dur="500" fill="hold"/>
                                        <p:tgtEl>
                                          <p:spTgt spid="63"/>
                                        </p:tgtEl>
                                        <p:attrNameLst>
                                          <p:attrName>ppt_x</p:attrName>
                                        </p:attrNameLst>
                                      </p:cBhvr>
                                      <p:tavLst>
                                        <p:tav tm="0">
                                          <p:val>
                                            <p:strVal val="#ppt_x"/>
                                          </p:val>
                                        </p:tav>
                                        <p:tav tm="100000">
                                          <p:val>
                                            <p:strVal val="#ppt_x"/>
                                          </p:val>
                                        </p:tav>
                                      </p:tavLst>
                                    </p:anim>
                                    <p:anim calcmode="lin" valueType="num">
                                      <p:cBhvr additive="base">
                                        <p:cTn id="48" dur="500" fill="hold"/>
                                        <p:tgtEl>
                                          <p:spTgt spid="6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anim calcmode="lin" valueType="num">
                                      <p:cBhvr additive="base">
                                        <p:cTn id="51" dur="500" fill="hold"/>
                                        <p:tgtEl>
                                          <p:spTgt spid="60"/>
                                        </p:tgtEl>
                                        <p:attrNameLst>
                                          <p:attrName>ppt_x</p:attrName>
                                        </p:attrNameLst>
                                      </p:cBhvr>
                                      <p:tavLst>
                                        <p:tav tm="0">
                                          <p:val>
                                            <p:strVal val="#ppt_x"/>
                                          </p:val>
                                        </p:tav>
                                        <p:tav tm="100000">
                                          <p:val>
                                            <p:strVal val="#ppt_x"/>
                                          </p:val>
                                        </p:tav>
                                      </p:tavLst>
                                    </p:anim>
                                    <p:anim calcmode="lin" valueType="num">
                                      <p:cBhvr additive="base">
                                        <p:cTn id="52" dur="500" fill="hold"/>
                                        <p:tgtEl>
                                          <p:spTgt spid="6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anim calcmode="lin" valueType="num">
                                      <p:cBhvr additive="base">
                                        <p:cTn id="55" dur="500" fill="hold"/>
                                        <p:tgtEl>
                                          <p:spTgt spid="64"/>
                                        </p:tgtEl>
                                        <p:attrNameLst>
                                          <p:attrName>ppt_x</p:attrName>
                                        </p:attrNameLst>
                                      </p:cBhvr>
                                      <p:tavLst>
                                        <p:tav tm="0">
                                          <p:val>
                                            <p:strVal val="#ppt_x"/>
                                          </p:val>
                                        </p:tav>
                                        <p:tav tm="100000">
                                          <p:val>
                                            <p:strVal val="#ppt_x"/>
                                          </p:val>
                                        </p:tav>
                                      </p:tavLst>
                                    </p:anim>
                                    <p:anim calcmode="lin" valueType="num">
                                      <p:cBhvr additive="base">
                                        <p:cTn id="56"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grpId="0" nodeType="clickEffect">
                                  <p:stCondLst>
                                    <p:cond delay="2000"/>
                                  </p:stCondLst>
                                  <p:childTnLst>
                                    <p:animEffect transition="out" filter="fade">
                                      <p:cBhvr>
                                        <p:cTn id="60" dur="500"/>
                                        <p:tgtEl>
                                          <p:spTgt spid="28"/>
                                        </p:tgtEl>
                                      </p:cBhvr>
                                    </p:animEffect>
                                    <p:set>
                                      <p:cBhvr>
                                        <p:cTn id="61" dur="1" fill="hold">
                                          <p:stCondLst>
                                            <p:cond delay="499"/>
                                          </p:stCondLst>
                                        </p:cTn>
                                        <p:tgtEl>
                                          <p:spTgt spid="28"/>
                                        </p:tgtEl>
                                        <p:attrNameLst>
                                          <p:attrName>style.visibility</p:attrName>
                                        </p:attrNameLst>
                                      </p:cBhvr>
                                      <p:to>
                                        <p:strVal val="hidden"/>
                                      </p:to>
                                    </p:set>
                                  </p:childTnLst>
                                </p:cTn>
                              </p:par>
                              <p:par>
                                <p:cTn id="62" presetID="10"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p:cTn id="64" dur="750" fill="hold"/>
                                        <p:tgtEl>
                                          <p:spTgt spid="5"/>
                                        </p:tgtEl>
                                        <p:attrNameLst>
                                          <p:attrName>ppt_w</p:attrName>
                                        </p:attrNameLst>
                                      </p:cBhvr>
                                      <p:tavLst>
                                        <p:tav tm="0">
                                          <p:val>
                                            <p:fltVal val="0"/>
                                          </p:val>
                                        </p:tav>
                                        <p:tav tm="100000">
                                          <p:val>
                                            <p:strVal val="#ppt_w"/>
                                          </p:val>
                                        </p:tav>
                                      </p:tavLst>
                                    </p:anim>
                                    <p:anim calcmode="lin" valueType="num">
                                      <p:cBhvr>
                                        <p:cTn id="65" dur="750" fill="hold"/>
                                        <p:tgtEl>
                                          <p:spTgt spid="5"/>
                                        </p:tgtEl>
                                        <p:attrNameLst>
                                          <p:attrName>ppt_h</p:attrName>
                                        </p:attrNameLst>
                                      </p:cBhvr>
                                      <p:tavLst>
                                        <p:tav tm="0">
                                          <p:val>
                                            <p:fltVal val="0"/>
                                          </p:val>
                                        </p:tav>
                                        <p:tav tm="100000">
                                          <p:val>
                                            <p:strVal val="#ppt_h"/>
                                          </p:val>
                                        </p:tav>
                                      </p:tavLst>
                                    </p:anim>
                                    <p:animEffect>
                                      <p:cBhvr>
                                        <p:cTn id="66" dur="750"/>
                                        <p:tgtEl>
                                          <p:spTgt spid="5"/>
                                        </p:tgtEl>
                                      </p:cBhvr>
                                    </p:animEffect>
                                  </p:childTnLst>
                                </p:cTn>
                              </p:par>
                              <p:par>
                                <p:cTn id="67" presetID="35" presetClass="path" presetSubtype="0" accel="50000" decel="50000" fill="hold" grpId="1" nodeType="withEffect">
                                  <p:stCondLst>
                                    <p:cond delay="0"/>
                                  </p:stCondLst>
                                  <p:childTnLst>
                                    <p:animMotion origin="layout" path="M 2.77778E-7 -2.83951E-6 L -0.25 -2.83951E-6 " pathEditMode="relative" rAng="0" ptsTypes="AA">
                                      <p:cBhvr>
                                        <p:cTn id="68" dur="750" spd="-100000" fill="hold"/>
                                        <p:tgtEl>
                                          <p:spTgt spid="5"/>
                                        </p:tgtEl>
                                        <p:attrNameLst>
                                          <p:attrName>ppt_x</p:attrName>
                                          <p:attrName>ppt_y</p:attrName>
                                        </p:attrNameLst>
                                      </p:cBhvr>
                                      <p:rCtr x="-1250000" y="0"/>
                                    </p:animMotion>
                                  </p:childTnLst>
                                </p:cTn>
                              </p:par>
                            </p:childTnLst>
                          </p:cTn>
                        </p:par>
                        <p:par>
                          <p:cTn id="69" fill="hold">
                            <p:stCondLst>
                              <p:cond delay="2500"/>
                            </p:stCondLst>
                            <p:childTnLst>
                              <p:par>
                                <p:cTn id="70" presetID="10" presetClass="entr" presetSubtype="0" fill="hold" grpId="0" nodeType="afterEffect">
                                  <p:stCondLst>
                                    <p:cond delay="0"/>
                                  </p:stCondLst>
                                  <p:childTnLst>
                                    <p:set>
                                      <p:cBhvr>
                                        <p:cTn id="71" dur="1" fill="hold">
                                          <p:stCondLst>
                                            <p:cond delay="0"/>
                                          </p:stCondLst>
                                        </p:cTn>
                                        <p:tgtEl>
                                          <p:spTgt spid="4"/>
                                        </p:tgtEl>
                                        <p:attrNameLst>
                                          <p:attrName>style.visibility</p:attrName>
                                        </p:attrNameLst>
                                      </p:cBhvr>
                                      <p:to>
                                        <p:strVal val="visible"/>
                                      </p:to>
                                    </p:set>
                                    <p:anim calcmode="lin" valueType="num">
                                      <p:cBhvr>
                                        <p:cTn id="72" dur="750" fill="hold"/>
                                        <p:tgtEl>
                                          <p:spTgt spid="4"/>
                                        </p:tgtEl>
                                        <p:attrNameLst>
                                          <p:attrName>ppt_w</p:attrName>
                                        </p:attrNameLst>
                                      </p:cBhvr>
                                      <p:tavLst>
                                        <p:tav tm="0">
                                          <p:val>
                                            <p:fltVal val="0"/>
                                          </p:val>
                                        </p:tav>
                                        <p:tav tm="100000">
                                          <p:val>
                                            <p:strVal val="#ppt_w"/>
                                          </p:val>
                                        </p:tav>
                                      </p:tavLst>
                                    </p:anim>
                                    <p:anim calcmode="lin" valueType="num">
                                      <p:cBhvr>
                                        <p:cTn id="73" dur="750" fill="hold"/>
                                        <p:tgtEl>
                                          <p:spTgt spid="4"/>
                                        </p:tgtEl>
                                        <p:attrNameLst>
                                          <p:attrName>ppt_h</p:attrName>
                                        </p:attrNameLst>
                                      </p:cBhvr>
                                      <p:tavLst>
                                        <p:tav tm="0">
                                          <p:val>
                                            <p:fltVal val="0"/>
                                          </p:val>
                                        </p:tav>
                                        <p:tav tm="100000">
                                          <p:val>
                                            <p:strVal val="#ppt_h"/>
                                          </p:val>
                                        </p:tav>
                                      </p:tavLst>
                                    </p:anim>
                                    <p:animEffect>
                                      <p:cBhvr>
                                        <p:cTn id="74" dur="750"/>
                                        <p:tgtEl>
                                          <p:spTgt spid="4"/>
                                        </p:tgtEl>
                                      </p:cBhvr>
                                    </p:animEffect>
                                  </p:childTnLst>
                                </p:cTn>
                              </p:par>
                              <p:par>
                                <p:cTn id="75" presetID="35" presetClass="path" presetSubtype="0" accel="50000" decel="50000" fill="hold" grpId="1" nodeType="withEffect">
                                  <p:stCondLst>
                                    <p:cond delay="0"/>
                                  </p:stCondLst>
                                  <p:childTnLst>
                                    <p:animMotion origin="layout" path="M -3.61111E-6 -1.85185E-6 L -0.19757 -1.85185E-6 " pathEditMode="relative" rAng="0" ptsTypes="AA">
                                      <p:cBhvr>
                                        <p:cTn id="76" dur="750" spd="-100000" fill="hold"/>
                                        <p:tgtEl>
                                          <p:spTgt spid="4"/>
                                        </p:tgtEl>
                                        <p:attrNameLst>
                                          <p:attrName>ppt_x</p:attrName>
                                          <p:attrName>ppt_y</p:attrName>
                                        </p:attrNameLst>
                                      </p:cBhvr>
                                      <p:rCtr x="-987800" y="0"/>
                                    </p:animMotion>
                                  </p:childTnLst>
                                </p:cTn>
                              </p:par>
                            </p:childTnLst>
                          </p:cTn>
                        </p:par>
                        <p:par>
                          <p:cTn id="77" fill="hold">
                            <p:stCondLst>
                              <p:cond delay="3500"/>
                            </p:stCondLst>
                            <p:childTnLst>
                              <p:par>
                                <p:cTn id="78" presetID="10" presetClass="entr" presetSubtype="0" fill="hold" grpId="0" nodeType="afterEffect">
                                  <p:stCondLst>
                                    <p:cond delay="0"/>
                                  </p:stCondLst>
                                  <p:childTnLst>
                                    <p:set>
                                      <p:cBhvr>
                                        <p:cTn id="79" dur="1" fill="hold">
                                          <p:stCondLst>
                                            <p:cond delay="0"/>
                                          </p:stCondLst>
                                        </p:cTn>
                                        <p:tgtEl>
                                          <p:spTgt spid="2"/>
                                        </p:tgtEl>
                                        <p:attrNameLst>
                                          <p:attrName>style.visibility</p:attrName>
                                        </p:attrNameLst>
                                      </p:cBhvr>
                                      <p:to>
                                        <p:strVal val="visible"/>
                                      </p:to>
                                    </p:set>
                                    <p:anim calcmode="lin" valueType="num">
                                      <p:cBhvr>
                                        <p:cTn id="80" dur="750" fill="hold"/>
                                        <p:tgtEl>
                                          <p:spTgt spid="2"/>
                                        </p:tgtEl>
                                        <p:attrNameLst>
                                          <p:attrName>ppt_w</p:attrName>
                                        </p:attrNameLst>
                                      </p:cBhvr>
                                      <p:tavLst>
                                        <p:tav tm="0">
                                          <p:val>
                                            <p:fltVal val="0"/>
                                          </p:val>
                                        </p:tav>
                                        <p:tav tm="100000">
                                          <p:val>
                                            <p:strVal val="#ppt_w"/>
                                          </p:val>
                                        </p:tav>
                                      </p:tavLst>
                                    </p:anim>
                                    <p:anim calcmode="lin" valueType="num">
                                      <p:cBhvr>
                                        <p:cTn id="81" dur="750" fill="hold"/>
                                        <p:tgtEl>
                                          <p:spTgt spid="2"/>
                                        </p:tgtEl>
                                        <p:attrNameLst>
                                          <p:attrName>ppt_h</p:attrName>
                                        </p:attrNameLst>
                                      </p:cBhvr>
                                      <p:tavLst>
                                        <p:tav tm="0">
                                          <p:val>
                                            <p:fltVal val="0"/>
                                          </p:val>
                                        </p:tav>
                                        <p:tav tm="100000">
                                          <p:val>
                                            <p:strVal val="#ppt_h"/>
                                          </p:val>
                                        </p:tav>
                                      </p:tavLst>
                                    </p:anim>
                                    <p:animEffect>
                                      <p:cBhvr>
                                        <p:cTn id="82" dur="750"/>
                                        <p:tgtEl>
                                          <p:spTgt spid="2"/>
                                        </p:tgtEl>
                                      </p:cBhvr>
                                    </p:animEffect>
                                  </p:childTnLst>
                                </p:cTn>
                              </p:par>
                              <p:par>
                                <p:cTn id="83" presetID="35" presetClass="path" presetSubtype="0" accel="50000" decel="50000" fill="hold" grpId="1" nodeType="withEffect">
                                  <p:stCondLst>
                                    <p:cond delay="0"/>
                                  </p:stCondLst>
                                  <p:childTnLst>
                                    <p:animMotion origin="layout" path="M 2.77778E-7 -2.83951E-6 L -0.25 -2.83951E-6 " pathEditMode="relative" rAng="0" ptsTypes="AA">
                                      <p:cBhvr>
                                        <p:cTn id="84" dur="750" spd="-100000" fill="hold"/>
                                        <p:tgtEl>
                                          <p:spTgt spid="2"/>
                                        </p:tgtEl>
                                        <p:attrNameLst>
                                          <p:attrName>ppt_x</p:attrName>
                                          <p:attrName>ppt_y</p:attrName>
                                        </p:attrNameLst>
                                      </p:cBhvr>
                                      <p:rCtr x="-1250000" y="0"/>
                                    </p:animMotion>
                                  </p:childTnLst>
                                </p:cTn>
                              </p:par>
                            </p:childTnLst>
                          </p:cTn>
                        </p:par>
                        <p:par>
                          <p:cTn id="85" fill="hold">
                            <p:stCondLst>
                              <p:cond delay="4500"/>
                            </p:stCondLst>
                            <p:childTnLst>
                              <p:par>
                                <p:cTn id="86" presetID="10" presetClass="entr" presetSubtype="0" fill="hold" grpId="0" nodeType="afterEffect">
                                  <p:stCondLst>
                                    <p:cond delay="0"/>
                                  </p:stCondLst>
                                  <p:childTnLst>
                                    <p:set>
                                      <p:cBhvr>
                                        <p:cTn id="87" dur="1" fill="hold">
                                          <p:stCondLst>
                                            <p:cond delay="0"/>
                                          </p:stCondLst>
                                        </p:cTn>
                                        <p:tgtEl>
                                          <p:spTgt spid="3"/>
                                        </p:tgtEl>
                                        <p:attrNameLst>
                                          <p:attrName>style.visibility</p:attrName>
                                        </p:attrNameLst>
                                      </p:cBhvr>
                                      <p:to>
                                        <p:strVal val="visible"/>
                                      </p:to>
                                    </p:set>
                                    <p:anim calcmode="lin" valueType="num">
                                      <p:cBhvr>
                                        <p:cTn id="88" dur="750" fill="hold"/>
                                        <p:tgtEl>
                                          <p:spTgt spid="3"/>
                                        </p:tgtEl>
                                        <p:attrNameLst>
                                          <p:attrName>ppt_w</p:attrName>
                                        </p:attrNameLst>
                                      </p:cBhvr>
                                      <p:tavLst>
                                        <p:tav tm="0">
                                          <p:val>
                                            <p:fltVal val="0"/>
                                          </p:val>
                                        </p:tav>
                                        <p:tav tm="100000">
                                          <p:val>
                                            <p:strVal val="#ppt_w"/>
                                          </p:val>
                                        </p:tav>
                                      </p:tavLst>
                                    </p:anim>
                                    <p:anim calcmode="lin" valueType="num">
                                      <p:cBhvr>
                                        <p:cTn id="89" dur="750" fill="hold"/>
                                        <p:tgtEl>
                                          <p:spTgt spid="3"/>
                                        </p:tgtEl>
                                        <p:attrNameLst>
                                          <p:attrName>ppt_h</p:attrName>
                                        </p:attrNameLst>
                                      </p:cBhvr>
                                      <p:tavLst>
                                        <p:tav tm="0">
                                          <p:val>
                                            <p:fltVal val="0"/>
                                          </p:val>
                                        </p:tav>
                                        <p:tav tm="100000">
                                          <p:val>
                                            <p:strVal val="#ppt_h"/>
                                          </p:val>
                                        </p:tav>
                                      </p:tavLst>
                                    </p:anim>
                                    <p:animEffect>
                                      <p:cBhvr>
                                        <p:cTn id="90" dur="750"/>
                                        <p:tgtEl>
                                          <p:spTgt spid="3"/>
                                        </p:tgtEl>
                                      </p:cBhvr>
                                    </p:animEffect>
                                  </p:childTnLst>
                                </p:cTn>
                              </p:par>
                              <p:par>
                                <p:cTn id="91" presetID="35" presetClass="path" presetSubtype="0" accel="50000" decel="50000" fill="hold" grpId="1" nodeType="withEffect">
                                  <p:stCondLst>
                                    <p:cond delay="0"/>
                                  </p:stCondLst>
                                  <p:childTnLst>
                                    <p:animMotion origin="layout" path="M -3.61111E-6 -4.93827E-6 L -0.196 -4.93827E-6 " pathEditMode="relative" rAng="0" ptsTypes="AA">
                                      <p:cBhvr>
                                        <p:cTn id="92" dur="750" spd="-100000" fill="hold"/>
                                        <p:tgtEl>
                                          <p:spTgt spid="3"/>
                                        </p:tgtEl>
                                        <p:attrNameLst>
                                          <p:attrName>ppt_x</p:attrName>
                                          <p:attrName>ppt_y</p:attrName>
                                        </p:attrNameLst>
                                      </p:cBhvr>
                                      <p:rCtr x="-9809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bldLvl="0" animBg="1"/>
      <p:bldP spid="57" grpId="0"/>
      <p:bldP spid="58" grpId="0"/>
      <p:bldP spid="59" grpId="0"/>
      <p:bldP spid="60" grpId="0"/>
      <p:bldP spid="61" grpId="0"/>
      <p:bldP spid="62" grpId="0"/>
      <p:bldP spid="63" grpId="0"/>
      <p:bldP spid="64" grpId="0"/>
      <p:bldP spid="65" grpId="0" bldLvl="0" animBg="1"/>
      <p:bldP spid="28" grpId="0"/>
      <p:bldP spid="2" grpId="0" bldLvl="0" animBg="1"/>
      <p:bldP spid="2" grpId="1" bldLvl="0" animBg="1"/>
      <p:bldP spid="3" grpId="0" bldLvl="0" animBg="1"/>
      <p:bldP spid="3" grpId="1" bldLvl="0" animBg="1"/>
      <p:bldP spid="4" grpId="0" bldLvl="0" animBg="1"/>
      <p:bldP spid="4" grpId="1" bldLvl="0" animBg="1"/>
      <p:bldP spid="5" grpId="0" bldLvl="0" animBg="1"/>
      <p:bldP spid="5" grpId="1"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 name="组合 122"/>
          <p:cNvGrpSpPr/>
          <p:nvPr/>
        </p:nvGrpSpPr>
        <p:grpSpPr>
          <a:xfrm>
            <a:off x="5146040" y="-1"/>
            <a:ext cx="6671219" cy="6585324"/>
            <a:chOff x="8104" y="0"/>
            <a:chExt cx="10506" cy="10371"/>
          </a:xfrm>
        </p:grpSpPr>
        <p:sp>
          <p:nvSpPr>
            <p:cNvPr id="107" name="32143出品 13"/>
            <p:cNvSpPr/>
            <p:nvPr>
              <p:custDataLst>
                <p:tags r:id="rId3"/>
              </p:custDataLst>
            </p:nvPr>
          </p:nvSpPr>
          <p:spPr>
            <a:xfrm>
              <a:off x="14677" y="0"/>
              <a:ext cx="1651" cy="5566"/>
            </a:xfrm>
            <a:prstGeom prst="rect">
              <a:avLst/>
            </a:prstGeom>
            <a:solidFill>
              <a:srgbClr val="E8432E"/>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6</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08" name="PA_L-Shape 14"/>
            <p:cNvSpPr/>
            <p:nvPr>
              <p:custDataLst>
                <p:tags r:id="rId4"/>
              </p:custDataLst>
            </p:nvPr>
          </p:nvSpPr>
          <p:spPr>
            <a:xfrm rot="5400000">
              <a:off x="10032" y="4074"/>
              <a:ext cx="6480" cy="6113"/>
            </a:xfrm>
            <a:prstGeom prst="corner">
              <a:avLst>
                <a:gd name="adj1" fmla="val 27216"/>
                <a:gd name="adj2" fmla="val 27602"/>
              </a:avLst>
            </a:prstGeom>
            <a:solidFill>
              <a:srgbClr val="E82C2A"/>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09" name="PA_+307出品 15"/>
            <p:cNvSpPr/>
            <p:nvPr>
              <p:custDataLst>
                <p:tags r:id="rId5"/>
              </p:custDataLst>
            </p:nvPr>
          </p:nvSpPr>
          <p:spPr>
            <a:xfrm>
              <a:off x="10224" y="3890"/>
              <a:ext cx="1680" cy="6480"/>
            </a:xfrm>
            <a:prstGeom prst="rect">
              <a:avLst/>
            </a:prstGeom>
            <a:solidFill>
              <a:srgbClr val="E8432E"/>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6</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0" name="3+5出3"/>
            <p:cNvSpPr/>
            <p:nvPr>
              <p:custDataLst>
                <p:tags r:id="rId6"/>
              </p:custDataLst>
            </p:nvPr>
          </p:nvSpPr>
          <p:spPr>
            <a:xfrm>
              <a:off x="12547" y="1727"/>
              <a:ext cx="1612" cy="6031"/>
            </a:xfrm>
            <a:prstGeom prst="rect">
              <a:avLst/>
            </a:prstGeom>
            <a:solidFill>
              <a:srgbClr val="E8432E"/>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1" name="PA_L-Shape 17"/>
            <p:cNvSpPr/>
            <p:nvPr>
              <p:custDataLst>
                <p:tags r:id="rId7"/>
              </p:custDataLst>
            </p:nvPr>
          </p:nvSpPr>
          <p:spPr>
            <a:xfrm rot="5400000">
              <a:off x="9023" y="5234"/>
              <a:ext cx="4218" cy="6055"/>
            </a:xfrm>
            <a:prstGeom prst="corner">
              <a:avLst>
                <a:gd name="adj1" fmla="val 38909"/>
                <a:gd name="adj2" fmla="val 38431"/>
              </a:avLst>
            </a:prstGeom>
            <a:solidFill>
              <a:srgbClr val="E8432E"/>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2" name="P+307出品 18"/>
            <p:cNvSpPr/>
            <p:nvPr>
              <p:custDataLst>
                <p:tags r:id="rId8"/>
              </p:custDataLst>
            </p:nvPr>
          </p:nvSpPr>
          <p:spPr>
            <a:xfrm>
              <a:off x="16995" y="0"/>
              <a:ext cx="1615" cy="3371"/>
            </a:xfrm>
            <a:prstGeom prst="rect">
              <a:avLst/>
            </a:prstGeom>
            <a:solidFill>
              <a:srgbClr val="383F4E"/>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3" name="PA_3出品 19"/>
            <p:cNvSpPr/>
            <p:nvPr>
              <p:custDataLst>
                <p:tags r:id="rId9"/>
              </p:custDataLst>
            </p:nvPr>
          </p:nvSpPr>
          <p:spPr>
            <a:xfrm>
              <a:off x="12547" y="1727"/>
              <a:ext cx="6039" cy="1645"/>
            </a:xfrm>
            <a:prstGeom prst="rect">
              <a:avLst/>
            </a:prstGeom>
            <a:solidFill>
              <a:srgbClr val="383F4E"/>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4" name="6507出3"/>
            <p:cNvSpPr/>
            <p:nvPr>
              <p:custDataLst>
                <p:tags r:id="rId10"/>
              </p:custDataLst>
            </p:nvPr>
          </p:nvSpPr>
          <p:spPr>
            <a:xfrm>
              <a:off x="10215" y="3890"/>
              <a:ext cx="6128" cy="1676"/>
            </a:xfrm>
            <a:prstGeom prst="rect">
              <a:avLst/>
            </a:prstGeom>
            <a:solidFill>
              <a:srgbClr val="E8432E">
                <a:lumMod val="60000"/>
                <a:lumOff val="40000"/>
              </a:srgbClr>
            </a:solidFill>
            <a:ln>
              <a:noFill/>
            </a:ln>
          </p:spPr>
          <p:style>
            <a:lnRef idx="2">
              <a:srgbClr val="E8432E">
                <a:shade val="50000"/>
              </a:srgbClr>
            </a:lnRef>
            <a:fillRef idx="1">
              <a:srgbClr val="E8432E"/>
            </a:fillRef>
            <a:effectRef idx="0">
              <a:srgbClr val="E8432E"/>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8" name="Freeform 37"/>
            <p:cNvSpPr>
              <a:spLocks noEditPoints="1"/>
            </p:cNvSpPr>
            <p:nvPr/>
          </p:nvSpPr>
          <p:spPr bwMode="auto">
            <a:xfrm>
              <a:off x="12984" y="1981"/>
              <a:ext cx="485" cy="775"/>
            </a:xfrm>
            <a:custGeom>
              <a:avLst/>
              <a:gdLst>
                <a:gd name="T0" fmla="*/ 21 w 51"/>
                <a:gd name="T1" fmla="*/ 72 h 94"/>
                <a:gd name="T2" fmla="*/ 22 w 51"/>
                <a:gd name="T3" fmla="*/ 50 h 94"/>
                <a:gd name="T4" fmla="*/ 7 w 51"/>
                <a:gd name="T5" fmla="*/ 40 h 94"/>
                <a:gd name="T6" fmla="*/ 3 w 51"/>
                <a:gd name="T7" fmla="*/ 26 h 94"/>
                <a:gd name="T8" fmla="*/ 9 w 51"/>
                <a:gd name="T9" fmla="*/ 11 h 94"/>
                <a:gd name="T10" fmla="*/ 23 w 51"/>
                <a:gd name="T11" fmla="*/ 5 h 94"/>
                <a:gd name="T12" fmla="*/ 23 w 51"/>
                <a:gd name="T13" fmla="*/ 0 h 94"/>
                <a:gd name="T14" fmla="*/ 31 w 51"/>
                <a:gd name="T15" fmla="*/ 0 h 94"/>
                <a:gd name="T16" fmla="*/ 31 w 51"/>
                <a:gd name="T17" fmla="*/ 5 h 94"/>
                <a:gd name="T18" fmla="*/ 44 w 51"/>
                <a:gd name="T19" fmla="*/ 11 h 94"/>
                <a:gd name="T20" fmla="*/ 50 w 51"/>
                <a:gd name="T21" fmla="*/ 24 h 94"/>
                <a:gd name="T22" fmla="*/ 37 w 51"/>
                <a:gd name="T23" fmla="*/ 25 h 94"/>
                <a:gd name="T24" fmla="*/ 30 w 51"/>
                <a:gd name="T25" fmla="*/ 17 h 94"/>
                <a:gd name="T26" fmla="*/ 30 w 51"/>
                <a:gd name="T27" fmla="*/ 37 h 94"/>
                <a:gd name="T28" fmla="*/ 47 w 51"/>
                <a:gd name="T29" fmla="*/ 47 h 94"/>
                <a:gd name="T30" fmla="*/ 51 w 51"/>
                <a:gd name="T31" fmla="*/ 61 h 94"/>
                <a:gd name="T32" fmla="*/ 45 w 51"/>
                <a:gd name="T33" fmla="*/ 76 h 94"/>
                <a:gd name="T34" fmla="*/ 29 w 51"/>
                <a:gd name="T35" fmla="*/ 84 h 94"/>
                <a:gd name="T36" fmla="*/ 28 w 51"/>
                <a:gd name="T37" fmla="*/ 94 h 94"/>
                <a:gd name="T38" fmla="*/ 21 w 51"/>
                <a:gd name="T39" fmla="*/ 94 h 94"/>
                <a:gd name="T40" fmla="*/ 21 w 51"/>
                <a:gd name="T41" fmla="*/ 84 h 94"/>
                <a:gd name="T42" fmla="*/ 6 w 51"/>
                <a:gd name="T43" fmla="*/ 77 h 94"/>
                <a:gd name="T44" fmla="*/ 0 w 51"/>
                <a:gd name="T45" fmla="*/ 61 h 94"/>
                <a:gd name="T46" fmla="*/ 14 w 51"/>
                <a:gd name="T47" fmla="*/ 60 h 94"/>
                <a:gd name="T48" fmla="*/ 16 w 51"/>
                <a:gd name="T49" fmla="*/ 67 h 94"/>
                <a:gd name="T50" fmla="*/ 21 w 51"/>
                <a:gd name="T51" fmla="*/ 72 h 94"/>
                <a:gd name="T52" fmla="*/ 23 w 51"/>
                <a:gd name="T53" fmla="*/ 17 h 94"/>
                <a:gd name="T54" fmla="*/ 18 w 51"/>
                <a:gd name="T55" fmla="*/ 20 h 94"/>
                <a:gd name="T56" fmla="*/ 16 w 51"/>
                <a:gd name="T57" fmla="*/ 25 h 94"/>
                <a:gd name="T58" fmla="*/ 17 w 51"/>
                <a:gd name="T59" fmla="*/ 31 h 94"/>
                <a:gd name="T60" fmla="*/ 22 w 51"/>
                <a:gd name="T61" fmla="*/ 35 h 94"/>
                <a:gd name="T62" fmla="*/ 23 w 51"/>
                <a:gd name="T63" fmla="*/ 17 h 94"/>
                <a:gd name="T64" fmla="*/ 29 w 51"/>
                <a:gd name="T65" fmla="*/ 72 h 94"/>
                <a:gd name="T66" fmla="*/ 35 w 51"/>
                <a:gd name="T67" fmla="*/ 69 h 94"/>
                <a:gd name="T68" fmla="*/ 38 w 51"/>
                <a:gd name="T69" fmla="*/ 62 h 94"/>
                <a:gd name="T70" fmla="*/ 36 w 51"/>
                <a:gd name="T71" fmla="*/ 56 h 94"/>
                <a:gd name="T72" fmla="*/ 29 w 51"/>
                <a:gd name="T73" fmla="*/ 52 h 94"/>
                <a:gd name="T74" fmla="*/ 29 w 51"/>
                <a:gd name="T75" fmla="*/ 7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 h="94">
                  <a:moveTo>
                    <a:pt x="21" y="72"/>
                  </a:moveTo>
                  <a:cubicBezTo>
                    <a:pt x="22" y="50"/>
                    <a:pt x="22" y="50"/>
                    <a:pt x="22" y="50"/>
                  </a:cubicBezTo>
                  <a:cubicBezTo>
                    <a:pt x="15" y="47"/>
                    <a:pt x="10" y="44"/>
                    <a:pt x="7" y="40"/>
                  </a:cubicBezTo>
                  <a:cubicBezTo>
                    <a:pt x="4" y="36"/>
                    <a:pt x="3" y="31"/>
                    <a:pt x="3" y="26"/>
                  </a:cubicBezTo>
                  <a:cubicBezTo>
                    <a:pt x="3" y="20"/>
                    <a:pt x="5" y="15"/>
                    <a:pt x="9" y="11"/>
                  </a:cubicBezTo>
                  <a:cubicBezTo>
                    <a:pt x="12" y="8"/>
                    <a:pt x="17" y="6"/>
                    <a:pt x="23" y="5"/>
                  </a:cubicBezTo>
                  <a:cubicBezTo>
                    <a:pt x="23" y="0"/>
                    <a:pt x="23" y="0"/>
                    <a:pt x="23" y="0"/>
                  </a:cubicBezTo>
                  <a:cubicBezTo>
                    <a:pt x="31" y="0"/>
                    <a:pt x="31" y="0"/>
                    <a:pt x="31" y="0"/>
                  </a:cubicBezTo>
                  <a:cubicBezTo>
                    <a:pt x="31" y="5"/>
                    <a:pt x="31" y="5"/>
                    <a:pt x="31" y="5"/>
                  </a:cubicBezTo>
                  <a:cubicBezTo>
                    <a:pt x="36" y="6"/>
                    <a:pt x="41" y="8"/>
                    <a:pt x="44" y="11"/>
                  </a:cubicBezTo>
                  <a:cubicBezTo>
                    <a:pt x="47" y="15"/>
                    <a:pt x="49" y="19"/>
                    <a:pt x="50" y="24"/>
                  </a:cubicBezTo>
                  <a:cubicBezTo>
                    <a:pt x="37" y="25"/>
                    <a:pt x="37" y="25"/>
                    <a:pt x="37" y="25"/>
                  </a:cubicBezTo>
                  <a:cubicBezTo>
                    <a:pt x="36" y="21"/>
                    <a:pt x="34" y="18"/>
                    <a:pt x="30" y="17"/>
                  </a:cubicBezTo>
                  <a:cubicBezTo>
                    <a:pt x="30" y="37"/>
                    <a:pt x="30" y="37"/>
                    <a:pt x="30" y="37"/>
                  </a:cubicBezTo>
                  <a:cubicBezTo>
                    <a:pt x="38" y="40"/>
                    <a:pt x="44" y="43"/>
                    <a:pt x="47" y="47"/>
                  </a:cubicBezTo>
                  <a:cubicBezTo>
                    <a:pt x="50" y="50"/>
                    <a:pt x="51" y="55"/>
                    <a:pt x="51" y="61"/>
                  </a:cubicBezTo>
                  <a:cubicBezTo>
                    <a:pt x="51" y="67"/>
                    <a:pt x="49" y="72"/>
                    <a:pt x="45" y="76"/>
                  </a:cubicBezTo>
                  <a:cubicBezTo>
                    <a:pt x="41" y="81"/>
                    <a:pt x="36" y="83"/>
                    <a:pt x="29" y="84"/>
                  </a:cubicBezTo>
                  <a:cubicBezTo>
                    <a:pt x="28" y="94"/>
                    <a:pt x="28" y="94"/>
                    <a:pt x="28" y="94"/>
                  </a:cubicBezTo>
                  <a:cubicBezTo>
                    <a:pt x="21" y="94"/>
                    <a:pt x="21" y="94"/>
                    <a:pt x="21" y="94"/>
                  </a:cubicBezTo>
                  <a:cubicBezTo>
                    <a:pt x="21" y="84"/>
                    <a:pt x="21" y="84"/>
                    <a:pt x="21" y="84"/>
                  </a:cubicBezTo>
                  <a:cubicBezTo>
                    <a:pt x="15" y="83"/>
                    <a:pt x="10" y="81"/>
                    <a:pt x="6" y="77"/>
                  </a:cubicBezTo>
                  <a:cubicBezTo>
                    <a:pt x="3" y="73"/>
                    <a:pt x="1" y="68"/>
                    <a:pt x="0" y="61"/>
                  </a:cubicBezTo>
                  <a:cubicBezTo>
                    <a:pt x="14" y="60"/>
                    <a:pt x="14" y="60"/>
                    <a:pt x="14" y="60"/>
                  </a:cubicBezTo>
                  <a:cubicBezTo>
                    <a:pt x="14" y="62"/>
                    <a:pt x="15" y="65"/>
                    <a:pt x="16" y="67"/>
                  </a:cubicBezTo>
                  <a:cubicBezTo>
                    <a:pt x="18" y="69"/>
                    <a:pt x="19" y="71"/>
                    <a:pt x="21" y="72"/>
                  </a:cubicBezTo>
                  <a:close/>
                  <a:moveTo>
                    <a:pt x="23" y="17"/>
                  </a:moveTo>
                  <a:cubicBezTo>
                    <a:pt x="21" y="17"/>
                    <a:pt x="19" y="18"/>
                    <a:pt x="18" y="20"/>
                  </a:cubicBezTo>
                  <a:cubicBezTo>
                    <a:pt x="16" y="22"/>
                    <a:pt x="16" y="23"/>
                    <a:pt x="16" y="25"/>
                  </a:cubicBezTo>
                  <a:cubicBezTo>
                    <a:pt x="16" y="27"/>
                    <a:pt x="16" y="29"/>
                    <a:pt x="17" y="31"/>
                  </a:cubicBezTo>
                  <a:cubicBezTo>
                    <a:pt x="18" y="32"/>
                    <a:pt x="20" y="34"/>
                    <a:pt x="22" y="35"/>
                  </a:cubicBezTo>
                  <a:lnTo>
                    <a:pt x="23" y="17"/>
                  </a:lnTo>
                  <a:close/>
                  <a:moveTo>
                    <a:pt x="29" y="72"/>
                  </a:moveTo>
                  <a:cubicBezTo>
                    <a:pt x="32" y="72"/>
                    <a:pt x="34" y="71"/>
                    <a:pt x="35" y="69"/>
                  </a:cubicBezTo>
                  <a:cubicBezTo>
                    <a:pt x="37" y="67"/>
                    <a:pt x="38" y="65"/>
                    <a:pt x="38" y="62"/>
                  </a:cubicBezTo>
                  <a:cubicBezTo>
                    <a:pt x="38" y="60"/>
                    <a:pt x="38" y="58"/>
                    <a:pt x="36" y="56"/>
                  </a:cubicBezTo>
                  <a:cubicBezTo>
                    <a:pt x="35" y="54"/>
                    <a:pt x="33" y="53"/>
                    <a:pt x="29" y="52"/>
                  </a:cubicBezTo>
                  <a:lnTo>
                    <a:pt x="29" y="72"/>
                  </a:lnTo>
                  <a:close/>
                </a:path>
              </a:pathLst>
            </a:custGeom>
            <a:solidFill>
              <a:sysClr val="window" lastClr="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en Sans" panose="020B0606030504020204"/>
                <a:cs typeface="+mn-ea"/>
              </a:endParaRPr>
            </a:p>
          </p:txBody>
        </p:sp>
        <p:sp>
          <p:nvSpPr>
            <p:cNvPr id="119" name="Freeform 63"/>
            <p:cNvSpPr>
              <a:spLocks noEditPoints="1"/>
            </p:cNvSpPr>
            <p:nvPr/>
          </p:nvSpPr>
          <p:spPr bwMode="auto">
            <a:xfrm>
              <a:off x="8464" y="6446"/>
              <a:ext cx="707" cy="803"/>
            </a:xfrm>
            <a:custGeom>
              <a:avLst/>
              <a:gdLst>
                <a:gd name="T0" fmla="*/ 319 w 352"/>
                <a:gd name="T1" fmla="*/ 209 h 400"/>
                <a:gd name="T2" fmla="*/ 238 w 352"/>
                <a:gd name="T3" fmla="*/ 134 h 400"/>
                <a:gd name="T4" fmla="*/ 251 w 352"/>
                <a:gd name="T5" fmla="*/ 134 h 400"/>
                <a:gd name="T6" fmla="*/ 313 w 352"/>
                <a:gd name="T7" fmla="*/ 114 h 400"/>
                <a:gd name="T8" fmla="*/ 283 w 352"/>
                <a:gd name="T9" fmla="*/ 96 h 400"/>
                <a:gd name="T10" fmla="*/ 292 w 352"/>
                <a:gd name="T11" fmla="*/ 82 h 400"/>
                <a:gd name="T12" fmla="*/ 289 w 352"/>
                <a:gd name="T13" fmla="*/ 75 h 400"/>
                <a:gd name="T14" fmla="*/ 237 w 352"/>
                <a:gd name="T15" fmla="*/ 97 h 400"/>
                <a:gd name="T16" fmla="*/ 231 w 352"/>
                <a:gd name="T17" fmla="*/ 16 h 400"/>
                <a:gd name="T18" fmla="*/ 142 w 352"/>
                <a:gd name="T19" fmla="*/ 17 h 400"/>
                <a:gd name="T20" fmla="*/ 136 w 352"/>
                <a:gd name="T21" fmla="*/ 108 h 400"/>
                <a:gd name="T22" fmla="*/ 121 w 352"/>
                <a:gd name="T23" fmla="*/ 112 h 400"/>
                <a:gd name="T24" fmla="*/ 111 w 352"/>
                <a:gd name="T25" fmla="*/ 119 h 400"/>
                <a:gd name="T26" fmla="*/ 127 w 352"/>
                <a:gd name="T27" fmla="*/ 130 h 400"/>
                <a:gd name="T28" fmla="*/ 34 w 352"/>
                <a:gd name="T29" fmla="*/ 214 h 400"/>
                <a:gd name="T30" fmla="*/ 149 w 352"/>
                <a:gd name="T31" fmla="*/ 391 h 400"/>
                <a:gd name="T32" fmla="*/ 343 w 352"/>
                <a:gd name="T33" fmla="*/ 268 h 400"/>
                <a:gd name="T34" fmla="*/ 303 w 352"/>
                <a:gd name="T35" fmla="*/ 109 h 400"/>
                <a:gd name="T36" fmla="*/ 251 w 352"/>
                <a:gd name="T37" fmla="*/ 123 h 400"/>
                <a:gd name="T38" fmla="*/ 243 w 352"/>
                <a:gd name="T39" fmla="*/ 122 h 400"/>
                <a:gd name="T40" fmla="*/ 280 w 352"/>
                <a:gd name="T41" fmla="*/ 85 h 400"/>
                <a:gd name="T42" fmla="*/ 239 w 352"/>
                <a:gd name="T43" fmla="*/ 111 h 400"/>
                <a:gd name="T44" fmla="*/ 280 w 352"/>
                <a:gd name="T45" fmla="*/ 85 h 400"/>
                <a:gd name="T46" fmla="*/ 218 w 352"/>
                <a:gd name="T47" fmla="*/ 315 h 400"/>
                <a:gd name="T48" fmla="*/ 183 w 352"/>
                <a:gd name="T49" fmla="*/ 326 h 400"/>
                <a:gd name="T50" fmla="*/ 169 w 352"/>
                <a:gd name="T51" fmla="*/ 344 h 400"/>
                <a:gd name="T52" fmla="*/ 147 w 352"/>
                <a:gd name="T53" fmla="*/ 322 h 400"/>
                <a:gd name="T54" fmla="*/ 122 w 352"/>
                <a:gd name="T55" fmla="*/ 300 h 400"/>
                <a:gd name="T56" fmla="*/ 155 w 352"/>
                <a:gd name="T57" fmla="*/ 280 h 400"/>
                <a:gd name="T58" fmla="*/ 169 w 352"/>
                <a:gd name="T59" fmla="*/ 301 h 400"/>
                <a:gd name="T60" fmla="*/ 142 w 352"/>
                <a:gd name="T61" fmla="*/ 258 h 400"/>
                <a:gd name="T62" fmla="*/ 122 w 352"/>
                <a:gd name="T63" fmla="*/ 225 h 400"/>
                <a:gd name="T64" fmla="*/ 169 w 352"/>
                <a:gd name="T65" fmla="*/ 184 h 400"/>
                <a:gd name="T66" fmla="*/ 183 w 352"/>
                <a:gd name="T67" fmla="*/ 175 h 400"/>
                <a:gd name="T68" fmla="*/ 215 w 352"/>
                <a:gd name="T69" fmla="*/ 194 h 400"/>
                <a:gd name="T70" fmla="*/ 195 w 352"/>
                <a:gd name="T71" fmla="*/ 223 h 400"/>
                <a:gd name="T72" fmla="*/ 183 w 352"/>
                <a:gd name="T73" fmla="*/ 209 h 400"/>
                <a:gd name="T74" fmla="*/ 221 w 352"/>
                <a:gd name="T75" fmla="*/ 252 h 400"/>
                <a:gd name="T76" fmla="*/ 230 w 352"/>
                <a:gd name="T77" fmla="*/ 301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2" h="400">
                  <a:moveTo>
                    <a:pt x="343" y="268"/>
                  </a:moveTo>
                  <a:cubicBezTo>
                    <a:pt x="339" y="245"/>
                    <a:pt x="331" y="231"/>
                    <a:pt x="319" y="209"/>
                  </a:cubicBezTo>
                  <a:cubicBezTo>
                    <a:pt x="308" y="192"/>
                    <a:pt x="288" y="172"/>
                    <a:pt x="273" y="160"/>
                  </a:cubicBezTo>
                  <a:cubicBezTo>
                    <a:pt x="262" y="151"/>
                    <a:pt x="249" y="143"/>
                    <a:pt x="238" y="134"/>
                  </a:cubicBezTo>
                  <a:cubicBezTo>
                    <a:pt x="241" y="134"/>
                    <a:pt x="241" y="134"/>
                    <a:pt x="241" y="134"/>
                  </a:cubicBezTo>
                  <a:cubicBezTo>
                    <a:pt x="251" y="134"/>
                    <a:pt x="251" y="134"/>
                    <a:pt x="251" y="134"/>
                  </a:cubicBezTo>
                  <a:cubicBezTo>
                    <a:pt x="258" y="134"/>
                    <a:pt x="266" y="134"/>
                    <a:pt x="274" y="133"/>
                  </a:cubicBezTo>
                  <a:cubicBezTo>
                    <a:pt x="283" y="132"/>
                    <a:pt x="306" y="128"/>
                    <a:pt x="313" y="114"/>
                  </a:cubicBezTo>
                  <a:cubicBezTo>
                    <a:pt x="318" y="104"/>
                    <a:pt x="314" y="99"/>
                    <a:pt x="311" y="97"/>
                  </a:cubicBezTo>
                  <a:cubicBezTo>
                    <a:pt x="306" y="93"/>
                    <a:pt x="295" y="94"/>
                    <a:pt x="283" y="96"/>
                  </a:cubicBezTo>
                  <a:cubicBezTo>
                    <a:pt x="288" y="92"/>
                    <a:pt x="291" y="88"/>
                    <a:pt x="292" y="84"/>
                  </a:cubicBezTo>
                  <a:cubicBezTo>
                    <a:pt x="292" y="84"/>
                    <a:pt x="292" y="83"/>
                    <a:pt x="292" y="82"/>
                  </a:cubicBezTo>
                  <a:cubicBezTo>
                    <a:pt x="292" y="80"/>
                    <a:pt x="292" y="78"/>
                    <a:pt x="290" y="76"/>
                  </a:cubicBezTo>
                  <a:cubicBezTo>
                    <a:pt x="289" y="75"/>
                    <a:pt x="289" y="75"/>
                    <a:pt x="289" y="75"/>
                  </a:cubicBezTo>
                  <a:cubicBezTo>
                    <a:pt x="287" y="74"/>
                    <a:pt x="287" y="74"/>
                    <a:pt x="287" y="74"/>
                  </a:cubicBezTo>
                  <a:cubicBezTo>
                    <a:pt x="272" y="72"/>
                    <a:pt x="251" y="83"/>
                    <a:pt x="237" y="97"/>
                  </a:cubicBezTo>
                  <a:cubicBezTo>
                    <a:pt x="252" y="77"/>
                    <a:pt x="280" y="51"/>
                    <a:pt x="285" y="30"/>
                  </a:cubicBezTo>
                  <a:cubicBezTo>
                    <a:pt x="266" y="29"/>
                    <a:pt x="247" y="25"/>
                    <a:pt x="231" y="16"/>
                  </a:cubicBezTo>
                  <a:cubicBezTo>
                    <a:pt x="216" y="8"/>
                    <a:pt x="209" y="0"/>
                    <a:pt x="191" y="3"/>
                  </a:cubicBezTo>
                  <a:cubicBezTo>
                    <a:pt x="174" y="5"/>
                    <a:pt x="158" y="13"/>
                    <a:pt x="142" y="17"/>
                  </a:cubicBezTo>
                  <a:cubicBezTo>
                    <a:pt x="124" y="22"/>
                    <a:pt x="108" y="15"/>
                    <a:pt x="90" y="18"/>
                  </a:cubicBezTo>
                  <a:cubicBezTo>
                    <a:pt x="87" y="49"/>
                    <a:pt x="125" y="79"/>
                    <a:pt x="136" y="108"/>
                  </a:cubicBezTo>
                  <a:cubicBezTo>
                    <a:pt x="131" y="109"/>
                    <a:pt x="126" y="110"/>
                    <a:pt x="121" y="112"/>
                  </a:cubicBezTo>
                  <a:cubicBezTo>
                    <a:pt x="121" y="112"/>
                    <a:pt x="121" y="112"/>
                    <a:pt x="121" y="112"/>
                  </a:cubicBezTo>
                  <a:cubicBezTo>
                    <a:pt x="118" y="113"/>
                    <a:pt x="115" y="114"/>
                    <a:pt x="114" y="116"/>
                  </a:cubicBezTo>
                  <a:cubicBezTo>
                    <a:pt x="111" y="119"/>
                    <a:pt x="111" y="119"/>
                    <a:pt x="111" y="119"/>
                  </a:cubicBezTo>
                  <a:cubicBezTo>
                    <a:pt x="113" y="123"/>
                    <a:pt x="113" y="123"/>
                    <a:pt x="113" y="123"/>
                  </a:cubicBezTo>
                  <a:cubicBezTo>
                    <a:pt x="116" y="127"/>
                    <a:pt x="120" y="129"/>
                    <a:pt x="127" y="130"/>
                  </a:cubicBezTo>
                  <a:cubicBezTo>
                    <a:pt x="113" y="139"/>
                    <a:pt x="96" y="149"/>
                    <a:pt x="84" y="159"/>
                  </a:cubicBezTo>
                  <a:cubicBezTo>
                    <a:pt x="69" y="172"/>
                    <a:pt x="46" y="198"/>
                    <a:pt x="34" y="214"/>
                  </a:cubicBezTo>
                  <a:cubicBezTo>
                    <a:pt x="13" y="240"/>
                    <a:pt x="0" y="275"/>
                    <a:pt x="6" y="307"/>
                  </a:cubicBezTo>
                  <a:cubicBezTo>
                    <a:pt x="18" y="370"/>
                    <a:pt x="92" y="391"/>
                    <a:pt x="149" y="391"/>
                  </a:cubicBezTo>
                  <a:cubicBezTo>
                    <a:pt x="212" y="391"/>
                    <a:pt x="293" y="400"/>
                    <a:pt x="335" y="348"/>
                  </a:cubicBezTo>
                  <a:cubicBezTo>
                    <a:pt x="352" y="327"/>
                    <a:pt x="347" y="295"/>
                    <a:pt x="343" y="268"/>
                  </a:cubicBezTo>
                  <a:close/>
                  <a:moveTo>
                    <a:pt x="305" y="105"/>
                  </a:moveTo>
                  <a:cubicBezTo>
                    <a:pt x="305" y="105"/>
                    <a:pt x="305" y="106"/>
                    <a:pt x="303" y="109"/>
                  </a:cubicBezTo>
                  <a:cubicBezTo>
                    <a:pt x="299" y="117"/>
                    <a:pt x="284" y="121"/>
                    <a:pt x="273" y="123"/>
                  </a:cubicBezTo>
                  <a:cubicBezTo>
                    <a:pt x="266" y="124"/>
                    <a:pt x="258" y="124"/>
                    <a:pt x="251" y="123"/>
                  </a:cubicBezTo>
                  <a:cubicBezTo>
                    <a:pt x="243" y="123"/>
                    <a:pt x="243" y="123"/>
                    <a:pt x="243" y="123"/>
                  </a:cubicBezTo>
                  <a:cubicBezTo>
                    <a:pt x="243" y="122"/>
                    <a:pt x="243" y="122"/>
                    <a:pt x="243" y="122"/>
                  </a:cubicBezTo>
                  <a:cubicBezTo>
                    <a:pt x="263" y="112"/>
                    <a:pt x="300" y="101"/>
                    <a:pt x="305" y="105"/>
                  </a:cubicBezTo>
                  <a:close/>
                  <a:moveTo>
                    <a:pt x="280" y="85"/>
                  </a:moveTo>
                  <a:cubicBezTo>
                    <a:pt x="275" y="90"/>
                    <a:pt x="260" y="99"/>
                    <a:pt x="251" y="104"/>
                  </a:cubicBezTo>
                  <a:cubicBezTo>
                    <a:pt x="247" y="106"/>
                    <a:pt x="243" y="108"/>
                    <a:pt x="239" y="111"/>
                  </a:cubicBezTo>
                  <a:cubicBezTo>
                    <a:pt x="239" y="111"/>
                    <a:pt x="239" y="111"/>
                    <a:pt x="239" y="111"/>
                  </a:cubicBezTo>
                  <a:cubicBezTo>
                    <a:pt x="249" y="98"/>
                    <a:pt x="267" y="86"/>
                    <a:pt x="280" y="85"/>
                  </a:cubicBezTo>
                  <a:close/>
                  <a:moveTo>
                    <a:pt x="230" y="301"/>
                  </a:moveTo>
                  <a:cubicBezTo>
                    <a:pt x="227" y="306"/>
                    <a:pt x="223" y="311"/>
                    <a:pt x="218" y="315"/>
                  </a:cubicBezTo>
                  <a:cubicBezTo>
                    <a:pt x="213" y="319"/>
                    <a:pt x="208" y="322"/>
                    <a:pt x="203" y="323"/>
                  </a:cubicBezTo>
                  <a:cubicBezTo>
                    <a:pt x="197" y="325"/>
                    <a:pt x="191" y="326"/>
                    <a:pt x="183" y="326"/>
                  </a:cubicBezTo>
                  <a:cubicBezTo>
                    <a:pt x="183" y="344"/>
                    <a:pt x="183" y="344"/>
                    <a:pt x="183" y="344"/>
                  </a:cubicBezTo>
                  <a:cubicBezTo>
                    <a:pt x="169" y="344"/>
                    <a:pt x="169" y="344"/>
                    <a:pt x="169" y="344"/>
                  </a:cubicBezTo>
                  <a:cubicBezTo>
                    <a:pt x="169" y="326"/>
                    <a:pt x="169" y="326"/>
                    <a:pt x="169" y="326"/>
                  </a:cubicBezTo>
                  <a:cubicBezTo>
                    <a:pt x="160" y="326"/>
                    <a:pt x="152" y="324"/>
                    <a:pt x="147" y="322"/>
                  </a:cubicBezTo>
                  <a:cubicBezTo>
                    <a:pt x="141" y="320"/>
                    <a:pt x="136" y="317"/>
                    <a:pt x="132" y="313"/>
                  </a:cubicBezTo>
                  <a:cubicBezTo>
                    <a:pt x="127" y="309"/>
                    <a:pt x="124" y="305"/>
                    <a:pt x="122" y="300"/>
                  </a:cubicBezTo>
                  <a:cubicBezTo>
                    <a:pt x="120" y="296"/>
                    <a:pt x="118" y="291"/>
                    <a:pt x="117" y="284"/>
                  </a:cubicBezTo>
                  <a:cubicBezTo>
                    <a:pt x="155" y="280"/>
                    <a:pt x="155" y="280"/>
                    <a:pt x="155" y="280"/>
                  </a:cubicBezTo>
                  <a:cubicBezTo>
                    <a:pt x="156" y="286"/>
                    <a:pt x="158" y="291"/>
                    <a:pt x="160" y="293"/>
                  </a:cubicBezTo>
                  <a:cubicBezTo>
                    <a:pt x="162" y="296"/>
                    <a:pt x="165" y="299"/>
                    <a:pt x="169" y="301"/>
                  </a:cubicBezTo>
                  <a:cubicBezTo>
                    <a:pt x="169" y="267"/>
                    <a:pt x="169" y="267"/>
                    <a:pt x="169" y="267"/>
                  </a:cubicBezTo>
                  <a:cubicBezTo>
                    <a:pt x="156" y="264"/>
                    <a:pt x="147" y="261"/>
                    <a:pt x="142" y="258"/>
                  </a:cubicBezTo>
                  <a:cubicBezTo>
                    <a:pt x="137" y="255"/>
                    <a:pt x="132" y="251"/>
                    <a:pt x="128" y="246"/>
                  </a:cubicBezTo>
                  <a:cubicBezTo>
                    <a:pt x="124" y="240"/>
                    <a:pt x="122" y="233"/>
                    <a:pt x="122" y="225"/>
                  </a:cubicBezTo>
                  <a:cubicBezTo>
                    <a:pt x="122" y="213"/>
                    <a:pt x="126" y="204"/>
                    <a:pt x="134" y="196"/>
                  </a:cubicBezTo>
                  <a:cubicBezTo>
                    <a:pt x="142" y="189"/>
                    <a:pt x="154" y="185"/>
                    <a:pt x="169" y="184"/>
                  </a:cubicBezTo>
                  <a:cubicBezTo>
                    <a:pt x="169" y="175"/>
                    <a:pt x="169" y="175"/>
                    <a:pt x="169" y="175"/>
                  </a:cubicBezTo>
                  <a:cubicBezTo>
                    <a:pt x="183" y="175"/>
                    <a:pt x="183" y="175"/>
                    <a:pt x="183" y="175"/>
                  </a:cubicBezTo>
                  <a:cubicBezTo>
                    <a:pt x="183" y="184"/>
                    <a:pt x="183" y="184"/>
                    <a:pt x="183" y="184"/>
                  </a:cubicBezTo>
                  <a:cubicBezTo>
                    <a:pt x="197" y="185"/>
                    <a:pt x="208" y="188"/>
                    <a:pt x="215" y="194"/>
                  </a:cubicBezTo>
                  <a:cubicBezTo>
                    <a:pt x="223" y="200"/>
                    <a:pt x="228" y="208"/>
                    <a:pt x="230" y="218"/>
                  </a:cubicBezTo>
                  <a:cubicBezTo>
                    <a:pt x="195" y="223"/>
                    <a:pt x="195" y="223"/>
                    <a:pt x="195" y="223"/>
                  </a:cubicBezTo>
                  <a:cubicBezTo>
                    <a:pt x="193" y="219"/>
                    <a:pt x="191" y="216"/>
                    <a:pt x="190" y="214"/>
                  </a:cubicBezTo>
                  <a:cubicBezTo>
                    <a:pt x="189" y="212"/>
                    <a:pt x="186" y="211"/>
                    <a:pt x="183" y="209"/>
                  </a:cubicBezTo>
                  <a:cubicBezTo>
                    <a:pt x="183" y="236"/>
                    <a:pt x="183" y="236"/>
                    <a:pt x="183" y="236"/>
                  </a:cubicBezTo>
                  <a:cubicBezTo>
                    <a:pt x="202" y="241"/>
                    <a:pt x="215" y="247"/>
                    <a:pt x="221" y="252"/>
                  </a:cubicBezTo>
                  <a:cubicBezTo>
                    <a:pt x="230" y="260"/>
                    <a:pt x="234" y="270"/>
                    <a:pt x="234" y="282"/>
                  </a:cubicBezTo>
                  <a:cubicBezTo>
                    <a:pt x="234" y="288"/>
                    <a:pt x="233" y="295"/>
                    <a:pt x="230" y="301"/>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ea"/>
              </a:endParaRPr>
            </a:p>
          </p:txBody>
        </p:sp>
        <p:grpSp>
          <p:nvGrpSpPr>
            <p:cNvPr id="120" name="组合 119"/>
            <p:cNvGrpSpPr/>
            <p:nvPr/>
          </p:nvGrpSpPr>
          <p:grpSpPr>
            <a:xfrm>
              <a:off x="10498" y="4206"/>
              <a:ext cx="667" cy="543"/>
              <a:chOff x="3922713" y="842963"/>
              <a:chExt cx="623888" cy="508001"/>
            </a:xfrm>
            <a:solidFill>
              <a:sysClr val="window" lastClr="FFFFFF"/>
            </a:solidFill>
          </p:grpSpPr>
          <p:sp>
            <p:nvSpPr>
              <p:cNvPr id="121" name="Freeform 74"/>
              <p:cNvSpPr>
                <a:spLocks noEditPoints="1"/>
              </p:cNvSpPr>
              <p:nvPr/>
            </p:nvSpPr>
            <p:spPr bwMode="auto">
              <a:xfrm>
                <a:off x="3922713" y="1012826"/>
                <a:ext cx="565150" cy="338138"/>
              </a:xfrm>
              <a:custGeom>
                <a:avLst/>
                <a:gdLst>
                  <a:gd name="T0" fmla="*/ 100 w 356"/>
                  <a:gd name="T1" fmla="*/ 80 h 213"/>
                  <a:gd name="T2" fmla="*/ 100 w 356"/>
                  <a:gd name="T3" fmla="*/ 213 h 213"/>
                  <a:gd name="T4" fmla="*/ 159 w 356"/>
                  <a:gd name="T5" fmla="*/ 213 h 213"/>
                  <a:gd name="T6" fmla="*/ 159 w 356"/>
                  <a:gd name="T7" fmla="*/ 80 h 213"/>
                  <a:gd name="T8" fmla="*/ 128 w 356"/>
                  <a:gd name="T9" fmla="*/ 57 h 213"/>
                  <a:gd name="T10" fmla="*/ 100 w 356"/>
                  <a:gd name="T11" fmla="*/ 80 h 213"/>
                  <a:gd name="T12" fmla="*/ 0 w 356"/>
                  <a:gd name="T13" fmla="*/ 213 h 213"/>
                  <a:gd name="T14" fmla="*/ 60 w 356"/>
                  <a:gd name="T15" fmla="*/ 213 h 213"/>
                  <a:gd name="T16" fmla="*/ 60 w 356"/>
                  <a:gd name="T17" fmla="*/ 113 h 213"/>
                  <a:gd name="T18" fmla="*/ 0 w 356"/>
                  <a:gd name="T19" fmla="*/ 161 h 213"/>
                  <a:gd name="T20" fmla="*/ 0 w 356"/>
                  <a:gd name="T21" fmla="*/ 213 h 213"/>
                  <a:gd name="T22" fmla="*/ 296 w 356"/>
                  <a:gd name="T23" fmla="*/ 50 h 213"/>
                  <a:gd name="T24" fmla="*/ 296 w 356"/>
                  <a:gd name="T25" fmla="*/ 213 h 213"/>
                  <a:gd name="T26" fmla="*/ 356 w 356"/>
                  <a:gd name="T27" fmla="*/ 213 h 213"/>
                  <a:gd name="T28" fmla="*/ 356 w 356"/>
                  <a:gd name="T29" fmla="*/ 0 h 213"/>
                  <a:gd name="T30" fmla="*/ 296 w 356"/>
                  <a:gd name="T31" fmla="*/ 50 h 213"/>
                  <a:gd name="T32" fmla="*/ 197 w 356"/>
                  <a:gd name="T33" fmla="*/ 116 h 213"/>
                  <a:gd name="T34" fmla="*/ 197 w 356"/>
                  <a:gd name="T35" fmla="*/ 213 h 213"/>
                  <a:gd name="T36" fmla="*/ 256 w 356"/>
                  <a:gd name="T37" fmla="*/ 213 h 213"/>
                  <a:gd name="T38" fmla="*/ 256 w 356"/>
                  <a:gd name="T39" fmla="*/ 85 h 213"/>
                  <a:gd name="T40" fmla="*/ 209 w 356"/>
                  <a:gd name="T41" fmla="*/ 125 h 213"/>
                  <a:gd name="T42" fmla="*/ 197 w 356"/>
                  <a:gd name="T43" fmla="*/ 11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6" h="213">
                    <a:moveTo>
                      <a:pt x="100" y="80"/>
                    </a:moveTo>
                    <a:lnTo>
                      <a:pt x="100" y="213"/>
                    </a:lnTo>
                    <a:lnTo>
                      <a:pt x="159" y="213"/>
                    </a:lnTo>
                    <a:lnTo>
                      <a:pt x="159" y="80"/>
                    </a:lnTo>
                    <a:lnTo>
                      <a:pt x="128" y="57"/>
                    </a:lnTo>
                    <a:lnTo>
                      <a:pt x="100" y="80"/>
                    </a:lnTo>
                    <a:close/>
                    <a:moveTo>
                      <a:pt x="0" y="213"/>
                    </a:moveTo>
                    <a:lnTo>
                      <a:pt x="60" y="213"/>
                    </a:lnTo>
                    <a:lnTo>
                      <a:pt x="60" y="113"/>
                    </a:lnTo>
                    <a:lnTo>
                      <a:pt x="0" y="161"/>
                    </a:lnTo>
                    <a:lnTo>
                      <a:pt x="0" y="213"/>
                    </a:lnTo>
                    <a:close/>
                    <a:moveTo>
                      <a:pt x="296" y="50"/>
                    </a:moveTo>
                    <a:lnTo>
                      <a:pt x="296" y="213"/>
                    </a:lnTo>
                    <a:lnTo>
                      <a:pt x="356" y="213"/>
                    </a:lnTo>
                    <a:lnTo>
                      <a:pt x="356" y="0"/>
                    </a:lnTo>
                    <a:lnTo>
                      <a:pt x="296" y="50"/>
                    </a:lnTo>
                    <a:close/>
                    <a:moveTo>
                      <a:pt x="197" y="116"/>
                    </a:moveTo>
                    <a:lnTo>
                      <a:pt x="197" y="213"/>
                    </a:lnTo>
                    <a:lnTo>
                      <a:pt x="256" y="213"/>
                    </a:lnTo>
                    <a:lnTo>
                      <a:pt x="256" y="85"/>
                    </a:lnTo>
                    <a:lnTo>
                      <a:pt x="209" y="125"/>
                    </a:lnTo>
                    <a:lnTo>
                      <a:pt x="197"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ea"/>
                </a:endParaRPr>
              </a:p>
            </p:txBody>
          </p:sp>
          <p:sp>
            <p:nvSpPr>
              <p:cNvPr id="122" name="Freeform 75"/>
              <p:cNvSpPr/>
              <p:nvPr/>
            </p:nvSpPr>
            <p:spPr bwMode="auto">
              <a:xfrm>
                <a:off x="3922713" y="842963"/>
                <a:ext cx="623888" cy="368300"/>
              </a:xfrm>
              <a:custGeom>
                <a:avLst/>
                <a:gdLst>
                  <a:gd name="T0" fmla="*/ 393 w 393"/>
                  <a:gd name="T1" fmla="*/ 0 h 232"/>
                  <a:gd name="T2" fmla="*/ 282 w 393"/>
                  <a:gd name="T3" fmla="*/ 0 h 232"/>
                  <a:gd name="T4" fmla="*/ 330 w 393"/>
                  <a:gd name="T5" fmla="*/ 48 h 232"/>
                  <a:gd name="T6" fmla="*/ 209 w 393"/>
                  <a:gd name="T7" fmla="*/ 149 h 232"/>
                  <a:gd name="T8" fmla="*/ 128 w 393"/>
                  <a:gd name="T9" fmla="*/ 81 h 232"/>
                  <a:gd name="T10" fmla="*/ 0 w 393"/>
                  <a:gd name="T11" fmla="*/ 187 h 232"/>
                  <a:gd name="T12" fmla="*/ 0 w 393"/>
                  <a:gd name="T13" fmla="*/ 232 h 232"/>
                  <a:gd name="T14" fmla="*/ 128 w 393"/>
                  <a:gd name="T15" fmla="*/ 126 h 232"/>
                  <a:gd name="T16" fmla="*/ 209 w 393"/>
                  <a:gd name="T17" fmla="*/ 194 h 232"/>
                  <a:gd name="T18" fmla="*/ 353 w 393"/>
                  <a:gd name="T19" fmla="*/ 71 h 232"/>
                  <a:gd name="T20" fmla="*/ 393 w 393"/>
                  <a:gd name="T21" fmla="*/ 112 h 232"/>
                  <a:gd name="T22" fmla="*/ 393 w 393"/>
                  <a:gd name="T23"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3" h="232">
                    <a:moveTo>
                      <a:pt x="393" y="0"/>
                    </a:moveTo>
                    <a:lnTo>
                      <a:pt x="282" y="0"/>
                    </a:lnTo>
                    <a:lnTo>
                      <a:pt x="330" y="48"/>
                    </a:lnTo>
                    <a:lnTo>
                      <a:pt x="209" y="149"/>
                    </a:lnTo>
                    <a:lnTo>
                      <a:pt x="128" y="81"/>
                    </a:lnTo>
                    <a:lnTo>
                      <a:pt x="0" y="187"/>
                    </a:lnTo>
                    <a:lnTo>
                      <a:pt x="0" y="232"/>
                    </a:lnTo>
                    <a:lnTo>
                      <a:pt x="128" y="126"/>
                    </a:lnTo>
                    <a:lnTo>
                      <a:pt x="209" y="194"/>
                    </a:lnTo>
                    <a:lnTo>
                      <a:pt x="353" y="71"/>
                    </a:lnTo>
                    <a:lnTo>
                      <a:pt x="393" y="112"/>
                    </a:lnTo>
                    <a:lnTo>
                      <a:pt x="39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ea"/>
                </a:endParaRPr>
              </a:p>
            </p:txBody>
          </p:sp>
        </p:grpSp>
      </p:grpSp>
      <p:sp>
        <p:nvSpPr>
          <p:cNvPr id="81" name="TextBox 8"/>
          <p:cNvSpPr txBox="1">
            <a:spLocks noChangeArrowheads="1"/>
          </p:cNvSpPr>
          <p:nvPr/>
        </p:nvSpPr>
        <p:spPr bwMode="auto">
          <a:xfrm>
            <a:off x="491490" y="3417570"/>
            <a:ext cx="366712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68045">
              <a:lnSpc>
                <a:spcPct val="150000"/>
              </a:lnSpc>
            </a:pPr>
            <a:r>
              <a:rPr lang="zh-CN" altLang="en-US" sz="1600" dirty="0">
                <a:latin typeface="微软雅黑" panose="020B0503020204020204" pitchFamily="34" charset="-122"/>
                <a:ea typeface="微软雅黑" panose="020B0503020204020204" pitchFamily="34" charset="-122"/>
              </a:rPr>
              <a:t>国内外服务外包行业的发展状况，然后具体解析了医药外包、软件与信息服务外包、物流外包等细分市场的发展状况。</a:t>
            </a:r>
          </a:p>
        </p:txBody>
      </p:sp>
      <p:sp>
        <p:nvSpPr>
          <p:cNvPr id="19" name="TextBox 10"/>
          <p:cNvSpPr txBox="1"/>
          <p:nvPr/>
        </p:nvSpPr>
        <p:spPr>
          <a:xfrm>
            <a:off x="7165340" y="4278630"/>
            <a:ext cx="1859280" cy="461645"/>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市场覆盖率</a:t>
            </a:r>
          </a:p>
        </p:txBody>
      </p:sp>
      <p:sp>
        <p:nvSpPr>
          <p:cNvPr id="20" name="矩形 19"/>
          <p:cNvSpPr/>
          <p:nvPr/>
        </p:nvSpPr>
        <p:spPr>
          <a:xfrm>
            <a:off x="5991225" y="4093210"/>
            <a:ext cx="1273175" cy="831215"/>
          </a:xfrm>
          <a:prstGeom prst="rect">
            <a:avLst/>
          </a:prstGeom>
        </p:spPr>
        <p:txBody>
          <a:bodyPr wrap="none">
            <a:spAutoFit/>
          </a:bodyPr>
          <a:lstStyle/>
          <a:p>
            <a:pPr algn="ctr"/>
            <a:r>
              <a:rPr lang="en-US" altLang="zh-CN" sz="4800" dirty="0">
                <a:solidFill>
                  <a:schemeClr val="bg1"/>
                </a:solidFill>
                <a:latin typeface="Impact" panose="020B0806030902050204" pitchFamily="34" charset="0"/>
                <a:ea typeface="微软雅黑" panose="020B0503020204020204" pitchFamily="34" charset="-122"/>
              </a:rPr>
              <a:t>85</a:t>
            </a:r>
            <a:r>
              <a:rPr lang="en-US" altLang="zh-CN" sz="3600" b="1" dirty="0">
                <a:solidFill>
                  <a:schemeClr val="bg1"/>
                </a:solidFill>
                <a:latin typeface="微软雅黑" panose="020B0503020204020204" pitchFamily="34" charset="-122"/>
                <a:ea typeface="微软雅黑" panose="020B0503020204020204" pitchFamily="34" charset="-122"/>
              </a:rPr>
              <a:t>%</a:t>
            </a:r>
          </a:p>
        </p:txBody>
      </p:sp>
      <p:sp>
        <p:nvSpPr>
          <p:cNvPr id="63" name="TextBox 64"/>
          <p:cNvSpPr txBox="1"/>
          <p:nvPr/>
        </p:nvSpPr>
        <p:spPr>
          <a:xfrm>
            <a:off x="8602980" y="2771140"/>
            <a:ext cx="1471295" cy="461645"/>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推广范围</a:t>
            </a:r>
          </a:p>
        </p:txBody>
      </p:sp>
      <p:sp>
        <p:nvSpPr>
          <p:cNvPr id="64" name="TextBox 65"/>
          <p:cNvSpPr txBox="1"/>
          <p:nvPr/>
        </p:nvSpPr>
        <p:spPr>
          <a:xfrm>
            <a:off x="7222490" y="2586355"/>
            <a:ext cx="1303655" cy="831215"/>
          </a:xfrm>
          <a:prstGeom prst="rect">
            <a:avLst/>
          </a:prstGeom>
          <a:noFill/>
        </p:spPr>
        <p:txBody>
          <a:bodyPr wrap="square" rtlCol="0">
            <a:spAutoFit/>
          </a:bodyPr>
          <a:lstStyle/>
          <a:p>
            <a:pPr algn="ctr"/>
            <a:r>
              <a:rPr lang="en-US" altLang="zh-CN" sz="4800" dirty="0">
                <a:solidFill>
                  <a:schemeClr val="bg1"/>
                </a:solidFill>
                <a:latin typeface="Impact" panose="020B0806030902050204" pitchFamily="34" charset="0"/>
                <a:ea typeface="微软雅黑" panose="020B0503020204020204" pitchFamily="34" charset="-122"/>
              </a:rPr>
              <a:t>90</a:t>
            </a:r>
            <a:r>
              <a:rPr lang="en-US" altLang="zh-CN" sz="3600" b="1" dirty="0">
                <a:solidFill>
                  <a:schemeClr val="bg1"/>
                </a:solidFill>
                <a:latin typeface="微软雅黑" panose="020B0503020204020204" pitchFamily="34" charset="-122"/>
                <a:ea typeface="微软雅黑" panose="020B0503020204020204" pitchFamily="34" charset="-122"/>
              </a:rPr>
              <a:t>%</a:t>
            </a:r>
          </a:p>
        </p:txBody>
      </p:sp>
      <p:grpSp>
        <p:nvGrpSpPr>
          <p:cNvPr id="72" name="组合 71"/>
          <p:cNvGrpSpPr/>
          <p:nvPr/>
        </p:nvGrpSpPr>
        <p:grpSpPr>
          <a:xfrm>
            <a:off x="8552815" y="1203325"/>
            <a:ext cx="3042920" cy="831215"/>
            <a:chOff x="7568700" y="-5376654"/>
            <a:chExt cx="3043142" cy="830997"/>
          </a:xfrm>
        </p:grpSpPr>
        <p:sp>
          <p:nvSpPr>
            <p:cNvPr id="67" name="TextBox 69"/>
            <p:cNvSpPr txBox="1"/>
            <p:nvPr/>
          </p:nvSpPr>
          <p:spPr>
            <a:xfrm>
              <a:off x="9140251" y="-5191662"/>
              <a:ext cx="1471591" cy="461665"/>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用户群体</a:t>
              </a:r>
            </a:p>
          </p:txBody>
        </p:sp>
        <p:sp>
          <p:nvSpPr>
            <p:cNvPr id="68" name="TextBox 70"/>
            <p:cNvSpPr txBox="1"/>
            <p:nvPr/>
          </p:nvSpPr>
          <p:spPr>
            <a:xfrm>
              <a:off x="7568700" y="-5376654"/>
              <a:ext cx="1571540" cy="830997"/>
            </a:xfrm>
            <a:prstGeom prst="rect">
              <a:avLst/>
            </a:prstGeom>
            <a:noFill/>
          </p:spPr>
          <p:txBody>
            <a:bodyPr wrap="square" rtlCol="0">
              <a:spAutoFit/>
            </a:bodyPr>
            <a:lstStyle/>
            <a:p>
              <a:pPr algn="ctr"/>
              <a:r>
                <a:rPr lang="en-US" altLang="zh-CN" sz="4800" dirty="0">
                  <a:solidFill>
                    <a:schemeClr val="bg1"/>
                  </a:solidFill>
                  <a:latin typeface="Impact" panose="020B0806030902050204" pitchFamily="34" charset="0"/>
                  <a:ea typeface="微软雅黑" panose="020B0503020204020204" pitchFamily="34" charset="-122"/>
                </a:rPr>
                <a:t>3.5</a:t>
              </a:r>
              <a:r>
                <a:rPr lang="zh-CN" altLang="en-US" sz="3600" b="1" dirty="0">
                  <a:solidFill>
                    <a:schemeClr val="bg1"/>
                  </a:solidFill>
                  <a:latin typeface="微软雅黑" panose="020B0503020204020204" pitchFamily="34" charset="-122"/>
                  <a:ea typeface="微软雅黑" panose="020B0503020204020204" pitchFamily="34" charset="-122"/>
                </a:rPr>
                <a:t>亿</a:t>
              </a:r>
            </a:p>
          </p:txBody>
        </p:sp>
      </p:grpSp>
      <p:sp>
        <p:nvSpPr>
          <p:cNvPr id="94" name="矩形 93"/>
          <p:cNvSpPr/>
          <p:nvPr/>
        </p:nvSpPr>
        <p:spPr>
          <a:xfrm>
            <a:off x="1510686" y="414166"/>
            <a:ext cx="3383280" cy="645160"/>
          </a:xfrm>
          <a:prstGeom prst="rect">
            <a:avLst/>
          </a:prstGeom>
        </p:spPr>
        <p:txBody>
          <a:bodyPr wrap="none">
            <a:spAutoFit/>
          </a:bodyPr>
          <a:lstStyle/>
          <a:p>
            <a:r>
              <a:rPr lang="zh-CN" altLang="en-US" sz="3600" b="1" dirty="0">
                <a:solidFill>
                  <a:srgbClr val="333333"/>
                </a:solidFill>
                <a:latin typeface="微软雅黑" panose="020B0503020204020204" pitchFamily="34" charset="-122"/>
                <a:ea typeface="微软雅黑" panose="020B0503020204020204" pitchFamily="34" charset="-122"/>
              </a:rPr>
              <a:t>投资回报及收益</a:t>
            </a:r>
            <a:endParaRPr lang="zh-CN" altLang="en-US" sz="3600" b="1" dirty="0"/>
          </a:p>
        </p:txBody>
      </p:sp>
      <p:cxnSp>
        <p:nvCxnSpPr>
          <p:cNvPr id="124" name="30907出品 30"/>
          <p:cNvCxnSpPr/>
          <p:nvPr>
            <p:custDataLst>
              <p:tags r:id="rId1"/>
            </p:custDataLst>
          </p:nvPr>
        </p:nvCxnSpPr>
        <p:spPr>
          <a:xfrm>
            <a:off x="391839" y="2831485"/>
            <a:ext cx="0" cy="365015"/>
          </a:xfrm>
          <a:prstGeom prst="line">
            <a:avLst/>
          </a:prstGeom>
          <a:ln w="44450">
            <a:solidFill>
              <a:srgbClr val="383F4E"/>
            </a:solidFill>
          </a:ln>
        </p:spPr>
        <p:style>
          <a:lnRef idx="1">
            <a:schemeClr val="accent1"/>
          </a:lnRef>
          <a:fillRef idx="0">
            <a:schemeClr val="accent1"/>
          </a:fillRef>
          <a:effectRef idx="0">
            <a:schemeClr val="accent1"/>
          </a:effectRef>
          <a:fontRef idx="minor">
            <a:schemeClr val="tx1"/>
          </a:fontRef>
        </p:style>
      </p:cxnSp>
      <p:sp>
        <p:nvSpPr>
          <p:cNvPr id="125" name="+3品 29"/>
          <p:cNvSpPr txBox="1"/>
          <p:nvPr>
            <p:custDataLst>
              <p:tags r:id="rId2"/>
            </p:custDataLst>
          </p:nvPr>
        </p:nvSpPr>
        <p:spPr>
          <a:xfrm>
            <a:off x="491464" y="2752381"/>
            <a:ext cx="3819832" cy="523220"/>
          </a:xfrm>
          <a:prstGeom prst="rect">
            <a:avLst/>
          </a:prstGeom>
          <a:noFill/>
        </p:spPr>
        <p:txBody>
          <a:bodyPr wrap="square"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383F4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randombar(horizontal)">
                                      <p:cBhvr>
                                        <p:cTn id="7" dur="500"/>
                                        <p:tgtEl>
                                          <p:spTgt spid="81"/>
                                        </p:tgtEl>
                                      </p:cBhvr>
                                    </p:animEffect>
                                  </p:childTnLst>
                                </p:cTn>
                              </p:par>
                              <p:par>
                                <p:cTn id="8" presetID="2" presetClass="entr" presetSubtype="2" fill="hold" nodeType="withEffect">
                                  <p:stCondLst>
                                    <p:cond delay="200"/>
                                  </p:stCondLst>
                                  <p:childTnLst>
                                    <p:set>
                                      <p:cBhvr>
                                        <p:cTn id="9" dur="1" fill="hold">
                                          <p:stCondLst>
                                            <p:cond delay="0"/>
                                          </p:stCondLst>
                                        </p:cTn>
                                        <p:tgtEl>
                                          <p:spTgt spid="124"/>
                                        </p:tgtEl>
                                        <p:attrNameLst>
                                          <p:attrName>style.visibility</p:attrName>
                                        </p:attrNameLst>
                                      </p:cBhvr>
                                      <p:to>
                                        <p:strVal val="visible"/>
                                      </p:to>
                                    </p:set>
                                    <p:anim calcmode="lin" valueType="num">
                                      <p:cBhvr additive="base">
                                        <p:cTn id="10" dur="500" fill="hold"/>
                                        <p:tgtEl>
                                          <p:spTgt spid="124"/>
                                        </p:tgtEl>
                                        <p:attrNameLst>
                                          <p:attrName>ppt_x</p:attrName>
                                        </p:attrNameLst>
                                      </p:cBhvr>
                                      <p:tavLst>
                                        <p:tav tm="0">
                                          <p:val>
                                            <p:strVal val="1+#ppt_w/2"/>
                                          </p:val>
                                        </p:tav>
                                        <p:tav tm="100000">
                                          <p:val>
                                            <p:strVal val="#ppt_x"/>
                                          </p:val>
                                        </p:tav>
                                      </p:tavLst>
                                    </p:anim>
                                    <p:anim calcmode="lin" valueType="num">
                                      <p:cBhvr additive="base">
                                        <p:cTn id="11" dur="500" fill="hold"/>
                                        <p:tgtEl>
                                          <p:spTgt spid="124"/>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 presetClass="entr" presetSubtype="2" fill="hold" grpId="0" nodeType="afterEffect">
                                  <p:stCondLst>
                                    <p:cond delay="0"/>
                                  </p:stCondLst>
                                  <p:childTnLst>
                                    <p:set>
                                      <p:cBhvr>
                                        <p:cTn id="14" dur="1" fill="hold">
                                          <p:stCondLst>
                                            <p:cond delay="0"/>
                                          </p:stCondLst>
                                        </p:cTn>
                                        <p:tgtEl>
                                          <p:spTgt spid="125"/>
                                        </p:tgtEl>
                                        <p:attrNameLst>
                                          <p:attrName>style.visibility</p:attrName>
                                        </p:attrNameLst>
                                      </p:cBhvr>
                                      <p:to>
                                        <p:strVal val="visible"/>
                                      </p:to>
                                    </p:set>
                                    <p:anim calcmode="lin" valueType="num">
                                      <p:cBhvr additive="base">
                                        <p:cTn id="15" dur="500" fill="hold"/>
                                        <p:tgtEl>
                                          <p:spTgt spid="125"/>
                                        </p:tgtEl>
                                        <p:attrNameLst>
                                          <p:attrName>ppt_x</p:attrName>
                                        </p:attrNameLst>
                                      </p:cBhvr>
                                      <p:tavLst>
                                        <p:tav tm="0">
                                          <p:val>
                                            <p:strVal val="1+#ppt_w/2"/>
                                          </p:val>
                                        </p:tav>
                                        <p:tav tm="100000">
                                          <p:val>
                                            <p:strVal val="#ppt_x"/>
                                          </p:val>
                                        </p:tav>
                                      </p:tavLst>
                                    </p:anim>
                                    <p:anim calcmode="lin" valueType="num">
                                      <p:cBhvr additive="base">
                                        <p:cTn id="16" dur="500" fill="hold"/>
                                        <p:tgtEl>
                                          <p:spTgt spid="12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3"/>
                                        </p:tgtEl>
                                        <p:attrNameLst>
                                          <p:attrName>style.visibility</p:attrName>
                                        </p:attrNameLst>
                                      </p:cBhvr>
                                      <p:to>
                                        <p:strVal val="visible"/>
                                      </p:to>
                                    </p:set>
                                    <p:anim calcmode="lin" valueType="num">
                                      <p:cBhvr additive="base">
                                        <p:cTn id="21" dur="500" fill="hold"/>
                                        <p:tgtEl>
                                          <p:spTgt spid="123"/>
                                        </p:tgtEl>
                                        <p:attrNameLst>
                                          <p:attrName>ppt_x</p:attrName>
                                        </p:attrNameLst>
                                      </p:cBhvr>
                                      <p:tavLst>
                                        <p:tav tm="0">
                                          <p:val>
                                            <p:strVal val="#ppt_x"/>
                                          </p:val>
                                        </p:tav>
                                        <p:tav tm="100000">
                                          <p:val>
                                            <p:strVal val="#ppt_x"/>
                                          </p:val>
                                        </p:tav>
                                      </p:tavLst>
                                    </p:anim>
                                    <p:anim calcmode="lin" valueType="num">
                                      <p:cBhvr additive="base">
                                        <p:cTn id="22" dur="500" fill="hold"/>
                                        <p:tgtEl>
                                          <p:spTgt spid="12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anim calcmode="lin" valueType="num">
                                      <p:cBhvr additive="base">
                                        <p:cTn id="33" dur="500" fill="hold"/>
                                        <p:tgtEl>
                                          <p:spTgt spid="63"/>
                                        </p:tgtEl>
                                        <p:attrNameLst>
                                          <p:attrName>ppt_x</p:attrName>
                                        </p:attrNameLst>
                                      </p:cBhvr>
                                      <p:tavLst>
                                        <p:tav tm="0">
                                          <p:val>
                                            <p:strVal val="#ppt_x"/>
                                          </p:val>
                                        </p:tav>
                                        <p:tav tm="100000">
                                          <p:val>
                                            <p:strVal val="#ppt_x"/>
                                          </p:val>
                                        </p:tav>
                                      </p:tavLst>
                                    </p:anim>
                                    <p:anim calcmode="lin" valueType="num">
                                      <p:cBhvr additive="base">
                                        <p:cTn id="34" dur="500" fill="hold"/>
                                        <p:tgtEl>
                                          <p:spTgt spid="6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anim calcmode="lin" valueType="num">
                                      <p:cBhvr additive="base">
                                        <p:cTn id="37" dur="500" fill="hold"/>
                                        <p:tgtEl>
                                          <p:spTgt spid="64"/>
                                        </p:tgtEl>
                                        <p:attrNameLst>
                                          <p:attrName>ppt_x</p:attrName>
                                        </p:attrNameLst>
                                      </p:cBhvr>
                                      <p:tavLst>
                                        <p:tav tm="0">
                                          <p:val>
                                            <p:strVal val="#ppt_x"/>
                                          </p:val>
                                        </p:tav>
                                        <p:tav tm="100000">
                                          <p:val>
                                            <p:strVal val="#ppt_x"/>
                                          </p:val>
                                        </p:tav>
                                      </p:tavLst>
                                    </p:anim>
                                    <p:anim calcmode="lin" valueType="num">
                                      <p:cBhvr additive="base">
                                        <p:cTn id="38" dur="500" fill="hold"/>
                                        <p:tgtEl>
                                          <p:spTgt spid="6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2"/>
                                        </p:tgtEl>
                                        <p:attrNameLst>
                                          <p:attrName>style.visibility</p:attrName>
                                        </p:attrNameLst>
                                      </p:cBhvr>
                                      <p:to>
                                        <p:strVal val="visible"/>
                                      </p:to>
                                    </p:set>
                                    <p:anim calcmode="lin" valueType="num">
                                      <p:cBhvr additive="base">
                                        <p:cTn id="41" dur="500" fill="hold"/>
                                        <p:tgtEl>
                                          <p:spTgt spid="72"/>
                                        </p:tgtEl>
                                        <p:attrNameLst>
                                          <p:attrName>ppt_x</p:attrName>
                                        </p:attrNameLst>
                                      </p:cBhvr>
                                      <p:tavLst>
                                        <p:tav tm="0">
                                          <p:val>
                                            <p:strVal val="#ppt_x"/>
                                          </p:val>
                                        </p:tav>
                                        <p:tav tm="100000">
                                          <p:val>
                                            <p:strVal val="#ppt_x"/>
                                          </p:val>
                                        </p:tav>
                                      </p:tavLst>
                                    </p:anim>
                                    <p:anim calcmode="lin" valueType="num">
                                      <p:cBhvr additive="base">
                                        <p:cTn id="4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19" grpId="0"/>
      <p:bldP spid="20" grpId="0"/>
      <p:bldP spid="63" grpId="0"/>
      <p:bldP spid="64" grpId="0"/>
      <p:bldP spid="125"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1258390" y="2133600"/>
            <a:ext cx="9651529" cy="2002387"/>
          </a:xfrm>
          <a:prstGeom prst="rect">
            <a:avLst/>
          </a:prstGeom>
          <a:solidFill>
            <a:schemeClr val="bg1">
              <a:lumMod val="95000"/>
            </a:schemeClr>
          </a:solidFill>
          <a:ln>
            <a:noFill/>
          </a:ln>
          <a:effectLst>
            <a:outerShdw blurRad="190500" dist="228600" dir="2700000" algn="ctr">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452150" y="1790210"/>
            <a:ext cx="5292000" cy="216000"/>
          </a:xfrm>
          <a:prstGeom prst="rect">
            <a:avLst/>
          </a:prstGeom>
          <a:solidFill>
            <a:schemeClr val="tx1">
              <a:lumMod val="50000"/>
              <a:lumOff val="50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2322275" y="2261603"/>
            <a:ext cx="1080138" cy="540069"/>
          </a:xfrm>
          <a:prstGeom prst="rect">
            <a:avLst/>
          </a:prstGeom>
          <a:solidFill>
            <a:srgbClr val="E8432E"/>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年度</a:t>
            </a:r>
          </a:p>
        </p:txBody>
      </p:sp>
      <p:sp>
        <p:nvSpPr>
          <p:cNvPr id="14" name="矩形 13"/>
          <p:cNvSpPr/>
          <p:nvPr/>
        </p:nvSpPr>
        <p:spPr>
          <a:xfrm>
            <a:off x="2322275" y="2801674"/>
            <a:ext cx="1080138" cy="360046"/>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2016</a:t>
            </a:r>
            <a:r>
              <a:rPr lang="zh-CN" altLang="en-US" sz="1200" dirty="0">
                <a:solidFill>
                  <a:schemeClr val="tx1"/>
                </a:solidFill>
                <a:latin typeface="微软雅黑" panose="020B0503020204020204" pitchFamily="34" charset="-122"/>
                <a:ea typeface="微软雅黑" panose="020B0503020204020204" pitchFamily="34" charset="-122"/>
              </a:rPr>
              <a:t>年</a:t>
            </a:r>
          </a:p>
        </p:txBody>
      </p:sp>
      <p:sp>
        <p:nvSpPr>
          <p:cNvPr id="15" name="矩形 14"/>
          <p:cNvSpPr/>
          <p:nvPr/>
        </p:nvSpPr>
        <p:spPr>
          <a:xfrm>
            <a:off x="3402413" y="2261603"/>
            <a:ext cx="1080138" cy="540069"/>
          </a:xfrm>
          <a:prstGeom prst="rect">
            <a:avLst/>
          </a:prstGeom>
          <a:solidFill>
            <a:srgbClr val="383F4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销售额</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（万元）</a:t>
            </a:r>
          </a:p>
        </p:txBody>
      </p:sp>
      <p:sp>
        <p:nvSpPr>
          <p:cNvPr id="16" name="矩形 15"/>
          <p:cNvSpPr/>
          <p:nvPr/>
        </p:nvSpPr>
        <p:spPr>
          <a:xfrm>
            <a:off x="8803103" y="2261603"/>
            <a:ext cx="1080138" cy="540069"/>
          </a:xfrm>
          <a:prstGeom prst="rect">
            <a:avLst/>
          </a:prstGeom>
          <a:solidFill>
            <a:srgbClr val="E8432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在线人数</a:t>
            </a:r>
          </a:p>
        </p:txBody>
      </p:sp>
      <p:sp>
        <p:nvSpPr>
          <p:cNvPr id="17" name="矩形 16"/>
          <p:cNvSpPr/>
          <p:nvPr/>
        </p:nvSpPr>
        <p:spPr>
          <a:xfrm>
            <a:off x="7722965" y="2261603"/>
            <a:ext cx="1080138" cy="540069"/>
          </a:xfrm>
          <a:prstGeom prst="rect">
            <a:avLst/>
          </a:prstGeom>
          <a:solidFill>
            <a:srgbClr val="383F4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收入增长率</a:t>
            </a:r>
          </a:p>
        </p:txBody>
      </p:sp>
      <p:sp>
        <p:nvSpPr>
          <p:cNvPr id="18" name="矩形 17"/>
          <p:cNvSpPr/>
          <p:nvPr/>
        </p:nvSpPr>
        <p:spPr>
          <a:xfrm>
            <a:off x="6642827" y="2261603"/>
            <a:ext cx="1080138" cy="540069"/>
          </a:xfrm>
          <a:prstGeom prst="rect">
            <a:avLst/>
          </a:prstGeom>
          <a:solidFill>
            <a:srgbClr val="E8432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税后净利率</a:t>
            </a:r>
          </a:p>
        </p:txBody>
      </p:sp>
      <p:sp>
        <p:nvSpPr>
          <p:cNvPr id="19" name="矩形 18"/>
          <p:cNvSpPr/>
          <p:nvPr/>
        </p:nvSpPr>
        <p:spPr>
          <a:xfrm>
            <a:off x="5562689" y="2261603"/>
            <a:ext cx="1080138" cy="540069"/>
          </a:xfrm>
          <a:prstGeom prst="rect">
            <a:avLst/>
          </a:prstGeom>
          <a:solidFill>
            <a:srgbClr val="383F4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税后净利（万元）</a:t>
            </a:r>
          </a:p>
        </p:txBody>
      </p:sp>
      <p:sp>
        <p:nvSpPr>
          <p:cNvPr id="20" name="矩形 19"/>
          <p:cNvSpPr/>
          <p:nvPr/>
        </p:nvSpPr>
        <p:spPr>
          <a:xfrm>
            <a:off x="4482551" y="2261603"/>
            <a:ext cx="1080138" cy="540069"/>
          </a:xfrm>
          <a:prstGeom prst="rect">
            <a:avLst/>
          </a:prstGeom>
          <a:solidFill>
            <a:srgbClr val="E8432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毛利率</a:t>
            </a:r>
          </a:p>
        </p:txBody>
      </p:sp>
      <p:sp>
        <p:nvSpPr>
          <p:cNvPr id="21" name="矩形 20"/>
          <p:cNvSpPr/>
          <p:nvPr/>
        </p:nvSpPr>
        <p:spPr>
          <a:xfrm>
            <a:off x="3402413" y="2801674"/>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6000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8803103" y="2801674"/>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19</a:t>
            </a:r>
            <a:r>
              <a:rPr lang="zh-CN" altLang="en-US" sz="1200" dirty="0">
                <a:solidFill>
                  <a:schemeClr val="tx1"/>
                </a:solidFill>
                <a:latin typeface="微软雅黑" panose="020B0503020204020204" pitchFamily="34" charset="-122"/>
                <a:ea typeface="微软雅黑" panose="020B0503020204020204" pitchFamily="34" charset="-122"/>
              </a:rPr>
              <a:t>万</a:t>
            </a:r>
          </a:p>
        </p:txBody>
      </p:sp>
      <p:sp>
        <p:nvSpPr>
          <p:cNvPr id="23" name="矩形 22"/>
          <p:cNvSpPr/>
          <p:nvPr/>
        </p:nvSpPr>
        <p:spPr>
          <a:xfrm>
            <a:off x="7722965" y="2801674"/>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310%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4" name="矩形 23"/>
          <p:cNvSpPr/>
          <p:nvPr/>
        </p:nvSpPr>
        <p:spPr>
          <a:xfrm>
            <a:off x="6642827" y="2801674"/>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9.0%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5562689" y="2801674"/>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540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4482551" y="2801674"/>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54%</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2322275" y="3161719"/>
            <a:ext cx="1080138" cy="360046"/>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2017</a:t>
            </a:r>
            <a:r>
              <a:rPr lang="zh-CN" altLang="en-US" sz="1200" dirty="0">
                <a:solidFill>
                  <a:schemeClr val="tx1"/>
                </a:solidFill>
                <a:latin typeface="微软雅黑" panose="020B0503020204020204" pitchFamily="34" charset="-122"/>
                <a:ea typeface="微软雅黑" panose="020B0503020204020204" pitchFamily="34" charset="-122"/>
              </a:rPr>
              <a:t>年</a:t>
            </a:r>
          </a:p>
        </p:txBody>
      </p:sp>
      <p:sp>
        <p:nvSpPr>
          <p:cNvPr id="28" name="矩形 27"/>
          <p:cNvSpPr/>
          <p:nvPr/>
        </p:nvSpPr>
        <p:spPr>
          <a:xfrm>
            <a:off x="3402413" y="3161719"/>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16000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8803103" y="3161719"/>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62</a:t>
            </a:r>
            <a:r>
              <a:rPr lang="zh-CN" altLang="en-US" sz="1200" dirty="0">
                <a:solidFill>
                  <a:schemeClr val="tx1"/>
                </a:solidFill>
                <a:latin typeface="微软雅黑" panose="020B0503020204020204" pitchFamily="34" charset="-122"/>
                <a:ea typeface="微软雅黑" panose="020B0503020204020204" pitchFamily="34" charset="-122"/>
              </a:rPr>
              <a:t>万</a:t>
            </a:r>
          </a:p>
        </p:txBody>
      </p:sp>
      <p:sp>
        <p:nvSpPr>
          <p:cNvPr id="30" name="矩形 29"/>
          <p:cNvSpPr/>
          <p:nvPr/>
        </p:nvSpPr>
        <p:spPr>
          <a:xfrm>
            <a:off x="7722965" y="3161719"/>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260%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6642827" y="3161719"/>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9.3%</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5562689" y="3161719"/>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1500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482551" y="3161719"/>
            <a:ext cx="1080138" cy="360046"/>
          </a:xfrm>
          <a:prstGeom prst="rect">
            <a:avLst/>
          </a:prstGeom>
          <a:solidFill>
            <a:schemeClr val="bg1">
              <a:lumMod val="75000"/>
            </a:schemeClr>
          </a:solidFill>
          <a:ln w="6350">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55%</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4" name="矩形 33"/>
          <p:cNvSpPr/>
          <p:nvPr/>
        </p:nvSpPr>
        <p:spPr>
          <a:xfrm>
            <a:off x="2322275" y="3521765"/>
            <a:ext cx="1080138" cy="360046"/>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2018</a:t>
            </a:r>
            <a:r>
              <a:rPr lang="zh-CN" altLang="en-US" sz="1200" dirty="0">
                <a:solidFill>
                  <a:schemeClr val="tx1"/>
                </a:solidFill>
                <a:latin typeface="微软雅黑" panose="020B0503020204020204" pitchFamily="34" charset="-122"/>
                <a:ea typeface="微软雅黑" panose="020B0503020204020204" pitchFamily="34" charset="-122"/>
              </a:rPr>
              <a:t>年预计</a:t>
            </a:r>
          </a:p>
        </p:txBody>
      </p:sp>
      <p:sp>
        <p:nvSpPr>
          <p:cNvPr id="35" name="矩形 34"/>
          <p:cNvSpPr/>
          <p:nvPr/>
        </p:nvSpPr>
        <p:spPr>
          <a:xfrm>
            <a:off x="3402413" y="3521765"/>
            <a:ext cx="1080138" cy="360046"/>
          </a:xfrm>
          <a:prstGeom prst="rect">
            <a:avLst/>
          </a:prstGeom>
          <a:solidFill>
            <a:schemeClr val="bg1">
              <a:lumMod val="75000"/>
            </a:schemeClr>
          </a:solidFill>
          <a:ln w="6350">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30000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6" name="矩形 35"/>
          <p:cNvSpPr/>
          <p:nvPr/>
        </p:nvSpPr>
        <p:spPr>
          <a:xfrm>
            <a:off x="8803103" y="3521765"/>
            <a:ext cx="1080138" cy="360046"/>
          </a:xfrm>
          <a:prstGeom prst="rect">
            <a:avLst/>
          </a:prstGeom>
          <a:solidFill>
            <a:schemeClr val="bg1">
              <a:lumMod val="75000"/>
            </a:schemeClr>
          </a:solidFill>
          <a:ln w="6350">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160</a:t>
            </a:r>
            <a:r>
              <a:rPr lang="zh-CN" altLang="en-US" sz="1200" dirty="0">
                <a:solidFill>
                  <a:schemeClr val="tx1"/>
                </a:solidFill>
                <a:latin typeface="微软雅黑" panose="020B0503020204020204" pitchFamily="34" charset="-122"/>
                <a:ea typeface="微软雅黑" panose="020B0503020204020204" pitchFamily="34" charset="-122"/>
              </a:rPr>
              <a:t>万</a:t>
            </a:r>
          </a:p>
        </p:txBody>
      </p:sp>
      <p:sp>
        <p:nvSpPr>
          <p:cNvPr id="37" name="矩形 36"/>
          <p:cNvSpPr/>
          <p:nvPr/>
        </p:nvSpPr>
        <p:spPr>
          <a:xfrm>
            <a:off x="7722965" y="3521765"/>
            <a:ext cx="1080138" cy="360046"/>
          </a:xfrm>
          <a:prstGeom prst="rect">
            <a:avLst/>
          </a:prstGeom>
          <a:solidFill>
            <a:schemeClr val="bg1">
              <a:lumMod val="75000"/>
            </a:schemeClr>
          </a:solidFill>
          <a:ln w="6350">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190%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8" name="矩形 37"/>
          <p:cNvSpPr/>
          <p:nvPr/>
        </p:nvSpPr>
        <p:spPr>
          <a:xfrm>
            <a:off x="6642827" y="3521765"/>
            <a:ext cx="1080138" cy="360046"/>
          </a:xfrm>
          <a:prstGeom prst="rect">
            <a:avLst/>
          </a:prstGeom>
          <a:solidFill>
            <a:schemeClr val="bg1">
              <a:lumMod val="75000"/>
            </a:schemeClr>
          </a:solidFill>
          <a:ln w="6350">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9.0%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5562689" y="3521765"/>
            <a:ext cx="1080138" cy="360046"/>
          </a:xfrm>
          <a:prstGeom prst="rect">
            <a:avLst/>
          </a:prstGeom>
          <a:solidFill>
            <a:schemeClr val="bg1">
              <a:lumMod val="75000"/>
            </a:schemeClr>
          </a:solidFill>
          <a:ln w="6350">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2800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4482551" y="3521765"/>
            <a:ext cx="1080138" cy="360046"/>
          </a:xfrm>
          <a:prstGeom prst="rect">
            <a:avLst/>
          </a:prstGeom>
          <a:solidFill>
            <a:schemeClr val="bg1">
              <a:lumMod val="75000"/>
            </a:schemeClr>
          </a:solidFill>
          <a:ln w="6350">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55%</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1" name="Rectangle 6"/>
          <p:cNvSpPr>
            <a:spLocks noChangeArrowheads="1"/>
          </p:cNvSpPr>
          <p:nvPr/>
        </p:nvSpPr>
        <p:spPr bwMode="auto">
          <a:xfrm>
            <a:off x="2142490" y="4760595"/>
            <a:ext cx="8531860" cy="121983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algn="l" defTabSz="914400" rtl="0" eaLnBrk="1" fontAlgn="base" latinLnBrk="0" hangingPunct="1">
              <a:lnSpc>
                <a:spcPts val="2200"/>
              </a:lnSpc>
              <a:spcBef>
                <a:spcPct val="0"/>
              </a:spcBef>
              <a:spcAft>
                <a:spcPct val="0"/>
              </a:spcAft>
              <a:buClrTx/>
              <a:buSzTx/>
              <a:buFont typeface="Arial" panose="020B0604020202020204" pitchFamily="34" charset="0"/>
              <a:buChar char="•"/>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 </a:t>
            </a: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公司的业务发展迅速，相对于</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2016</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年的收入来说，</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2017</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年的收入</a:t>
            </a:r>
            <a:r>
              <a:rPr lang="en-US" altLang="zh-CN" sz="1400" dirty="0">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的增长率可超过</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100%</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0" marR="0" lvl="0" algn="l" defTabSz="914400" rtl="0" eaLnBrk="0" fontAlgn="base" latinLnBrk="0" hangingPunct="0">
              <a:lnSpc>
                <a:spcPts val="2200"/>
              </a:lnSpc>
              <a:spcBef>
                <a:spcPct val="0"/>
              </a:spcBef>
              <a:spcAft>
                <a:spcPct val="0"/>
              </a:spcAft>
              <a:buClrTx/>
              <a:buSzTx/>
              <a:buFontTx/>
              <a:buChar char="•"/>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 公司尚无任何银行借款</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0" marR="0" lvl="0" algn="l" defTabSz="914400" rtl="0" eaLnBrk="0" fontAlgn="base" latinLnBrk="0" hangingPunct="0">
              <a:lnSpc>
                <a:spcPts val="2200"/>
              </a:lnSpc>
              <a:spcBef>
                <a:spcPct val="0"/>
              </a:spcBef>
              <a:spcAft>
                <a:spcPct val="0"/>
              </a:spcAft>
              <a:buClrTx/>
              <a:buSzTx/>
              <a:buFont typeface="Arial" panose="020B0604020202020204" pitchFamily="34" charset="0"/>
              <a:buChar char="•"/>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 由于公司正处于快速成长阶段，虽然毛利率较高，但公司投入的资</a:t>
            </a:r>
            <a:r>
              <a:rPr lang="en-US" altLang="zh-CN" sz="1400" dirty="0">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源较大，期间费用占销售收入的比例均超过</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85%</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以上，使得净利润</a:t>
            </a:r>
            <a:r>
              <a:rPr lang="en-US" altLang="zh-CN" sz="1400" dirty="0">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率不高</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42" name="矩形 41"/>
          <p:cNvSpPr/>
          <p:nvPr/>
        </p:nvSpPr>
        <p:spPr>
          <a:xfrm>
            <a:off x="2142252" y="4374377"/>
            <a:ext cx="1633220" cy="386080"/>
          </a:xfrm>
          <a:prstGeom prst="rect">
            <a:avLst/>
          </a:prstGeom>
        </p:spPr>
        <p:txBody>
          <a:bodyPr wrap="none">
            <a:spAutoFit/>
          </a:bodyPr>
          <a:lstStyle/>
          <a:p>
            <a:pPr fontAlgn="base">
              <a:lnSpc>
                <a:spcPts val="2300"/>
              </a:lnSpc>
              <a:spcBef>
                <a:spcPct val="0"/>
              </a:spcBef>
              <a:spcAft>
                <a:spcPct val="0"/>
              </a:spcAft>
              <a:buFont typeface="Wingdings" panose="05000000000000000000" pitchFamily="2" charset="2"/>
              <a:buChar char="n"/>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lang="en-US" altLang="zh-CN" b="1" dirty="0">
                <a:latin typeface="微软雅黑" panose="020B0503020204020204" pitchFamily="34" charset="-122"/>
                <a:ea typeface="微软雅黑" panose="020B0503020204020204" pitchFamily="34" charset="-122"/>
                <a:cs typeface="Arial" panose="020B0604020202020204" pitchFamily="34" charset="0"/>
              </a:rPr>
              <a:t>  </a:t>
            </a:r>
            <a:r>
              <a:rPr lang="zh-CN" altLang="zh-CN" b="1" dirty="0">
                <a:latin typeface="微软雅黑" panose="020B0503020204020204" pitchFamily="34" charset="-122"/>
                <a:ea typeface="微软雅黑" panose="020B0503020204020204" pitchFamily="34" charset="-122"/>
                <a:cs typeface="Arial" panose="020B0604020202020204" pitchFamily="34" charset="0"/>
              </a:rPr>
              <a:t>数据说明：</a:t>
            </a:r>
            <a:endParaRPr lang="zh-CN" altLang="zh-CN"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43" name="矩形 42"/>
          <p:cNvSpPr/>
          <p:nvPr/>
        </p:nvSpPr>
        <p:spPr>
          <a:xfrm>
            <a:off x="3600580" y="1465955"/>
            <a:ext cx="5003800" cy="460375"/>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400" b="1" kern="0" spc="50" dirty="0">
                <a:ln w="11430"/>
                <a:effectLst>
                  <a:glow rad="101600">
                    <a:srgbClr val="FFFFFF"/>
                  </a:glow>
                </a:effectLst>
                <a:latin typeface="微软雅黑" panose="020B0503020204020204" pitchFamily="34" charset="-122"/>
                <a:ea typeface="微软雅黑" panose="020B0503020204020204" pitchFamily="34" charset="-122"/>
                <a:sym typeface="Calibri" panose="020F0502020204030204" pitchFamily="34" charset="0"/>
              </a:rPr>
              <a:t>2016</a:t>
            </a:r>
            <a:r>
              <a:rPr lang="zh-CN" altLang="en-US" sz="2400" b="1" kern="0" spc="50" dirty="0">
                <a:ln w="11430"/>
                <a:effectLst>
                  <a:glow rad="101600">
                    <a:srgbClr val="FFFFFF"/>
                  </a:glow>
                </a:effectLst>
                <a:latin typeface="微软雅黑" panose="020B0503020204020204" pitchFamily="34" charset="-122"/>
                <a:ea typeface="微软雅黑" panose="020B0503020204020204" pitchFamily="34" charset="-122"/>
                <a:sym typeface="Calibri" panose="020F0502020204030204" pitchFamily="34" charset="0"/>
              </a:rPr>
              <a:t>、</a:t>
            </a:r>
            <a:r>
              <a:rPr lang="en-US" altLang="zh-CN" sz="2400" b="1" kern="0" spc="50" dirty="0">
                <a:ln w="11430"/>
                <a:effectLst>
                  <a:glow rad="101600">
                    <a:srgbClr val="FFFFFF"/>
                  </a:glow>
                </a:effectLst>
                <a:latin typeface="微软雅黑" panose="020B0503020204020204" pitchFamily="34" charset="-122"/>
                <a:ea typeface="微软雅黑" panose="020B0503020204020204" pitchFamily="34" charset="-122"/>
                <a:sym typeface="Calibri" panose="020F0502020204030204" pitchFamily="34" charset="0"/>
              </a:rPr>
              <a:t>2017</a:t>
            </a:r>
            <a:r>
              <a:rPr lang="zh-CN" altLang="en-US" sz="2400" b="1" kern="0" spc="50" dirty="0">
                <a:ln w="11430"/>
                <a:effectLst>
                  <a:glow rad="101600">
                    <a:srgbClr val="FFFFFF"/>
                  </a:glow>
                </a:effectLst>
                <a:latin typeface="微软雅黑" panose="020B0503020204020204" pitchFamily="34" charset="-122"/>
                <a:ea typeface="微软雅黑" panose="020B0503020204020204" pitchFamily="34" charset="-122"/>
                <a:sym typeface="Calibri" panose="020F0502020204030204" pitchFamily="34" charset="0"/>
              </a:rPr>
              <a:t>年业绩及</a:t>
            </a:r>
            <a:r>
              <a:rPr lang="en-US" altLang="zh-CN" sz="2400" b="1" kern="0" spc="50" dirty="0">
                <a:ln w="11430"/>
                <a:effectLst>
                  <a:glow rad="101600">
                    <a:srgbClr val="FFFFFF"/>
                  </a:glow>
                </a:effectLst>
                <a:latin typeface="微软雅黑" panose="020B0503020204020204" pitchFamily="34" charset="-122"/>
                <a:ea typeface="微软雅黑" panose="020B0503020204020204" pitchFamily="34" charset="-122"/>
                <a:sym typeface="Calibri" panose="020F0502020204030204" pitchFamily="34" charset="0"/>
              </a:rPr>
              <a:t>2018</a:t>
            </a:r>
            <a:r>
              <a:rPr lang="zh-CN" altLang="en-US" sz="2400" b="1" kern="0" spc="50" dirty="0">
                <a:ln w="11430"/>
                <a:effectLst>
                  <a:glow rad="101600">
                    <a:srgbClr val="FFFFFF"/>
                  </a:glow>
                </a:effectLst>
                <a:latin typeface="微软雅黑" panose="020B0503020204020204" pitchFamily="34" charset="-122"/>
                <a:ea typeface="微软雅黑" panose="020B0503020204020204" pitchFamily="34" charset="-122"/>
                <a:sym typeface="Calibri" panose="020F0502020204030204" pitchFamily="34" charset="0"/>
              </a:rPr>
              <a:t>年预期</a:t>
            </a:r>
            <a:endParaRPr lang="zh-CN" altLang="en-US" sz="2400" b="1" spc="50" dirty="0">
              <a:ln w="11430"/>
              <a:effectLst>
                <a:glow rad="101600">
                  <a:srgbClr val="FFFFFF"/>
                </a:glow>
              </a:effectLst>
              <a:latin typeface="微软雅黑" panose="020B0503020204020204" pitchFamily="34" charset="-122"/>
              <a:ea typeface="微软雅黑" panose="020B0503020204020204" pitchFamily="34" charset="-122"/>
            </a:endParaRPr>
          </a:p>
        </p:txBody>
      </p:sp>
      <p:sp>
        <p:nvSpPr>
          <p:cNvPr id="47" name="图标1"/>
          <p:cNvSpPr>
            <a:spLocks noEditPoints="1"/>
          </p:cNvSpPr>
          <p:nvPr/>
        </p:nvSpPr>
        <p:spPr bwMode="auto">
          <a:xfrm>
            <a:off x="1607541" y="2814694"/>
            <a:ext cx="460664" cy="498281"/>
          </a:xfrm>
          <a:custGeom>
            <a:avLst/>
            <a:gdLst>
              <a:gd name="T0" fmla="*/ 156 w 698"/>
              <a:gd name="T1" fmla="*/ 235 h 755"/>
              <a:gd name="T2" fmla="*/ 304 w 698"/>
              <a:gd name="T3" fmla="*/ 19 h 755"/>
              <a:gd name="T4" fmla="*/ 414 w 698"/>
              <a:gd name="T5" fmla="*/ 65 h 755"/>
              <a:gd name="T6" fmla="*/ 671 w 698"/>
              <a:gd name="T7" fmla="*/ 235 h 755"/>
              <a:gd name="T8" fmla="*/ 698 w 698"/>
              <a:gd name="T9" fmla="*/ 728 h 755"/>
              <a:gd name="T10" fmla="*/ 27 w 698"/>
              <a:gd name="T11" fmla="*/ 755 h 755"/>
              <a:gd name="T12" fmla="*/ 0 w 698"/>
              <a:gd name="T13" fmla="*/ 262 h 755"/>
              <a:gd name="T14" fmla="*/ 326 w 698"/>
              <a:gd name="T15" fmla="*/ 87 h 755"/>
              <a:gd name="T16" fmla="*/ 349 w 698"/>
              <a:gd name="T17" fmla="*/ 97 h 755"/>
              <a:gd name="T18" fmla="*/ 372 w 698"/>
              <a:gd name="T19" fmla="*/ 88 h 755"/>
              <a:gd name="T20" fmla="*/ 372 w 698"/>
              <a:gd name="T21" fmla="*/ 87 h 755"/>
              <a:gd name="T22" fmla="*/ 372 w 698"/>
              <a:gd name="T23" fmla="*/ 42 h 755"/>
              <a:gd name="T24" fmla="*/ 317 w 698"/>
              <a:gd name="T25" fmla="*/ 65 h 755"/>
              <a:gd name="T26" fmla="*/ 316 w 698"/>
              <a:gd name="T27" fmla="*/ 120 h 755"/>
              <a:gd name="T28" fmla="*/ 382 w 698"/>
              <a:gd name="T29" fmla="*/ 120 h 755"/>
              <a:gd name="T30" fmla="*/ 396 w 698"/>
              <a:gd name="T31" fmla="*/ 574 h 755"/>
              <a:gd name="T32" fmla="*/ 418 w 698"/>
              <a:gd name="T33" fmla="*/ 578 h 755"/>
              <a:gd name="T34" fmla="*/ 440 w 698"/>
              <a:gd name="T35" fmla="*/ 542 h 755"/>
              <a:gd name="T36" fmla="*/ 404 w 698"/>
              <a:gd name="T37" fmla="*/ 521 h 755"/>
              <a:gd name="T38" fmla="*/ 385 w 698"/>
              <a:gd name="T39" fmla="*/ 536 h 755"/>
              <a:gd name="T40" fmla="*/ 543 w 698"/>
              <a:gd name="T41" fmla="*/ 456 h 755"/>
              <a:gd name="T42" fmla="*/ 471 w 698"/>
              <a:gd name="T43" fmla="*/ 534 h 755"/>
              <a:gd name="T44" fmla="*/ 426 w 698"/>
              <a:gd name="T45" fmla="*/ 609 h 755"/>
              <a:gd name="T46" fmla="*/ 380 w 698"/>
              <a:gd name="T47" fmla="*/ 602 h 755"/>
              <a:gd name="T48" fmla="*/ 315 w 698"/>
              <a:gd name="T49" fmla="*/ 491 h 755"/>
              <a:gd name="T50" fmla="*/ 193 w 698"/>
              <a:gd name="T51" fmla="*/ 572 h 755"/>
              <a:gd name="T52" fmla="*/ 151 w 698"/>
              <a:gd name="T53" fmla="*/ 651 h 755"/>
              <a:gd name="T54" fmla="*/ 103 w 698"/>
              <a:gd name="T55" fmla="*/ 645 h 755"/>
              <a:gd name="T56" fmla="*/ 119 w 698"/>
              <a:gd name="T57" fmla="*/ 533 h 755"/>
              <a:gd name="T58" fmla="*/ 236 w 698"/>
              <a:gd name="T59" fmla="*/ 453 h 755"/>
              <a:gd name="T60" fmla="*/ 279 w 698"/>
              <a:gd name="T61" fmla="*/ 373 h 755"/>
              <a:gd name="T62" fmla="*/ 353 w 698"/>
              <a:gd name="T63" fmla="*/ 453 h 755"/>
              <a:gd name="T64" fmla="*/ 396 w 698"/>
              <a:gd name="T65" fmla="*/ 490 h 755"/>
              <a:gd name="T66" fmla="*/ 504 w 698"/>
              <a:gd name="T67" fmla="*/ 414 h 755"/>
              <a:gd name="T68" fmla="*/ 622 w 698"/>
              <a:gd name="T69" fmla="*/ 382 h 755"/>
              <a:gd name="T70" fmla="*/ 579 w 698"/>
              <a:gd name="T71" fmla="*/ 457 h 755"/>
              <a:gd name="T72" fmla="*/ 396 w 698"/>
              <a:gd name="T73" fmla="*/ 574 h 755"/>
              <a:gd name="T74" fmla="*/ 386 w 698"/>
              <a:gd name="T75" fmla="*/ 534 h 755"/>
              <a:gd name="T76" fmla="*/ 386 w 698"/>
              <a:gd name="T77" fmla="*/ 534 h 755"/>
              <a:gd name="T78" fmla="*/ 280 w 698"/>
              <a:gd name="T79" fmla="*/ 458 h 755"/>
              <a:gd name="T80" fmla="*/ 323 w 698"/>
              <a:gd name="T81" fmla="*/ 425 h 755"/>
              <a:gd name="T82" fmla="*/ 269 w 698"/>
              <a:gd name="T83" fmla="*/ 418 h 755"/>
              <a:gd name="T84" fmla="*/ 107 w 698"/>
              <a:gd name="T85" fmla="*/ 600 h 755"/>
              <a:gd name="T86" fmla="*/ 142 w 698"/>
              <a:gd name="T87" fmla="*/ 620 h 755"/>
              <a:gd name="T88" fmla="*/ 163 w 698"/>
              <a:gd name="T89" fmla="*/ 584 h 755"/>
              <a:gd name="T90" fmla="*/ 127 w 698"/>
              <a:gd name="T91" fmla="*/ 564 h 755"/>
              <a:gd name="T92" fmla="*/ 535 w 698"/>
              <a:gd name="T93" fmla="*/ 405 h 755"/>
              <a:gd name="T94" fmla="*/ 588 w 698"/>
              <a:gd name="T95" fmla="*/ 413 h 755"/>
              <a:gd name="T96" fmla="*/ 555 w 698"/>
              <a:gd name="T97" fmla="*/ 369 h 755"/>
              <a:gd name="T98" fmla="*/ 535 w 698"/>
              <a:gd name="T99" fmla="*/ 405 h 755"/>
              <a:gd name="T100" fmla="*/ 53 w 698"/>
              <a:gd name="T101" fmla="*/ 288 h 755"/>
              <a:gd name="T102" fmla="*/ 644 w 698"/>
              <a:gd name="T103" fmla="*/ 288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8" h="755">
                <a:moveTo>
                  <a:pt x="27" y="235"/>
                </a:moveTo>
                <a:cubicBezTo>
                  <a:pt x="27" y="235"/>
                  <a:pt x="27" y="235"/>
                  <a:pt x="27" y="235"/>
                </a:cubicBezTo>
                <a:cubicBezTo>
                  <a:pt x="156" y="235"/>
                  <a:pt x="156" y="235"/>
                  <a:pt x="156" y="235"/>
                </a:cubicBezTo>
                <a:cubicBezTo>
                  <a:pt x="294" y="97"/>
                  <a:pt x="294" y="97"/>
                  <a:pt x="294" y="97"/>
                </a:cubicBezTo>
                <a:cubicBezTo>
                  <a:pt x="287" y="88"/>
                  <a:pt x="284" y="76"/>
                  <a:pt x="284" y="65"/>
                </a:cubicBezTo>
                <a:cubicBezTo>
                  <a:pt x="284" y="47"/>
                  <a:pt x="292" y="31"/>
                  <a:pt x="304" y="19"/>
                </a:cubicBezTo>
                <a:cubicBezTo>
                  <a:pt x="315" y="7"/>
                  <a:pt x="331" y="0"/>
                  <a:pt x="349" y="0"/>
                </a:cubicBezTo>
                <a:cubicBezTo>
                  <a:pt x="367" y="0"/>
                  <a:pt x="383" y="7"/>
                  <a:pt x="395" y="19"/>
                </a:cubicBezTo>
                <a:cubicBezTo>
                  <a:pt x="406" y="31"/>
                  <a:pt x="414" y="47"/>
                  <a:pt x="414" y="65"/>
                </a:cubicBezTo>
                <a:cubicBezTo>
                  <a:pt x="414" y="76"/>
                  <a:pt x="410" y="88"/>
                  <a:pt x="405" y="97"/>
                </a:cubicBezTo>
                <a:cubicBezTo>
                  <a:pt x="542" y="235"/>
                  <a:pt x="542" y="235"/>
                  <a:pt x="542" y="235"/>
                </a:cubicBezTo>
                <a:cubicBezTo>
                  <a:pt x="671" y="235"/>
                  <a:pt x="671" y="235"/>
                  <a:pt x="671" y="235"/>
                </a:cubicBezTo>
                <a:cubicBezTo>
                  <a:pt x="686" y="235"/>
                  <a:pt x="698" y="246"/>
                  <a:pt x="698" y="262"/>
                </a:cubicBezTo>
                <a:cubicBezTo>
                  <a:pt x="698" y="262"/>
                  <a:pt x="698" y="262"/>
                  <a:pt x="698" y="262"/>
                </a:cubicBezTo>
                <a:cubicBezTo>
                  <a:pt x="698" y="728"/>
                  <a:pt x="698" y="728"/>
                  <a:pt x="698" y="728"/>
                </a:cubicBezTo>
                <a:cubicBezTo>
                  <a:pt x="698" y="743"/>
                  <a:pt x="686" y="755"/>
                  <a:pt x="671" y="755"/>
                </a:cubicBezTo>
                <a:cubicBezTo>
                  <a:pt x="671" y="755"/>
                  <a:pt x="671" y="755"/>
                  <a:pt x="671" y="755"/>
                </a:cubicBezTo>
                <a:cubicBezTo>
                  <a:pt x="27" y="755"/>
                  <a:pt x="27" y="755"/>
                  <a:pt x="27" y="755"/>
                </a:cubicBezTo>
                <a:cubicBezTo>
                  <a:pt x="12" y="755"/>
                  <a:pt x="0" y="743"/>
                  <a:pt x="0" y="728"/>
                </a:cubicBezTo>
                <a:cubicBezTo>
                  <a:pt x="0" y="728"/>
                  <a:pt x="0" y="728"/>
                  <a:pt x="0" y="728"/>
                </a:cubicBezTo>
                <a:cubicBezTo>
                  <a:pt x="0" y="262"/>
                  <a:pt x="0" y="262"/>
                  <a:pt x="0" y="262"/>
                </a:cubicBezTo>
                <a:cubicBezTo>
                  <a:pt x="0" y="246"/>
                  <a:pt x="12" y="235"/>
                  <a:pt x="27" y="235"/>
                </a:cubicBezTo>
                <a:close/>
                <a:moveTo>
                  <a:pt x="326" y="87"/>
                </a:moveTo>
                <a:cubicBezTo>
                  <a:pt x="326" y="87"/>
                  <a:pt x="326" y="87"/>
                  <a:pt x="326" y="87"/>
                </a:cubicBezTo>
                <a:cubicBezTo>
                  <a:pt x="326" y="88"/>
                  <a:pt x="326" y="88"/>
                  <a:pt x="326" y="88"/>
                </a:cubicBezTo>
                <a:cubicBezTo>
                  <a:pt x="326" y="88"/>
                  <a:pt x="326" y="88"/>
                  <a:pt x="326" y="88"/>
                </a:cubicBezTo>
                <a:cubicBezTo>
                  <a:pt x="332" y="93"/>
                  <a:pt x="340" y="97"/>
                  <a:pt x="349" y="97"/>
                </a:cubicBezTo>
                <a:cubicBezTo>
                  <a:pt x="358" y="97"/>
                  <a:pt x="365" y="93"/>
                  <a:pt x="371" y="88"/>
                </a:cubicBezTo>
                <a:cubicBezTo>
                  <a:pt x="371" y="88"/>
                  <a:pt x="371" y="88"/>
                  <a:pt x="371" y="88"/>
                </a:cubicBezTo>
                <a:cubicBezTo>
                  <a:pt x="372" y="88"/>
                  <a:pt x="372" y="88"/>
                  <a:pt x="372" y="88"/>
                </a:cubicBezTo>
                <a:cubicBezTo>
                  <a:pt x="372" y="88"/>
                  <a:pt x="372" y="88"/>
                  <a:pt x="372" y="88"/>
                </a:cubicBezTo>
                <a:cubicBezTo>
                  <a:pt x="372" y="87"/>
                  <a:pt x="372" y="87"/>
                  <a:pt x="372" y="87"/>
                </a:cubicBezTo>
                <a:cubicBezTo>
                  <a:pt x="372" y="87"/>
                  <a:pt x="372" y="87"/>
                  <a:pt x="372" y="87"/>
                </a:cubicBezTo>
                <a:cubicBezTo>
                  <a:pt x="372" y="87"/>
                  <a:pt x="372" y="87"/>
                  <a:pt x="372" y="87"/>
                </a:cubicBezTo>
                <a:cubicBezTo>
                  <a:pt x="378" y="81"/>
                  <a:pt x="381" y="73"/>
                  <a:pt x="381" y="65"/>
                </a:cubicBezTo>
                <a:cubicBezTo>
                  <a:pt x="381" y="56"/>
                  <a:pt x="377" y="47"/>
                  <a:pt x="372" y="42"/>
                </a:cubicBezTo>
                <a:cubicBezTo>
                  <a:pt x="366" y="36"/>
                  <a:pt x="358" y="32"/>
                  <a:pt x="349" y="32"/>
                </a:cubicBezTo>
                <a:cubicBezTo>
                  <a:pt x="340" y="32"/>
                  <a:pt x="332" y="36"/>
                  <a:pt x="326" y="42"/>
                </a:cubicBezTo>
                <a:cubicBezTo>
                  <a:pt x="320" y="47"/>
                  <a:pt x="317" y="56"/>
                  <a:pt x="317" y="65"/>
                </a:cubicBezTo>
                <a:cubicBezTo>
                  <a:pt x="317" y="73"/>
                  <a:pt x="320" y="81"/>
                  <a:pt x="326" y="87"/>
                </a:cubicBezTo>
                <a:close/>
                <a:moveTo>
                  <a:pt x="316" y="120"/>
                </a:moveTo>
                <a:cubicBezTo>
                  <a:pt x="316" y="120"/>
                  <a:pt x="316" y="120"/>
                  <a:pt x="316" y="120"/>
                </a:cubicBezTo>
                <a:cubicBezTo>
                  <a:pt x="202" y="235"/>
                  <a:pt x="202" y="235"/>
                  <a:pt x="202" y="235"/>
                </a:cubicBezTo>
                <a:cubicBezTo>
                  <a:pt x="496" y="235"/>
                  <a:pt x="496" y="235"/>
                  <a:pt x="496" y="235"/>
                </a:cubicBezTo>
                <a:cubicBezTo>
                  <a:pt x="382" y="120"/>
                  <a:pt x="382" y="120"/>
                  <a:pt x="382" y="120"/>
                </a:cubicBezTo>
                <a:cubicBezTo>
                  <a:pt x="372" y="126"/>
                  <a:pt x="361" y="129"/>
                  <a:pt x="349" y="129"/>
                </a:cubicBezTo>
                <a:cubicBezTo>
                  <a:pt x="337" y="129"/>
                  <a:pt x="326" y="126"/>
                  <a:pt x="316" y="120"/>
                </a:cubicBezTo>
                <a:close/>
                <a:moveTo>
                  <a:pt x="396" y="574"/>
                </a:moveTo>
                <a:cubicBezTo>
                  <a:pt x="396" y="574"/>
                  <a:pt x="396" y="574"/>
                  <a:pt x="396" y="574"/>
                </a:cubicBezTo>
                <a:cubicBezTo>
                  <a:pt x="397" y="575"/>
                  <a:pt x="397" y="575"/>
                  <a:pt x="397" y="575"/>
                </a:cubicBezTo>
                <a:cubicBezTo>
                  <a:pt x="404" y="579"/>
                  <a:pt x="411" y="580"/>
                  <a:pt x="418" y="578"/>
                </a:cubicBezTo>
                <a:cubicBezTo>
                  <a:pt x="419" y="578"/>
                  <a:pt x="419" y="578"/>
                  <a:pt x="419" y="578"/>
                </a:cubicBezTo>
                <a:cubicBezTo>
                  <a:pt x="426" y="576"/>
                  <a:pt x="432" y="571"/>
                  <a:pt x="436" y="564"/>
                </a:cubicBezTo>
                <a:cubicBezTo>
                  <a:pt x="441" y="557"/>
                  <a:pt x="441" y="549"/>
                  <a:pt x="440" y="542"/>
                </a:cubicBezTo>
                <a:cubicBezTo>
                  <a:pt x="437" y="534"/>
                  <a:pt x="433" y="528"/>
                  <a:pt x="426" y="524"/>
                </a:cubicBezTo>
                <a:cubicBezTo>
                  <a:pt x="426" y="524"/>
                  <a:pt x="426" y="524"/>
                  <a:pt x="426" y="524"/>
                </a:cubicBezTo>
                <a:cubicBezTo>
                  <a:pt x="419" y="520"/>
                  <a:pt x="411" y="519"/>
                  <a:pt x="404" y="521"/>
                </a:cubicBezTo>
                <a:cubicBezTo>
                  <a:pt x="404" y="522"/>
                  <a:pt x="404" y="522"/>
                  <a:pt x="404" y="522"/>
                </a:cubicBezTo>
                <a:cubicBezTo>
                  <a:pt x="396" y="523"/>
                  <a:pt x="390" y="528"/>
                  <a:pt x="386" y="534"/>
                </a:cubicBezTo>
                <a:cubicBezTo>
                  <a:pt x="385" y="536"/>
                  <a:pt x="385" y="536"/>
                  <a:pt x="385" y="536"/>
                </a:cubicBezTo>
                <a:cubicBezTo>
                  <a:pt x="382" y="543"/>
                  <a:pt x="381" y="550"/>
                  <a:pt x="383" y="557"/>
                </a:cubicBezTo>
                <a:cubicBezTo>
                  <a:pt x="385" y="564"/>
                  <a:pt x="389" y="570"/>
                  <a:pt x="396" y="574"/>
                </a:cubicBezTo>
                <a:close/>
                <a:moveTo>
                  <a:pt x="543" y="456"/>
                </a:moveTo>
                <a:cubicBezTo>
                  <a:pt x="543" y="456"/>
                  <a:pt x="543" y="456"/>
                  <a:pt x="543" y="456"/>
                </a:cubicBezTo>
                <a:cubicBezTo>
                  <a:pt x="469" y="529"/>
                  <a:pt x="469" y="529"/>
                  <a:pt x="469" y="529"/>
                </a:cubicBezTo>
                <a:cubicBezTo>
                  <a:pt x="471" y="534"/>
                  <a:pt x="471" y="534"/>
                  <a:pt x="471" y="534"/>
                </a:cubicBezTo>
                <a:cubicBezTo>
                  <a:pt x="475" y="549"/>
                  <a:pt x="473" y="565"/>
                  <a:pt x="464" y="580"/>
                </a:cubicBezTo>
                <a:cubicBezTo>
                  <a:pt x="456" y="595"/>
                  <a:pt x="442" y="605"/>
                  <a:pt x="427" y="609"/>
                </a:cubicBezTo>
                <a:cubicBezTo>
                  <a:pt x="426" y="609"/>
                  <a:pt x="426" y="609"/>
                  <a:pt x="426" y="609"/>
                </a:cubicBezTo>
                <a:cubicBezTo>
                  <a:pt x="411" y="613"/>
                  <a:pt x="395" y="611"/>
                  <a:pt x="380" y="603"/>
                </a:cubicBezTo>
                <a:cubicBezTo>
                  <a:pt x="380" y="602"/>
                  <a:pt x="380" y="602"/>
                  <a:pt x="380" y="602"/>
                </a:cubicBezTo>
                <a:cubicBezTo>
                  <a:pt x="380" y="602"/>
                  <a:pt x="380" y="602"/>
                  <a:pt x="380" y="602"/>
                </a:cubicBezTo>
                <a:cubicBezTo>
                  <a:pt x="366" y="594"/>
                  <a:pt x="356" y="581"/>
                  <a:pt x="352" y="565"/>
                </a:cubicBezTo>
                <a:cubicBezTo>
                  <a:pt x="349" y="554"/>
                  <a:pt x="349" y="541"/>
                  <a:pt x="353" y="529"/>
                </a:cubicBezTo>
                <a:cubicBezTo>
                  <a:pt x="315" y="491"/>
                  <a:pt x="315" y="491"/>
                  <a:pt x="315" y="491"/>
                </a:cubicBezTo>
                <a:cubicBezTo>
                  <a:pt x="310" y="492"/>
                  <a:pt x="310" y="492"/>
                  <a:pt x="310" y="492"/>
                </a:cubicBezTo>
                <a:cubicBezTo>
                  <a:pt x="299" y="495"/>
                  <a:pt x="286" y="495"/>
                  <a:pt x="274" y="491"/>
                </a:cubicBezTo>
                <a:cubicBezTo>
                  <a:pt x="193" y="572"/>
                  <a:pt x="193" y="572"/>
                  <a:pt x="193" y="572"/>
                </a:cubicBezTo>
                <a:cubicBezTo>
                  <a:pt x="194" y="576"/>
                  <a:pt x="194" y="576"/>
                  <a:pt x="194" y="576"/>
                </a:cubicBezTo>
                <a:cubicBezTo>
                  <a:pt x="198" y="591"/>
                  <a:pt x="197" y="608"/>
                  <a:pt x="188" y="623"/>
                </a:cubicBezTo>
                <a:cubicBezTo>
                  <a:pt x="180" y="638"/>
                  <a:pt x="166" y="647"/>
                  <a:pt x="151" y="651"/>
                </a:cubicBezTo>
                <a:cubicBezTo>
                  <a:pt x="150" y="652"/>
                  <a:pt x="150" y="652"/>
                  <a:pt x="150" y="652"/>
                </a:cubicBezTo>
                <a:cubicBezTo>
                  <a:pt x="135" y="655"/>
                  <a:pt x="119" y="653"/>
                  <a:pt x="104" y="645"/>
                </a:cubicBezTo>
                <a:cubicBezTo>
                  <a:pt x="103" y="645"/>
                  <a:pt x="103" y="645"/>
                  <a:pt x="103" y="645"/>
                </a:cubicBezTo>
                <a:cubicBezTo>
                  <a:pt x="89" y="636"/>
                  <a:pt x="79" y="623"/>
                  <a:pt x="76" y="608"/>
                </a:cubicBezTo>
                <a:cubicBezTo>
                  <a:pt x="71" y="593"/>
                  <a:pt x="73" y="576"/>
                  <a:pt x="82" y="561"/>
                </a:cubicBezTo>
                <a:cubicBezTo>
                  <a:pt x="90" y="546"/>
                  <a:pt x="104" y="537"/>
                  <a:pt x="119" y="533"/>
                </a:cubicBezTo>
                <a:cubicBezTo>
                  <a:pt x="120" y="532"/>
                  <a:pt x="120" y="532"/>
                  <a:pt x="120" y="532"/>
                </a:cubicBezTo>
                <a:cubicBezTo>
                  <a:pt x="131" y="530"/>
                  <a:pt x="143" y="530"/>
                  <a:pt x="155" y="534"/>
                </a:cubicBezTo>
                <a:cubicBezTo>
                  <a:pt x="236" y="453"/>
                  <a:pt x="236" y="453"/>
                  <a:pt x="236" y="453"/>
                </a:cubicBezTo>
                <a:cubicBezTo>
                  <a:pt x="235" y="449"/>
                  <a:pt x="235" y="449"/>
                  <a:pt x="235" y="449"/>
                </a:cubicBezTo>
                <a:cubicBezTo>
                  <a:pt x="231" y="433"/>
                  <a:pt x="233" y="417"/>
                  <a:pt x="241" y="402"/>
                </a:cubicBezTo>
                <a:cubicBezTo>
                  <a:pt x="250" y="387"/>
                  <a:pt x="263" y="377"/>
                  <a:pt x="279" y="373"/>
                </a:cubicBezTo>
                <a:cubicBezTo>
                  <a:pt x="294" y="369"/>
                  <a:pt x="310" y="371"/>
                  <a:pt x="325" y="380"/>
                </a:cubicBezTo>
                <a:cubicBezTo>
                  <a:pt x="340" y="388"/>
                  <a:pt x="350" y="402"/>
                  <a:pt x="354" y="417"/>
                </a:cubicBezTo>
                <a:cubicBezTo>
                  <a:pt x="357" y="428"/>
                  <a:pt x="356" y="441"/>
                  <a:pt x="353" y="453"/>
                </a:cubicBezTo>
                <a:cubicBezTo>
                  <a:pt x="391" y="491"/>
                  <a:pt x="391" y="491"/>
                  <a:pt x="391" y="491"/>
                </a:cubicBezTo>
                <a:cubicBezTo>
                  <a:pt x="395" y="490"/>
                  <a:pt x="395" y="490"/>
                  <a:pt x="395" y="490"/>
                </a:cubicBezTo>
                <a:cubicBezTo>
                  <a:pt x="396" y="490"/>
                  <a:pt x="396" y="490"/>
                  <a:pt x="396" y="490"/>
                </a:cubicBezTo>
                <a:cubicBezTo>
                  <a:pt x="408" y="487"/>
                  <a:pt x="420" y="487"/>
                  <a:pt x="432" y="491"/>
                </a:cubicBezTo>
                <a:cubicBezTo>
                  <a:pt x="505" y="418"/>
                  <a:pt x="505" y="418"/>
                  <a:pt x="505" y="418"/>
                </a:cubicBezTo>
                <a:cubicBezTo>
                  <a:pt x="504" y="414"/>
                  <a:pt x="504" y="414"/>
                  <a:pt x="504" y="414"/>
                </a:cubicBezTo>
                <a:cubicBezTo>
                  <a:pt x="504" y="414"/>
                  <a:pt x="504" y="414"/>
                  <a:pt x="504" y="414"/>
                </a:cubicBezTo>
                <a:cubicBezTo>
                  <a:pt x="495" y="381"/>
                  <a:pt x="515" y="347"/>
                  <a:pt x="547" y="338"/>
                </a:cubicBezTo>
                <a:cubicBezTo>
                  <a:pt x="580" y="330"/>
                  <a:pt x="614" y="349"/>
                  <a:pt x="622" y="382"/>
                </a:cubicBezTo>
                <a:cubicBezTo>
                  <a:pt x="627" y="397"/>
                  <a:pt x="625" y="414"/>
                  <a:pt x="616" y="428"/>
                </a:cubicBezTo>
                <a:cubicBezTo>
                  <a:pt x="616" y="428"/>
                  <a:pt x="616" y="428"/>
                  <a:pt x="616" y="428"/>
                </a:cubicBezTo>
                <a:cubicBezTo>
                  <a:pt x="608" y="443"/>
                  <a:pt x="594" y="453"/>
                  <a:pt x="579" y="457"/>
                </a:cubicBezTo>
                <a:cubicBezTo>
                  <a:pt x="567" y="460"/>
                  <a:pt x="555" y="460"/>
                  <a:pt x="543" y="456"/>
                </a:cubicBezTo>
                <a:close/>
                <a:moveTo>
                  <a:pt x="396" y="574"/>
                </a:moveTo>
                <a:cubicBezTo>
                  <a:pt x="396" y="574"/>
                  <a:pt x="396" y="574"/>
                  <a:pt x="396" y="574"/>
                </a:cubicBezTo>
                <a:cubicBezTo>
                  <a:pt x="396" y="575"/>
                  <a:pt x="396" y="575"/>
                  <a:pt x="396" y="575"/>
                </a:cubicBezTo>
                <a:cubicBezTo>
                  <a:pt x="396" y="574"/>
                  <a:pt x="396" y="574"/>
                  <a:pt x="396" y="574"/>
                </a:cubicBezTo>
                <a:close/>
                <a:moveTo>
                  <a:pt x="386" y="534"/>
                </a:moveTo>
                <a:cubicBezTo>
                  <a:pt x="386" y="534"/>
                  <a:pt x="386" y="534"/>
                  <a:pt x="386" y="534"/>
                </a:cubicBezTo>
                <a:cubicBezTo>
                  <a:pt x="386" y="535"/>
                  <a:pt x="386" y="535"/>
                  <a:pt x="386" y="535"/>
                </a:cubicBezTo>
                <a:cubicBezTo>
                  <a:pt x="386" y="534"/>
                  <a:pt x="386" y="534"/>
                  <a:pt x="386" y="534"/>
                </a:cubicBezTo>
                <a:close/>
                <a:moveTo>
                  <a:pt x="266" y="440"/>
                </a:moveTo>
                <a:cubicBezTo>
                  <a:pt x="266" y="440"/>
                  <a:pt x="266" y="440"/>
                  <a:pt x="266" y="440"/>
                </a:cubicBezTo>
                <a:cubicBezTo>
                  <a:pt x="268" y="447"/>
                  <a:pt x="273" y="454"/>
                  <a:pt x="280" y="458"/>
                </a:cubicBezTo>
                <a:cubicBezTo>
                  <a:pt x="287" y="462"/>
                  <a:pt x="295" y="463"/>
                  <a:pt x="302" y="461"/>
                </a:cubicBezTo>
                <a:cubicBezTo>
                  <a:pt x="309" y="459"/>
                  <a:pt x="316" y="454"/>
                  <a:pt x="320" y="447"/>
                </a:cubicBezTo>
                <a:cubicBezTo>
                  <a:pt x="324" y="441"/>
                  <a:pt x="325" y="432"/>
                  <a:pt x="323" y="425"/>
                </a:cubicBezTo>
                <a:cubicBezTo>
                  <a:pt x="321" y="418"/>
                  <a:pt x="316" y="411"/>
                  <a:pt x="309" y="408"/>
                </a:cubicBezTo>
                <a:cubicBezTo>
                  <a:pt x="302" y="403"/>
                  <a:pt x="294" y="403"/>
                  <a:pt x="287" y="404"/>
                </a:cubicBezTo>
                <a:cubicBezTo>
                  <a:pt x="279" y="406"/>
                  <a:pt x="273" y="411"/>
                  <a:pt x="269" y="418"/>
                </a:cubicBezTo>
                <a:cubicBezTo>
                  <a:pt x="265" y="425"/>
                  <a:pt x="264" y="433"/>
                  <a:pt x="266" y="440"/>
                </a:cubicBezTo>
                <a:close/>
                <a:moveTo>
                  <a:pt x="107" y="600"/>
                </a:moveTo>
                <a:cubicBezTo>
                  <a:pt x="107" y="600"/>
                  <a:pt x="107" y="600"/>
                  <a:pt x="107" y="600"/>
                </a:cubicBezTo>
                <a:cubicBezTo>
                  <a:pt x="109" y="607"/>
                  <a:pt x="113" y="613"/>
                  <a:pt x="120" y="617"/>
                </a:cubicBezTo>
                <a:cubicBezTo>
                  <a:pt x="120" y="618"/>
                  <a:pt x="120" y="618"/>
                  <a:pt x="120" y="618"/>
                </a:cubicBezTo>
                <a:cubicBezTo>
                  <a:pt x="127" y="621"/>
                  <a:pt x="135" y="622"/>
                  <a:pt x="142" y="620"/>
                </a:cubicBezTo>
                <a:cubicBezTo>
                  <a:pt x="143" y="620"/>
                  <a:pt x="143" y="620"/>
                  <a:pt x="143" y="620"/>
                </a:cubicBezTo>
                <a:cubicBezTo>
                  <a:pt x="150" y="618"/>
                  <a:pt x="156" y="614"/>
                  <a:pt x="161" y="607"/>
                </a:cubicBezTo>
                <a:cubicBezTo>
                  <a:pt x="164" y="600"/>
                  <a:pt x="165" y="592"/>
                  <a:pt x="163" y="584"/>
                </a:cubicBezTo>
                <a:cubicBezTo>
                  <a:pt x="161" y="577"/>
                  <a:pt x="157" y="571"/>
                  <a:pt x="150" y="566"/>
                </a:cubicBezTo>
                <a:cubicBezTo>
                  <a:pt x="143" y="563"/>
                  <a:pt x="135" y="562"/>
                  <a:pt x="128" y="564"/>
                </a:cubicBezTo>
                <a:cubicBezTo>
                  <a:pt x="127" y="564"/>
                  <a:pt x="127" y="564"/>
                  <a:pt x="127" y="564"/>
                </a:cubicBezTo>
                <a:cubicBezTo>
                  <a:pt x="120" y="566"/>
                  <a:pt x="114" y="570"/>
                  <a:pt x="110" y="578"/>
                </a:cubicBezTo>
                <a:cubicBezTo>
                  <a:pt x="106" y="584"/>
                  <a:pt x="105" y="593"/>
                  <a:pt x="107" y="600"/>
                </a:cubicBezTo>
                <a:close/>
                <a:moveTo>
                  <a:pt x="535" y="405"/>
                </a:moveTo>
                <a:cubicBezTo>
                  <a:pt x="535" y="405"/>
                  <a:pt x="535" y="405"/>
                  <a:pt x="535" y="405"/>
                </a:cubicBezTo>
                <a:cubicBezTo>
                  <a:pt x="539" y="421"/>
                  <a:pt x="555" y="430"/>
                  <a:pt x="570" y="426"/>
                </a:cubicBezTo>
                <a:cubicBezTo>
                  <a:pt x="578" y="424"/>
                  <a:pt x="584" y="420"/>
                  <a:pt x="588" y="413"/>
                </a:cubicBezTo>
                <a:cubicBezTo>
                  <a:pt x="589" y="411"/>
                  <a:pt x="589" y="411"/>
                  <a:pt x="589" y="411"/>
                </a:cubicBezTo>
                <a:cubicBezTo>
                  <a:pt x="593" y="405"/>
                  <a:pt x="593" y="397"/>
                  <a:pt x="591" y="390"/>
                </a:cubicBezTo>
                <a:cubicBezTo>
                  <a:pt x="587" y="374"/>
                  <a:pt x="571" y="365"/>
                  <a:pt x="555" y="369"/>
                </a:cubicBezTo>
                <a:cubicBezTo>
                  <a:pt x="540" y="373"/>
                  <a:pt x="531" y="390"/>
                  <a:pt x="535" y="405"/>
                </a:cubicBezTo>
                <a:cubicBezTo>
                  <a:pt x="535" y="405"/>
                  <a:pt x="535" y="405"/>
                  <a:pt x="535" y="405"/>
                </a:cubicBezTo>
                <a:cubicBezTo>
                  <a:pt x="535" y="405"/>
                  <a:pt x="535" y="405"/>
                  <a:pt x="535" y="405"/>
                </a:cubicBezTo>
                <a:close/>
                <a:moveTo>
                  <a:pt x="644" y="288"/>
                </a:moveTo>
                <a:cubicBezTo>
                  <a:pt x="644" y="288"/>
                  <a:pt x="644" y="288"/>
                  <a:pt x="644" y="288"/>
                </a:cubicBezTo>
                <a:cubicBezTo>
                  <a:pt x="53" y="288"/>
                  <a:pt x="53" y="288"/>
                  <a:pt x="53" y="288"/>
                </a:cubicBezTo>
                <a:cubicBezTo>
                  <a:pt x="53" y="702"/>
                  <a:pt x="53" y="702"/>
                  <a:pt x="53" y="702"/>
                </a:cubicBezTo>
                <a:cubicBezTo>
                  <a:pt x="644" y="702"/>
                  <a:pt x="644" y="702"/>
                  <a:pt x="644" y="702"/>
                </a:cubicBezTo>
                <a:cubicBezTo>
                  <a:pt x="644" y="288"/>
                  <a:pt x="644" y="288"/>
                  <a:pt x="644" y="288"/>
                </a:cubicBezTo>
                <a:close/>
              </a:path>
            </a:pathLst>
          </a:custGeom>
          <a:solidFill>
            <a:srgbClr val="C00000"/>
          </a:solidFill>
          <a:ln>
            <a:noFill/>
          </a:ln>
        </p:spPr>
        <p:txBody>
          <a:bodyPr vert="horz" wrap="square" lIns="121920" tIns="60960" rIns="121920" bIns="60960" numCol="1" anchor="t" anchorCtr="0" compatLnSpc="1"/>
          <a:lstStyle/>
          <a:p>
            <a:endParaRPr lang="zh-CN" altLang="en-US" sz="2400"/>
          </a:p>
        </p:txBody>
      </p:sp>
      <p:grpSp>
        <p:nvGrpSpPr>
          <p:cNvPr id="48" name="Group 127"/>
          <p:cNvGrpSpPr/>
          <p:nvPr/>
        </p:nvGrpSpPr>
        <p:grpSpPr>
          <a:xfrm>
            <a:off x="10081083" y="2861406"/>
            <a:ext cx="613422" cy="404856"/>
            <a:chOff x="2141517" y="2373325"/>
            <a:chExt cx="476251" cy="314325"/>
          </a:xfrm>
          <a:solidFill>
            <a:srgbClr val="C00000"/>
          </a:solidFill>
        </p:grpSpPr>
        <p:sp>
          <p:nvSpPr>
            <p:cNvPr id="49" name="Rectangle 22"/>
            <p:cNvSpPr>
              <a:spLocks noChangeArrowheads="1"/>
            </p:cNvSpPr>
            <p:nvPr/>
          </p:nvSpPr>
          <p:spPr bwMode="auto">
            <a:xfrm>
              <a:off x="2200255" y="2678125"/>
              <a:ext cx="387350" cy="9525"/>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0" name="Rectangle 23"/>
            <p:cNvSpPr>
              <a:spLocks noChangeArrowheads="1"/>
            </p:cNvSpPr>
            <p:nvPr/>
          </p:nvSpPr>
          <p:spPr bwMode="auto">
            <a:xfrm>
              <a:off x="2517755" y="2468575"/>
              <a:ext cx="69850" cy="209550"/>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1" name="Rectangle 24"/>
            <p:cNvSpPr>
              <a:spLocks noChangeArrowheads="1"/>
            </p:cNvSpPr>
            <p:nvPr/>
          </p:nvSpPr>
          <p:spPr bwMode="auto">
            <a:xfrm>
              <a:off x="2438380" y="2547950"/>
              <a:ext cx="69850" cy="130175"/>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2" name="Rectangle 25"/>
            <p:cNvSpPr>
              <a:spLocks noChangeArrowheads="1"/>
            </p:cNvSpPr>
            <p:nvPr/>
          </p:nvSpPr>
          <p:spPr bwMode="auto">
            <a:xfrm>
              <a:off x="2359005" y="2592400"/>
              <a:ext cx="69850" cy="85725"/>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3" name="Rectangle 26"/>
            <p:cNvSpPr>
              <a:spLocks noChangeArrowheads="1"/>
            </p:cNvSpPr>
            <p:nvPr/>
          </p:nvSpPr>
          <p:spPr bwMode="auto">
            <a:xfrm>
              <a:off x="2279630" y="2551125"/>
              <a:ext cx="69850" cy="127000"/>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4" name="Rectangle 27"/>
            <p:cNvSpPr>
              <a:spLocks noChangeArrowheads="1"/>
            </p:cNvSpPr>
            <p:nvPr/>
          </p:nvSpPr>
          <p:spPr bwMode="auto">
            <a:xfrm>
              <a:off x="2200255" y="2587637"/>
              <a:ext cx="68263" cy="90488"/>
            </a:xfrm>
            <a:prstGeom prst="rect">
              <a:avLst/>
            </a:prstGeom>
            <a:grpFill/>
            <a:ln w="9525">
              <a:noFill/>
              <a:miter lim="800000"/>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5" name="Freeform 28"/>
            <p:cNvSpPr/>
            <p:nvPr/>
          </p:nvSpPr>
          <p:spPr bwMode="auto">
            <a:xfrm>
              <a:off x="2141517" y="2559062"/>
              <a:ext cx="36513" cy="38100"/>
            </a:xfrm>
            <a:custGeom>
              <a:avLst/>
              <a:gdLst/>
              <a:ahLst/>
              <a:cxnLst>
                <a:cxn ang="0">
                  <a:pos x="22" y="0"/>
                </a:cxn>
                <a:cxn ang="0">
                  <a:pos x="22" y="0"/>
                </a:cxn>
                <a:cxn ang="0">
                  <a:pos x="27" y="0"/>
                </a:cxn>
                <a:cxn ang="0">
                  <a:pos x="32" y="1"/>
                </a:cxn>
                <a:cxn ang="0">
                  <a:pos x="36" y="3"/>
                </a:cxn>
                <a:cxn ang="0">
                  <a:pos x="40" y="7"/>
                </a:cxn>
                <a:cxn ang="0">
                  <a:pos x="42" y="10"/>
                </a:cxn>
                <a:cxn ang="0">
                  <a:pos x="45" y="15"/>
                </a:cxn>
                <a:cxn ang="0">
                  <a:pos x="46" y="18"/>
                </a:cxn>
                <a:cxn ang="0">
                  <a:pos x="46" y="23"/>
                </a:cxn>
                <a:cxn ang="0">
                  <a:pos x="46" y="23"/>
                </a:cxn>
                <a:cxn ang="0">
                  <a:pos x="46" y="28"/>
                </a:cxn>
                <a:cxn ang="0">
                  <a:pos x="45" y="32"/>
                </a:cxn>
                <a:cxn ang="0">
                  <a:pos x="42" y="36"/>
                </a:cxn>
                <a:cxn ang="0">
                  <a:pos x="40" y="39"/>
                </a:cxn>
                <a:cxn ang="0">
                  <a:pos x="36" y="43"/>
                </a:cxn>
                <a:cxn ang="0">
                  <a:pos x="32" y="44"/>
                </a:cxn>
                <a:cxn ang="0">
                  <a:pos x="27" y="45"/>
                </a:cxn>
                <a:cxn ang="0">
                  <a:pos x="22" y="47"/>
                </a:cxn>
                <a:cxn ang="0">
                  <a:pos x="22" y="47"/>
                </a:cxn>
                <a:cxn ang="0">
                  <a:pos x="19" y="45"/>
                </a:cxn>
                <a:cxn ang="0">
                  <a:pos x="14" y="44"/>
                </a:cxn>
                <a:cxn ang="0">
                  <a:pos x="10" y="43"/>
                </a:cxn>
                <a:cxn ang="0">
                  <a:pos x="6" y="39"/>
                </a:cxn>
                <a:cxn ang="0">
                  <a:pos x="4" y="36"/>
                </a:cxn>
                <a:cxn ang="0">
                  <a:pos x="1" y="32"/>
                </a:cxn>
                <a:cxn ang="0">
                  <a:pos x="0" y="28"/>
                </a:cxn>
                <a:cxn ang="0">
                  <a:pos x="0" y="23"/>
                </a:cxn>
                <a:cxn ang="0">
                  <a:pos x="0" y="23"/>
                </a:cxn>
                <a:cxn ang="0">
                  <a:pos x="0" y="18"/>
                </a:cxn>
                <a:cxn ang="0">
                  <a:pos x="1" y="15"/>
                </a:cxn>
                <a:cxn ang="0">
                  <a:pos x="4" y="10"/>
                </a:cxn>
                <a:cxn ang="0">
                  <a:pos x="6" y="7"/>
                </a:cxn>
                <a:cxn ang="0">
                  <a:pos x="10" y="3"/>
                </a:cxn>
                <a:cxn ang="0">
                  <a:pos x="14" y="1"/>
                </a:cxn>
                <a:cxn ang="0">
                  <a:pos x="19" y="0"/>
                </a:cxn>
                <a:cxn ang="0">
                  <a:pos x="22" y="0"/>
                </a:cxn>
                <a:cxn ang="0">
                  <a:pos x="22" y="0"/>
                </a:cxn>
              </a:cxnLst>
              <a:rect l="0" t="0" r="r" b="b"/>
              <a:pathLst>
                <a:path w="46" h="47">
                  <a:moveTo>
                    <a:pt x="22" y="0"/>
                  </a:moveTo>
                  <a:lnTo>
                    <a:pt x="22" y="0"/>
                  </a:lnTo>
                  <a:lnTo>
                    <a:pt x="27" y="0"/>
                  </a:lnTo>
                  <a:lnTo>
                    <a:pt x="32" y="1"/>
                  </a:lnTo>
                  <a:lnTo>
                    <a:pt x="36" y="3"/>
                  </a:lnTo>
                  <a:lnTo>
                    <a:pt x="40" y="7"/>
                  </a:lnTo>
                  <a:lnTo>
                    <a:pt x="42" y="10"/>
                  </a:lnTo>
                  <a:lnTo>
                    <a:pt x="45" y="15"/>
                  </a:lnTo>
                  <a:lnTo>
                    <a:pt x="46" y="18"/>
                  </a:lnTo>
                  <a:lnTo>
                    <a:pt x="46" y="23"/>
                  </a:lnTo>
                  <a:lnTo>
                    <a:pt x="46" y="23"/>
                  </a:lnTo>
                  <a:lnTo>
                    <a:pt x="46" y="28"/>
                  </a:lnTo>
                  <a:lnTo>
                    <a:pt x="45" y="32"/>
                  </a:lnTo>
                  <a:lnTo>
                    <a:pt x="42" y="36"/>
                  </a:lnTo>
                  <a:lnTo>
                    <a:pt x="40" y="39"/>
                  </a:lnTo>
                  <a:lnTo>
                    <a:pt x="36" y="43"/>
                  </a:lnTo>
                  <a:lnTo>
                    <a:pt x="32" y="44"/>
                  </a:lnTo>
                  <a:lnTo>
                    <a:pt x="27" y="45"/>
                  </a:lnTo>
                  <a:lnTo>
                    <a:pt x="22" y="47"/>
                  </a:lnTo>
                  <a:lnTo>
                    <a:pt x="22" y="47"/>
                  </a:lnTo>
                  <a:lnTo>
                    <a:pt x="19" y="45"/>
                  </a:lnTo>
                  <a:lnTo>
                    <a:pt x="14" y="44"/>
                  </a:lnTo>
                  <a:lnTo>
                    <a:pt x="10" y="43"/>
                  </a:lnTo>
                  <a:lnTo>
                    <a:pt x="6" y="39"/>
                  </a:lnTo>
                  <a:lnTo>
                    <a:pt x="4" y="36"/>
                  </a:lnTo>
                  <a:lnTo>
                    <a:pt x="1" y="32"/>
                  </a:lnTo>
                  <a:lnTo>
                    <a:pt x="0" y="28"/>
                  </a:lnTo>
                  <a:lnTo>
                    <a:pt x="0" y="23"/>
                  </a:lnTo>
                  <a:lnTo>
                    <a:pt x="0" y="23"/>
                  </a:lnTo>
                  <a:lnTo>
                    <a:pt x="0" y="18"/>
                  </a:lnTo>
                  <a:lnTo>
                    <a:pt x="1" y="15"/>
                  </a:lnTo>
                  <a:lnTo>
                    <a:pt x="4" y="10"/>
                  </a:lnTo>
                  <a:lnTo>
                    <a:pt x="6" y="7"/>
                  </a:lnTo>
                  <a:lnTo>
                    <a:pt x="10" y="3"/>
                  </a:lnTo>
                  <a:lnTo>
                    <a:pt x="14" y="1"/>
                  </a:lnTo>
                  <a:lnTo>
                    <a:pt x="19" y="0"/>
                  </a:lnTo>
                  <a:lnTo>
                    <a:pt x="22" y="0"/>
                  </a:lnTo>
                  <a:lnTo>
                    <a:pt x="22"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6" name="Freeform 29"/>
            <p:cNvSpPr/>
            <p:nvPr/>
          </p:nvSpPr>
          <p:spPr bwMode="auto">
            <a:xfrm>
              <a:off x="2568555" y="2373325"/>
              <a:ext cx="49213" cy="47625"/>
            </a:xfrm>
            <a:custGeom>
              <a:avLst/>
              <a:gdLst/>
              <a:ahLst/>
              <a:cxnLst>
                <a:cxn ang="0">
                  <a:pos x="62" y="0"/>
                </a:cxn>
                <a:cxn ang="0">
                  <a:pos x="0" y="1"/>
                </a:cxn>
                <a:cxn ang="0">
                  <a:pos x="22" y="29"/>
                </a:cxn>
                <a:cxn ang="0">
                  <a:pos x="43" y="59"/>
                </a:cxn>
                <a:cxn ang="0">
                  <a:pos x="62" y="0"/>
                </a:cxn>
              </a:cxnLst>
              <a:rect l="0" t="0" r="r" b="b"/>
              <a:pathLst>
                <a:path w="62" h="59">
                  <a:moveTo>
                    <a:pt x="62" y="0"/>
                  </a:moveTo>
                  <a:lnTo>
                    <a:pt x="0" y="1"/>
                  </a:lnTo>
                  <a:lnTo>
                    <a:pt x="22" y="29"/>
                  </a:lnTo>
                  <a:lnTo>
                    <a:pt x="43" y="59"/>
                  </a:lnTo>
                  <a:lnTo>
                    <a:pt x="62"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7" name="Freeform 30"/>
            <p:cNvSpPr/>
            <p:nvPr/>
          </p:nvSpPr>
          <p:spPr bwMode="auto">
            <a:xfrm>
              <a:off x="2176442" y="2397137"/>
              <a:ext cx="404813" cy="169863"/>
            </a:xfrm>
            <a:custGeom>
              <a:avLst/>
              <a:gdLst/>
              <a:ahLst/>
              <a:cxnLst>
                <a:cxn ang="0">
                  <a:pos x="0" y="204"/>
                </a:cxn>
                <a:cxn ang="0">
                  <a:pos x="176" y="73"/>
                </a:cxn>
                <a:cxn ang="0">
                  <a:pos x="182" y="70"/>
                </a:cxn>
                <a:cxn ang="0">
                  <a:pos x="186" y="75"/>
                </a:cxn>
                <a:cxn ang="0">
                  <a:pos x="270" y="174"/>
                </a:cxn>
                <a:cxn ang="0">
                  <a:pos x="502" y="0"/>
                </a:cxn>
                <a:cxn ang="0">
                  <a:pos x="507" y="7"/>
                </a:cxn>
                <a:cxn ang="0">
                  <a:pos x="511" y="12"/>
                </a:cxn>
                <a:cxn ang="0">
                  <a:pos x="274" y="190"/>
                </a:cxn>
                <a:cxn ang="0">
                  <a:pos x="268" y="193"/>
                </a:cxn>
                <a:cxn ang="0">
                  <a:pos x="263" y="188"/>
                </a:cxn>
                <a:cxn ang="0">
                  <a:pos x="180" y="89"/>
                </a:cxn>
                <a:cxn ang="0">
                  <a:pos x="9" y="216"/>
                </a:cxn>
                <a:cxn ang="0">
                  <a:pos x="9" y="216"/>
                </a:cxn>
                <a:cxn ang="0">
                  <a:pos x="5" y="209"/>
                </a:cxn>
                <a:cxn ang="0">
                  <a:pos x="0" y="204"/>
                </a:cxn>
                <a:cxn ang="0">
                  <a:pos x="0" y="204"/>
                </a:cxn>
              </a:cxnLst>
              <a:rect l="0" t="0" r="r" b="b"/>
              <a:pathLst>
                <a:path w="511" h="216">
                  <a:moveTo>
                    <a:pt x="0" y="204"/>
                  </a:moveTo>
                  <a:lnTo>
                    <a:pt x="176" y="73"/>
                  </a:lnTo>
                  <a:lnTo>
                    <a:pt x="182" y="70"/>
                  </a:lnTo>
                  <a:lnTo>
                    <a:pt x="186" y="75"/>
                  </a:lnTo>
                  <a:lnTo>
                    <a:pt x="270" y="174"/>
                  </a:lnTo>
                  <a:lnTo>
                    <a:pt x="502" y="0"/>
                  </a:lnTo>
                  <a:lnTo>
                    <a:pt x="507" y="7"/>
                  </a:lnTo>
                  <a:lnTo>
                    <a:pt x="511" y="12"/>
                  </a:lnTo>
                  <a:lnTo>
                    <a:pt x="274" y="190"/>
                  </a:lnTo>
                  <a:lnTo>
                    <a:pt x="268" y="193"/>
                  </a:lnTo>
                  <a:lnTo>
                    <a:pt x="263" y="188"/>
                  </a:lnTo>
                  <a:lnTo>
                    <a:pt x="180" y="89"/>
                  </a:lnTo>
                  <a:lnTo>
                    <a:pt x="9" y="216"/>
                  </a:lnTo>
                  <a:lnTo>
                    <a:pt x="9" y="216"/>
                  </a:lnTo>
                  <a:lnTo>
                    <a:pt x="5" y="209"/>
                  </a:lnTo>
                  <a:lnTo>
                    <a:pt x="0" y="204"/>
                  </a:lnTo>
                  <a:lnTo>
                    <a:pt x="0" y="204"/>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grpSp>
      <p:sp>
        <p:nvSpPr>
          <p:cNvPr id="58" name="文本框 57"/>
          <p:cNvSpPr txBox="1"/>
          <p:nvPr/>
        </p:nvSpPr>
        <p:spPr>
          <a:xfrm>
            <a:off x="12416589" y="7251032"/>
            <a:ext cx="240665" cy="368300"/>
          </a:xfrm>
          <a:prstGeom prst="rect">
            <a:avLst/>
          </a:prstGeom>
          <a:noFill/>
        </p:spPr>
        <p:txBody>
          <a:bodyPr wrap="none" rtlCol="0">
            <a:spAutoFit/>
          </a:bodyPr>
          <a:lstStyle/>
          <a:p>
            <a:r>
              <a:rPr lang="en-US" altLang="zh-CN" dirty="0"/>
              <a:t>.</a:t>
            </a:r>
            <a:endParaRPr lang="zh-CN" altLang="en-US" dirty="0"/>
          </a:p>
        </p:txBody>
      </p:sp>
      <p:sp>
        <p:nvSpPr>
          <p:cNvPr id="62" name="矩形 61"/>
          <p:cNvSpPr/>
          <p:nvPr/>
        </p:nvSpPr>
        <p:spPr>
          <a:xfrm>
            <a:off x="1764051" y="415436"/>
            <a:ext cx="2011680" cy="645160"/>
          </a:xfrm>
          <a:prstGeom prst="rect">
            <a:avLst/>
          </a:prstGeom>
        </p:spPr>
        <p:txBody>
          <a:bodyPr wrap="none">
            <a:spAutoFit/>
          </a:bodyPr>
          <a:lstStyle/>
          <a:p>
            <a:r>
              <a:rPr lang="zh-CN" altLang="en-US" sz="3600" b="1" dirty="0">
                <a:solidFill>
                  <a:srgbClr val="333333"/>
                </a:solidFill>
                <a:latin typeface="微软雅黑" panose="020B0503020204020204" pitchFamily="34" charset="-122"/>
                <a:ea typeface="微软雅黑" panose="020B0503020204020204" pitchFamily="34" charset="-122"/>
              </a:rPr>
              <a:t>预期收益</a:t>
            </a:r>
            <a:endParaRPr lang="zh-CN" altLang="en-US" sz="3600" b="1"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randombar(horizontal)">
                                      <p:cBhvr>
                                        <p:cTn id="7" dur="500"/>
                                        <p:tgtEl>
                                          <p:spTgt spid="4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randombar(horizontal)">
                                      <p:cBhvr>
                                        <p:cTn id="13" dur="500"/>
                                        <p:tgtEl>
                                          <p:spTgt spid="13"/>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randombar(horizontal)">
                                      <p:cBhvr>
                                        <p:cTn id="16" dur="500"/>
                                        <p:tgtEl>
                                          <p:spTgt spid="14"/>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randombar(horizontal)">
                                      <p:cBhvr>
                                        <p:cTn id="19" dur="500"/>
                                        <p:tgtEl>
                                          <p:spTgt spid="15"/>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randombar(horizontal)">
                                      <p:cBhvr>
                                        <p:cTn id="22" dur="500"/>
                                        <p:tgtEl>
                                          <p:spTgt spid="16"/>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randombar(horizontal)">
                                      <p:cBhvr>
                                        <p:cTn id="25" dur="500"/>
                                        <p:tgtEl>
                                          <p:spTgt spid="17"/>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randombar(horizontal)">
                                      <p:cBhvr>
                                        <p:cTn id="31" dur="500"/>
                                        <p:tgtEl>
                                          <p:spTgt spid="1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randombar(horizontal)">
                                      <p:cBhvr>
                                        <p:cTn id="34" dur="500"/>
                                        <p:tgtEl>
                                          <p:spTgt spid="20"/>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randombar(horizontal)">
                                      <p:cBhvr>
                                        <p:cTn id="37" dur="500"/>
                                        <p:tgtEl>
                                          <p:spTgt spid="21"/>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randombar(horizontal)">
                                      <p:cBhvr>
                                        <p:cTn id="40" dur="500"/>
                                        <p:tgtEl>
                                          <p:spTgt spid="22"/>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randombar(horizontal)">
                                      <p:cBhvr>
                                        <p:cTn id="43" dur="500"/>
                                        <p:tgtEl>
                                          <p:spTgt spid="23"/>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randombar(horizontal)">
                                      <p:cBhvr>
                                        <p:cTn id="46" dur="500"/>
                                        <p:tgtEl>
                                          <p:spTgt spid="24"/>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randombar(horizontal)">
                                      <p:cBhvr>
                                        <p:cTn id="49" dur="500"/>
                                        <p:tgtEl>
                                          <p:spTgt spid="25"/>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randombar(horizontal)">
                                      <p:cBhvr>
                                        <p:cTn id="52" dur="500"/>
                                        <p:tgtEl>
                                          <p:spTgt spid="26"/>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randombar(horizontal)">
                                      <p:cBhvr>
                                        <p:cTn id="55" dur="500"/>
                                        <p:tgtEl>
                                          <p:spTgt spid="27"/>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randombar(horizontal)">
                                      <p:cBhvr>
                                        <p:cTn id="58" dur="500"/>
                                        <p:tgtEl>
                                          <p:spTgt spid="28"/>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randombar(horizontal)">
                                      <p:cBhvr>
                                        <p:cTn id="61" dur="500"/>
                                        <p:tgtEl>
                                          <p:spTgt spid="29"/>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randombar(horizontal)">
                                      <p:cBhvr>
                                        <p:cTn id="64" dur="500"/>
                                        <p:tgtEl>
                                          <p:spTgt spid="30"/>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randombar(horizontal)">
                                      <p:cBhvr>
                                        <p:cTn id="67" dur="500"/>
                                        <p:tgtEl>
                                          <p:spTgt spid="31"/>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randombar(horizontal)">
                                      <p:cBhvr>
                                        <p:cTn id="70" dur="500"/>
                                        <p:tgtEl>
                                          <p:spTgt spid="32"/>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randombar(horizontal)">
                                      <p:cBhvr>
                                        <p:cTn id="73" dur="500"/>
                                        <p:tgtEl>
                                          <p:spTgt spid="33"/>
                                        </p:tgtEl>
                                      </p:cBhvr>
                                    </p:animEffect>
                                  </p:childTnLst>
                                </p:cTn>
                              </p:par>
                              <p:par>
                                <p:cTn id="74" presetID="14" presetClass="entr" presetSubtype="1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randombar(horizontal)">
                                      <p:cBhvr>
                                        <p:cTn id="76" dur="500"/>
                                        <p:tgtEl>
                                          <p:spTgt spid="34"/>
                                        </p:tgtEl>
                                      </p:cBhvr>
                                    </p:animEffect>
                                  </p:childTnLst>
                                </p:cTn>
                              </p:par>
                              <p:par>
                                <p:cTn id="77" presetID="14" presetClass="entr" presetSubtype="10"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randombar(horizontal)">
                                      <p:cBhvr>
                                        <p:cTn id="79" dur="500"/>
                                        <p:tgtEl>
                                          <p:spTgt spid="35"/>
                                        </p:tgtEl>
                                      </p:cBhvr>
                                    </p:animEffect>
                                  </p:childTnLst>
                                </p:cTn>
                              </p:par>
                              <p:par>
                                <p:cTn id="80" presetID="14" presetClass="entr" presetSubtype="10" fill="hold" grpId="0" nodeType="with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randombar(horizontal)">
                                      <p:cBhvr>
                                        <p:cTn id="82" dur="500"/>
                                        <p:tgtEl>
                                          <p:spTgt spid="36"/>
                                        </p:tgtEl>
                                      </p:cBhvr>
                                    </p:animEffect>
                                  </p:childTnLst>
                                </p:cTn>
                              </p:par>
                              <p:par>
                                <p:cTn id="83" presetID="14" presetClass="entr" presetSubtype="1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randombar(horizontal)">
                                      <p:cBhvr>
                                        <p:cTn id="85" dur="500"/>
                                        <p:tgtEl>
                                          <p:spTgt spid="37"/>
                                        </p:tgtEl>
                                      </p:cBhvr>
                                    </p:animEffect>
                                  </p:childTnLst>
                                </p:cTn>
                              </p:par>
                              <p:par>
                                <p:cTn id="86" presetID="14" presetClass="entr" presetSubtype="1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randombar(horizontal)">
                                      <p:cBhvr>
                                        <p:cTn id="88" dur="500"/>
                                        <p:tgtEl>
                                          <p:spTgt spid="38"/>
                                        </p:tgtEl>
                                      </p:cBhvr>
                                    </p:animEffect>
                                  </p:childTnLst>
                                </p:cTn>
                              </p:par>
                              <p:par>
                                <p:cTn id="89" presetID="14" presetClass="entr" presetSubtype="1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randombar(horizontal)">
                                      <p:cBhvr>
                                        <p:cTn id="91" dur="500"/>
                                        <p:tgtEl>
                                          <p:spTgt spid="39"/>
                                        </p:tgtEl>
                                      </p:cBhvr>
                                    </p:animEffect>
                                  </p:childTnLst>
                                </p:cTn>
                              </p:par>
                              <p:par>
                                <p:cTn id="92" presetID="14" presetClass="entr" presetSubtype="1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randombar(horizontal)">
                                      <p:cBhvr>
                                        <p:cTn id="94" dur="500"/>
                                        <p:tgtEl>
                                          <p:spTgt spid="40"/>
                                        </p:tgtEl>
                                      </p:cBhvr>
                                    </p:animEffect>
                                  </p:childTnLst>
                                </p:cTn>
                              </p:par>
                              <p:par>
                                <p:cTn id="95" presetID="14" presetClass="entr" presetSubtype="1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randombar(horizontal)">
                                      <p:cBhvr>
                                        <p:cTn id="97" dur="500"/>
                                        <p:tgtEl>
                                          <p:spTgt spid="43"/>
                                        </p:tgtEl>
                                      </p:cBhvr>
                                    </p:animEffect>
                                  </p:childTnLst>
                                </p:cTn>
                              </p:par>
                              <p:par>
                                <p:cTn id="98" presetID="14" presetClass="entr" presetSubtype="1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randombar(horizontal)">
                                      <p:cBhvr>
                                        <p:cTn id="100" dur="500"/>
                                        <p:tgtEl>
                                          <p:spTgt spid="47"/>
                                        </p:tgtEl>
                                      </p:cBhvr>
                                    </p:animEffect>
                                  </p:childTnLst>
                                </p:cTn>
                              </p:par>
                              <p:par>
                                <p:cTn id="101" presetID="14" presetClass="entr" presetSubtype="1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randombar(horizontal)">
                                      <p:cBhvr>
                                        <p:cTn id="103" dur="500"/>
                                        <p:tgtEl>
                                          <p:spTgt spid="4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wipe(left)">
                                      <p:cBhvr>
                                        <p:cTn id="108" dur="500"/>
                                        <p:tgtEl>
                                          <p:spTgt spid="41"/>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wipe(left)">
                                      <p:cBhvr>
                                        <p:cTn id="111" dur="500"/>
                                        <p:tgtEl>
                                          <p:spTgt spid="42"/>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xit" presetSubtype="0" fill="hold" grpId="0" nodeType="clickEffect">
                                  <p:stCondLst>
                                    <p:cond delay="2000"/>
                                  </p:stCondLst>
                                  <p:childTnLst>
                                    <p:animEffect transition="out" filter="fade">
                                      <p:cBhvr>
                                        <p:cTn id="115" dur="500"/>
                                        <p:tgtEl>
                                          <p:spTgt spid="58"/>
                                        </p:tgtEl>
                                      </p:cBhvr>
                                    </p:animEffect>
                                    <p:set>
                                      <p:cBhvr>
                                        <p:cTn id="116" dur="1" fill="hold">
                                          <p:stCondLst>
                                            <p:cond delay="499"/>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2" grpId="0" animBg="1"/>
      <p:bldP spid="13" grpId="0" bldLvl="0" animBg="1"/>
      <p:bldP spid="14" grpId="0" animBg="1"/>
      <p:bldP spid="15" grpId="0" bldLvl="0" animBg="1"/>
      <p:bldP spid="16" grpId="0" bldLvl="0" animBg="1"/>
      <p:bldP spid="17" grpId="0" bldLvl="0" animBg="1"/>
      <p:bldP spid="18" grpId="0" bldLvl="0" animBg="1"/>
      <p:bldP spid="19" grpId="0" bldLvl="0" animBg="1"/>
      <p:bldP spid="20" grpId="0" bldLvl="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bldLvl="0" animBg="1"/>
      <p:bldP spid="42" grpId="0"/>
      <p:bldP spid="43" grpId="0"/>
      <p:bldP spid="47" grpId="0" animBg="1"/>
      <p:bldP spid="5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686581" y="353841"/>
            <a:ext cx="2926080" cy="645160"/>
          </a:xfrm>
          <a:prstGeom prst="rect">
            <a:avLst/>
          </a:prstGeom>
        </p:spPr>
        <p:txBody>
          <a:bodyPr wrap="none">
            <a:spAutoFit/>
          </a:bodyPr>
          <a:lstStyle/>
          <a:p>
            <a:r>
              <a:rPr lang="zh-CN" altLang="en-US" sz="3600" b="1" dirty="0">
                <a:solidFill>
                  <a:srgbClr val="333333"/>
                </a:solidFill>
                <a:latin typeface="微软雅黑" panose="020B0503020204020204" pitchFamily="34" charset="-122"/>
                <a:ea typeface="微软雅黑" panose="020B0503020204020204" pitchFamily="34" charset="-122"/>
              </a:rPr>
              <a:t>年度财务预算</a:t>
            </a:r>
            <a:endParaRPr lang="zh-CN" altLang="en-US" sz="3600" b="1" dirty="0"/>
          </a:p>
        </p:txBody>
      </p:sp>
      <p:pic>
        <p:nvPicPr>
          <p:cNvPr id="169" name="图片 168"/>
          <p:cNvPicPr>
            <a:picLocks noChangeAspect="1"/>
          </p:cNvPicPr>
          <p:nvPr/>
        </p:nvPicPr>
        <p:blipFill rotWithShape="1">
          <a:blip r:embed="rId3" cstate="print">
            <a:extLst>
              <a:ext uri="{28A0092B-C50C-407E-A947-70E740481C1C}">
                <a14:useLocalDpi xmlns:a14="http://schemas.microsoft.com/office/drawing/2010/main"/>
              </a:ext>
            </a:extLst>
          </a:blip>
          <a:srcRect/>
          <a:stretch>
            <a:fillRect/>
          </a:stretch>
        </p:blipFill>
        <p:spPr>
          <a:xfrm>
            <a:off x="1024695" y="1632577"/>
            <a:ext cx="3086872" cy="4157872"/>
          </a:xfrm>
          <a:custGeom>
            <a:avLst/>
            <a:gdLst>
              <a:gd name="connsiteX0" fmla="*/ 0 w 1705100"/>
              <a:gd name="connsiteY0" fmla="*/ 0 h 2100195"/>
              <a:gd name="connsiteX1" fmla="*/ 1705100 w 1705100"/>
              <a:gd name="connsiteY1" fmla="*/ 0 h 2100195"/>
              <a:gd name="connsiteX2" fmla="*/ 1705100 w 1705100"/>
              <a:gd name="connsiteY2" fmla="*/ 2100195 h 2100195"/>
              <a:gd name="connsiteX3" fmla="*/ 0 w 1705100"/>
              <a:gd name="connsiteY3" fmla="*/ 2100195 h 2100195"/>
            </a:gdLst>
            <a:ahLst/>
            <a:cxnLst>
              <a:cxn ang="0">
                <a:pos x="connsiteX0" y="connsiteY0"/>
              </a:cxn>
              <a:cxn ang="0">
                <a:pos x="connsiteX1" y="connsiteY1"/>
              </a:cxn>
              <a:cxn ang="0">
                <a:pos x="connsiteX2" y="connsiteY2"/>
              </a:cxn>
              <a:cxn ang="0">
                <a:pos x="connsiteX3" y="connsiteY3"/>
              </a:cxn>
            </a:cxnLst>
            <a:rect l="l" t="t" r="r" b="b"/>
            <a:pathLst>
              <a:path w="1705100" h="2100195">
                <a:moveTo>
                  <a:pt x="0" y="0"/>
                </a:moveTo>
                <a:lnTo>
                  <a:pt x="1705100" y="0"/>
                </a:lnTo>
                <a:lnTo>
                  <a:pt x="1705100" y="2100195"/>
                </a:lnTo>
                <a:lnTo>
                  <a:pt x="0" y="2100195"/>
                </a:lnTo>
                <a:close/>
              </a:path>
            </a:pathLst>
          </a:custGeom>
        </p:spPr>
      </p:pic>
      <p:grpSp>
        <p:nvGrpSpPr>
          <p:cNvPr id="5" name="组合 4"/>
          <p:cNvGrpSpPr/>
          <p:nvPr/>
        </p:nvGrpSpPr>
        <p:grpSpPr>
          <a:xfrm>
            <a:off x="4900828" y="1469870"/>
            <a:ext cx="3144689" cy="1343339"/>
            <a:chOff x="5083073" y="1814040"/>
            <a:chExt cx="3144689" cy="1343339"/>
          </a:xfrm>
        </p:grpSpPr>
        <p:sp>
          <p:nvSpPr>
            <p:cNvPr id="128" name="矩形 127"/>
            <p:cNvSpPr/>
            <p:nvPr/>
          </p:nvSpPr>
          <p:spPr>
            <a:xfrm>
              <a:off x="5083073" y="2448719"/>
              <a:ext cx="3144689" cy="708660"/>
            </a:xfrm>
            <a:prstGeom prst="rect">
              <a:avLst/>
            </a:prstGeom>
          </p:spPr>
          <p:txBody>
            <a:bodyPr wrap="square">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WuhanPPT design planning </a:t>
              </a:r>
              <a:r>
                <a:rPr kumimoji="0" lang="en-US" altLang="zh-CN" sz="1335"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companyWuhan</a:t>
              </a: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PPT design planning company</a:t>
              </a:r>
            </a:p>
          </p:txBody>
        </p:sp>
        <p:sp>
          <p:nvSpPr>
            <p:cNvPr id="83" name="椭圆 82"/>
            <p:cNvSpPr/>
            <p:nvPr/>
          </p:nvSpPr>
          <p:spPr>
            <a:xfrm>
              <a:off x="5128082" y="1814040"/>
              <a:ext cx="563143" cy="563143"/>
            </a:xfrm>
            <a:prstGeom prst="ellipse">
              <a:avLst/>
            </a:prstGeom>
            <a:solidFill>
              <a:srgbClr val="38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9" name="矩形 128"/>
            <p:cNvSpPr/>
            <p:nvPr/>
          </p:nvSpPr>
          <p:spPr>
            <a:xfrm>
              <a:off x="5697283" y="1931464"/>
              <a:ext cx="1903801" cy="338554"/>
            </a:xfrm>
            <a:prstGeom prst="rect">
              <a:avLst/>
            </a:prstGeom>
          </p:spPr>
          <p:txBody>
            <a:bodyPr wrap="square">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
          <p:nvSpPr>
            <p:cNvPr id="53" name="Freeform 37"/>
            <p:cNvSpPr>
              <a:spLocks noEditPoints="1"/>
            </p:cNvSpPr>
            <p:nvPr/>
          </p:nvSpPr>
          <p:spPr bwMode="auto">
            <a:xfrm>
              <a:off x="5314076" y="1937899"/>
              <a:ext cx="191154" cy="305230"/>
            </a:xfrm>
            <a:custGeom>
              <a:avLst/>
              <a:gdLst>
                <a:gd name="T0" fmla="*/ 21 w 51"/>
                <a:gd name="T1" fmla="*/ 72 h 94"/>
                <a:gd name="T2" fmla="*/ 22 w 51"/>
                <a:gd name="T3" fmla="*/ 50 h 94"/>
                <a:gd name="T4" fmla="*/ 7 w 51"/>
                <a:gd name="T5" fmla="*/ 40 h 94"/>
                <a:gd name="T6" fmla="*/ 3 w 51"/>
                <a:gd name="T7" fmla="*/ 26 h 94"/>
                <a:gd name="T8" fmla="*/ 9 w 51"/>
                <a:gd name="T9" fmla="*/ 11 h 94"/>
                <a:gd name="T10" fmla="*/ 23 w 51"/>
                <a:gd name="T11" fmla="*/ 5 h 94"/>
                <a:gd name="T12" fmla="*/ 23 w 51"/>
                <a:gd name="T13" fmla="*/ 0 h 94"/>
                <a:gd name="T14" fmla="*/ 31 w 51"/>
                <a:gd name="T15" fmla="*/ 0 h 94"/>
                <a:gd name="T16" fmla="*/ 31 w 51"/>
                <a:gd name="T17" fmla="*/ 5 h 94"/>
                <a:gd name="T18" fmla="*/ 44 w 51"/>
                <a:gd name="T19" fmla="*/ 11 h 94"/>
                <a:gd name="T20" fmla="*/ 50 w 51"/>
                <a:gd name="T21" fmla="*/ 24 h 94"/>
                <a:gd name="T22" fmla="*/ 37 w 51"/>
                <a:gd name="T23" fmla="*/ 25 h 94"/>
                <a:gd name="T24" fmla="*/ 30 w 51"/>
                <a:gd name="T25" fmla="*/ 17 h 94"/>
                <a:gd name="T26" fmla="*/ 30 w 51"/>
                <a:gd name="T27" fmla="*/ 37 h 94"/>
                <a:gd name="T28" fmla="*/ 47 w 51"/>
                <a:gd name="T29" fmla="*/ 47 h 94"/>
                <a:gd name="T30" fmla="*/ 51 w 51"/>
                <a:gd name="T31" fmla="*/ 61 h 94"/>
                <a:gd name="T32" fmla="*/ 45 w 51"/>
                <a:gd name="T33" fmla="*/ 76 h 94"/>
                <a:gd name="T34" fmla="*/ 29 w 51"/>
                <a:gd name="T35" fmla="*/ 84 h 94"/>
                <a:gd name="T36" fmla="*/ 28 w 51"/>
                <a:gd name="T37" fmla="*/ 94 h 94"/>
                <a:gd name="T38" fmla="*/ 21 w 51"/>
                <a:gd name="T39" fmla="*/ 94 h 94"/>
                <a:gd name="T40" fmla="*/ 21 w 51"/>
                <a:gd name="T41" fmla="*/ 84 h 94"/>
                <a:gd name="T42" fmla="*/ 6 w 51"/>
                <a:gd name="T43" fmla="*/ 77 h 94"/>
                <a:gd name="T44" fmla="*/ 0 w 51"/>
                <a:gd name="T45" fmla="*/ 61 h 94"/>
                <a:gd name="T46" fmla="*/ 14 w 51"/>
                <a:gd name="T47" fmla="*/ 60 h 94"/>
                <a:gd name="T48" fmla="*/ 16 w 51"/>
                <a:gd name="T49" fmla="*/ 67 h 94"/>
                <a:gd name="T50" fmla="*/ 21 w 51"/>
                <a:gd name="T51" fmla="*/ 72 h 94"/>
                <a:gd name="T52" fmla="*/ 23 w 51"/>
                <a:gd name="T53" fmla="*/ 17 h 94"/>
                <a:gd name="T54" fmla="*/ 18 w 51"/>
                <a:gd name="T55" fmla="*/ 20 h 94"/>
                <a:gd name="T56" fmla="*/ 16 w 51"/>
                <a:gd name="T57" fmla="*/ 25 h 94"/>
                <a:gd name="T58" fmla="*/ 17 w 51"/>
                <a:gd name="T59" fmla="*/ 31 h 94"/>
                <a:gd name="T60" fmla="*/ 22 w 51"/>
                <a:gd name="T61" fmla="*/ 35 h 94"/>
                <a:gd name="T62" fmla="*/ 23 w 51"/>
                <a:gd name="T63" fmla="*/ 17 h 94"/>
                <a:gd name="T64" fmla="*/ 29 w 51"/>
                <a:gd name="T65" fmla="*/ 72 h 94"/>
                <a:gd name="T66" fmla="*/ 35 w 51"/>
                <a:gd name="T67" fmla="*/ 69 h 94"/>
                <a:gd name="T68" fmla="*/ 38 w 51"/>
                <a:gd name="T69" fmla="*/ 62 h 94"/>
                <a:gd name="T70" fmla="*/ 36 w 51"/>
                <a:gd name="T71" fmla="*/ 56 h 94"/>
                <a:gd name="T72" fmla="*/ 29 w 51"/>
                <a:gd name="T73" fmla="*/ 52 h 94"/>
                <a:gd name="T74" fmla="*/ 29 w 51"/>
                <a:gd name="T75" fmla="*/ 7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 h="94">
                  <a:moveTo>
                    <a:pt x="21" y="72"/>
                  </a:moveTo>
                  <a:cubicBezTo>
                    <a:pt x="22" y="50"/>
                    <a:pt x="22" y="50"/>
                    <a:pt x="22" y="50"/>
                  </a:cubicBezTo>
                  <a:cubicBezTo>
                    <a:pt x="15" y="47"/>
                    <a:pt x="10" y="44"/>
                    <a:pt x="7" y="40"/>
                  </a:cubicBezTo>
                  <a:cubicBezTo>
                    <a:pt x="4" y="36"/>
                    <a:pt x="3" y="31"/>
                    <a:pt x="3" y="26"/>
                  </a:cubicBezTo>
                  <a:cubicBezTo>
                    <a:pt x="3" y="20"/>
                    <a:pt x="5" y="15"/>
                    <a:pt x="9" y="11"/>
                  </a:cubicBezTo>
                  <a:cubicBezTo>
                    <a:pt x="12" y="8"/>
                    <a:pt x="17" y="6"/>
                    <a:pt x="23" y="5"/>
                  </a:cubicBezTo>
                  <a:cubicBezTo>
                    <a:pt x="23" y="0"/>
                    <a:pt x="23" y="0"/>
                    <a:pt x="23" y="0"/>
                  </a:cubicBezTo>
                  <a:cubicBezTo>
                    <a:pt x="31" y="0"/>
                    <a:pt x="31" y="0"/>
                    <a:pt x="31" y="0"/>
                  </a:cubicBezTo>
                  <a:cubicBezTo>
                    <a:pt x="31" y="5"/>
                    <a:pt x="31" y="5"/>
                    <a:pt x="31" y="5"/>
                  </a:cubicBezTo>
                  <a:cubicBezTo>
                    <a:pt x="36" y="6"/>
                    <a:pt x="41" y="8"/>
                    <a:pt x="44" y="11"/>
                  </a:cubicBezTo>
                  <a:cubicBezTo>
                    <a:pt x="47" y="15"/>
                    <a:pt x="49" y="19"/>
                    <a:pt x="50" y="24"/>
                  </a:cubicBezTo>
                  <a:cubicBezTo>
                    <a:pt x="37" y="25"/>
                    <a:pt x="37" y="25"/>
                    <a:pt x="37" y="25"/>
                  </a:cubicBezTo>
                  <a:cubicBezTo>
                    <a:pt x="36" y="21"/>
                    <a:pt x="34" y="18"/>
                    <a:pt x="30" y="17"/>
                  </a:cubicBezTo>
                  <a:cubicBezTo>
                    <a:pt x="30" y="37"/>
                    <a:pt x="30" y="37"/>
                    <a:pt x="30" y="37"/>
                  </a:cubicBezTo>
                  <a:cubicBezTo>
                    <a:pt x="38" y="40"/>
                    <a:pt x="44" y="43"/>
                    <a:pt x="47" y="47"/>
                  </a:cubicBezTo>
                  <a:cubicBezTo>
                    <a:pt x="50" y="50"/>
                    <a:pt x="51" y="55"/>
                    <a:pt x="51" y="61"/>
                  </a:cubicBezTo>
                  <a:cubicBezTo>
                    <a:pt x="51" y="67"/>
                    <a:pt x="49" y="72"/>
                    <a:pt x="45" y="76"/>
                  </a:cubicBezTo>
                  <a:cubicBezTo>
                    <a:pt x="41" y="81"/>
                    <a:pt x="36" y="83"/>
                    <a:pt x="29" y="84"/>
                  </a:cubicBezTo>
                  <a:cubicBezTo>
                    <a:pt x="28" y="94"/>
                    <a:pt x="28" y="94"/>
                    <a:pt x="28" y="94"/>
                  </a:cubicBezTo>
                  <a:cubicBezTo>
                    <a:pt x="21" y="94"/>
                    <a:pt x="21" y="94"/>
                    <a:pt x="21" y="94"/>
                  </a:cubicBezTo>
                  <a:cubicBezTo>
                    <a:pt x="21" y="84"/>
                    <a:pt x="21" y="84"/>
                    <a:pt x="21" y="84"/>
                  </a:cubicBezTo>
                  <a:cubicBezTo>
                    <a:pt x="15" y="83"/>
                    <a:pt x="10" y="81"/>
                    <a:pt x="6" y="77"/>
                  </a:cubicBezTo>
                  <a:cubicBezTo>
                    <a:pt x="3" y="73"/>
                    <a:pt x="1" y="68"/>
                    <a:pt x="0" y="61"/>
                  </a:cubicBezTo>
                  <a:cubicBezTo>
                    <a:pt x="14" y="60"/>
                    <a:pt x="14" y="60"/>
                    <a:pt x="14" y="60"/>
                  </a:cubicBezTo>
                  <a:cubicBezTo>
                    <a:pt x="14" y="62"/>
                    <a:pt x="15" y="65"/>
                    <a:pt x="16" y="67"/>
                  </a:cubicBezTo>
                  <a:cubicBezTo>
                    <a:pt x="18" y="69"/>
                    <a:pt x="19" y="71"/>
                    <a:pt x="21" y="72"/>
                  </a:cubicBezTo>
                  <a:close/>
                  <a:moveTo>
                    <a:pt x="23" y="17"/>
                  </a:moveTo>
                  <a:cubicBezTo>
                    <a:pt x="21" y="17"/>
                    <a:pt x="19" y="18"/>
                    <a:pt x="18" y="20"/>
                  </a:cubicBezTo>
                  <a:cubicBezTo>
                    <a:pt x="16" y="22"/>
                    <a:pt x="16" y="23"/>
                    <a:pt x="16" y="25"/>
                  </a:cubicBezTo>
                  <a:cubicBezTo>
                    <a:pt x="16" y="27"/>
                    <a:pt x="16" y="29"/>
                    <a:pt x="17" y="31"/>
                  </a:cubicBezTo>
                  <a:cubicBezTo>
                    <a:pt x="18" y="32"/>
                    <a:pt x="20" y="34"/>
                    <a:pt x="22" y="35"/>
                  </a:cubicBezTo>
                  <a:lnTo>
                    <a:pt x="23" y="17"/>
                  </a:lnTo>
                  <a:close/>
                  <a:moveTo>
                    <a:pt x="29" y="72"/>
                  </a:moveTo>
                  <a:cubicBezTo>
                    <a:pt x="32" y="72"/>
                    <a:pt x="34" y="71"/>
                    <a:pt x="35" y="69"/>
                  </a:cubicBezTo>
                  <a:cubicBezTo>
                    <a:pt x="37" y="67"/>
                    <a:pt x="38" y="65"/>
                    <a:pt x="38" y="62"/>
                  </a:cubicBezTo>
                  <a:cubicBezTo>
                    <a:pt x="38" y="60"/>
                    <a:pt x="38" y="58"/>
                    <a:pt x="36" y="56"/>
                  </a:cubicBezTo>
                  <a:cubicBezTo>
                    <a:pt x="35" y="54"/>
                    <a:pt x="33" y="53"/>
                    <a:pt x="29" y="52"/>
                  </a:cubicBezTo>
                  <a:lnTo>
                    <a:pt x="29" y="72"/>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en Sans" panose="020B0606030504020204"/>
                <a:cs typeface="+mn-cs"/>
              </a:endParaRPr>
            </a:p>
          </p:txBody>
        </p:sp>
      </p:grpSp>
      <p:grpSp>
        <p:nvGrpSpPr>
          <p:cNvPr id="6" name="组合 5"/>
          <p:cNvGrpSpPr/>
          <p:nvPr/>
        </p:nvGrpSpPr>
        <p:grpSpPr>
          <a:xfrm>
            <a:off x="8306267" y="1469870"/>
            <a:ext cx="3144689" cy="1343339"/>
            <a:chOff x="8488512" y="1814040"/>
            <a:chExt cx="3144689" cy="1343339"/>
          </a:xfrm>
        </p:grpSpPr>
        <p:sp>
          <p:nvSpPr>
            <p:cNvPr id="131" name="矩形 130"/>
            <p:cNvSpPr/>
            <p:nvPr/>
          </p:nvSpPr>
          <p:spPr>
            <a:xfrm>
              <a:off x="8488512" y="2448719"/>
              <a:ext cx="3144689" cy="708660"/>
            </a:xfrm>
            <a:prstGeom prst="rect">
              <a:avLst/>
            </a:prstGeom>
          </p:spPr>
          <p:txBody>
            <a:bodyPr wrap="square">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Wuhan PPT design planning </a:t>
              </a:r>
              <a:r>
                <a:rPr kumimoji="0" lang="en-US" altLang="zh-CN" sz="1335"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companyWuhan</a:t>
              </a: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 PPT design planning company</a:t>
              </a:r>
            </a:p>
          </p:txBody>
        </p:sp>
        <p:grpSp>
          <p:nvGrpSpPr>
            <p:cNvPr id="4" name="组合 3"/>
            <p:cNvGrpSpPr/>
            <p:nvPr/>
          </p:nvGrpSpPr>
          <p:grpSpPr>
            <a:xfrm>
              <a:off x="8533521" y="1814040"/>
              <a:ext cx="2473003" cy="563143"/>
              <a:chOff x="8533521" y="1814040"/>
              <a:chExt cx="2473003" cy="563143"/>
            </a:xfrm>
          </p:grpSpPr>
          <p:sp>
            <p:nvSpPr>
              <p:cNvPr id="135" name="椭圆 134"/>
              <p:cNvSpPr/>
              <p:nvPr/>
            </p:nvSpPr>
            <p:spPr>
              <a:xfrm>
                <a:off x="8533521" y="1814040"/>
                <a:ext cx="563143" cy="563143"/>
              </a:xfrm>
              <a:prstGeom prst="ellipse">
                <a:avLst/>
              </a:prstGeom>
              <a:solidFill>
                <a:srgbClr val="E843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4" name="矩形 133"/>
              <p:cNvSpPr/>
              <p:nvPr/>
            </p:nvSpPr>
            <p:spPr>
              <a:xfrm>
                <a:off x="9102723" y="1931464"/>
                <a:ext cx="1903801" cy="338554"/>
              </a:xfrm>
              <a:prstGeom prst="rect">
                <a:avLst/>
              </a:prstGeom>
            </p:spPr>
            <p:txBody>
              <a:bodyPr wrap="square">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
            <p:nvSpPr>
              <p:cNvPr id="58" name="KSO_Shape"/>
              <p:cNvSpPr/>
              <p:nvPr/>
            </p:nvSpPr>
            <p:spPr bwMode="auto">
              <a:xfrm>
                <a:off x="8660664" y="1978856"/>
                <a:ext cx="308856" cy="234216"/>
              </a:xfrm>
              <a:custGeom>
                <a:avLst/>
                <a:gdLst>
                  <a:gd name="T0" fmla="*/ 104753 w 3040062"/>
                  <a:gd name="T1" fmla="*/ 1241540 h 2303463"/>
                  <a:gd name="T2" fmla="*/ 251725 w 3040062"/>
                  <a:gd name="T3" fmla="*/ 1260899 h 2303463"/>
                  <a:gd name="T4" fmla="*/ 265692 w 3040062"/>
                  <a:gd name="T5" fmla="*/ 1110467 h 2303463"/>
                  <a:gd name="T6" fmla="*/ 844867 w 3040062"/>
                  <a:gd name="T7" fmla="*/ 970596 h 2303463"/>
                  <a:gd name="T8" fmla="*/ 870584 w 3040062"/>
                  <a:gd name="T9" fmla="*/ 987377 h 2303463"/>
                  <a:gd name="T10" fmla="*/ 872172 w 3040062"/>
                  <a:gd name="T11" fmla="*/ 1402771 h 2303463"/>
                  <a:gd name="T12" fmla="*/ 848359 w 3040062"/>
                  <a:gd name="T13" fmla="*/ 1421768 h 2303463"/>
                  <a:gd name="T14" fmla="*/ 615315 w 3040062"/>
                  <a:gd name="T15" fmla="*/ 1415119 h 2303463"/>
                  <a:gd name="T16" fmla="*/ 603250 w 3040062"/>
                  <a:gd name="T17" fmla="*/ 1002891 h 2303463"/>
                  <a:gd name="T18" fmla="*/ 617855 w 3040062"/>
                  <a:gd name="T19" fmla="*/ 975662 h 2303463"/>
                  <a:gd name="T20" fmla="*/ 1240437 w 3040062"/>
                  <a:gd name="T21" fmla="*/ 749300 h 2303463"/>
                  <a:gd name="T22" fmla="*/ 1265867 w 3040062"/>
                  <a:gd name="T23" fmla="*/ 766421 h 2303463"/>
                  <a:gd name="T24" fmla="*/ 1267138 w 3040062"/>
                  <a:gd name="T25" fmla="*/ 1402743 h 2303463"/>
                  <a:gd name="T26" fmla="*/ 1243616 w 3040062"/>
                  <a:gd name="T27" fmla="*/ 1421766 h 2303463"/>
                  <a:gd name="T28" fmla="*/ 1010298 w 3040062"/>
                  <a:gd name="T29" fmla="*/ 1415108 h 2303463"/>
                  <a:gd name="T30" fmla="*/ 998537 w 3040062"/>
                  <a:gd name="T31" fmla="*/ 782273 h 2303463"/>
                  <a:gd name="T32" fmla="*/ 1012841 w 3040062"/>
                  <a:gd name="T33" fmla="*/ 755007 h 2303463"/>
                  <a:gd name="T34" fmla="*/ 2175011 w 3040062"/>
                  <a:gd name="T35" fmla="*/ 666432 h 2303463"/>
                  <a:gd name="T36" fmla="*/ 2235666 w 3040062"/>
                  <a:gd name="T37" fmla="*/ 692135 h 2303463"/>
                  <a:gd name="T38" fmla="*/ 2277268 w 3040062"/>
                  <a:gd name="T39" fmla="*/ 742271 h 2303463"/>
                  <a:gd name="T40" fmla="*/ 2290605 w 3040062"/>
                  <a:gd name="T41" fmla="*/ 1286150 h 2303463"/>
                  <a:gd name="T42" fmla="*/ 2948603 w 3040062"/>
                  <a:gd name="T43" fmla="*/ 1365796 h 2303463"/>
                  <a:gd name="T44" fmla="*/ 3005765 w 3040062"/>
                  <a:gd name="T45" fmla="*/ 1408316 h 2303463"/>
                  <a:gd name="T46" fmla="*/ 3036887 w 3040062"/>
                  <a:gd name="T47" fmla="*/ 1473366 h 2303463"/>
                  <a:gd name="T48" fmla="*/ 3035616 w 3040062"/>
                  <a:gd name="T49" fmla="*/ 2191451 h 2303463"/>
                  <a:gd name="T50" fmla="*/ 3001319 w 3040062"/>
                  <a:gd name="T51" fmla="*/ 2254597 h 2303463"/>
                  <a:gd name="T52" fmla="*/ 2941934 w 3040062"/>
                  <a:gd name="T53" fmla="*/ 2294578 h 2303463"/>
                  <a:gd name="T54" fmla="*/ 2171200 w 3040062"/>
                  <a:gd name="T55" fmla="*/ 2303146 h 2303463"/>
                  <a:gd name="T56" fmla="*/ 2113403 w 3040062"/>
                  <a:gd name="T57" fmla="*/ 2292040 h 2303463"/>
                  <a:gd name="T58" fmla="*/ 1552263 w 3040062"/>
                  <a:gd name="T59" fmla="*/ 1741815 h 2303463"/>
                  <a:gd name="T60" fmla="*/ 1526223 w 3040062"/>
                  <a:gd name="T61" fmla="*/ 1686919 h 2303463"/>
                  <a:gd name="T62" fmla="*/ 1529081 w 3040062"/>
                  <a:gd name="T63" fmla="*/ 1626946 h 2303463"/>
                  <a:gd name="T64" fmla="*/ 1560520 w 3040062"/>
                  <a:gd name="T65" fmla="*/ 1574272 h 2303463"/>
                  <a:gd name="T66" fmla="*/ 1612919 w 3040062"/>
                  <a:gd name="T67" fmla="*/ 1542858 h 2303463"/>
                  <a:gd name="T68" fmla="*/ 1673891 w 3040062"/>
                  <a:gd name="T69" fmla="*/ 1539685 h 2303463"/>
                  <a:gd name="T70" fmla="*/ 1728513 w 3040062"/>
                  <a:gd name="T71" fmla="*/ 1565705 h 2303463"/>
                  <a:gd name="T72" fmla="*/ 2024167 w 3040062"/>
                  <a:gd name="T73" fmla="*/ 760992 h 2303463"/>
                  <a:gd name="T74" fmla="*/ 2057829 w 3040062"/>
                  <a:gd name="T75" fmla="*/ 704828 h 2303463"/>
                  <a:gd name="T76" fmla="*/ 2113721 w 3040062"/>
                  <a:gd name="T77" fmla="*/ 670875 h 2303463"/>
                  <a:gd name="T78" fmla="*/ 1640947 w 3040062"/>
                  <a:gd name="T79" fmla="*/ 485773 h 2303463"/>
                  <a:gd name="T80" fmla="*/ 1662436 w 3040062"/>
                  <a:gd name="T81" fmla="*/ 507334 h 2303463"/>
                  <a:gd name="T82" fmla="*/ 1658328 w 3040062"/>
                  <a:gd name="T83" fmla="*/ 1408133 h 2303463"/>
                  <a:gd name="T84" fmla="*/ 1631151 w 3040062"/>
                  <a:gd name="T85" fmla="*/ 1422401 h 2303463"/>
                  <a:gd name="T86" fmla="*/ 1401409 w 3040062"/>
                  <a:gd name="T87" fmla="*/ 1410669 h 2303463"/>
                  <a:gd name="T88" fmla="*/ 1394457 w 3040062"/>
                  <a:gd name="T89" fmla="*/ 510505 h 2303463"/>
                  <a:gd name="T90" fmla="*/ 1413734 w 3040062"/>
                  <a:gd name="T91" fmla="*/ 486725 h 2303463"/>
                  <a:gd name="T92" fmla="*/ 2856582 w 3040062"/>
                  <a:gd name="T93" fmla="*/ 2539 h 2303463"/>
                  <a:gd name="T94" fmla="*/ 2942924 w 3040062"/>
                  <a:gd name="T95" fmla="*/ 45384 h 2303463"/>
                  <a:gd name="T96" fmla="*/ 3001649 w 3040062"/>
                  <a:gd name="T97" fmla="*/ 130121 h 2303463"/>
                  <a:gd name="T98" fmla="*/ 3021012 w 3040062"/>
                  <a:gd name="T99" fmla="*/ 1276768 h 2303463"/>
                  <a:gd name="T100" fmla="*/ 2944193 w 3040062"/>
                  <a:gd name="T101" fmla="*/ 1247252 h 2303463"/>
                  <a:gd name="T102" fmla="*/ 374889 w 3040062"/>
                  <a:gd name="T103" fmla="*/ 1959424 h 2303463"/>
                  <a:gd name="T104" fmla="*/ 127291 w 3040062"/>
                  <a:gd name="T105" fmla="*/ 2259336 h 2303463"/>
                  <a:gd name="T106" fmla="*/ 50472 w 3040062"/>
                  <a:gd name="T107" fmla="*/ 2198402 h 2303463"/>
                  <a:gd name="T108" fmla="*/ 6349 w 3040062"/>
                  <a:gd name="T109" fmla="*/ 2100970 h 2303463"/>
                  <a:gd name="T110" fmla="*/ 3809 w 3040062"/>
                  <a:gd name="T111" fmla="*/ 183438 h 2303463"/>
                  <a:gd name="T112" fmla="*/ 44441 w 3040062"/>
                  <a:gd name="T113" fmla="*/ 83468 h 2303463"/>
                  <a:gd name="T114" fmla="*/ 118720 w 3040062"/>
                  <a:gd name="T115" fmla="*/ 17773 h 230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0062" h="2303463">
                    <a:moveTo>
                      <a:pt x="124116" y="1098725"/>
                    </a:moveTo>
                    <a:lnTo>
                      <a:pt x="120307" y="1099042"/>
                    </a:lnTo>
                    <a:lnTo>
                      <a:pt x="116498" y="1099994"/>
                    </a:lnTo>
                    <a:lnTo>
                      <a:pt x="113324" y="1101898"/>
                    </a:lnTo>
                    <a:lnTo>
                      <a:pt x="110467" y="1104120"/>
                    </a:lnTo>
                    <a:lnTo>
                      <a:pt x="108245" y="1107294"/>
                    </a:lnTo>
                    <a:lnTo>
                      <a:pt x="106340" y="1110467"/>
                    </a:lnTo>
                    <a:lnTo>
                      <a:pt x="105071" y="1114276"/>
                    </a:lnTo>
                    <a:lnTo>
                      <a:pt x="104753" y="1118084"/>
                    </a:lnTo>
                    <a:lnTo>
                      <a:pt x="104753" y="1241540"/>
                    </a:lnTo>
                    <a:lnTo>
                      <a:pt x="105071" y="1245348"/>
                    </a:lnTo>
                    <a:lnTo>
                      <a:pt x="106340" y="1249157"/>
                    </a:lnTo>
                    <a:lnTo>
                      <a:pt x="108245" y="1252330"/>
                    </a:lnTo>
                    <a:lnTo>
                      <a:pt x="110467" y="1255187"/>
                    </a:lnTo>
                    <a:lnTo>
                      <a:pt x="113324" y="1257726"/>
                    </a:lnTo>
                    <a:lnTo>
                      <a:pt x="116498" y="1259312"/>
                    </a:lnTo>
                    <a:lnTo>
                      <a:pt x="120307" y="1260899"/>
                    </a:lnTo>
                    <a:lnTo>
                      <a:pt x="124116" y="1261217"/>
                    </a:lnTo>
                    <a:lnTo>
                      <a:pt x="247598" y="1261217"/>
                    </a:lnTo>
                    <a:lnTo>
                      <a:pt x="251725" y="1260899"/>
                    </a:lnTo>
                    <a:lnTo>
                      <a:pt x="255216" y="1259312"/>
                    </a:lnTo>
                    <a:lnTo>
                      <a:pt x="258708" y="1257726"/>
                    </a:lnTo>
                    <a:lnTo>
                      <a:pt x="261565" y="1255187"/>
                    </a:lnTo>
                    <a:lnTo>
                      <a:pt x="264105" y="1252330"/>
                    </a:lnTo>
                    <a:lnTo>
                      <a:pt x="265692" y="1249157"/>
                    </a:lnTo>
                    <a:lnTo>
                      <a:pt x="266644" y="1245348"/>
                    </a:lnTo>
                    <a:lnTo>
                      <a:pt x="266961" y="1241540"/>
                    </a:lnTo>
                    <a:lnTo>
                      <a:pt x="266961" y="1118084"/>
                    </a:lnTo>
                    <a:lnTo>
                      <a:pt x="266644" y="1114276"/>
                    </a:lnTo>
                    <a:lnTo>
                      <a:pt x="265692" y="1110467"/>
                    </a:lnTo>
                    <a:lnTo>
                      <a:pt x="264105" y="1107294"/>
                    </a:lnTo>
                    <a:lnTo>
                      <a:pt x="261565" y="1104120"/>
                    </a:lnTo>
                    <a:lnTo>
                      <a:pt x="258708" y="1101898"/>
                    </a:lnTo>
                    <a:lnTo>
                      <a:pt x="255216" y="1099994"/>
                    </a:lnTo>
                    <a:lnTo>
                      <a:pt x="251725" y="1099042"/>
                    </a:lnTo>
                    <a:lnTo>
                      <a:pt x="247598" y="1098725"/>
                    </a:lnTo>
                    <a:lnTo>
                      <a:pt x="124116" y="1098725"/>
                    </a:lnTo>
                    <a:close/>
                    <a:moveTo>
                      <a:pt x="636270" y="969963"/>
                    </a:moveTo>
                    <a:lnTo>
                      <a:pt x="841692" y="969963"/>
                    </a:lnTo>
                    <a:lnTo>
                      <a:pt x="844867" y="970596"/>
                    </a:lnTo>
                    <a:lnTo>
                      <a:pt x="848359" y="970913"/>
                    </a:lnTo>
                    <a:lnTo>
                      <a:pt x="851534" y="971546"/>
                    </a:lnTo>
                    <a:lnTo>
                      <a:pt x="854709" y="972813"/>
                    </a:lnTo>
                    <a:lnTo>
                      <a:pt x="857567" y="974396"/>
                    </a:lnTo>
                    <a:lnTo>
                      <a:pt x="860107" y="975662"/>
                    </a:lnTo>
                    <a:lnTo>
                      <a:pt x="862647" y="977878"/>
                    </a:lnTo>
                    <a:lnTo>
                      <a:pt x="865187" y="979778"/>
                    </a:lnTo>
                    <a:lnTo>
                      <a:pt x="867092" y="982311"/>
                    </a:lnTo>
                    <a:lnTo>
                      <a:pt x="868997" y="984844"/>
                    </a:lnTo>
                    <a:lnTo>
                      <a:pt x="870584" y="987377"/>
                    </a:lnTo>
                    <a:lnTo>
                      <a:pt x="872172" y="990226"/>
                    </a:lnTo>
                    <a:lnTo>
                      <a:pt x="873124" y="993076"/>
                    </a:lnTo>
                    <a:lnTo>
                      <a:pt x="873760" y="996242"/>
                    </a:lnTo>
                    <a:lnTo>
                      <a:pt x="874712" y="999725"/>
                    </a:lnTo>
                    <a:lnTo>
                      <a:pt x="874712" y="1002891"/>
                    </a:lnTo>
                    <a:lnTo>
                      <a:pt x="874712" y="1389790"/>
                    </a:lnTo>
                    <a:lnTo>
                      <a:pt x="874712" y="1393273"/>
                    </a:lnTo>
                    <a:lnTo>
                      <a:pt x="873760" y="1396439"/>
                    </a:lnTo>
                    <a:lnTo>
                      <a:pt x="873124" y="1399605"/>
                    </a:lnTo>
                    <a:lnTo>
                      <a:pt x="872172" y="1402771"/>
                    </a:lnTo>
                    <a:lnTo>
                      <a:pt x="870584" y="1405304"/>
                    </a:lnTo>
                    <a:lnTo>
                      <a:pt x="868997" y="1408154"/>
                    </a:lnTo>
                    <a:lnTo>
                      <a:pt x="867092" y="1410686"/>
                    </a:lnTo>
                    <a:lnTo>
                      <a:pt x="865187" y="1413219"/>
                    </a:lnTo>
                    <a:lnTo>
                      <a:pt x="862647" y="1415119"/>
                    </a:lnTo>
                    <a:lnTo>
                      <a:pt x="860107" y="1417019"/>
                    </a:lnTo>
                    <a:lnTo>
                      <a:pt x="857567" y="1418602"/>
                    </a:lnTo>
                    <a:lnTo>
                      <a:pt x="854709" y="1420185"/>
                    </a:lnTo>
                    <a:lnTo>
                      <a:pt x="851534" y="1421135"/>
                    </a:lnTo>
                    <a:lnTo>
                      <a:pt x="848359" y="1421768"/>
                    </a:lnTo>
                    <a:lnTo>
                      <a:pt x="844867" y="1422401"/>
                    </a:lnTo>
                    <a:lnTo>
                      <a:pt x="841692" y="1422401"/>
                    </a:lnTo>
                    <a:lnTo>
                      <a:pt x="636270" y="1422401"/>
                    </a:lnTo>
                    <a:lnTo>
                      <a:pt x="632777" y="1422401"/>
                    </a:lnTo>
                    <a:lnTo>
                      <a:pt x="629920" y="1421768"/>
                    </a:lnTo>
                    <a:lnTo>
                      <a:pt x="626745" y="1421135"/>
                    </a:lnTo>
                    <a:lnTo>
                      <a:pt x="623570" y="1420185"/>
                    </a:lnTo>
                    <a:lnTo>
                      <a:pt x="620713" y="1418602"/>
                    </a:lnTo>
                    <a:lnTo>
                      <a:pt x="617855" y="1417019"/>
                    </a:lnTo>
                    <a:lnTo>
                      <a:pt x="615315" y="1415119"/>
                    </a:lnTo>
                    <a:lnTo>
                      <a:pt x="613093" y="1413219"/>
                    </a:lnTo>
                    <a:lnTo>
                      <a:pt x="610870" y="1410686"/>
                    </a:lnTo>
                    <a:lnTo>
                      <a:pt x="608965" y="1408154"/>
                    </a:lnTo>
                    <a:lnTo>
                      <a:pt x="607378" y="1405304"/>
                    </a:lnTo>
                    <a:lnTo>
                      <a:pt x="606108" y="1402771"/>
                    </a:lnTo>
                    <a:lnTo>
                      <a:pt x="605155" y="1399605"/>
                    </a:lnTo>
                    <a:lnTo>
                      <a:pt x="603885" y="1396439"/>
                    </a:lnTo>
                    <a:lnTo>
                      <a:pt x="603568" y="1393273"/>
                    </a:lnTo>
                    <a:lnTo>
                      <a:pt x="603250" y="1389790"/>
                    </a:lnTo>
                    <a:lnTo>
                      <a:pt x="603250" y="1002891"/>
                    </a:lnTo>
                    <a:lnTo>
                      <a:pt x="603568" y="999725"/>
                    </a:lnTo>
                    <a:lnTo>
                      <a:pt x="603885" y="996242"/>
                    </a:lnTo>
                    <a:lnTo>
                      <a:pt x="605155" y="993076"/>
                    </a:lnTo>
                    <a:lnTo>
                      <a:pt x="606108" y="990226"/>
                    </a:lnTo>
                    <a:lnTo>
                      <a:pt x="607378" y="987377"/>
                    </a:lnTo>
                    <a:lnTo>
                      <a:pt x="608965" y="984844"/>
                    </a:lnTo>
                    <a:lnTo>
                      <a:pt x="610870" y="982311"/>
                    </a:lnTo>
                    <a:lnTo>
                      <a:pt x="613093" y="979778"/>
                    </a:lnTo>
                    <a:lnTo>
                      <a:pt x="615315" y="977878"/>
                    </a:lnTo>
                    <a:lnTo>
                      <a:pt x="617855" y="975662"/>
                    </a:lnTo>
                    <a:lnTo>
                      <a:pt x="620713" y="974396"/>
                    </a:lnTo>
                    <a:lnTo>
                      <a:pt x="623570" y="972813"/>
                    </a:lnTo>
                    <a:lnTo>
                      <a:pt x="626745" y="971546"/>
                    </a:lnTo>
                    <a:lnTo>
                      <a:pt x="629920" y="970913"/>
                    </a:lnTo>
                    <a:lnTo>
                      <a:pt x="632777" y="970596"/>
                    </a:lnTo>
                    <a:lnTo>
                      <a:pt x="636270" y="969963"/>
                    </a:lnTo>
                    <a:close/>
                    <a:moveTo>
                      <a:pt x="1027781" y="749300"/>
                    </a:moveTo>
                    <a:lnTo>
                      <a:pt x="1031278" y="749300"/>
                    </a:lnTo>
                    <a:lnTo>
                      <a:pt x="1236940" y="749300"/>
                    </a:lnTo>
                    <a:lnTo>
                      <a:pt x="1240437" y="749300"/>
                    </a:lnTo>
                    <a:lnTo>
                      <a:pt x="1243616" y="750251"/>
                    </a:lnTo>
                    <a:lnTo>
                      <a:pt x="1246476" y="750885"/>
                    </a:lnTo>
                    <a:lnTo>
                      <a:pt x="1249655" y="751837"/>
                    </a:lnTo>
                    <a:lnTo>
                      <a:pt x="1252516" y="753105"/>
                    </a:lnTo>
                    <a:lnTo>
                      <a:pt x="1255377" y="755007"/>
                    </a:lnTo>
                    <a:lnTo>
                      <a:pt x="1257920" y="756592"/>
                    </a:lnTo>
                    <a:lnTo>
                      <a:pt x="1260145" y="758812"/>
                    </a:lnTo>
                    <a:lnTo>
                      <a:pt x="1262370" y="761348"/>
                    </a:lnTo>
                    <a:lnTo>
                      <a:pt x="1264595" y="763567"/>
                    </a:lnTo>
                    <a:lnTo>
                      <a:pt x="1265867" y="766421"/>
                    </a:lnTo>
                    <a:lnTo>
                      <a:pt x="1267138" y="769274"/>
                    </a:lnTo>
                    <a:lnTo>
                      <a:pt x="1268410" y="772445"/>
                    </a:lnTo>
                    <a:lnTo>
                      <a:pt x="1269363" y="775615"/>
                    </a:lnTo>
                    <a:lnTo>
                      <a:pt x="1269681" y="778786"/>
                    </a:lnTo>
                    <a:lnTo>
                      <a:pt x="1269999" y="782273"/>
                    </a:lnTo>
                    <a:lnTo>
                      <a:pt x="1269999" y="1389744"/>
                    </a:lnTo>
                    <a:lnTo>
                      <a:pt x="1269681" y="1393231"/>
                    </a:lnTo>
                    <a:lnTo>
                      <a:pt x="1269363" y="1396402"/>
                    </a:lnTo>
                    <a:lnTo>
                      <a:pt x="1268410" y="1399572"/>
                    </a:lnTo>
                    <a:lnTo>
                      <a:pt x="1267138" y="1402743"/>
                    </a:lnTo>
                    <a:lnTo>
                      <a:pt x="1265867" y="1405279"/>
                    </a:lnTo>
                    <a:lnTo>
                      <a:pt x="1264595" y="1408133"/>
                    </a:lnTo>
                    <a:lnTo>
                      <a:pt x="1262370" y="1410669"/>
                    </a:lnTo>
                    <a:lnTo>
                      <a:pt x="1260145" y="1413206"/>
                    </a:lnTo>
                    <a:lnTo>
                      <a:pt x="1257920" y="1415108"/>
                    </a:lnTo>
                    <a:lnTo>
                      <a:pt x="1255377" y="1417010"/>
                    </a:lnTo>
                    <a:lnTo>
                      <a:pt x="1252516" y="1418595"/>
                    </a:lnTo>
                    <a:lnTo>
                      <a:pt x="1249655" y="1420181"/>
                    </a:lnTo>
                    <a:lnTo>
                      <a:pt x="1246476" y="1421132"/>
                    </a:lnTo>
                    <a:lnTo>
                      <a:pt x="1243616" y="1421766"/>
                    </a:lnTo>
                    <a:lnTo>
                      <a:pt x="1240437" y="1422400"/>
                    </a:lnTo>
                    <a:lnTo>
                      <a:pt x="1236940" y="1422400"/>
                    </a:lnTo>
                    <a:lnTo>
                      <a:pt x="1031278" y="1422400"/>
                    </a:lnTo>
                    <a:lnTo>
                      <a:pt x="1027781" y="1422400"/>
                    </a:lnTo>
                    <a:lnTo>
                      <a:pt x="1024602" y="1421766"/>
                    </a:lnTo>
                    <a:lnTo>
                      <a:pt x="1021424" y="1421132"/>
                    </a:lnTo>
                    <a:lnTo>
                      <a:pt x="1018245" y="1420181"/>
                    </a:lnTo>
                    <a:lnTo>
                      <a:pt x="1015384" y="1418595"/>
                    </a:lnTo>
                    <a:lnTo>
                      <a:pt x="1012841" y="1417010"/>
                    </a:lnTo>
                    <a:lnTo>
                      <a:pt x="1010298" y="1415108"/>
                    </a:lnTo>
                    <a:lnTo>
                      <a:pt x="1007755" y="1413206"/>
                    </a:lnTo>
                    <a:lnTo>
                      <a:pt x="1005848" y="1410669"/>
                    </a:lnTo>
                    <a:lnTo>
                      <a:pt x="1003941" y="1408133"/>
                    </a:lnTo>
                    <a:lnTo>
                      <a:pt x="1002351" y="1405279"/>
                    </a:lnTo>
                    <a:lnTo>
                      <a:pt x="1000762" y="1402743"/>
                    </a:lnTo>
                    <a:lnTo>
                      <a:pt x="999808" y="1399572"/>
                    </a:lnTo>
                    <a:lnTo>
                      <a:pt x="999173" y="1396402"/>
                    </a:lnTo>
                    <a:lnTo>
                      <a:pt x="998537" y="1393231"/>
                    </a:lnTo>
                    <a:lnTo>
                      <a:pt x="998537" y="1389744"/>
                    </a:lnTo>
                    <a:lnTo>
                      <a:pt x="998537" y="782273"/>
                    </a:lnTo>
                    <a:lnTo>
                      <a:pt x="998537" y="778786"/>
                    </a:lnTo>
                    <a:lnTo>
                      <a:pt x="999173" y="775615"/>
                    </a:lnTo>
                    <a:lnTo>
                      <a:pt x="999808" y="772445"/>
                    </a:lnTo>
                    <a:lnTo>
                      <a:pt x="1000762" y="769274"/>
                    </a:lnTo>
                    <a:lnTo>
                      <a:pt x="1002351" y="766421"/>
                    </a:lnTo>
                    <a:lnTo>
                      <a:pt x="1003941" y="763567"/>
                    </a:lnTo>
                    <a:lnTo>
                      <a:pt x="1005848" y="761348"/>
                    </a:lnTo>
                    <a:lnTo>
                      <a:pt x="1007755" y="758812"/>
                    </a:lnTo>
                    <a:lnTo>
                      <a:pt x="1010298" y="756592"/>
                    </a:lnTo>
                    <a:lnTo>
                      <a:pt x="1012841" y="755007"/>
                    </a:lnTo>
                    <a:lnTo>
                      <a:pt x="1015384" y="753105"/>
                    </a:lnTo>
                    <a:lnTo>
                      <a:pt x="1018245" y="751837"/>
                    </a:lnTo>
                    <a:lnTo>
                      <a:pt x="1021424" y="750885"/>
                    </a:lnTo>
                    <a:lnTo>
                      <a:pt x="1024602" y="750251"/>
                    </a:lnTo>
                    <a:lnTo>
                      <a:pt x="1027781" y="749300"/>
                    </a:lnTo>
                    <a:close/>
                    <a:moveTo>
                      <a:pt x="2147065" y="665163"/>
                    </a:moveTo>
                    <a:lnTo>
                      <a:pt x="2154052" y="665163"/>
                    </a:lnTo>
                    <a:lnTo>
                      <a:pt x="2161038" y="665163"/>
                    </a:lnTo>
                    <a:lnTo>
                      <a:pt x="2168025" y="665798"/>
                    </a:lnTo>
                    <a:lnTo>
                      <a:pt x="2175011" y="666432"/>
                    </a:lnTo>
                    <a:lnTo>
                      <a:pt x="2181680" y="667702"/>
                    </a:lnTo>
                    <a:lnTo>
                      <a:pt x="2188349" y="669288"/>
                    </a:lnTo>
                    <a:lnTo>
                      <a:pt x="2194700" y="670875"/>
                    </a:lnTo>
                    <a:lnTo>
                      <a:pt x="2201369" y="673413"/>
                    </a:lnTo>
                    <a:lnTo>
                      <a:pt x="2207085" y="675952"/>
                    </a:lnTo>
                    <a:lnTo>
                      <a:pt x="2213437" y="678173"/>
                    </a:lnTo>
                    <a:lnTo>
                      <a:pt x="2219471" y="681346"/>
                    </a:lnTo>
                    <a:lnTo>
                      <a:pt x="2224869" y="684519"/>
                    </a:lnTo>
                    <a:lnTo>
                      <a:pt x="2230585" y="688327"/>
                    </a:lnTo>
                    <a:lnTo>
                      <a:pt x="2235666" y="692135"/>
                    </a:lnTo>
                    <a:lnTo>
                      <a:pt x="2241065" y="695943"/>
                    </a:lnTo>
                    <a:lnTo>
                      <a:pt x="2245829" y="700702"/>
                    </a:lnTo>
                    <a:lnTo>
                      <a:pt x="2250910" y="704828"/>
                    </a:lnTo>
                    <a:lnTo>
                      <a:pt x="2255356" y="709587"/>
                    </a:lnTo>
                    <a:lnTo>
                      <a:pt x="2259484" y="714347"/>
                    </a:lnTo>
                    <a:lnTo>
                      <a:pt x="2263612" y="719741"/>
                    </a:lnTo>
                    <a:lnTo>
                      <a:pt x="2267423" y="724819"/>
                    </a:lnTo>
                    <a:lnTo>
                      <a:pt x="2270916" y="730530"/>
                    </a:lnTo>
                    <a:lnTo>
                      <a:pt x="2274092" y="736559"/>
                    </a:lnTo>
                    <a:lnTo>
                      <a:pt x="2277268" y="742271"/>
                    </a:lnTo>
                    <a:lnTo>
                      <a:pt x="2280126" y="748300"/>
                    </a:lnTo>
                    <a:lnTo>
                      <a:pt x="2282666" y="754646"/>
                    </a:lnTo>
                    <a:lnTo>
                      <a:pt x="2284572" y="760992"/>
                    </a:lnTo>
                    <a:lnTo>
                      <a:pt x="2286477" y="767021"/>
                    </a:lnTo>
                    <a:lnTo>
                      <a:pt x="2287747" y="773685"/>
                    </a:lnTo>
                    <a:lnTo>
                      <a:pt x="2289018" y="780349"/>
                    </a:lnTo>
                    <a:lnTo>
                      <a:pt x="2289970" y="787330"/>
                    </a:lnTo>
                    <a:lnTo>
                      <a:pt x="2290605" y="794311"/>
                    </a:lnTo>
                    <a:lnTo>
                      <a:pt x="2290605" y="801292"/>
                    </a:lnTo>
                    <a:lnTo>
                      <a:pt x="2290605" y="1286150"/>
                    </a:lnTo>
                    <a:lnTo>
                      <a:pt x="2884137" y="1353738"/>
                    </a:lnTo>
                    <a:lnTo>
                      <a:pt x="2890488" y="1354055"/>
                    </a:lnTo>
                    <a:lnTo>
                      <a:pt x="2898110" y="1354372"/>
                    </a:lnTo>
                    <a:lnTo>
                      <a:pt x="2905732" y="1355007"/>
                    </a:lnTo>
                    <a:lnTo>
                      <a:pt x="2913353" y="1355642"/>
                    </a:lnTo>
                    <a:lnTo>
                      <a:pt x="2920657" y="1357228"/>
                    </a:lnTo>
                    <a:lnTo>
                      <a:pt x="2927644" y="1358815"/>
                    </a:lnTo>
                    <a:lnTo>
                      <a:pt x="2934948" y="1361036"/>
                    </a:lnTo>
                    <a:lnTo>
                      <a:pt x="2941934" y="1362940"/>
                    </a:lnTo>
                    <a:lnTo>
                      <a:pt x="2948603" y="1365796"/>
                    </a:lnTo>
                    <a:lnTo>
                      <a:pt x="2955272" y="1368969"/>
                    </a:lnTo>
                    <a:lnTo>
                      <a:pt x="2961941" y="1372142"/>
                    </a:lnTo>
                    <a:lnTo>
                      <a:pt x="2968292" y="1375633"/>
                    </a:lnTo>
                    <a:lnTo>
                      <a:pt x="2974008" y="1379758"/>
                    </a:lnTo>
                    <a:lnTo>
                      <a:pt x="2980042" y="1383883"/>
                    </a:lnTo>
                    <a:lnTo>
                      <a:pt x="2985758" y="1388008"/>
                    </a:lnTo>
                    <a:lnTo>
                      <a:pt x="2990839" y="1393085"/>
                    </a:lnTo>
                    <a:lnTo>
                      <a:pt x="2996238" y="1397845"/>
                    </a:lnTo>
                    <a:lnTo>
                      <a:pt x="3001319" y="1403239"/>
                    </a:lnTo>
                    <a:lnTo>
                      <a:pt x="3005765" y="1408316"/>
                    </a:lnTo>
                    <a:lnTo>
                      <a:pt x="3010529" y="1414345"/>
                    </a:lnTo>
                    <a:lnTo>
                      <a:pt x="3014657" y="1419739"/>
                    </a:lnTo>
                    <a:lnTo>
                      <a:pt x="3018468" y="1426086"/>
                    </a:lnTo>
                    <a:lnTo>
                      <a:pt x="3021961" y="1432432"/>
                    </a:lnTo>
                    <a:lnTo>
                      <a:pt x="3025454" y="1438778"/>
                    </a:lnTo>
                    <a:lnTo>
                      <a:pt x="3028312" y="1445125"/>
                    </a:lnTo>
                    <a:lnTo>
                      <a:pt x="3030853" y="1452106"/>
                    </a:lnTo>
                    <a:lnTo>
                      <a:pt x="3033393" y="1459087"/>
                    </a:lnTo>
                    <a:lnTo>
                      <a:pt x="3035616" y="1466067"/>
                    </a:lnTo>
                    <a:lnTo>
                      <a:pt x="3036887" y="1473366"/>
                    </a:lnTo>
                    <a:lnTo>
                      <a:pt x="3038474" y="1480664"/>
                    </a:lnTo>
                    <a:lnTo>
                      <a:pt x="3039427" y="1488280"/>
                    </a:lnTo>
                    <a:lnTo>
                      <a:pt x="3040062" y="1495895"/>
                    </a:lnTo>
                    <a:lnTo>
                      <a:pt x="3040062" y="1503511"/>
                    </a:lnTo>
                    <a:lnTo>
                      <a:pt x="3040062" y="2154008"/>
                    </a:lnTo>
                    <a:lnTo>
                      <a:pt x="3040062" y="2161623"/>
                    </a:lnTo>
                    <a:lnTo>
                      <a:pt x="3039427" y="2169556"/>
                    </a:lnTo>
                    <a:lnTo>
                      <a:pt x="3038474" y="2177172"/>
                    </a:lnTo>
                    <a:lnTo>
                      <a:pt x="3036887" y="2184470"/>
                    </a:lnTo>
                    <a:lnTo>
                      <a:pt x="3035616" y="2191451"/>
                    </a:lnTo>
                    <a:lnTo>
                      <a:pt x="3033393" y="2198749"/>
                    </a:lnTo>
                    <a:lnTo>
                      <a:pt x="3030853" y="2205730"/>
                    </a:lnTo>
                    <a:lnTo>
                      <a:pt x="3028312" y="2212394"/>
                    </a:lnTo>
                    <a:lnTo>
                      <a:pt x="3025454" y="2219057"/>
                    </a:lnTo>
                    <a:lnTo>
                      <a:pt x="3021961" y="2225404"/>
                    </a:lnTo>
                    <a:lnTo>
                      <a:pt x="3018468" y="2231433"/>
                    </a:lnTo>
                    <a:lnTo>
                      <a:pt x="3014657" y="2237779"/>
                    </a:lnTo>
                    <a:lnTo>
                      <a:pt x="3010529" y="2243808"/>
                    </a:lnTo>
                    <a:lnTo>
                      <a:pt x="3005765" y="2249202"/>
                    </a:lnTo>
                    <a:lnTo>
                      <a:pt x="3001319" y="2254597"/>
                    </a:lnTo>
                    <a:lnTo>
                      <a:pt x="2996238" y="2259674"/>
                    </a:lnTo>
                    <a:lnTo>
                      <a:pt x="2990839" y="2264433"/>
                    </a:lnTo>
                    <a:lnTo>
                      <a:pt x="2985758" y="2269510"/>
                    </a:lnTo>
                    <a:lnTo>
                      <a:pt x="2980042" y="2273953"/>
                    </a:lnTo>
                    <a:lnTo>
                      <a:pt x="2974008" y="2278078"/>
                    </a:lnTo>
                    <a:lnTo>
                      <a:pt x="2968292" y="2281886"/>
                    </a:lnTo>
                    <a:lnTo>
                      <a:pt x="2961941" y="2285376"/>
                    </a:lnTo>
                    <a:lnTo>
                      <a:pt x="2955272" y="2288867"/>
                    </a:lnTo>
                    <a:lnTo>
                      <a:pt x="2948603" y="2291723"/>
                    </a:lnTo>
                    <a:lnTo>
                      <a:pt x="2941934" y="2294578"/>
                    </a:lnTo>
                    <a:lnTo>
                      <a:pt x="2934948" y="2297117"/>
                    </a:lnTo>
                    <a:lnTo>
                      <a:pt x="2927644" y="2298703"/>
                    </a:lnTo>
                    <a:lnTo>
                      <a:pt x="2920657" y="2300607"/>
                    </a:lnTo>
                    <a:lnTo>
                      <a:pt x="2913353" y="2301877"/>
                    </a:lnTo>
                    <a:lnTo>
                      <a:pt x="2905732" y="2302829"/>
                    </a:lnTo>
                    <a:lnTo>
                      <a:pt x="2898110" y="2303146"/>
                    </a:lnTo>
                    <a:lnTo>
                      <a:pt x="2890488" y="2303463"/>
                    </a:lnTo>
                    <a:lnTo>
                      <a:pt x="2177552" y="2303463"/>
                    </a:lnTo>
                    <a:lnTo>
                      <a:pt x="2173423" y="2303146"/>
                    </a:lnTo>
                    <a:lnTo>
                      <a:pt x="2171200" y="2303146"/>
                    </a:lnTo>
                    <a:lnTo>
                      <a:pt x="2169613" y="2303146"/>
                    </a:lnTo>
                    <a:lnTo>
                      <a:pt x="2162944" y="2303146"/>
                    </a:lnTo>
                    <a:lnTo>
                      <a:pt x="2156275" y="2303146"/>
                    </a:lnTo>
                    <a:lnTo>
                      <a:pt x="2149924" y="2302511"/>
                    </a:lnTo>
                    <a:lnTo>
                      <a:pt x="2143572" y="2301559"/>
                    </a:lnTo>
                    <a:lnTo>
                      <a:pt x="2137538" y="2300607"/>
                    </a:lnTo>
                    <a:lnTo>
                      <a:pt x="2131187" y="2298703"/>
                    </a:lnTo>
                    <a:lnTo>
                      <a:pt x="2125153" y="2297117"/>
                    </a:lnTo>
                    <a:lnTo>
                      <a:pt x="2119437" y="2294896"/>
                    </a:lnTo>
                    <a:lnTo>
                      <a:pt x="2113403" y="2292040"/>
                    </a:lnTo>
                    <a:lnTo>
                      <a:pt x="2107370" y="2289501"/>
                    </a:lnTo>
                    <a:lnTo>
                      <a:pt x="2101971" y="2286645"/>
                    </a:lnTo>
                    <a:lnTo>
                      <a:pt x="2096572" y="2283155"/>
                    </a:lnTo>
                    <a:lnTo>
                      <a:pt x="2091491" y="2279665"/>
                    </a:lnTo>
                    <a:lnTo>
                      <a:pt x="2086093" y="2275222"/>
                    </a:lnTo>
                    <a:lnTo>
                      <a:pt x="2081329" y="2271097"/>
                    </a:lnTo>
                    <a:lnTo>
                      <a:pt x="2076883" y="2266972"/>
                    </a:lnTo>
                    <a:lnTo>
                      <a:pt x="1560520" y="1751334"/>
                    </a:lnTo>
                    <a:lnTo>
                      <a:pt x="1556074" y="1746574"/>
                    </a:lnTo>
                    <a:lnTo>
                      <a:pt x="1552263" y="1741815"/>
                    </a:lnTo>
                    <a:lnTo>
                      <a:pt x="1548135" y="1737055"/>
                    </a:lnTo>
                    <a:lnTo>
                      <a:pt x="1544642" y="1731661"/>
                    </a:lnTo>
                    <a:lnTo>
                      <a:pt x="1541466" y="1726583"/>
                    </a:lnTo>
                    <a:lnTo>
                      <a:pt x="1538291" y="1720872"/>
                    </a:lnTo>
                    <a:lnTo>
                      <a:pt x="1535432" y="1715477"/>
                    </a:lnTo>
                    <a:lnTo>
                      <a:pt x="1532892" y="1709766"/>
                    </a:lnTo>
                    <a:lnTo>
                      <a:pt x="1530987" y="1704054"/>
                    </a:lnTo>
                    <a:lnTo>
                      <a:pt x="1529081" y="1698342"/>
                    </a:lnTo>
                    <a:lnTo>
                      <a:pt x="1527493" y="1692631"/>
                    </a:lnTo>
                    <a:lnTo>
                      <a:pt x="1526223" y="1686919"/>
                    </a:lnTo>
                    <a:lnTo>
                      <a:pt x="1525270" y="1680890"/>
                    </a:lnTo>
                    <a:lnTo>
                      <a:pt x="1524635" y="1674544"/>
                    </a:lnTo>
                    <a:lnTo>
                      <a:pt x="1524000" y="1668515"/>
                    </a:lnTo>
                    <a:lnTo>
                      <a:pt x="1524000" y="1662803"/>
                    </a:lnTo>
                    <a:lnTo>
                      <a:pt x="1524000" y="1656774"/>
                    </a:lnTo>
                    <a:lnTo>
                      <a:pt x="1524635" y="1650428"/>
                    </a:lnTo>
                    <a:lnTo>
                      <a:pt x="1525270" y="1644716"/>
                    </a:lnTo>
                    <a:lnTo>
                      <a:pt x="1526223" y="1638687"/>
                    </a:lnTo>
                    <a:lnTo>
                      <a:pt x="1527493" y="1632658"/>
                    </a:lnTo>
                    <a:lnTo>
                      <a:pt x="1529081" y="1626946"/>
                    </a:lnTo>
                    <a:lnTo>
                      <a:pt x="1530987" y="1621235"/>
                    </a:lnTo>
                    <a:lnTo>
                      <a:pt x="1532892" y="1615523"/>
                    </a:lnTo>
                    <a:lnTo>
                      <a:pt x="1535432" y="1609811"/>
                    </a:lnTo>
                    <a:lnTo>
                      <a:pt x="1538291" y="1604417"/>
                    </a:lnTo>
                    <a:lnTo>
                      <a:pt x="1541466" y="1599023"/>
                    </a:lnTo>
                    <a:lnTo>
                      <a:pt x="1544642" y="1593628"/>
                    </a:lnTo>
                    <a:lnTo>
                      <a:pt x="1548135" y="1588551"/>
                    </a:lnTo>
                    <a:lnTo>
                      <a:pt x="1552263" y="1583474"/>
                    </a:lnTo>
                    <a:lnTo>
                      <a:pt x="1556074" y="1578714"/>
                    </a:lnTo>
                    <a:lnTo>
                      <a:pt x="1560520" y="1574272"/>
                    </a:lnTo>
                    <a:lnTo>
                      <a:pt x="1564966" y="1569830"/>
                    </a:lnTo>
                    <a:lnTo>
                      <a:pt x="1570047" y="1565705"/>
                    </a:lnTo>
                    <a:lnTo>
                      <a:pt x="1574811" y="1561897"/>
                    </a:lnTo>
                    <a:lnTo>
                      <a:pt x="1579574" y="1558406"/>
                    </a:lnTo>
                    <a:lnTo>
                      <a:pt x="1584973" y="1554916"/>
                    </a:lnTo>
                    <a:lnTo>
                      <a:pt x="1590054" y="1552060"/>
                    </a:lnTo>
                    <a:lnTo>
                      <a:pt x="1595770" y="1549521"/>
                    </a:lnTo>
                    <a:lnTo>
                      <a:pt x="1601486" y="1546666"/>
                    </a:lnTo>
                    <a:lnTo>
                      <a:pt x="1606885" y="1544444"/>
                    </a:lnTo>
                    <a:lnTo>
                      <a:pt x="1612919" y="1542858"/>
                    </a:lnTo>
                    <a:lnTo>
                      <a:pt x="1618635" y="1540954"/>
                    </a:lnTo>
                    <a:lnTo>
                      <a:pt x="1624669" y="1539685"/>
                    </a:lnTo>
                    <a:lnTo>
                      <a:pt x="1630702" y="1538733"/>
                    </a:lnTo>
                    <a:lnTo>
                      <a:pt x="1637054" y="1538098"/>
                    </a:lnTo>
                    <a:lnTo>
                      <a:pt x="1642770" y="1537463"/>
                    </a:lnTo>
                    <a:lnTo>
                      <a:pt x="1649121" y="1537146"/>
                    </a:lnTo>
                    <a:lnTo>
                      <a:pt x="1655473" y="1537463"/>
                    </a:lnTo>
                    <a:lnTo>
                      <a:pt x="1661824" y="1538098"/>
                    </a:lnTo>
                    <a:lnTo>
                      <a:pt x="1667858" y="1538733"/>
                    </a:lnTo>
                    <a:lnTo>
                      <a:pt x="1673891" y="1539685"/>
                    </a:lnTo>
                    <a:lnTo>
                      <a:pt x="1679925" y="1540954"/>
                    </a:lnTo>
                    <a:lnTo>
                      <a:pt x="1685641" y="1542858"/>
                    </a:lnTo>
                    <a:lnTo>
                      <a:pt x="1691675" y="1544444"/>
                    </a:lnTo>
                    <a:lnTo>
                      <a:pt x="1697391" y="1546666"/>
                    </a:lnTo>
                    <a:lnTo>
                      <a:pt x="1702790" y="1549521"/>
                    </a:lnTo>
                    <a:lnTo>
                      <a:pt x="1708506" y="1552060"/>
                    </a:lnTo>
                    <a:lnTo>
                      <a:pt x="1713587" y="1554916"/>
                    </a:lnTo>
                    <a:lnTo>
                      <a:pt x="1718986" y="1558406"/>
                    </a:lnTo>
                    <a:lnTo>
                      <a:pt x="1723749" y="1561897"/>
                    </a:lnTo>
                    <a:lnTo>
                      <a:pt x="1728513" y="1565705"/>
                    </a:lnTo>
                    <a:lnTo>
                      <a:pt x="1733594" y="1569830"/>
                    </a:lnTo>
                    <a:lnTo>
                      <a:pt x="1738040" y="1574272"/>
                    </a:lnTo>
                    <a:lnTo>
                      <a:pt x="2017816" y="1853827"/>
                    </a:lnTo>
                    <a:lnTo>
                      <a:pt x="2017816" y="801292"/>
                    </a:lnTo>
                    <a:lnTo>
                      <a:pt x="2018133" y="794311"/>
                    </a:lnTo>
                    <a:lnTo>
                      <a:pt x="2018451" y="787330"/>
                    </a:lnTo>
                    <a:lnTo>
                      <a:pt x="2019404" y="780349"/>
                    </a:lnTo>
                    <a:lnTo>
                      <a:pt x="2020674" y="773685"/>
                    </a:lnTo>
                    <a:lnTo>
                      <a:pt x="2021944" y="767021"/>
                    </a:lnTo>
                    <a:lnTo>
                      <a:pt x="2024167" y="760992"/>
                    </a:lnTo>
                    <a:lnTo>
                      <a:pt x="2026073" y="754646"/>
                    </a:lnTo>
                    <a:lnTo>
                      <a:pt x="2028613" y="748300"/>
                    </a:lnTo>
                    <a:lnTo>
                      <a:pt x="2031471" y="742271"/>
                    </a:lnTo>
                    <a:lnTo>
                      <a:pt x="2034329" y="736559"/>
                    </a:lnTo>
                    <a:lnTo>
                      <a:pt x="2037823" y="730530"/>
                    </a:lnTo>
                    <a:lnTo>
                      <a:pt x="2040998" y="724819"/>
                    </a:lnTo>
                    <a:lnTo>
                      <a:pt x="2045127" y="719741"/>
                    </a:lnTo>
                    <a:lnTo>
                      <a:pt x="2048937" y="714347"/>
                    </a:lnTo>
                    <a:lnTo>
                      <a:pt x="2053383" y="709587"/>
                    </a:lnTo>
                    <a:lnTo>
                      <a:pt x="2057829" y="704828"/>
                    </a:lnTo>
                    <a:lnTo>
                      <a:pt x="2062275" y="700702"/>
                    </a:lnTo>
                    <a:lnTo>
                      <a:pt x="2067674" y="695943"/>
                    </a:lnTo>
                    <a:lnTo>
                      <a:pt x="2072437" y="692135"/>
                    </a:lnTo>
                    <a:lnTo>
                      <a:pt x="2078154" y="688327"/>
                    </a:lnTo>
                    <a:lnTo>
                      <a:pt x="2083552" y="684519"/>
                    </a:lnTo>
                    <a:lnTo>
                      <a:pt x="2089268" y="681346"/>
                    </a:lnTo>
                    <a:lnTo>
                      <a:pt x="2095302" y="678173"/>
                    </a:lnTo>
                    <a:lnTo>
                      <a:pt x="2101018" y="675952"/>
                    </a:lnTo>
                    <a:lnTo>
                      <a:pt x="2107370" y="673413"/>
                    </a:lnTo>
                    <a:lnTo>
                      <a:pt x="2113721" y="670875"/>
                    </a:lnTo>
                    <a:lnTo>
                      <a:pt x="2120390" y="669288"/>
                    </a:lnTo>
                    <a:lnTo>
                      <a:pt x="2127059" y="667702"/>
                    </a:lnTo>
                    <a:lnTo>
                      <a:pt x="2133728" y="666432"/>
                    </a:lnTo>
                    <a:lnTo>
                      <a:pt x="2140079" y="665798"/>
                    </a:lnTo>
                    <a:lnTo>
                      <a:pt x="2147065" y="665163"/>
                    </a:lnTo>
                    <a:close/>
                    <a:moveTo>
                      <a:pt x="1426690" y="484188"/>
                    </a:moveTo>
                    <a:lnTo>
                      <a:pt x="1631151" y="484188"/>
                    </a:lnTo>
                    <a:lnTo>
                      <a:pt x="1634627" y="484505"/>
                    </a:lnTo>
                    <a:lnTo>
                      <a:pt x="1637787" y="484822"/>
                    </a:lnTo>
                    <a:lnTo>
                      <a:pt x="1640947" y="485773"/>
                    </a:lnTo>
                    <a:lnTo>
                      <a:pt x="1644107" y="486725"/>
                    </a:lnTo>
                    <a:lnTo>
                      <a:pt x="1646635" y="488310"/>
                    </a:lnTo>
                    <a:lnTo>
                      <a:pt x="1649479" y="489895"/>
                    </a:lnTo>
                    <a:lnTo>
                      <a:pt x="1652008" y="491798"/>
                    </a:lnTo>
                    <a:lnTo>
                      <a:pt x="1654536" y="493700"/>
                    </a:lnTo>
                    <a:lnTo>
                      <a:pt x="1656432" y="496237"/>
                    </a:lnTo>
                    <a:lnTo>
                      <a:pt x="1658328" y="498773"/>
                    </a:lnTo>
                    <a:lnTo>
                      <a:pt x="1659908" y="501310"/>
                    </a:lnTo>
                    <a:lnTo>
                      <a:pt x="1661488" y="504164"/>
                    </a:lnTo>
                    <a:lnTo>
                      <a:pt x="1662436" y="507334"/>
                    </a:lnTo>
                    <a:lnTo>
                      <a:pt x="1663068" y="510505"/>
                    </a:lnTo>
                    <a:lnTo>
                      <a:pt x="1663700" y="513676"/>
                    </a:lnTo>
                    <a:lnTo>
                      <a:pt x="1663700" y="517164"/>
                    </a:lnTo>
                    <a:lnTo>
                      <a:pt x="1663700" y="1389743"/>
                    </a:lnTo>
                    <a:lnTo>
                      <a:pt x="1663700" y="1393231"/>
                    </a:lnTo>
                    <a:lnTo>
                      <a:pt x="1663068" y="1396401"/>
                    </a:lnTo>
                    <a:lnTo>
                      <a:pt x="1662436" y="1399572"/>
                    </a:lnTo>
                    <a:lnTo>
                      <a:pt x="1661488" y="1402743"/>
                    </a:lnTo>
                    <a:lnTo>
                      <a:pt x="1659908" y="1405279"/>
                    </a:lnTo>
                    <a:lnTo>
                      <a:pt x="1658328" y="1408133"/>
                    </a:lnTo>
                    <a:lnTo>
                      <a:pt x="1656432" y="1410669"/>
                    </a:lnTo>
                    <a:lnTo>
                      <a:pt x="1654536" y="1413206"/>
                    </a:lnTo>
                    <a:lnTo>
                      <a:pt x="1652008" y="1415108"/>
                    </a:lnTo>
                    <a:lnTo>
                      <a:pt x="1649479" y="1417011"/>
                    </a:lnTo>
                    <a:lnTo>
                      <a:pt x="1646635" y="1418596"/>
                    </a:lnTo>
                    <a:lnTo>
                      <a:pt x="1644107" y="1420182"/>
                    </a:lnTo>
                    <a:lnTo>
                      <a:pt x="1640947" y="1421133"/>
                    </a:lnTo>
                    <a:lnTo>
                      <a:pt x="1637787" y="1421767"/>
                    </a:lnTo>
                    <a:lnTo>
                      <a:pt x="1634627" y="1422401"/>
                    </a:lnTo>
                    <a:lnTo>
                      <a:pt x="1631151" y="1422401"/>
                    </a:lnTo>
                    <a:lnTo>
                      <a:pt x="1426690" y="1422401"/>
                    </a:lnTo>
                    <a:lnTo>
                      <a:pt x="1423214" y="1422401"/>
                    </a:lnTo>
                    <a:lnTo>
                      <a:pt x="1420054" y="1421767"/>
                    </a:lnTo>
                    <a:lnTo>
                      <a:pt x="1416894" y="1421133"/>
                    </a:lnTo>
                    <a:lnTo>
                      <a:pt x="1413734" y="1420182"/>
                    </a:lnTo>
                    <a:lnTo>
                      <a:pt x="1411206" y="1418596"/>
                    </a:lnTo>
                    <a:lnTo>
                      <a:pt x="1408362" y="1417011"/>
                    </a:lnTo>
                    <a:lnTo>
                      <a:pt x="1405834" y="1415108"/>
                    </a:lnTo>
                    <a:lnTo>
                      <a:pt x="1403622" y="1413206"/>
                    </a:lnTo>
                    <a:lnTo>
                      <a:pt x="1401409" y="1410669"/>
                    </a:lnTo>
                    <a:lnTo>
                      <a:pt x="1399513" y="1408133"/>
                    </a:lnTo>
                    <a:lnTo>
                      <a:pt x="1397933" y="1405279"/>
                    </a:lnTo>
                    <a:lnTo>
                      <a:pt x="1396669" y="1402743"/>
                    </a:lnTo>
                    <a:lnTo>
                      <a:pt x="1395405" y="1399572"/>
                    </a:lnTo>
                    <a:lnTo>
                      <a:pt x="1394457" y="1396401"/>
                    </a:lnTo>
                    <a:lnTo>
                      <a:pt x="1394141" y="1393231"/>
                    </a:lnTo>
                    <a:lnTo>
                      <a:pt x="1393825" y="1389743"/>
                    </a:lnTo>
                    <a:lnTo>
                      <a:pt x="1393825" y="517164"/>
                    </a:lnTo>
                    <a:lnTo>
                      <a:pt x="1394141" y="513676"/>
                    </a:lnTo>
                    <a:lnTo>
                      <a:pt x="1394457" y="510505"/>
                    </a:lnTo>
                    <a:lnTo>
                      <a:pt x="1395405" y="507334"/>
                    </a:lnTo>
                    <a:lnTo>
                      <a:pt x="1396669" y="504164"/>
                    </a:lnTo>
                    <a:lnTo>
                      <a:pt x="1397933" y="501310"/>
                    </a:lnTo>
                    <a:lnTo>
                      <a:pt x="1399513" y="498773"/>
                    </a:lnTo>
                    <a:lnTo>
                      <a:pt x="1401409" y="496237"/>
                    </a:lnTo>
                    <a:lnTo>
                      <a:pt x="1403622" y="493700"/>
                    </a:lnTo>
                    <a:lnTo>
                      <a:pt x="1405834" y="491798"/>
                    </a:lnTo>
                    <a:lnTo>
                      <a:pt x="1408362" y="489895"/>
                    </a:lnTo>
                    <a:lnTo>
                      <a:pt x="1411206" y="488310"/>
                    </a:lnTo>
                    <a:lnTo>
                      <a:pt x="1413734" y="486725"/>
                    </a:lnTo>
                    <a:lnTo>
                      <a:pt x="1416894" y="485773"/>
                    </a:lnTo>
                    <a:lnTo>
                      <a:pt x="1420054" y="484822"/>
                    </a:lnTo>
                    <a:lnTo>
                      <a:pt x="1423214" y="484505"/>
                    </a:lnTo>
                    <a:lnTo>
                      <a:pt x="1426690" y="484188"/>
                    </a:lnTo>
                    <a:close/>
                    <a:moveTo>
                      <a:pt x="183794" y="0"/>
                    </a:moveTo>
                    <a:lnTo>
                      <a:pt x="193952" y="0"/>
                    </a:lnTo>
                    <a:lnTo>
                      <a:pt x="2827060" y="0"/>
                    </a:lnTo>
                    <a:lnTo>
                      <a:pt x="2837218" y="0"/>
                    </a:lnTo>
                    <a:lnTo>
                      <a:pt x="2847059" y="952"/>
                    </a:lnTo>
                    <a:lnTo>
                      <a:pt x="2856582" y="2539"/>
                    </a:lnTo>
                    <a:lnTo>
                      <a:pt x="2866105" y="4443"/>
                    </a:lnTo>
                    <a:lnTo>
                      <a:pt x="2875628" y="6982"/>
                    </a:lnTo>
                    <a:lnTo>
                      <a:pt x="2884516" y="10156"/>
                    </a:lnTo>
                    <a:lnTo>
                      <a:pt x="2893721" y="13964"/>
                    </a:lnTo>
                    <a:lnTo>
                      <a:pt x="2902292" y="17773"/>
                    </a:lnTo>
                    <a:lnTo>
                      <a:pt x="2911180" y="22851"/>
                    </a:lnTo>
                    <a:lnTo>
                      <a:pt x="2919433" y="27611"/>
                    </a:lnTo>
                    <a:lnTo>
                      <a:pt x="2927369" y="33324"/>
                    </a:lnTo>
                    <a:lnTo>
                      <a:pt x="2935623" y="39036"/>
                    </a:lnTo>
                    <a:lnTo>
                      <a:pt x="2942924" y="45384"/>
                    </a:lnTo>
                    <a:lnTo>
                      <a:pt x="2950225" y="52366"/>
                    </a:lnTo>
                    <a:lnTo>
                      <a:pt x="2957525" y="59665"/>
                    </a:lnTo>
                    <a:lnTo>
                      <a:pt x="2964192" y="67282"/>
                    </a:lnTo>
                    <a:lnTo>
                      <a:pt x="2970540" y="74899"/>
                    </a:lnTo>
                    <a:lnTo>
                      <a:pt x="2976571" y="83468"/>
                    </a:lnTo>
                    <a:lnTo>
                      <a:pt x="2982285" y="92037"/>
                    </a:lnTo>
                    <a:lnTo>
                      <a:pt x="2987682" y="101240"/>
                    </a:lnTo>
                    <a:lnTo>
                      <a:pt x="2992761" y="110444"/>
                    </a:lnTo>
                    <a:lnTo>
                      <a:pt x="2997522" y="119965"/>
                    </a:lnTo>
                    <a:lnTo>
                      <a:pt x="3001649" y="130121"/>
                    </a:lnTo>
                    <a:lnTo>
                      <a:pt x="3005458" y="140276"/>
                    </a:lnTo>
                    <a:lnTo>
                      <a:pt x="3008950" y="150749"/>
                    </a:lnTo>
                    <a:lnTo>
                      <a:pt x="3012124" y="161540"/>
                    </a:lnTo>
                    <a:lnTo>
                      <a:pt x="3014663" y="172330"/>
                    </a:lnTo>
                    <a:lnTo>
                      <a:pt x="3016885" y="183438"/>
                    </a:lnTo>
                    <a:lnTo>
                      <a:pt x="3018473" y="194546"/>
                    </a:lnTo>
                    <a:lnTo>
                      <a:pt x="3019742" y="205971"/>
                    </a:lnTo>
                    <a:lnTo>
                      <a:pt x="3020695" y="218031"/>
                    </a:lnTo>
                    <a:lnTo>
                      <a:pt x="3021012" y="229774"/>
                    </a:lnTo>
                    <a:lnTo>
                      <a:pt x="3021012" y="1276768"/>
                    </a:lnTo>
                    <a:lnTo>
                      <a:pt x="3013711" y="1272642"/>
                    </a:lnTo>
                    <a:lnTo>
                      <a:pt x="3006410" y="1268833"/>
                    </a:lnTo>
                    <a:lnTo>
                      <a:pt x="2999109" y="1265342"/>
                    </a:lnTo>
                    <a:lnTo>
                      <a:pt x="2991808" y="1262169"/>
                    </a:lnTo>
                    <a:lnTo>
                      <a:pt x="2983872" y="1258995"/>
                    </a:lnTo>
                    <a:lnTo>
                      <a:pt x="2976254" y="1256139"/>
                    </a:lnTo>
                    <a:lnTo>
                      <a:pt x="2968318" y="1253282"/>
                    </a:lnTo>
                    <a:lnTo>
                      <a:pt x="2960382" y="1251061"/>
                    </a:lnTo>
                    <a:lnTo>
                      <a:pt x="2952129" y="1248839"/>
                    </a:lnTo>
                    <a:lnTo>
                      <a:pt x="2944193" y="1247252"/>
                    </a:lnTo>
                    <a:lnTo>
                      <a:pt x="2935940" y="1245348"/>
                    </a:lnTo>
                    <a:lnTo>
                      <a:pt x="2927369" y="1244079"/>
                    </a:lnTo>
                    <a:lnTo>
                      <a:pt x="2919116" y="1242809"/>
                    </a:lnTo>
                    <a:lnTo>
                      <a:pt x="2910863" y="1242175"/>
                    </a:lnTo>
                    <a:lnTo>
                      <a:pt x="2901975" y="1241540"/>
                    </a:lnTo>
                    <a:lnTo>
                      <a:pt x="2893404" y="1241540"/>
                    </a:lnTo>
                    <a:lnTo>
                      <a:pt x="2646123" y="1213294"/>
                    </a:lnTo>
                    <a:lnTo>
                      <a:pt x="2646123" y="313876"/>
                    </a:lnTo>
                    <a:lnTo>
                      <a:pt x="374889" y="313876"/>
                    </a:lnTo>
                    <a:lnTo>
                      <a:pt x="374889" y="1959424"/>
                    </a:lnTo>
                    <a:lnTo>
                      <a:pt x="1610021" y="1959424"/>
                    </a:lnTo>
                    <a:lnTo>
                      <a:pt x="1923646" y="2273300"/>
                    </a:lnTo>
                    <a:lnTo>
                      <a:pt x="193952" y="2273300"/>
                    </a:lnTo>
                    <a:lnTo>
                      <a:pt x="183794" y="2273300"/>
                    </a:lnTo>
                    <a:lnTo>
                      <a:pt x="173953" y="2272348"/>
                    </a:lnTo>
                    <a:lnTo>
                      <a:pt x="164113" y="2270761"/>
                    </a:lnTo>
                    <a:lnTo>
                      <a:pt x="154908" y="2268857"/>
                    </a:lnTo>
                    <a:lnTo>
                      <a:pt x="145385" y="2266318"/>
                    </a:lnTo>
                    <a:lnTo>
                      <a:pt x="136496" y="2263144"/>
                    </a:lnTo>
                    <a:lnTo>
                      <a:pt x="127291" y="2259336"/>
                    </a:lnTo>
                    <a:lnTo>
                      <a:pt x="118720" y="2255528"/>
                    </a:lnTo>
                    <a:lnTo>
                      <a:pt x="109832" y="2250450"/>
                    </a:lnTo>
                    <a:lnTo>
                      <a:pt x="101579" y="2245689"/>
                    </a:lnTo>
                    <a:lnTo>
                      <a:pt x="93326" y="2240294"/>
                    </a:lnTo>
                    <a:lnTo>
                      <a:pt x="85390" y="2234264"/>
                    </a:lnTo>
                    <a:lnTo>
                      <a:pt x="77771" y="2227917"/>
                    </a:lnTo>
                    <a:lnTo>
                      <a:pt x="70470" y="2220935"/>
                    </a:lnTo>
                    <a:lnTo>
                      <a:pt x="63487" y="2213635"/>
                    </a:lnTo>
                    <a:lnTo>
                      <a:pt x="56821" y="2206018"/>
                    </a:lnTo>
                    <a:lnTo>
                      <a:pt x="50472" y="2198402"/>
                    </a:lnTo>
                    <a:lnTo>
                      <a:pt x="44441" y="2189833"/>
                    </a:lnTo>
                    <a:lnTo>
                      <a:pt x="38727" y="2181264"/>
                    </a:lnTo>
                    <a:lnTo>
                      <a:pt x="33013" y="2172060"/>
                    </a:lnTo>
                    <a:lnTo>
                      <a:pt x="28252" y="2162856"/>
                    </a:lnTo>
                    <a:lnTo>
                      <a:pt x="23490" y="2153335"/>
                    </a:lnTo>
                    <a:lnTo>
                      <a:pt x="19364" y="2143180"/>
                    </a:lnTo>
                    <a:lnTo>
                      <a:pt x="15237" y="2133024"/>
                    </a:lnTo>
                    <a:lnTo>
                      <a:pt x="11745" y="2122551"/>
                    </a:lnTo>
                    <a:lnTo>
                      <a:pt x="8888" y="2112078"/>
                    </a:lnTo>
                    <a:lnTo>
                      <a:pt x="6349" y="2100970"/>
                    </a:lnTo>
                    <a:lnTo>
                      <a:pt x="3809" y="2089862"/>
                    </a:lnTo>
                    <a:lnTo>
                      <a:pt x="2540" y="2078754"/>
                    </a:lnTo>
                    <a:lnTo>
                      <a:pt x="952" y="2067329"/>
                    </a:lnTo>
                    <a:lnTo>
                      <a:pt x="318" y="2055269"/>
                    </a:lnTo>
                    <a:lnTo>
                      <a:pt x="0" y="2043844"/>
                    </a:lnTo>
                    <a:lnTo>
                      <a:pt x="0" y="229774"/>
                    </a:lnTo>
                    <a:lnTo>
                      <a:pt x="318" y="218031"/>
                    </a:lnTo>
                    <a:lnTo>
                      <a:pt x="952" y="205971"/>
                    </a:lnTo>
                    <a:lnTo>
                      <a:pt x="2540" y="194546"/>
                    </a:lnTo>
                    <a:lnTo>
                      <a:pt x="3809" y="183438"/>
                    </a:lnTo>
                    <a:lnTo>
                      <a:pt x="6349" y="172330"/>
                    </a:lnTo>
                    <a:lnTo>
                      <a:pt x="8888" y="161540"/>
                    </a:lnTo>
                    <a:lnTo>
                      <a:pt x="11745" y="150749"/>
                    </a:lnTo>
                    <a:lnTo>
                      <a:pt x="15237" y="140276"/>
                    </a:lnTo>
                    <a:lnTo>
                      <a:pt x="19364" y="130121"/>
                    </a:lnTo>
                    <a:lnTo>
                      <a:pt x="23490" y="119965"/>
                    </a:lnTo>
                    <a:lnTo>
                      <a:pt x="28252" y="110444"/>
                    </a:lnTo>
                    <a:lnTo>
                      <a:pt x="33013" y="101240"/>
                    </a:lnTo>
                    <a:lnTo>
                      <a:pt x="38727" y="92037"/>
                    </a:lnTo>
                    <a:lnTo>
                      <a:pt x="44441" y="83468"/>
                    </a:lnTo>
                    <a:lnTo>
                      <a:pt x="50472" y="74899"/>
                    </a:lnTo>
                    <a:lnTo>
                      <a:pt x="56821" y="67282"/>
                    </a:lnTo>
                    <a:lnTo>
                      <a:pt x="63487" y="59665"/>
                    </a:lnTo>
                    <a:lnTo>
                      <a:pt x="70470" y="52366"/>
                    </a:lnTo>
                    <a:lnTo>
                      <a:pt x="77771" y="45384"/>
                    </a:lnTo>
                    <a:lnTo>
                      <a:pt x="85390" y="39036"/>
                    </a:lnTo>
                    <a:lnTo>
                      <a:pt x="93326" y="33324"/>
                    </a:lnTo>
                    <a:lnTo>
                      <a:pt x="101579" y="27611"/>
                    </a:lnTo>
                    <a:lnTo>
                      <a:pt x="109832" y="22851"/>
                    </a:lnTo>
                    <a:lnTo>
                      <a:pt x="118720" y="17773"/>
                    </a:lnTo>
                    <a:lnTo>
                      <a:pt x="127291" y="13964"/>
                    </a:lnTo>
                    <a:lnTo>
                      <a:pt x="136496" y="10156"/>
                    </a:lnTo>
                    <a:lnTo>
                      <a:pt x="145385" y="6982"/>
                    </a:lnTo>
                    <a:lnTo>
                      <a:pt x="154908" y="4443"/>
                    </a:lnTo>
                    <a:lnTo>
                      <a:pt x="164113" y="2539"/>
                    </a:lnTo>
                    <a:lnTo>
                      <a:pt x="173953" y="952"/>
                    </a:lnTo>
                    <a:lnTo>
                      <a:pt x="183794"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grpSp>
      <p:graphicFrame>
        <p:nvGraphicFramePr>
          <p:cNvPr id="7" name="表格 6"/>
          <p:cNvGraphicFramePr>
            <a:graphicFrameLocks noGrp="1"/>
          </p:cNvGraphicFramePr>
          <p:nvPr/>
        </p:nvGraphicFramePr>
        <p:xfrm>
          <a:off x="4925695" y="2846070"/>
          <a:ext cx="6216650" cy="2944495"/>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136650"/>
              </a:tblGrid>
              <a:tr h="894715">
                <a:tc>
                  <a:txBody>
                    <a:bodyPr/>
                    <a:lstStyle/>
                    <a:p>
                      <a:pPr algn="ctr"/>
                      <a:r>
                        <a:rPr lang="zh-CN" altLang="en-US" sz="1400" b="1" dirty="0">
                          <a:latin typeface="微软雅黑" panose="020B0503020204020204" pitchFamily="34" charset="-122"/>
                          <a:ea typeface="微软雅黑" panose="020B0503020204020204" pitchFamily="34" charset="-122"/>
                        </a:rPr>
                        <a:t>产品</a:t>
                      </a:r>
                    </a:p>
                  </a:txBody>
                  <a:tcPr anchor="ctr">
                    <a:solidFill>
                      <a:srgbClr val="E8432E"/>
                    </a:solidFill>
                  </a:tcPr>
                </a:tc>
                <a:tc>
                  <a:txBody>
                    <a:bodyPr/>
                    <a:lstStyle/>
                    <a:p>
                      <a:pPr algn="ctr"/>
                      <a:r>
                        <a:rPr lang="zh-CN" altLang="en-US" sz="1400" b="1" dirty="0">
                          <a:latin typeface="微软雅黑" panose="020B0503020204020204" pitchFamily="34" charset="-122"/>
                          <a:ea typeface="微软雅黑" panose="020B0503020204020204" pitchFamily="34" charset="-122"/>
                        </a:rPr>
                        <a:t>投入</a:t>
                      </a:r>
                      <a:r>
                        <a:rPr lang="en-US" altLang="zh-CN" sz="1400" b="1" dirty="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a:txBody>
                  <a:tcPr anchor="ctr">
                    <a:solidFill>
                      <a:srgbClr val="E8432E"/>
                    </a:solidFill>
                  </a:tcPr>
                </a:tc>
                <a:tc>
                  <a:txBody>
                    <a:bodyPr/>
                    <a:lstStyle/>
                    <a:p>
                      <a:pPr algn="ctr"/>
                      <a:r>
                        <a:rPr lang="zh-CN" altLang="en-US" sz="1400" b="1" dirty="0">
                          <a:latin typeface="微软雅黑" panose="020B0503020204020204" pitchFamily="34" charset="-122"/>
                          <a:ea typeface="微软雅黑" panose="020B0503020204020204" pitchFamily="34" charset="-122"/>
                        </a:rPr>
                        <a:t>投入</a:t>
                      </a:r>
                      <a:r>
                        <a:rPr lang="en-US" altLang="zh-CN" sz="1400" b="1" dirty="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a:txBody>
                  <a:tcPr anchor="ctr">
                    <a:solidFill>
                      <a:srgbClr val="E8432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b="1" dirty="0">
                          <a:latin typeface="微软雅黑" panose="020B0503020204020204" pitchFamily="34" charset="-122"/>
                          <a:ea typeface="微软雅黑" panose="020B0503020204020204" pitchFamily="34" charset="-122"/>
                        </a:rPr>
                        <a:t>投入</a:t>
                      </a:r>
                      <a:r>
                        <a:rPr lang="en-US" altLang="zh-CN" sz="1400" b="1" dirty="0">
                          <a:latin typeface="微软雅黑" panose="020B0503020204020204" pitchFamily="34" charset="-122"/>
                          <a:ea typeface="微软雅黑" panose="020B0503020204020204" pitchFamily="34" charset="-122"/>
                        </a:rPr>
                        <a:t>3</a:t>
                      </a:r>
                      <a:endParaRPr lang="zh-CN" altLang="en-US" sz="1400" b="1" dirty="0">
                        <a:latin typeface="微软雅黑" panose="020B0503020204020204" pitchFamily="34" charset="-122"/>
                        <a:ea typeface="微软雅黑" panose="020B0503020204020204" pitchFamily="34" charset="-122"/>
                      </a:endParaRPr>
                    </a:p>
                  </a:txBody>
                  <a:tcPr anchor="ctr">
                    <a:solidFill>
                      <a:srgbClr val="E8432E"/>
                    </a:solidFill>
                  </a:tcPr>
                </a:tc>
                <a:tc>
                  <a:txBody>
                    <a:bodyPr/>
                    <a:lstStyle/>
                    <a:p>
                      <a:pPr algn="ctr"/>
                      <a:r>
                        <a:rPr lang="zh-CN" altLang="en-US" sz="1400" b="1" dirty="0">
                          <a:latin typeface="微软雅黑" panose="020B0503020204020204" pitchFamily="34" charset="-122"/>
                          <a:ea typeface="微软雅黑" panose="020B0503020204020204" pitchFamily="34" charset="-122"/>
                        </a:rPr>
                        <a:t>投入</a:t>
                      </a:r>
                      <a:r>
                        <a:rPr lang="en-US" altLang="zh-CN" sz="1400" b="1" dirty="0">
                          <a:latin typeface="微软雅黑" panose="020B0503020204020204" pitchFamily="34" charset="-122"/>
                          <a:ea typeface="微软雅黑" panose="020B0503020204020204" pitchFamily="34" charset="-122"/>
                        </a:rPr>
                        <a:t>4</a:t>
                      </a:r>
                      <a:endParaRPr lang="zh-CN" altLang="en-US" sz="1400" b="1" dirty="0">
                        <a:latin typeface="微软雅黑" panose="020B0503020204020204" pitchFamily="34" charset="-122"/>
                        <a:ea typeface="微软雅黑" panose="020B0503020204020204" pitchFamily="34" charset="-122"/>
                      </a:endParaRPr>
                    </a:p>
                  </a:txBody>
                  <a:tcPr anchor="ctr">
                    <a:solidFill>
                      <a:srgbClr val="E8432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en-US" sz="1400" b="1" dirty="0">
                          <a:latin typeface="微软雅黑" panose="020B0503020204020204" pitchFamily="34" charset="-122"/>
                          <a:ea typeface="微软雅黑" panose="020B0503020204020204" pitchFamily="34" charset="-122"/>
                        </a:rPr>
                        <a:t>总计</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元</a:t>
                      </a:r>
                      <a:r>
                        <a:rPr lang="en-US" altLang="zh-CN" sz="1400" b="1" dirty="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a:p>
                      <a:pPr algn="ctr"/>
                      <a:endParaRPr lang="zh-CN" altLang="en-US" sz="1400" b="1" dirty="0">
                        <a:latin typeface="微软雅黑" panose="020B0503020204020204" pitchFamily="34" charset="-122"/>
                        <a:ea typeface="微软雅黑" panose="020B0503020204020204" pitchFamily="34" charset="-122"/>
                      </a:endParaRPr>
                    </a:p>
                  </a:txBody>
                  <a:tcPr anchor="ctr">
                    <a:solidFill>
                      <a:srgbClr val="E8432E"/>
                    </a:solidFill>
                  </a:tcPr>
                </a:tc>
              </a:tr>
              <a:tr h="410210">
                <a:tc>
                  <a:txBody>
                    <a:bodyPr/>
                    <a:lstStyle/>
                    <a:p>
                      <a:pPr algn="ctr"/>
                      <a:r>
                        <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rPr>
                        <a:t>产品</a:t>
                      </a: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A</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2,300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4,500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13,000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20,000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39,800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r>
              <a:tr h="409575">
                <a:tc>
                  <a:txBody>
                    <a:bodyPr/>
                    <a:lstStyle/>
                    <a:p>
                      <a:pPr algn="ctr"/>
                      <a:r>
                        <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rPr>
                        <a:t>产品</a:t>
                      </a: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B</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2,200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4,400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10,000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9,000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25,600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r>
              <a:tr h="410210">
                <a:tc>
                  <a:txBody>
                    <a:bodyPr/>
                    <a:lstStyle/>
                    <a:p>
                      <a:pPr algn="ctr"/>
                      <a:r>
                        <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rPr>
                        <a:t>产品</a:t>
                      </a: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C</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3,000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15,000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4,000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24,000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r>
              <a:tr h="409575">
                <a:tc>
                  <a:txBody>
                    <a:bodyPr/>
                    <a:lstStyle/>
                    <a:p>
                      <a:pPr algn="ctr"/>
                      <a:r>
                        <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rPr>
                        <a:t>产品</a:t>
                      </a: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D</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1,000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1,500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9,000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2,000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c>
                  <a:txBody>
                    <a:bodyPr/>
                    <a:lstStyle/>
                    <a:p>
                      <a:pPr algn="ctr"/>
                      <a:r>
                        <a:rPr lang="en-US" altLang="zh-CN" sz="1400" b="0" dirty="0">
                          <a:solidFill>
                            <a:schemeClr val="tx1">
                              <a:lumMod val="75000"/>
                              <a:lumOff val="25000"/>
                            </a:schemeClr>
                          </a:solidFill>
                          <a:latin typeface="微软雅黑" panose="020B0503020204020204" pitchFamily="34" charset="-122"/>
                          <a:ea typeface="微软雅黑" panose="020B0503020204020204" pitchFamily="34" charset="-122"/>
                        </a:rPr>
                        <a:t>13,500</a:t>
                      </a:r>
                      <a:endParaRPr lang="zh-CN" altLang="en-US" sz="1400" b="0" dirty="0">
                        <a:solidFill>
                          <a:schemeClr val="tx1">
                            <a:lumMod val="75000"/>
                            <a:lumOff val="25000"/>
                          </a:schemeClr>
                        </a:solidFill>
                        <a:latin typeface="微软雅黑" panose="020B0503020204020204" pitchFamily="34" charset="-122"/>
                        <a:ea typeface="微软雅黑" panose="020B0503020204020204" pitchFamily="34" charset="-122"/>
                      </a:endParaRPr>
                    </a:p>
                  </a:txBody>
                  <a:tcPr anchor="ctr">
                    <a:solidFill>
                      <a:schemeClr val="accent3">
                        <a:lumMod val="20000"/>
                        <a:lumOff val="80000"/>
                      </a:schemeClr>
                    </a:solidFill>
                  </a:tcPr>
                </a:tc>
              </a:tr>
              <a:tr h="410210">
                <a:tc gridSpan="5">
                  <a:txBody>
                    <a:bodyPr/>
                    <a:lstStyle/>
                    <a:p>
                      <a:pPr algn="ctr"/>
                      <a:r>
                        <a:rPr lang="zh-CN" altLang="en-US" sz="1400" b="0" dirty="0">
                          <a:solidFill>
                            <a:schemeClr val="bg1"/>
                          </a:solidFill>
                          <a:latin typeface="微软雅黑" panose="020B0503020204020204" pitchFamily="34" charset="-122"/>
                          <a:ea typeface="微软雅黑" panose="020B0503020204020204" pitchFamily="34" charset="-122"/>
                        </a:rPr>
                        <a:t>总计</a:t>
                      </a:r>
                    </a:p>
                  </a:txBody>
                  <a:tcPr anchor="ctr">
                    <a:solidFill>
                      <a:schemeClr val="tx1">
                        <a:lumMod val="75000"/>
                        <a:lumOff val="25000"/>
                      </a:schemeClr>
                    </a:solidFill>
                  </a:tcPr>
                </a:tc>
                <a:tc hMerge="1">
                  <a:txBody>
                    <a:bodyPr/>
                    <a:lstStyle/>
                    <a:p>
                      <a:endParaRPr lang="zh-CN"/>
                    </a:p>
                  </a:txBody>
                  <a:tcPr>
                    <a:solidFill>
                      <a:schemeClr val="accent3">
                        <a:lumMod val="20000"/>
                        <a:lumOff val="80000"/>
                      </a:schemeClr>
                    </a:solidFill>
                  </a:tcPr>
                </a:tc>
                <a:tc hMerge="1">
                  <a:txBody>
                    <a:bodyPr/>
                    <a:lstStyle/>
                    <a:p>
                      <a:endParaRPr lang="zh-CN"/>
                    </a:p>
                  </a:txBody>
                  <a:tcPr>
                    <a:solidFill>
                      <a:schemeClr val="accent3">
                        <a:lumMod val="20000"/>
                        <a:lumOff val="80000"/>
                      </a:schemeClr>
                    </a:solidFill>
                  </a:tcPr>
                </a:tc>
                <a:tc hMerge="1">
                  <a:txBody>
                    <a:bodyPr/>
                    <a:lstStyle/>
                    <a:p>
                      <a:endParaRPr lang="zh-CN"/>
                    </a:p>
                  </a:txBody>
                  <a:tcPr>
                    <a:solidFill>
                      <a:schemeClr val="accent3">
                        <a:lumMod val="20000"/>
                        <a:lumOff val="80000"/>
                      </a:schemeClr>
                    </a:solidFill>
                  </a:tcPr>
                </a:tc>
                <a:tc hMerge="1">
                  <a:txBody>
                    <a:bodyPr/>
                    <a:lstStyle/>
                    <a:p>
                      <a:endParaRPr lang="zh-CN"/>
                    </a:p>
                  </a:txBody>
                  <a:tcPr>
                    <a:solidFill>
                      <a:schemeClr val="accent3">
                        <a:lumMod val="20000"/>
                        <a:lumOff val="80000"/>
                      </a:schemeClr>
                    </a:solidFill>
                  </a:tcPr>
                </a:tc>
                <a:tc>
                  <a:txBody>
                    <a:bodyPr/>
                    <a:lstStyle/>
                    <a:p>
                      <a:pPr algn="ctr"/>
                      <a:r>
                        <a:rPr lang="en-US" altLang="zh-CN" sz="1400" b="0" dirty="0">
                          <a:solidFill>
                            <a:schemeClr val="bg1"/>
                          </a:solidFill>
                          <a:latin typeface="微软雅黑" panose="020B0503020204020204" pitchFamily="34" charset="-122"/>
                          <a:ea typeface="微软雅黑" panose="020B0503020204020204" pitchFamily="34" charset="-122"/>
                        </a:rPr>
                        <a:t>102,900</a:t>
                      </a:r>
                      <a:endParaRPr lang="zh-CN" altLang="en-US" sz="1400" b="0" dirty="0">
                        <a:solidFill>
                          <a:schemeClr val="bg1"/>
                        </a:solidFill>
                        <a:latin typeface="微软雅黑" panose="020B0503020204020204" pitchFamily="34" charset="-122"/>
                        <a:ea typeface="微软雅黑" panose="020B0503020204020204" pitchFamily="34" charset="-122"/>
                      </a:endParaRPr>
                    </a:p>
                  </a:txBody>
                  <a:tcPr anchor="ctr">
                    <a:solidFill>
                      <a:schemeClr val="tx1">
                        <a:lumMod val="75000"/>
                        <a:lumOff val="25000"/>
                      </a:schemeClr>
                    </a:solidFill>
                  </a:tcPr>
                </a:tc>
              </a:tr>
            </a:tbl>
          </a:graphicData>
        </a:graphic>
      </p:graphicFrame>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50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1000"/>
                                        <p:tgtEl>
                                          <p:spTgt spid="169"/>
                                        </p:tgtEl>
                                      </p:cBhvr>
                                    </p:animEffect>
                                    <p:anim calcmode="lin" valueType="num">
                                      <p:cBhvr>
                                        <p:cTn id="8" dur="1000" fill="hold"/>
                                        <p:tgtEl>
                                          <p:spTgt spid="169"/>
                                        </p:tgtEl>
                                        <p:attrNameLst>
                                          <p:attrName>ppt_x</p:attrName>
                                        </p:attrNameLst>
                                      </p:cBhvr>
                                      <p:tavLst>
                                        <p:tav tm="0">
                                          <p:val>
                                            <p:strVal val="#ppt_x"/>
                                          </p:val>
                                        </p:tav>
                                        <p:tav tm="100000">
                                          <p:val>
                                            <p:strVal val="#ppt_x"/>
                                          </p:val>
                                        </p:tav>
                                      </p:tavLst>
                                    </p:anim>
                                    <p:anim calcmode="lin" valueType="num">
                                      <p:cBhvr>
                                        <p:cTn id="9" dur="1000" fill="hold"/>
                                        <p:tgtEl>
                                          <p:spTgt spid="169"/>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2" presetClass="entr" presetSubtype="4"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par>
                          <p:cTn id="15" fill="hold">
                            <p:stCondLst>
                              <p:cond delay="2000"/>
                            </p:stCondLst>
                            <p:childTnLst>
                              <p:par>
                                <p:cTn id="16" presetID="2" presetClass="entr" presetSubtype="4"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497351" y="434486"/>
            <a:ext cx="2926080" cy="645160"/>
          </a:xfrm>
          <a:prstGeom prst="rect">
            <a:avLst/>
          </a:prstGeom>
        </p:spPr>
        <p:txBody>
          <a:bodyPr wrap="none">
            <a:spAutoFit/>
          </a:bodyPr>
          <a:lstStyle/>
          <a:p>
            <a:r>
              <a:rPr lang="zh-CN" altLang="en-US" sz="3600" b="1" dirty="0">
                <a:solidFill>
                  <a:srgbClr val="333333"/>
                </a:solidFill>
                <a:latin typeface="微软雅黑" panose="020B0503020204020204" pitchFamily="34" charset="-122"/>
                <a:ea typeface="微软雅黑" panose="020B0503020204020204" pitchFamily="34" charset="-122"/>
              </a:rPr>
              <a:t>企业资金管理</a:t>
            </a:r>
            <a:endParaRPr lang="zh-CN" altLang="en-US" sz="3600" b="1" dirty="0"/>
          </a:p>
        </p:txBody>
      </p:sp>
      <p:sp>
        <p:nvSpPr>
          <p:cNvPr id="2" name="Oval 407"/>
          <p:cNvSpPr>
            <a:spLocks noChangeArrowheads="1"/>
          </p:cNvSpPr>
          <p:nvPr/>
        </p:nvSpPr>
        <p:spPr bwMode="auto">
          <a:xfrm>
            <a:off x="4107398" y="2186581"/>
            <a:ext cx="3912109" cy="3911600"/>
          </a:xfrm>
          <a:prstGeom prst="ellipse">
            <a:avLst/>
          </a:prstGeom>
          <a:solidFill>
            <a:schemeClr val="bg1">
              <a:lumMod val="75000"/>
            </a:schemeClr>
          </a:solidFill>
          <a:ln>
            <a:noFill/>
          </a:ln>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Freeform 408"/>
          <p:cNvSpPr/>
          <p:nvPr/>
        </p:nvSpPr>
        <p:spPr bwMode="auto">
          <a:xfrm>
            <a:off x="4107398" y="3493095"/>
            <a:ext cx="3912109" cy="1676400"/>
          </a:xfrm>
          <a:custGeom>
            <a:avLst/>
            <a:gdLst>
              <a:gd name="T0" fmla="*/ 1013 w 1043"/>
              <a:gd name="T1" fmla="*/ 0 h 447"/>
              <a:gd name="T2" fmla="*/ 1014 w 1043"/>
              <a:gd name="T3" fmla="*/ 6 h 447"/>
              <a:gd name="T4" fmla="*/ 521 w 1043"/>
              <a:gd name="T5" fmla="*/ 171 h 447"/>
              <a:gd name="T6" fmla="*/ 29 w 1043"/>
              <a:gd name="T7" fmla="*/ 6 h 447"/>
              <a:gd name="T8" fmla="*/ 29 w 1043"/>
              <a:gd name="T9" fmla="*/ 1 h 447"/>
              <a:gd name="T10" fmla="*/ 0 w 1043"/>
              <a:gd name="T11" fmla="*/ 174 h 447"/>
              <a:gd name="T12" fmla="*/ 18 w 1043"/>
              <a:gd name="T13" fmla="*/ 311 h 447"/>
              <a:gd name="T14" fmla="*/ 521 w 1043"/>
              <a:gd name="T15" fmla="*/ 447 h 447"/>
              <a:gd name="T16" fmla="*/ 1025 w 1043"/>
              <a:gd name="T17" fmla="*/ 310 h 447"/>
              <a:gd name="T18" fmla="*/ 1043 w 1043"/>
              <a:gd name="T19" fmla="*/ 174 h 447"/>
              <a:gd name="T20" fmla="*/ 1013 w 1043"/>
              <a:gd name="T21"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3" h="447">
                <a:moveTo>
                  <a:pt x="1013" y="0"/>
                </a:moveTo>
                <a:cubicBezTo>
                  <a:pt x="1014" y="2"/>
                  <a:pt x="1014" y="4"/>
                  <a:pt x="1014" y="6"/>
                </a:cubicBezTo>
                <a:cubicBezTo>
                  <a:pt x="1014" y="97"/>
                  <a:pt x="793" y="171"/>
                  <a:pt x="521" y="171"/>
                </a:cubicBezTo>
                <a:cubicBezTo>
                  <a:pt x="249" y="171"/>
                  <a:pt x="29" y="97"/>
                  <a:pt x="29" y="6"/>
                </a:cubicBezTo>
                <a:cubicBezTo>
                  <a:pt x="29" y="4"/>
                  <a:pt x="29" y="3"/>
                  <a:pt x="29" y="1"/>
                </a:cubicBezTo>
                <a:cubicBezTo>
                  <a:pt x="10" y="55"/>
                  <a:pt x="0" y="113"/>
                  <a:pt x="0" y="174"/>
                </a:cubicBezTo>
                <a:cubicBezTo>
                  <a:pt x="0" y="221"/>
                  <a:pt x="6" y="267"/>
                  <a:pt x="18" y="311"/>
                </a:cubicBezTo>
                <a:cubicBezTo>
                  <a:pt x="82" y="389"/>
                  <a:pt x="283" y="447"/>
                  <a:pt x="521" y="447"/>
                </a:cubicBezTo>
                <a:cubicBezTo>
                  <a:pt x="759" y="447"/>
                  <a:pt x="960" y="389"/>
                  <a:pt x="1025" y="310"/>
                </a:cubicBezTo>
                <a:cubicBezTo>
                  <a:pt x="1037" y="267"/>
                  <a:pt x="1043" y="221"/>
                  <a:pt x="1043" y="174"/>
                </a:cubicBezTo>
                <a:cubicBezTo>
                  <a:pt x="1043" y="113"/>
                  <a:pt x="1032" y="54"/>
                  <a:pt x="1013" y="0"/>
                </a:cubicBezTo>
                <a:close/>
              </a:path>
            </a:pathLst>
          </a:custGeom>
          <a:solidFill>
            <a:schemeClr val="bg1">
              <a:lumMod val="95000"/>
            </a:schemeClr>
          </a:solidFill>
          <a:ln>
            <a:noFill/>
          </a:ln>
        </p:spPr>
        <p:txBody>
          <a:bodyPr vert="horz" wrap="square" lIns="91440" tIns="900000" rIns="91440" bIns="45720" numCol="1" anchor="t" anchorCtr="0" compatLnSpc="1"/>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E8432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endParaRPr kumimoji="0" lang="zh-CN" altLang="en-US" sz="3200" b="0" i="0" u="none" strike="noStrike" kern="1200" cap="none" spc="0" normalizeH="0" baseline="0" noProof="0">
              <a:ln>
                <a:noFill/>
              </a:ln>
              <a:solidFill>
                <a:srgbClr val="E8432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Freeform 409"/>
          <p:cNvSpPr/>
          <p:nvPr/>
        </p:nvSpPr>
        <p:spPr bwMode="auto">
          <a:xfrm>
            <a:off x="4174081" y="4655145"/>
            <a:ext cx="3777155" cy="1387475"/>
          </a:xfrm>
          <a:custGeom>
            <a:avLst/>
            <a:gdLst>
              <a:gd name="T0" fmla="*/ 503 w 1007"/>
              <a:gd name="T1" fmla="*/ 137 h 370"/>
              <a:gd name="T2" fmla="*/ 0 w 1007"/>
              <a:gd name="T3" fmla="*/ 1 h 370"/>
              <a:gd name="T4" fmla="*/ 300 w 1007"/>
              <a:gd name="T5" fmla="*/ 344 h 370"/>
              <a:gd name="T6" fmla="*/ 503 w 1007"/>
              <a:gd name="T7" fmla="*/ 370 h 370"/>
              <a:gd name="T8" fmla="*/ 706 w 1007"/>
              <a:gd name="T9" fmla="*/ 344 h 370"/>
              <a:gd name="T10" fmla="*/ 1007 w 1007"/>
              <a:gd name="T11" fmla="*/ 0 h 370"/>
              <a:gd name="T12" fmla="*/ 503 w 1007"/>
              <a:gd name="T13" fmla="*/ 137 h 370"/>
            </a:gdLst>
            <a:ahLst/>
            <a:cxnLst>
              <a:cxn ang="0">
                <a:pos x="T0" y="T1"/>
              </a:cxn>
              <a:cxn ang="0">
                <a:pos x="T2" y="T3"/>
              </a:cxn>
              <a:cxn ang="0">
                <a:pos x="T4" y="T5"/>
              </a:cxn>
              <a:cxn ang="0">
                <a:pos x="T6" y="T7"/>
              </a:cxn>
              <a:cxn ang="0">
                <a:pos x="T8" y="T9"/>
              </a:cxn>
              <a:cxn ang="0">
                <a:pos x="T10" y="T11"/>
              </a:cxn>
              <a:cxn ang="0">
                <a:pos x="T12" y="T13"/>
              </a:cxn>
            </a:cxnLst>
            <a:rect l="0" t="0" r="r" b="b"/>
            <a:pathLst>
              <a:path w="1007" h="370">
                <a:moveTo>
                  <a:pt x="503" y="137"/>
                </a:moveTo>
                <a:cubicBezTo>
                  <a:pt x="265" y="137"/>
                  <a:pt x="65" y="79"/>
                  <a:pt x="0" y="1"/>
                </a:cubicBezTo>
                <a:cubicBezTo>
                  <a:pt x="42" y="156"/>
                  <a:pt x="154" y="282"/>
                  <a:pt x="300" y="344"/>
                </a:cubicBezTo>
                <a:cubicBezTo>
                  <a:pt x="360" y="361"/>
                  <a:pt x="429" y="370"/>
                  <a:pt x="503" y="370"/>
                </a:cubicBezTo>
                <a:cubicBezTo>
                  <a:pt x="577" y="370"/>
                  <a:pt x="647" y="361"/>
                  <a:pt x="706" y="344"/>
                </a:cubicBezTo>
                <a:cubicBezTo>
                  <a:pt x="852" y="282"/>
                  <a:pt x="964" y="156"/>
                  <a:pt x="1007" y="0"/>
                </a:cubicBezTo>
                <a:cubicBezTo>
                  <a:pt x="942" y="79"/>
                  <a:pt x="741" y="137"/>
                  <a:pt x="503" y="137"/>
                </a:cubicBezTo>
                <a:close/>
              </a:path>
            </a:pathLst>
          </a:custGeom>
          <a:solidFill>
            <a:srgbClr val="383F4E"/>
          </a:solidFill>
          <a:ln>
            <a:noFill/>
          </a:ln>
        </p:spPr>
        <p:txBody>
          <a:bodyPr vert="horz" wrap="square" lIns="91440" tIns="720000" rIns="91440" bIns="45720" numCol="1" anchor="t" anchorCtr="0" compatLnSpc="1"/>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Freeform 410"/>
          <p:cNvSpPr/>
          <p:nvPr/>
        </p:nvSpPr>
        <p:spPr bwMode="auto">
          <a:xfrm>
            <a:off x="4215364" y="2761257"/>
            <a:ext cx="3694593" cy="1371600"/>
          </a:xfrm>
          <a:custGeom>
            <a:avLst/>
            <a:gdLst>
              <a:gd name="T0" fmla="*/ 984 w 985"/>
              <a:gd name="T1" fmla="*/ 195 h 366"/>
              <a:gd name="T2" fmla="*/ 867 w 985"/>
              <a:gd name="T3" fmla="*/ 5 h 366"/>
              <a:gd name="T4" fmla="*/ 867 w 985"/>
              <a:gd name="T5" fmla="*/ 9 h 366"/>
              <a:gd name="T6" fmla="*/ 492 w 985"/>
              <a:gd name="T7" fmla="*/ 102 h 366"/>
              <a:gd name="T8" fmla="*/ 118 w 985"/>
              <a:gd name="T9" fmla="*/ 9 h 366"/>
              <a:gd name="T10" fmla="*/ 118 w 985"/>
              <a:gd name="T11" fmla="*/ 5 h 366"/>
              <a:gd name="T12" fmla="*/ 124 w 985"/>
              <a:gd name="T13" fmla="*/ 0 h 366"/>
              <a:gd name="T14" fmla="*/ 0 w 985"/>
              <a:gd name="T15" fmla="*/ 196 h 366"/>
              <a:gd name="T16" fmla="*/ 0 w 985"/>
              <a:gd name="T17" fmla="*/ 201 h 366"/>
              <a:gd name="T18" fmla="*/ 492 w 985"/>
              <a:gd name="T19" fmla="*/ 366 h 366"/>
              <a:gd name="T20" fmla="*/ 985 w 985"/>
              <a:gd name="T21" fmla="*/ 201 h 366"/>
              <a:gd name="T22" fmla="*/ 984 w 985"/>
              <a:gd name="T23" fmla="*/ 1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5" h="366">
                <a:moveTo>
                  <a:pt x="984" y="195"/>
                </a:moveTo>
                <a:cubicBezTo>
                  <a:pt x="959" y="123"/>
                  <a:pt x="918" y="59"/>
                  <a:pt x="867" y="5"/>
                </a:cubicBezTo>
                <a:cubicBezTo>
                  <a:pt x="867" y="6"/>
                  <a:pt x="867" y="8"/>
                  <a:pt x="867" y="9"/>
                </a:cubicBezTo>
                <a:cubicBezTo>
                  <a:pt x="867" y="60"/>
                  <a:pt x="699" y="102"/>
                  <a:pt x="492" y="102"/>
                </a:cubicBezTo>
                <a:cubicBezTo>
                  <a:pt x="285" y="102"/>
                  <a:pt x="118" y="60"/>
                  <a:pt x="118" y="9"/>
                </a:cubicBezTo>
                <a:cubicBezTo>
                  <a:pt x="118" y="8"/>
                  <a:pt x="118" y="6"/>
                  <a:pt x="118" y="5"/>
                </a:cubicBezTo>
                <a:cubicBezTo>
                  <a:pt x="120" y="3"/>
                  <a:pt x="122" y="1"/>
                  <a:pt x="124" y="0"/>
                </a:cubicBezTo>
                <a:cubicBezTo>
                  <a:pt x="69" y="54"/>
                  <a:pt x="26" y="121"/>
                  <a:pt x="0" y="196"/>
                </a:cubicBezTo>
                <a:cubicBezTo>
                  <a:pt x="0" y="198"/>
                  <a:pt x="0" y="199"/>
                  <a:pt x="0" y="201"/>
                </a:cubicBezTo>
                <a:cubicBezTo>
                  <a:pt x="0" y="292"/>
                  <a:pt x="220" y="366"/>
                  <a:pt x="492" y="366"/>
                </a:cubicBezTo>
                <a:cubicBezTo>
                  <a:pt x="764" y="366"/>
                  <a:pt x="985" y="292"/>
                  <a:pt x="985" y="201"/>
                </a:cubicBezTo>
                <a:cubicBezTo>
                  <a:pt x="985" y="199"/>
                  <a:pt x="985" y="197"/>
                  <a:pt x="984" y="195"/>
                </a:cubicBezTo>
                <a:close/>
              </a:path>
            </a:pathLst>
          </a:custGeom>
          <a:solidFill>
            <a:srgbClr val="E8432E"/>
          </a:solidFill>
          <a:ln>
            <a:noFill/>
          </a:ln>
        </p:spPr>
        <p:txBody>
          <a:bodyPr vert="horz" wrap="square" lIns="91440" tIns="648000" rIns="91440" bIns="45720" numCol="1" anchor="t" anchorCtr="0" compatLnSpc="1"/>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Freeform 411"/>
          <p:cNvSpPr/>
          <p:nvPr/>
        </p:nvSpPr>
        <p:spPr bwMode="auto">
          <a:xfrm>
            <a:off x="4658332" y="2235795"/>
            <a:ext cx="2808653" cy="908051"/>
          </a:xfrm>
          <a:custGeom>
            <a:avLst/>
            <a:gdLst>
              <a:gd name="T0" fmla="*/ 748 w 749"/>
              <a:gd name="T1" fmla="*/ 145 h 242"/>
              <a:gd name="T2" fmla="*/ 493 w 749"/>
              <a:gd name="T3" fmla="*/ 0 h 242"/>
              <a:gd name="T4" fmla="*/ 493 w 749"/>
              <a:gd name="T5" fmla="*/ 0 h 242"/>
              <a:gd name="T6" fmla="*/ 374 w 749"/>
              <a:gd name="T7" fmla="*/ 15 h 242"/>
              <a:gd name="T8" fmla="*/ 256 w 749"/>
              <a:gd name="T9" fmla="*/ 0 h 242"/>
              <a:gd name="T10" fmla="*/ 256 w 749"/>
              <a:gd name="T11" fmla="*/ 0 h 242"/>
              <a:gd name="T12" fmla="*/ 0 w 749"/>
              <a:gd name="T13" fmla="*/ 145 h 242"/>
              <a:gd name="T14" fmla="*/ 0 w 749"/>
              <a:gd name="T15" fmla="*/ 149 h 242"/>
              <a:gd name="T16" fmla="*/ 374 w 749"/>
              <a:gd name="T17" fmla="*/ 242 h 242"/>
              <a:gd name="T18" fmla="*/ 749 w 749"/>
              <a:gd name="T19" fmla="*/ 149 h 242"/>
              <a:gd name="T20" fmla="*/ 748 w 749"/>
              <a:gd name="T21" fmla="*/ 145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9" h="242">
                <a:moveTo>
                  <a:pt x="748" y="145"/>
                </a:moveTo>
                <a:cubicBezTo>
                  <a:pt x="680" y="75"/>
                  <a:pt x="592" y="23"/>
                  <a:pt x="493" y="0"/>
                </a:cubicBezTo>
                <a:cubicBezTo>
                  <a:pt x="493" y="0"/>
                  <a:pt x="493" y="0"/>
                  <a:pt x="493" y="0"/>
                </a:cubicBezTo>
                <a:cubicBezTo>
                  <a:pt x="493" y="8"/>
                  <a:pt x="440" y="15"/>
                  <a:pt x="374" y="15"/>
                </a:cubicBezTo>
                <a:cubicBezTo>
                  <a:pt x="309" y="15"/>
                  <a:pt x="256" y="8"/>
                  <a:pt x="256" y="0"/>
                </a:cubicBezTo>
                <a:cubicBezTo>
                  <a:pt x="256" y="0"/>
                  <a:pt x="256" y="0"/>
                  <a:pt x="256" y="0"/>
                </a:cubicBezTo>
                <a:cubicBezTo>
                  <a:pt x="157" y="23"/>
                  <a:pt x="69" y="75"/>
                  <a:pt x="0" y="145"/>
                </a:cubicBezTo>
                <a:cubicBezTo>
                  <a:pt x="0" y="146"/>
                  <a:pt x="0" y="148"/>
                  <a:pt x="0" y="149"/>
                </a:cubicBezTo>
                <a:cubicBezTo>
                  <a:pt x="0" y="200"/>
                  <a:pt x="167" y="242"/>
                  <a:pt x="374" y="242"/>
                </a:cubicBezTo>
                <a:cubicBezTo>
                  <a:pt x="581" y="242"/>
                  <a:pt x="749" y="200"/>
                  <a:pt x="749" y="149"/>
                </a:cubicBezTo>
                <a:cubicBezTo>
                  <a:pt x="749" y="148"/>
                  <a:pt x="749" y="146"/>
                  <a:pt x="748" y="145"/>
                </a:cubicBezTo>
                <a:close/>
              </a:path>
            </a:pathLst>
          </a:custGeom>
          <a:solidFill>
            <a:schemeClr val="bg1">
              <a:lumMod val="95000"/>
            </a:schemeClr>
          </a:solidFill>
          <a:ln>
            <a:noFill/>
          </a:ln>
        </p:spPr>
        <p:txBody>
          <a:bodyPr vert="horz" wrap="square" lIns="91440" tIns="252000" rIns="91440" bIns="45720" numCol="1" anchor="t" anchorCtr="0" compatLnSpc="1"/>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E8432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endParaRPr kumimoji="0" lang="zh-CN" altLang="en-US" sz="3200" b="0" i="0" u="none" strike="noStrike" kern="1200" cap="none" spc="0" normalizeH="0" baseline="0" noProof="0">
              <a:ln>
                <a:noFill/>
              </a:ln>
              <a:solidFill>
                <a:srgbClr val="E8432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Freeform 418"/>
          <p:cNvSpPr/>
          <p:nvPr/>
        </p:nvSpPr>
        <p:spPr bwMode="auto">
          <a:xfrm>
            <a:off x="2141895" y="5698133"/>
            <a:ext cx="2303685" cy="479425"/>
          </a:xfrm>
          <a:custGeom>
            <a:avLst/>
            <a:gdLst>
              <a:gd name="T0" fmla="*/ 0 w 1151"/>
              <a:gd name="T1" fmla="*/ 302 h 302"/>
              <a:gd name="T2" fmla="*/ 848 w 1151"/>
              <a:gd name="T3" fmla="*/ 302 h 302"/>
              <a:gd name="T4" fmla="*/ 1151 w 1151"/>
              <a:gd name="T5" fmla="*/ 0 h 302"/>
              <a:gd name="connsiteX0" fmla="*/ 0 w 12606"/>
              <a:gd name="connsiteY0" fmla="*/ 10000 h 10000"/>
              <a:gd name="connsiteX1" fmla="*/ 9974 w 12606"/>
              <a:gd name="connsiteY1" fmla="*/ 10000 h 10000"/>
              <a:gd name="connsiteX2" fmla="*/ 12606 w 12606"/>
              <a:gd name="connsiteY2" fmla="*/ 0 h 10000"/>
            </a:gdLst>
            <a:ahLst/>
            <a:cxnLst>
              <a:cxn ang="0">
                <a:pos x="connsiteX0" y="connsiteY0"/>
              </a:cxn>
              <a:cxn ang="0">
                <a:pos x="connsiteX1" y="connsiteY1"/>
              </a:cxn>
              <a:cxn ang="0">
                <a:pos x="connsiteX2" y="connsiteY2"/>
              </a:cxn>
            </a:cxnLst>
            <a:rect l="l" t="t" r="r" b="b"/>
            <a:pathLst>
              <a:path w="12606" h="10000">
                <a:moveTo>
                  <a:pt x="0" y="10000"/>
                </a:moveTo>
                <a:lnTo>
                  <a:pt x="9974" y="10000"/>
                </a:lnTo>
                <a:lnTo>
                  <a:pt x="12606" y="0"/>
                </a:lnTo>
              </a:path>
            </a:pathLst>
          </a:custGeom>
          <a:noFill/>
          <a:ln w="2" cap="flat">
            <a:solidFill>
              <a:srgbClr val="A3A3A0"/>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Freeform 419"/>
          <p:cNvSpPr/>
          <p:nvPr/>
        </p:nvSpPr>
        <p:spPr bwMode="auto">
          <a:xfrm>
            <a:off x="1595645" y="5885457"/>
            <a:ext cx="1498795" cy="217488"/>
          </a:xfrm>
          <a:custGeom>
            <a:avLst/>
            <a:gdLst>
              <a:gd name="T0" fmla="*/ 944 w 944"/>
              <a:gd name="T1" fmla="*/ 137 h 137"/>
              <a:gd name="T2" fmla="*/ 137 w 944"/>
              <a:gd name="T3" fmla="*/ 137 h 137"/>
              <a:gd name="T4" fmla="*/ 0 w 944"/>
              <a:gd name="T5" fmla="*/ 0 h 137"/>
            </a:gdLst>
            <a:ahLst/>
            <a:cxnLst>
              <a:cxn ang="0">
                <a:pos x="T0" y="T1"/>
              </a:cxn>
              <a:cxn ang="0">
                <a:pos x="T2" y="T3"/>
              </a:cxn>
              <a:cxn ang="0">
                <a:pos x="T4" y="T5"/>
              </a:cxn>
            </a:cxnLst>
            <a:rect l="0" t="0" r="r" b="b"/>
            <a:pathLst>
              <a:path w="944" h="137">
                <a:moveTo>
                  <a:pt x="944" y="137"/>
                </a:moveTo>
                <a:lnTo>
                  <a:pt x="137" y="137"/>
                </a:lnTo>
                <a:lnTo>
                  <a:pt x="0" y="0"/>
                </a:lnTo>
              </a:path>
            </a:pathLst>
          </a:custGeom>
          <a:noFill/>
          <a:ln w="2" cap="flat">
            <a:solidFill>
              <a:srgbClr val="A3A3A0"/>
            </a:solidFill>
            <a:prstDash val="solid"/>
            <a:miter lim="800000"/>
            <a:tailEnd type="ova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Freeform 420"/>
          <p:cNvSpPr/>
          <p:nvPr/>
        </p:nvSpPr>
        <p:spPr bwMode="auto">
          <a:xfrm>
            <a:off x="8273542" y="4531321"/>
            <a:ext cx="2375255" cy="1458913"/>
          </a:xfrm>
          <a:custGeom>
            <a:avLst/>
            <a:gdLst>
              <a:gd name="T0" fmla="*/ 0 w 928"/>
              <a:gd name="T1" fmla="*/ 0 h 919"/>
              <a:gd name="T2" fmla="*/ 163 w 928"/>
              <a:gd name="T3" fmla="*/ 170 h 919"/>
              <a:gd name="T4" fmla="*/ 163 w 928"/>
              <a:gd name="T5" fmla="*/ 919 h 919"/>
              <a:gd name="T6" fmla="*/ 928 w 928"/>
              <a:gd name="T7" fmla="*/ 919 h 919"/>
              <a:gd name="connsiteX0" fmla="*/ 0 w 14246"/>
              <a:gd name="connsiteY0" fmla="*/ 0 h 10000"/>
              <a:gd name="connsiteX1" fmla="*/ 1756 w 14246"/>
              <a:gd name="connsiteY1" fmla="*/ 1850 h 10000"/>
              <a:gd name="connsiteX2" fmla="*/ 1756 w 14246"/>
              <a:gd name="connsiteY2" fmla="*/ 10000 h 10000"/>
              <a:gd name="connsiteX3" fmla="*/ 14246 w 14246"/>
              <a:gd name="connsiteY3" fmla="*/ 10000 h 10000"/>
              <a:gd name="connsiteX0-1" fmla="*/ 0 w 16121"/>
              <a:gd name="connsiteY0-2" fmla="*/ 0 h 10000"/>
              <a:gd name="connsiteX1-3" fmla="*/ 1756 w 16121"/>
              <a:gd name="connsiteY1-4" fmla="*/ 1850 h 10000"/>
              <a:gd name="connsiteX2-5" fmla="*/ 1756 w 16121"/>
              <a:gd name="connsiteY2-6" fmla="*/ 10000 h 10000"/>
              <a:gd name="connsiteX3-7" fmla="*/ 16121 w 16121"/>
              <a:gd name="connsiteY3-8" fmla="*/ 10000 h 10000"/>
            </a:gdLst>
            <a:ahLst/>
            <a:cxnLst>
              <a:cxn ang="0">
                <a:pos x="connsiteX0-1" y="connsiteY0-2"/>
              </a:cxn>
              <a:cxn ang="0">
                <a:pos x="connsiteX1-3" y="connsiteY1-4"/>
              </a:cxn>
              <a:cxn ang="0">
                <a:pos x="connsiteX2-5" y="connsiteY2-6"/>
              </a:cxn>
              <a:cxn ang="0">
                <a:pos x="connsiteX3-7" y="connsiteY3-8"/>
              </a:cxn>
            </a:cxnLst>
            <a:rect l="l" t="t" r="r" b="b"/>
            <a:pathLst>
              <a:path w="16121" h="10000">
                <a:moveTo>
                  <a:pt x="0" y="0"/>
                </a:moveTo>
                <a:lnTo>
                  <a:pt x="1756" y="1850"/>
                </a:lnTo>
                <a:lnTo>
                  <a:pt x="1756" y="10000"/>
                </a:lnTo>
                <a:lnTo>
                  <a:pt x="16121" y="10000"/>
                </a:lnTo>
              </a:path>
            </a:pathLst>
          </a:custGeom>
          <a:noFill/>
          <a:ln w="2" cap="flat">
            <a:solidFill>
              <a:srgbClr val="A3A3A0"/>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Freeform 421"/>
          <p:cNvSpPr/>
          <p:nvPr/>
        </p:nvSpPr>
        <p:spPr bwMode="auto">
          <a:xfrm>
            <a:off x="8579625" y="6064846"/>
            <a:ext cx="1913209" cy="195263"/>
          </a:xfrm>
          <a:custGeom>
            <a:avLst/>
            <a:gdLst>
              <a:gd name="T0" fmla="*/ 0 w 578"/>
              <a:gd name="T1" fmla="*/ 0 h 123"/>
              <a:gd name="T2" fmla="*/ 456 w 578"/>
              <a:gd name="T3" fmla="*/ 0 h 123"/>
              <a:gd name="T4" fmla="*/ 578 w 578"/>
              <a:gd name="T5" fmla="*/ 123 h 123"/>
              <a:gd name="connsiteX0" fmla="*/ 0 w 20848"/>
              <a:gd name="connsiteY0" fmla="*/ 0 h 10000"/>
              <a:gd name="connsiteX1" fmla="*/ 18737 w 20848"/>
              <a:gd name="connsiteY1" fmla="*/ 0 h 10000"/>
              <a:gd name="connsiteX2" fmla="*/ 20848 w 20848"/>
              <a:gd name="connsiteY2" fmla="*/ 10000 h 10000"/>
            </a:gdLst>
            <a:ahLst/>
            <a:cxnLst>
              <a:cxn ang="0">
                <a:pos x="connsiteX0" y="connsiteY0"/>
              </a:cxn>
              <a:cxn ang="0">
                <a:pos x="connsiteX1" y="connsiteY1"/>
              </a:cxn>
              <a:cxn ang="0">
                <a:pos x="connsiteX2" y="connsiteY2"/>
              </a:cxn>
            </a:cxnLst>
            <a:rect l="l" t="t" r="r" b="b"/>
            <a:pathLst>
              <a:path w="20848" h="10000">
                <a:moveTo>
                  <a:pt x="0" y="0"/>
                </a:moveTo>
                <a:lnTo>
                  <a:pt x="18737" y="0"/>
                </a:lnTo>
                <a:lnTo>
                  <a:pt x="20848" y="10000"/>
                </a:lnTo>
              </a:path>
            </a:pathLst>
          </a:custGeom>
          <a:noFill/>
          <a:ln w="2" cap="flat">
            <a:solidFill>
              <a:srgbClr val="A3A3A0"/>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 name="Freeform 422"/>
          <p:cNvSpPr/>
          <p:nvPr/>
        </p:nvSpPr>
        <p:spPr bwMode="auto">
          <a:xfrm>
            <a:off x="1783009" y="2993032"/>
            <a:ext cx="2346616" cy="217488"/>
          </a:xfrm>
          <a:custGeom>
            <a:avLst/>
            <a:gdLst>
              <a:gd name="T0" fmla="*/ 1044 w 1044"/>
              <a:gd name="T1" fmla="*/ 0 h 137"/>
              <a:gd name="T2" fmla="*/ 895 w 1044"/>
              <a:gd name="T3" fmla="*/ 137 h 137"/>
              <a:gd name="T4" fmla="*/ 0 w 1044"/>
              <a:gd name="T5" fmla="*/ 137 h 137"/>
              <a:gd name="connsiteX0" fmla="*/ 14157 w 14157"/>
              <a:gd name="connsiteY0" fmla="*/ 0 h 10000"/>
              <a:gd name="connsiteX1" fmla="*/ 12730 w 14157"/>
              <a:gd name="connsiteY1" fmla="*/ 10000 h 10000"/>
              <a:gd name="connsiteX2" fmla="*/ 0 w 14157"/>
              <a:gd name="connsiteY2" fmla="*/ 10000 h 10000"/>
            </a:gdLst>
            <a:ahLst/>
            <a:cxnLst>
              <a:cxn ang="0">
                <a:pos x="connsiteX0" y="connsiteY0"/>
              </a:cxn>
              <a:cxn ang="0">
                <a:pos x="connsiteX1" y="connsiteY1"/>
              </a:cxn>
              <a:cxn ang="0">
                <a:pos x="connsiteX2" y="connsiteY2"/>
              </a:cxn>
            </a:cxnLst>
            <a:rect l="l" t="t" r="r" b="b"/>
            <a:pathLst>
              <a:path w="14157" h="10000">
                <a:moveTo>
                  <a:pt x="14157" y="0"/>
                </a:moveTo>
                <a:lnTo>
                  <a:pt x="12730" y="10000"/>
                </a:lnTo>
                <a:lnTo>
                  <a:pt x="0" y="10000"/>
                </a:lnTo>
              </a:path>
            </a:pathLst>
          </a:custGeom>
          <a:noFill/>
          <a:ln w="2" cap="flat">
            <a:solidFill>
              <a:srgbClr val="A3A3A0"/>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Line 423"/>
          <p:cNvSpPr>
            <a:spLocks noChangeShapeType="1"/>
          </p:cNvSpPr>
          <p:nvPr/>
        </p:nvSpPr>
        <p:spPr bwMode="auto">
          <a:xfrm>
            <a:off x="3053162" y="3297832"/>
            <a:ext cx="817669" cy="0"/>
          </a:xfrm>
          <a:prstGeom prst="line">
            <a:avLst/>
          </a:prstGeom>
          <a:noFill/>
          <a:ln w="2" cap="flat">
            <a:solidFill>
              <a:srgbClr val="A3A3A0"/>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5" name="Freeform 424"/>
          <p:cNvSpPr/>
          <p:nvPr/>
        </p:nvSpPr>
        <p:spPr bwMode="auto">
          <a:xfrm>
            <a:off x="7249468" y="2056409"/>
            <a:ext cx="1666261" cy="195263"/>
          </a:xfrm>
          <a:custGeom>
            <a:avLst/>
            <a:gdLst>
              <a:gd name="T0" fmla="*/ 0 w 532"/>
              <a:gd name="T1" fmla="*/ 123 h 123"/>
              <a:gd name="T2" fmla="*/ 107 w 532"/>
              <a:gd name="T3" fmla="*/ 0 h 123"/>
              <a:gd name="T4" fmla="*/ 532 w 532"/>
              <a:gd name="T5" fmla="*/ 0 h 123"/>
              <a:gd name="connsiteX0" fmla="*/ 0 w 19727"/>
              <a:gd name="connsiteY0" fmla="*/ 10000 h 10000"/>
              <a:gd name="connsiteX1" fmla="*/ 2011 w 19727"/>
              <a:gd name="connsiteY1" fmla="*/ 0 h 10000"/>
              <a:gd name="connsiteX2" fmla="*/ 19727 w 19727"/>
              <a:gd name="connsiteY2" fmla="*/ 0 h 10000"/>
            </a:gdLst>
            <a:ahLst/>
            <a:cxnLst>
              <a:cxn ang="0">
                <a:pos x="connsiteX0" y="connsiteY0"/>
              </a:cxn>
              <a:cxn ang="0">
                <a:pos x="connsiteX1" y="connsiteY1"/>
              </a:cxn>
              <a:cxn ang="0">
                <a:pos x="connsiteX2" y="connsiteY2"/>
              </a:cxn>
            </a:cxnLst>
            <a:rect l="l" t="t" r="r" b="b"/>
            <a:pathLst>
              <a:path w="19727" h="10000">
                <a:moveTo>
                  <a:pt x="0" y="10000"/>
                </a:moveTo>
                <a:lnTo>
                  <a:pt x="2011" y="0"/>
                </a:lnTo>
                <a:lnTo>
                  <a:pt x="19727" y="0"/>
                </a:lnTo>
              </a:path>
            </a:pathLst>
          </a:custGeom>
          <a:noFill/>
          <a:ln w="2" cap="flat">
            <a:solidFill>
              <a:srgbClr val="A3A3A0"/>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6" name="Freeform 425"/>
          <p:cNvSpPr/>
          <p:nvPr/>
        </p:nvSpPr>
        <p:spPr bwMode="auto">
          <a:xfrm>
            <a:off x="7433643" y="1789707"/>
            <a:ext cx="479488" cy="198439"/>
          </a:xfrm>
          <a:custGeom>
            <a:avLst/>
            <a:gdLst>
              <a:gd name="T0" fmla="*/ 0 w 302"/>
              <a:gd name="T1" fmla="*/ 125 h 125"/>
              <a:gd name="T2" fmla="*/ 175 w 302"/>
              <a:gd name="T3" fmla="*/ 125 h 125"/>
              <a:gd name="T4" fmla="*/ 302 w 302"/>
              <a:gd name="T5" fmla="*/ 0 h 125"/>
            </a:gdLst>
            <a:ahLst/>
            <a:cxnLst>
              <a:cxn ang="0">
                <a:pos x="T0" y="T1"/>
              </a:cxn>
              <a:cxn ang="0">
                <a:pos x="T2" y="T3"/>
              </a:cxn>
              <a:cxn ang="0">
                <a:pos x="T4" y="T5"/>
              </a:cxn>
            </a:cxnLst>
            <a:rect l="0" t="0" r="r" b="b"/>
            <a:pathLst>
              <a:path w="302" h="125">
                <a:moveTo>
                  <a:pt x="0" y="125"/>
                </a:moveTo>
                <a:lnTo>
                  <a:pt x="175" y="125"/>
                </a:lnTo>
                <a:lnTo>
                  <a:pt x="302" y="0"/>
                </a:lnTo>
              </a:path>
            </a:pathLst>
          </a:custGeom>
          <a:noFill/>
          <a:ln w="2" cap="flat">
            <a:solidFill>
              <a:srgbClr val="A3A3A0"/>
            </a:solidFill>
            <a:prstDash val="solid"/>
            <a:miter lim="800000"/>
            <a:tailEnd type="ova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7" name="椭圆 56"/>
          <p:cNvSpPr/>
          <p:nvPr/>
        </p:nvSpPr>
        <p:spPr>
          <a:xfrm>
            <a:off x="3971650" y="2054250"/>
            <a:ext cx="4165348" cy="4164807"/>
          </a:xfrm>
          <a:prstGeom prst="ellipse">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8" name="TextBox 19"/>
          <p:cNvSpPr txBox="1"/>
          <p:nvPr/>
        </p:nvSpPr>
        <p:spPr>
          <a:xfrm>
            <a:off x="1881872" y="2194403"/>
            <a:ext cx="1797681" cy="338554"/>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
        <p:nvSpPr>
          <p:cNvPr id="59" name="TextBox 20"/>
          <p:cNvSpPr txBox="1"/>
          <p:nvPr/>
        </p:nvSpPr>
        <p:spPr>
          <a:xfrm>
            <a:off x="1863174" y="2479082"/>
            <a:ext cx="2108476" cy="521970"/>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Wuhan  PPT design planning company</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sp>
        <p:nvSpPr>
          <p:cNvPr id="60" name="TextBox 21"/>
          <p:cNvSpPr txBox="1"/>
          <p:nvPr/>
        </p:nvSpPr>
        <p:spPr>
          <a:xfrm>
            <a:off x="8358921" y="2194403"/>
            <a:ext cx="1797681" cy="338554"/>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
        <p:nvSpPr>
          <p:cNvPr id="61" name="TextBox 22"/>
          <p:cNvSpPr txBox="1"/>
          <p:nvPr/>
        </p:nvSpPr>
        <p:spPr>
          <a:xfrm>
            <a:off x="8340223" y="2479082"/>
            <a:ext cx="2108476" cy="521970"/>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Wuhan  PPT design planning company</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sp>
        <p:nvSpPr>
          <p:cNvPr id="62" name="TextBox 23"/>
          <p:cNvSpPr txBox="1"/>
          <p:nvPr/>
        </p:nvSpPr>
        <p:spPr>
          <a:xfrm>
            <a:off x="1881872" y="5103219"/>
            <a:ext cx="1797681" cy="338554"/>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
        <p:nvSpPr>
          <p:cNvPr id="63" name="TextBox 24"/>
          <p:cNvSpPr txBox="1"/>
          <p:nvPr/>
        </p:nvSpPr>
        <p:spPr>
          <a:xfrm>
            <a:off x="1863174" y="5387899"/>
            <a:ext cx="2108476" cy="521970"/>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Wuhan  PPT design planning company</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sp>
        <p:nvSpPr>
          <p:cNvPr id="64" name="TextBox 25"/>
          <p:cNvSpPr txBox="1"/>
          <p:nvPr/>
        </p:nvSpPr>
        <p:spPr>
          <a:xfrm>
            <a:off x="8651017" y="5009539"/>
            <a:ext cx="1797681" cy="338554"/>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输入标题文本</a:t>
            </a:r>
          </a:p>
        </p:txBody>
      </p:sp>
      <p:sp>
        <p:nvSpPr>
          <p:cNvPr id="65" name="TextBox 26"/>
          <p:cNvSpPr txBox="1"/>
          <p:nvPr/>
        </p:nvSpPr>
        <p:spPr>
          <a:xfrm>
            <a:off x="8632318" y="5294218"/>
            <a:ext cx="2108476" cy="521970"/>
          </a:xfrm>
          <a:prstGeom prst="rect">
            <a:avLst/>
          </a:prstGeom>
          <a:noFill/>
        </p:spPr>
        <p:txBody>
          <a:bodyPr wrap="square" lIns="91440" tIns="45720" rIns="91440" bIns="45720" rtlCol="0">
            <a:spAutoFit/>
          </a:bodyPr>
          <a:lstStyle/>
          <a:p>
            <a:pPr marL="0" marR="0" lvl="0" indent="0" algn="l" defTabSz="1218565"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Wuhan  PPT design planning company</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sp>
        <p:nvSpPr>
          <p:cNvPr id="66" name="Freeform 37"/>
          <p:cNvSpPr>
            <a:spLocks noEditPoints="1"/>
          </p:cNvSpPr>
          <p:nvPr/>
        </p:nvSpPr>
        <p:spPr bwMode="auto">
          <a:xfrm>
            <a:off x="1945627" y="1695983"/>
            <a:ext cx="349898" cy="558709"/>
          </a:xfrm>
          <a:custGeom>
            <a:avLst/>
            <a:gdLst>
              <a:gd name="T0" fmla="*/ 21 w 51"/>
              <a:gd name="T1" fmla="*/ 72 h 94"/>
              <a:gd name="T2" fmla="*/ 22 w 51"/>
              <a:gd name="T3" fmla="*/ 50 h 94"/>
              <a:gd name="T4" fmla="*/ 7 w 51"/>
              <a:gd name="T5" fmla="*/ 40 h 94"/>
              <a:gd name="T6" fmla="*/ 3 w 51"/>
              <a:gd name="T7" fmla="*/ 26 h 94"/>
              <a:gd name="T8" fmla="*/ 9 w 51"/>
              <a:gd name="T9" fmla="*/ 11 h 94"/>
              <a:gd name="T10" fmla="*/ 23 w 51"/>
              <a:gd name="T11" fmla="*/ 5 h 94"/>
              <a:gd name="T12" fmla="*/ 23 w 51"/>
              <a:gd name="T13" fmla="*/ 0 h 94"/>
              <a:gd name="T14" fmla="*/ 31 w 51"/>
              <a:gd name="T15" fmla="*/ 0 h 94"/>
              <a:gd name="T16" fmla="*/ 31 w 51"/>
              <a:gd name="T17" fmla="*/ 5 h 94"/>
              <a:gd name="T18" fmla="*/ 44 w 51"/>
              <a:gd name="T19" fmla="*/ 11 h 94"/>
              <a:gd name="T20" fmla="*/ 50 w 51"/>
              <a:gd name="T21" fmla="*/ 24 h 94"/>
              <a:gd name="T22" fmla="*/ 37 w 51"/>
              <a:gd name="T23" fmla="*/ 25 h 94"/>
              <a:gd name="T24" fmla="*/ 30 w 51"/>
              <a:gd name="T25" fmla="*/ 17 h 94"/>
              <a:gd name="T26" fmla="*/ 30 w 51"/>
              <a:gd name="T27" fmla="*/ 37 h 94"/>
              <a:gd name="T28" fmla="*/ 47 w 51"/>
              <a:gd name="T29" fmla="*/ 47 h 94"/>
              <a:gd name="T30" fmla="*/ 51 w 51"/>
              <a:gd name="T31" fmla="*/ 61 h 94"/>
              <a:gd name="T32" fmla="*/ 45 w 51"/>
              <a:gd name="T33" fmla="*/ 76 h 94"/>
              <a:gd name="T34" fmla="*/ 29 w 51"/>
              <a:gd name="T35" fmla="*/ 84 h 94"/>
              <a:gd name="T36" fmla="*/ 28 w 51"/>
              <a:gd name="T37" fmla="*/ 94 h 94"/>
              <a:gd name="T38" fmla="*/ 21 w 51"/>
              <a:gd name="T39" fmla="*/ 94 h 94"/>
              <a:gd name="T40" fmla="*/ 21 w 51"/>
              <a:gd name="T41" fmla="*/ 84 h 94"/>
              <a:gd name="T42" fmla="*/ 6 w 51"/>
              <a:gd name="T43" fmla="*/ 77 h 94"/>
              <a:gd name="T44" fmla="*/ 0 w 51"/>
              <a:gd name="T45" fmla="*/ 61 h 94"/>
              <a:gd name="T46" fmla="*/ 14 w 51"/>
              <a:gd name="T47" fmla="*/ 60 h 94"/>
              <a:gd name="T48" fmla="*/ 16 w 51"/>
              <a:gd name="T49" fmla="*/ 67 h 94"/>
              <a:gd name="T50" fmla="*/ 21 w 51"/>
              <a:gd name="T51" fmla="*/ 72 h 94"/>
              <a:gd name="T52" fmla="*/ 23 w 51"/>
              <a:gd name="T53" fmla="*/ 17 h 94"/>
              <a:gd name="T54" fmla="*/ 18 w 51"/>
              <a:gd name="T55" fmla="*/ 20 h 94"/>
              <a:gd name="T56" fmla="*/ 16 w 51"/>
              <a:gd name="T57" fmla="*/ 25 h 94"/>
              <a:gd name="T58" fmla="*/ 17 w 51"/>
              <a:gd name="T59" fmla="*/ 31 h 94"/>
              <a:gd name="T60" fmla="*/ 22 w 51"/>
              <a:gd name="T61" fmla="*/ 35 h 94"/>
              <a:gd name="T62" fmla="*/ 23 w 51"/>
              <a:gd name="T63" fmla="*/ 17 h 94"/>
              <a:gd name="T64" fmla="*/ 29 w 51"/>
              <a:gd name="T65" fmla="*/ 72 h 94"/>
              <a:gd name="T66" fmla="*/ 35 w 51"/>
              <a:gd name="T67" fmla="*/ 69 h 94"/>
              <a:gd name="T68" fmla="*/ 38 w 51"/>
              <a:gd name="T69" fmla="*/ 62 h 94"/>
              <a:gd name="T70" fmla="*/ 36 w 51"/>
              <a:gd name="T71" fmla="*/ 56 h 94"/>
              <a:gd name="T72" fmla="*/ 29 w 51"/>
              <a:gd name="T73" fmla="*/ 52 h 94"/>
              <a:gd name="T74" fmla="*/ 29 w 51"/>
              <a:gd name="T75" fmla="*/ 7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 h="94">
                <a:moveTo>
                  <a:pt x="21" y="72"/>
                </a:moveTo>
                <a:cubicBezTo>
                  <a:pt x="22" y="50"/>
                  <a:pt x="22" y="50"/>
                  <a:pt x="22" y="50"/>
                </a:cubicBezTo>
                <a:cubicBezTo>
                  <a:pt x="15" y="47"/>
                  <a:pt x="10" y="44"/>
                  <a:pt x="7" y="40"/>
                </a:cubicBezTo>
                <a:cubicBezTo>
                  <a:pt x="4" y="36"/>
                  <a:pt x="3" y="31"/>
                  <a:pt x="3" y="26"/>
                </a:cubicBezTo>
                <a:cubicBezTo>
                  <a:pt x="3" y="20"/>
                  <a:pt x="5" y="15"/>
                  <a:pt x="9" y="11"/>
                </a:cubicBezTo>
                <a:cubicBezTo>
                  <a:pt x="12" y="8"/>
                  <a:pt x="17" y="6"/>
                  <a:pt x="23" y="5"/>
                </a:cubicBezTo>
                <a:cubicBezTo>
                  <a:pt x="23" y="0"/>
                  <a:pt x="23" y="0"/>
                  <a:pt x="23" y="0"/>
                </a:cubicBezTo>
                <a:cubicBezTo>
                  <a:pt x="31" y="0"/>
                  <a:pt x="31" y="0"/>
                  <a:pt x="31" y="0"/>
                </a:cubicBezTo>
                <a:cubicBezTo>
                  <a:pt x="31" y="5"/>
                  <a:pt x="31" y="5"/>
                  <a:pt x="31" y="5"/>
                </a:cubicBezTo>
                <a:cubicBezTo>
                  <a:pt x="36" y="6"/>
                  <a:pt x="41" y="8"/>
                  <a:pt x="44" y="11"/>
                </a:cubicBezTo>
                <a:cubicBezTo>
                  <a:pt x="47" y="15"/>
                  <a:pt x="49" y="19"/>
                  <a:pt x="50" y="24"/>
                </a:cubicBezTo>
                <a:cubicBezTo>
                  <a:pt x="37" y="25"/>
                  <a:pt x="37" y="25"/>
                  <a:pt x="37" y="25"/>
                </a:cubicBezTo>
                <a:cubicBezTo>
                  <a:pt x="36" y="21"/>
                  <a:pt x="34" y="18"/>
                  <a:pt x="30" y="17"/>
                </a:cubicBezTo>
                <a:cubicBezTo>
                  <a:pt x="30" y="37"/>
                  <a:pt x="30" y="37"/>
                  <a:pt x="30" y="37"/>
                </a:cubicBezTo>
                <a:cubicBezTo>
                  <a:pt x="38" y="40"/>
                  <a:pt x="44" y="43"/>
                  <a:pt x="47" y="47"/>
                </a:cubicBezTo>
                <a:cubicBezTo>
                  <a:pt x="50" y="50"/>
                  <a:pt x="51" y="55"/>
                  <a:pt x="51" y="61"/>
                </a:cubicBezTo>
                <a:cubicBezTo>
                  <a:pt x="51" y="67"/>
                  <a:pt x="49" y="72"/>
                  <a:pt x="45" y="76"/>
                </a:cubicBezTo>
                <a:cubicBezTo>
                  <a:pt x="41" y="81"/>
                  <a:pt x="36" y="83"/>
                  <a:pt x="29" y="84"/>
                </a:cubicBezTo>
                <a:cubicBezTo>
                  <a:pt x="28" y="94"/>
                  <a:pt x="28" y="94"/>
                  <a:pt x="28" y="94"/>
                </a:cubicBezTo>
                <a:cubicBezTo>
                  <a:pt x="21" y="94"/>
                  <a:pt x="21" y="94"/>
                  <a:pt x="21" y="94"/>
                </a:cubicBezTo>
                <a:cubicBezTo>
                  <a:pt x="21" y="84"/>
                  <a:pt x="21" y="84"/>
                  <a:pt x="21" y="84"/>
                </a:cubicBezTo>
                <a:cubicBezTo>
                  <a:pt x="15" y="83"/>
                  <a:pt x="10" y="81"/>
                  <a:pt x="6" y="77"/>
                </a:cubicBezTo>
                <a:cubicBezTo>
                  <a:pt x="3" y="73"/>
                  <a:pt x="1" y="68"/>
                  <a:pt x="0" y="61"/>
                </a:cubicBezTo>
                <a:cubicBezTo>
                  <a:pt x="14" y="60"/>
                  <a:pt x="14" y="60"/>
                  <a:pt x="14" y="60"/>
                </a:cubicBezTo>
                <a:cubicBezTo>
                  <a:pt x="14" y="62"/>
                  <a:pt x="15" y="65"/>
                  <a:pt x="16" y="67"/>
                </a:cubicBezTo>
                <a:cubicBezTo>
                  <a:pt x="18" y="69"/>
                  <a:pt x="19" y="71"/>
                  <a:pt x="21" y="72"/>
                </a:cubicBezTo>
                <a:close/>
                <a:moveTo>
                  <a:pt x="23" y="17"/>
                </a:moveTo>
                <a:cubicBezTo>
                  <a:pt x="21" y="17"/>
                  <a:pt x="19" y="18"/>
                  <a:pt x="18" y="20"/>
                </a:cubicBezTo>
                <a:cubicBezTo>
                  <a:pt x="16" y="22"/>
                  <a:pt x="16" y="23"/>
                  <a:pt x="16" y="25"/>
                </a:cubicBezTo>
                <a:cubicBezTo>
                  <a:pt x="16" y="27"/>
                  <a:pt x="16" y="29"/>
                  <a:pt x="17" y="31"/>
                </a:cubicBezTo>
                <a:cubicBezTo>
                  <a:pt x="18" y="32"/>
                  <a:pt x="20" y="34"/>
                  <a:pt x="22" y="35"/>
                </a:cubicBezTo>
                <a:lnTo>
                  <a:pt x="23" y="17"/>
                </a:lnTo>
                <a:close/>
                <a:moveTo>
                  <a:pt x="29" y="72"/>
                </a:moveTo>
                <a:cubicBezTo>
                  <a:pt x="32" y="72"/>
                  <a:pt x="34" y="71"/>
                  <a:pt x="35" y="69"/>
                </a:cubicBezTo>
                <a:cubicBezTo>
                  <a:pt x="37" y="67"/>
                  <a:pt x="38" y="65"/>
                  <a:pt x="38" y="62"/>
                </a:cubicBezTo>
                <a:cubicBezTo>
                  <a:pt x="38" y="60"/>
                  <a:pt x="38" y="58"/>
                  <a:pt x="36" y="56"/>
                </a:cubicBezTo>
                <a:cubicBezTo>
                  <a:pt x="35" y="54"/>
                  <a:pt x="33" y="53"/>
                  <a:pt x="29" y="52"/>
                </a:cubicBezTo>
                <a:lnTo>
                  <a:pt x="29" y="72"/>
                </a:lnTo>
                <a:close/>
              </a:path>
            </a:pathLst>
          </a:custGeom>
          <a:solidFill>
            <a:srgbClr val="E8432E"/>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en Sans" panose="020B0606030504020204"/>
              <a:cs typeface="+mn-cs"/>
            </a:endParaRPr>
          </a:p>
        </p:txBody>
      </p:sp>
      <p:sp>
        <p:nvSpPr>
          <p:cNvPr id="67" name="Freeform 63"/>
          <p:cNvSpPr>
            <a:spLocks noEditPoints="1"/>
          </p:cNvSpPr>
          <p:nvPr/>
        </p:nvSpPr>
        <p:spPr bwMode="auto">
          <a:xfrm>
            <a:off x="9549857" y="4409213"/>
            <a:ext cx="563590" cy="640136"/>
          </a:xfrm>
          <a:custGeom>
            <a:avLst/>
            <a:gdLst>
              <a:gd name="T0" fmla="*/ 319 w 352"/>
              <a:gd name="T1" fmla="*/ 209 h 400"/>
              <a:gd name="T2" fmla="*/ 238 w 352"/>
              <a:gd name="T3" fmla="*/ 134 h 400"/>
              <a:gd name="T4" fmla="*/ 251 w 352"/>
              <a:gd name="T5" fmla="*/ 134 h 400"/>
              <a:gd name="T6" fmla="*/ 313 w 352"/>
              <a:gd name="T7" fmla="*/ 114 h 400"/>
              <a:gd name="T8" fmla="*/ 283 w 352"/>
              <a:gd name="T9" fmla="*/ 96 h 400"/>
              <a:gd name="T10" fmla="*/ 292 w 352"/>
              <a:gd name="T11" fmla="*/ 82 h 400"/>
              <a:gd name="T12" fmla="*/ 289 w 352"/>
              <a:gd name="T13" fmla="*/ 75 h 400"/>
              <a:gd name="T14" fmla="*/ 237 w 352"/>
              <a:gd name="T15" fmla="*/ 97 h 400"/>
              <a:gd name="T16" fmla="*/ 231 w 352"/>
              <a:gd name="T17" fmla="*/ 16 h 400"/>
              <a:gd name="T18" fmla="*/ 142 w 352"/>
              <a:gd name="T19" fmla="*/ 17 h 400"/>
              <a:gd name="T20" fmla="*/ 136 w 352"/>
              <a:gd name="T21" fmla="*/ 108 h 400"/>
              <a:gd name="T22" fmla="*/ 121 w 352"/>
              <a:gd name="T23" fmla="*/ 112 h 400"/>
              <a:gd name="T24" fmla="*/ 111 w 352"/>
              <a:gd name="T25" fmla="*/ 119 h 400"/>
              <a:gd name="T26" fmla="*/ 127 w 352"/>
              <a:gd name="T27" fmla="*/ 130 h 400"/>
              <a:gd name="T28" fmla="*/ 34 w 352"/>
              <a:gd name="T29" fmla="*/ 214 h 400"/>
              <a:gd name="T30" fmla="*/ 149 w 352"/>
              <a:gd name="T31" fmla="*/ 391 h 400"/>
              <a:gd name="T32" fmla="*/ 343 w 352"/>
              <a:gd name="T33" fmla="*/ 268 h 400"/>
              <a:gd name="T34" fmla="*/ 303 w 352"/>
              <a:gd name="T35" fmla="*/ 109 h 400"/>
              <a:gd name="T36" fmla="*/ 251 w 352"/>
              <a:gd name="T37" fmla="*/ 123 h 400"/>
              <a:gd name="T38" fmla="*/ 243 w 352"/>
              <a:gd name="T39" fmla="*/ 122 h 400"/>
              <a:gd name="T40" fmla="*/ 280 w 352"/>
              <a:gd name="T41" fmla="*/ 85 h 400"/>
              <a:gd name="T42" fmla="*/ 239 w 352"/>
              <a:gd name="T43" fmla="*/ 111 h 400"/>
              <a:gd name="T44" fmla="*/ 280 w 352"/>
              <a:gd name="T45" fmla="*/ 85 h 400"/>
              <a:gd name="T46" fmla="*/ 218 w 352"/>
              <a:gd name="T47" fmla="*/ 315 h 400"/>
              <a:gd name="T48" fmla="*/ 183 w 352"/>
              <a:gd name="T49" fmla="*/ 326 h 400"/>
              <a:gd name="T50" fmla="*/ 169 w 352"/>
              <a:gd name="T51" fmla="*/ 344 h 400"/>
              <a:gd name="T52" fmla="*/ 147 w 352"/>
              <a:gd name="T53" fmla="*/ 322 h 400"/>
              <a:gd name="T54" fmla="*/ 122 w 352"/>
              <a:gd name="T55" fmla="*/ 300 h 400"/>
              <a:gd name="T56" fmla="*/ 155 w 352"/>
              <a:gd name="T57" fmla="*/ 280 h 400"/>
              <a:gd name="T58" fmla="*/ 169 w 352"/>
              <a:gd name="T59" fmla="*/ 301 h 400"/>
              <a:gd name="T60" fmla="*/ 142 w 352"/>
              <a:gd name="T61" fmla="*/ 258 h 400"/>
              <a:gd name="T62" fmla="*/ 122 w 352"/>
              <a:gd name="T63" fmla="*/ 225 h 400"/>
              <a:gd name="T64" fmla="*/ 169 w 352"/>
              <a:gd name="T65" fmla="*/ 184 h 400"/>
              <a:gd name="T66" fmla="*/ 183 w 352"/>
              <a:gd name="T67" fmla="*/ 175 h 400"/>
              <a:gd name="T68" fmla="*/ 215 w 352"/>
              <a:gd name="T69" fmla="*/ 194 h 400"/>
              <a:gd name="T70" fmla="*/ 195 w 352"/>
              <a:gd name="T71" fmla="*/ 223 h 400"/>
              <a:gd name="T72" fmla="*/ 183 w 352"/>
              <a:gd name="T73" fmla="*/ 209 h 400"/>
              <a:gd name="T74" fmla="*/ 221 w 352"/>
              <a:gd name="T75" fmla="*/ 252 h 400"/>
              <a:gd name="T76" fmla="*/ 230 w 352"/>
              <a:gd name="T77" fmla="*/ 301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2" h="400">
                <a:moveTo>
                  <a:pt x="343" y="268"/>
                </a:moveTo>
                <a:cubicBezTo>
                  <a:pt x="339" y="245"/>
                  <a:pt x="331" y="231"/>
                  <a:pt x="319" y="209"/>
                </a:cubicBezTo>
                <a:cubicBezTo>
                  <a:pt x="308" y="192"/>
                  <a:pt x="288" y="172"/>
                  <a:pt x="273" y="160"/>
                </a:cubicBezTo>
                <a:cubicBezTo>
                  <a:pt x="262" y="151"/>
                  <a:pt x="249" y="143"/>
                  <a:pt x="238" y="134"/>
                </a:cubicBezTo>
                <a:cubicBezTo>
                  <a:pt x="241" y="134"/>
                  <a:pt x="241" y="134"/>
                  <a:pt x="241" y="134"/>
                </a:cubicBezTo>
                <a:cubicBezTo>
                  <a:pt x="251" y="134"/>
                  <a:pt x="251" y="134"/>
                  <a:pt x="251" y="134"/>
                </a:cubicBezTo>
                <a:cubicBezTo>
                  <a:pt x="258" y="134"/>
                  <a:pt x="266" y="134"/>
                  <a:pt x="274" y="133"/>
                </a:cubicBezTo>
                <a:cubicBezTo>
                  <a:pt x="283" y="132"/>
                  <a:pt x="306" y="128"/>
                  <a:pt x="313" y="114"/>
                </a:cubicBezTo>
                <a:cubicBezTo>
                  <a:pt x="318" y="104"/>
                  <a:pt x="314" y="99"/>
                  <a:pt x="311" y="97"/>
                </a:cubicBezTo>
                <a:cubicBezTo>
                  <a:pt x="306" y="93"/>
                  <a:pt x="295" y="94"/>
                  <a:pt x="283" y="96"/>
                </a:cubicBezTo>
                <a:cubicBezTo>
                  <a:pt x="288" y="92"/>
                  <a:pt x="291" y="88"/>
                  <a:pt x="292" y="84"/>
                </a:cubicBezTo>
                <a:cubicBezTo>
                  <a:pt x="292" y="84"/>
                  <a:pt x="292" y="83"/>
                  <a:pt x="292" y="82"/>
                </a:cubicBezTo>
                <a:cubicBezTo>
                  <a:pt x="292" y="80"/>
                  <a:pt x="292" y="78"/>
                  <a:pt x="290" y="76"/>
                </a:cubicBezTo>
                <a:cubicBezTo>
                  <a:pt x="289" y="75"/>
                  <a:pt x="289" y="75"/>
                  <a:pt x="289" y="75"/>
                </a:cubicBezTo>
                <a:cubicBezTo>
                  <a:pt x="287" y="74"/>
                  <a:pt x="287" y="74"/>
                  <a:pt x="287" y="74"/>
                </a:cubicBezTo>
                <a:cubicBezTo>
                  <a:pt x="272" y="72"/>
                  <a:pt x="251" y="83"/>
                  <a:pt x="237" y="97"/>
                </a:cubicBezTo>
                <a:cubicBezTo>
                  <a:pt x="252" y="77"/>
                  <a:pt x="280" y="51"/>
                  <a:pt x="285" y="30"/>
                </a:cubicBezTo>
                <a:cubicBezTo>
                  <a:pt x="266" y="29"/>
                  <a:pt x="247" y="25"/>
                  <a:pt x="231" y="16"/>
                </a:cubicBezTo>
                <a:cubicBezTo>
                  <a:pt x="216" y="8"/>
                  <a:pt x="209" y="0"/>
                  <a:pt x="191" y="3"/>
                </a:cubicBezTo>
                <a:cubicBezTo>
                  <a:pt x="174" y="5"/>
                  <a:pt x="158" y="13"/>
                  <a:pt x="142" y="17"/>
                </a:cubicBezTo>
                <a:cubicBezTo>
                  <a:pt x="124" y="22"/>
                  <a:pt x="108" y="15"/>
                  <a:pt x="90" y="18"/>
                </a:cubicBezTo>
                <a:cubicBezTo>
                  <a:pt x="87" y="49"/>
                  <a:pt x="125" y="79"/>
                  <a:pt x="136" y="108"/>
                </a:cubicBezTo>
                <a:cubicBezTo>
                  <a:pt x="131" y="109"/>
                  <a:pt x="126" y="110"/>
                  <a:pt x="121" y="112"/>
                </a:cubicBezTo>
                <a:cubicBezTo>
                  <a:pt x="121" y="112"/>
                  <a:pt x="121" y="112"/>
                  <a:pt x="121" y="112"/>
                </a:cubicBezTo>
                <a:cubicBezTo>
                  <a:pt x="118" y="113"/>
                  <a:pt x="115" y="114"/>
                  <a:pt x="114" y="116"/>
                </a:cubicBezTo>
                <a:cubicBezTo>
                  <a:pt x="111" y="119"/>
                  <a:pt x="111" y="119"/>
                  <a:pt x="111" y="119"/>
                </a:cubicBezTo>
                <a:cubicBezTo>
                  <a:pt x="113" y="123"/>
                  <a:pt x="113" y="123"/>
                  <a:pt x="113" y="123"/>
                </a:cubicBezTo>
                <a:cubicBezTo>
                  <a:pt x="116" y="127"/>
                  <a:pt x="120" y="129"/>
                  <a:pt x="127" y="130"/>
                </a:cubicBezTo>
                <a:cubicBezTo>
                  <a:pt x="113" y="139"/>
                  <a:pt x="96" y="149"/>
                  <a:pt x="84" y="159"/>
                </a:cubicBezTo>
                <a:cubicBezTo>
                  <a:pt x="69" y="172"/>
                  <a:pt x="46" y="198"/>
                  <a:pt x="34" y="214"/>
                </a:cubicBezTo>
                <a:cubicBezTo>
                  <a:pt x="13" y="240"/>
                  <a:pt x="0" y="275"/>
                  <a:pt x="6" y="307"/>
                </a:cubicBezTo>
                <a:cubicBezTo>
                  <a:pt x="18" y="370"/>
                  <a:pt x="92" y="391"/>
                  <a:pt x="149" y="391"/>
                </a:cubicBezTo>
                <a:cubicBezTo>
                  <a:pt x="212" y="391"/>
                  <a:pt x="293" y="400"/>
                  <a:pt x="335" y="348"/>
                </a:cubicBezTo>
                <a:cubicBezTo>
                  <a:pt x="352" y="327"/>
                  <a:pt x="347" y="295"/>
                  <a:pt x="343" y="268"/>
                </a:cubicBezTo>
                <a:close/>
                <a:moveTo>
                  <a:pt x="305" y="105"/>
                </a:moveTo>
                <a:cubicBezTo>
                  <a:pt x="305" y="105"/>
                  <a:pt x="305" y="106"/>
                  <a:pt x="303" y="109"/>
                </a:cubicBezTo>
                <a:cubicBezTo>
                  <a:pt x="299" y="117"/>
                  <a:pt x="284" y="121"/>
                  <a:pt x="273" y="123"/>
                </a:cubicBezTo>
                <a:cubicBezTo>
                  <a:pt x="266" y="124"/>
                  <a:pt x="258" y="124"/>
                  <a:pt x="251" y="123"/>
                </a:cubicBezTo>
                <a:cubicBezTo>
                  <a:pt x="243" y="123"/>
                  <a:pt x="243" y="123"/>
                  <a:pt x="243" y="123"/>
                </a:cubicBezTo>
                <a:cubicBezTo>
                  <a:pt x="243" y="122"/>
                  <a:pt x="243" y="122"/>
                  <a:pt x="243" y="122"/>
                </a:cubicBezTo>
                <a:cubicBezTo>
                  <a:pt x="263" y="112"/>
                  <a:pt x="300" y="101"/>
                  <a:pt x="305" y="105"/>
                </a:cubicBezTo>
                <a:close/>
                <a:moveTo>
                  <a:pt x="280" y="85"/>
                </a:moveTo>
                <a:cubicBezTo>
                  <a:pt x="275" y="90"/>
                  <a:pt x="260" y="99"/>
                  <a:pt x="251" y="104"/>
                </a:cubicBezTo>
                <a:cubicBezTo>
                  <a:pt x="247" y="106"/>
                  <a:pt x="243" y="108"/>
                  <a:pt x="239" y="111"/>
                </a:cubicBezTo>
                <a:cubicBezTo>
                  <a:pt x="239" y="111"/>
                  <a:pt x="239" y="111"/>
                  <a:pt x="239" y="111"/>
                </a:cubicBezTo>
                <a:cubicBezTo>
                  <a:pt x="249" y="98"/>
                  <a:pt x="267" y="86"/>
                  <a:pt x="280" y="85"/>
                </a:cubicBezTo>
                <a:close/>
                <a:moveTo>
                  <a:pt x="230" y="301"/>
                </a:moveTo>
                <a:cubicBezTo>
                  <a:pt x="227" y="306"/>
                  <a:pt x="223" y="311"/>
                  <a:pt x="218" y="315"/>
                </a:cubicBezTo>
                <a:cubicBezTo>
                  <a:pt x="213" y="319"/>
                  <a:pt x="208" y="322"/>
                  <a:pt x="203" y="323"/>
                </a:cubicBezTo>
                <a:cubicBezTo>
                  <a:pt x="197" y="325"/>
                  <a:pt x="191" y="326"/>
                  <a:pt x="183" y="326"/>
                </a:cubicBezTo>
                <a:cubicBezTo>
                  <a:pt x="183" y="344"/>
                  <a:pt x="183" y="344"/>
                  <a:pt x="183" y="344"/>
                </a:cubicBezTo>
                <a:cubicBezTo>
                  <a:pt x="169" y="344"/>
                  <a:pt x="169" y="344"/>
                  <a:pt x="169" y="344"/>
                </a:cubicBezTo>
                <a:cubicBezTo>
                  <a:pt x="169" y="326"/>
                  <a:pt x="169" y="326"/>
                  <a:pt x="169" y="326"/>
                </a:cubicBezTo>
                <a:cubicBezTo>
                  <a:pt x="160" y="326"/>
                  <a:pt x="152" y="324"/>
                  <a:pt x="147" y="322"/>
                </a:cubicBezTo>
                <a:cubicBezTo>
                  <a:pt x="141" y="320"/>
                  <a:pt x="136" y="317"/>
                  <a:pt x="132" y="313"/>
                </a:cubicBezTo>
                <a:cubicBezTo>
                  <a:pt x="127" y="309"/>
                  <a:pt x="124" y="305"/>
                  <a:pt x="122" y="300"/>
                </a:cubicBezTo>
                <a:cubicBezTo>
                  <a:pt x="120" y="296"/>
                  <a:pt x="118" y="291"/>
                  <a:pt x="117" y="284"/>
                </a:cubicBezTo>
                <a:cubicBezTo>
                  <a:pt x="155" y="280"/>
                  <a:pt x="155" y="280"/>
                  <a:pt x="155" y="280"/>
                </a:cubicBezTo>
                <a:cubicBezTo>
                  <a:pt x="156" y="286"/>
                  <a:pt x="158" y="291"/>
                  <a:pt x="160" y="293"/>
                </a:cubicBezTo>
                <a:cubicBezTo>
                  <a:pt x="162" y="296"/>
                  <a:pt x="165" y="299"/>
                  <a:pt x="169" y="301"/>
                </a:cubicBezTo>
                <a:cubicBezTo>
                  <a:pt x="169" y="267"/>
                  <a:pt x="169" y="267"/>
                  <a:pt x="169" y="267"/>
                </a:cubicBezTo>
                <a:cubicBezTo>
                  <a:pt x="156" y="264"/>
                  <a:pt x="147" y="261"/>
                  <a:pt x="142" y="258"/>
                </a:cubicBezTo>
                <a:cubicBezTo>
                  <a:pt x="137" y="255"/>
                  <a:pt x="132" y="251"/>
                  <a:pt x="128" y="246"/>
                </a:cubicBezTo>
                <a:cubicBezTo>
                  <a:pt x="124" y="240"/>
                  <a:pt x="122" y="233"/>
                  <a:pt x="122" y="225"/>
                </a:cubicBezTo>
                <a:cubicBezTo>
                  <a:pt x="122" y="213"/>
                  <a:pt x="126" y="204"/>
                  <a:pt x="134" y="196"/>
                </a:cubicBezTo>
                <a:cubicBezTo>
                  <a:pt x="142" y="189"/>
                  <a:pt x="154" y="185"/>
                  <a:pt x="169" y="184"/>
                </a:cubicBezTo>
                <a:cubicBezTo>
                  <a:pt x="169" y="175"/>
                  <a:pt x="169" y="175"/>
                  <a:pt x="169" y="175"/>
                </a:cubicBezTo>
                <a:cubicBezTo>
                  <a:pt x="183" y="175"/>
                  <a:pt x="183" y="175"/>
                  <a:pt x="183" y="175"/>
                </a:cubicBezTo>
                <a:cubicBezTo>
                  <a:pt x="183" y="184"/>
                  <a:pt x="183" y="184"/>
                  <a:pt x="183" y="184"/>
                </a:cubicBezTo>
                <a:cubicBezTo>
                  <a:pt x="197" y="185"/>
                  <a:pt x="208" y="188"/>
                  <a:pt x="215" y="194"/>
                </a:cubicBezTo>
                <a:cubicBezTo>
                  <a:pt x="223" y="200"/>
                  <a:pt x="228" y="208"/>
                  <a:pt x="230" y="218"/>
                </a:cubicBezTo>
                <a:cubicBezTo>
                  <a:pt x="195" y="223"/>
                  <a:pt x="195" y="223"/>
                  <a:pt x="195" y="223"/>
                </a:cubicBezTo>
                <a:cubicBezTo>
                  <a:pt x="193" y="219"/>
                  <a:pt x="191" y="216"/>
                  <a:pt x="190" y="214"/>
                </a:cubicBezTo>
                <a:cubicBezTo>
                  <a:pt x="189" y="212"/>
                  <a:pt x="186" y="211"/>
                  <a:pt x="183" y="209"/>
                </a:cubicBezTo>
                <a:cubicBezTo>
                  <a:pt x="183" y="236"/>
                  <a:pt x="183" y="236"/>
                  <a:pt x="183" y="236"/>
                </a:cubicBezTo>
                <a:cubicBezTo>
                  <a:pt x="202" y="241"/>
                  <a:pt x="215" y="247"/>
                  <a:pt x="221" y="252"/>
                </a:cubicBezTo>
                <a:cubicBezTo>
                  <a:pt x="230" y="260"/>
                  <a:pt x="234" y="270"/>
                  <a:pt x="234" y="282"/>
                </a:cubicBezTo>
                <a:cubicBezTo>
                  <a:pt x="234" y="288"/>
                  <a:pt x="233" y="295"/>
                  <a:pt x="230" y="301"/>
                </a:cubicBezTo>
                <a:close/>
              </a:path>
            </a:pathLst>
          </a:custGeom>
          <a:solidFill>
            <a:srgbClr val="E8432E"/>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cs"/>
            </a:endParaRPr>
          </a:p>
        </p:txBody>
      </p:sp>
      <p:grpSp>
        <p:nvGrpSpPr>
          <p:cNvPr id="68" name="组合 67"/>
          <p:cNvGrpSpPr/>
          <p:nvPr/>
        </p:nvGrpSpPr>
        <p:grpSpPr>
          <a:xfrm>
            <a:off x="2035902" y="4666608"/>
            <a:ext cx="532252" cy="433386"/>
            <a:chOff x="3922713" y="842963"/>
            <a:chExt cx="623888" cy="508001"/>
          </a:xfrm>
          <a:solidFill>
            <a:srgbClr val="383F4E"/>
          </a:solidFill>
        </p:grpSpPr>
        <p:sp>
          <p:nvSpPr>
            <p:cNvPr id="69" name="Freeform 74"/>
            <p:cNvSpPr>
              <a:spLocks noEditPoints="1"/>
            </p:cNvSpPr>
            <p:nvPr/>
          </p:nvSpPr>
          <p:spPr bwMode="auto">
            <a:xfrm>
              <a:off x="3922713" y="1012826"/>
              <a:ext cx="565150" cy="338138"/>
            </a:xfrm>
            <a:custGeom>
              <a:avLst/>
              <a:gdLst>
                <a:gd name="T0" fmla="*/ 100 w 356"/>
                <a:gd name="T1" fmla="*/ 80 h 213"/>
                <a:gd name="T2" fmla="*/ 100 w 356"/>
                <a:gd name="T3" fmla="*/ 213 h 213"/>
                <a:gd name="T4" fmla="*/ 159 w 356"/>
                <a:gd name="T5" fmla="*/ 213 h 213"/>
                <a:gd name="T6" fmla="*/ 159 w 356"/>
                <a:gd name="T7" fmla="*/ 80 h 213"/>
                <a:gd name="T8" fmla="*/ 128 w 356"/>
                <a:gd name="T9" fmla="*/ 57 h 213"/>
                <a:gd name="T10" fmla="*/ 100 w 356"/>
                <a:gd name="T11" fmla="*/ 80 h 213"/>
                <a:gd name="T12" fmla="*/ 0 w 356"/>
                <a:gd name="T13" fmla="*/ 213 h 213"/>
                <a:gd name="T14" fmla="*/ 60 w 356"/>
                <a:gd name="T15" fmla="*/ 213 h 213"/>
                <a:gd name="T16" fmla="*/ 60 w 356"/>
                <a:gd name="T17" fmla="*/ 113 h 213"/>
                <a:gd name="T18" fmla="*/ 0 w 356"/>
                <a:gd name="T19" fmla="*/ 161 h 213"/>
                <a:gd name="T20" fmla="*/ 0 w 356"/>
                <a:gd name="T21" fmla="*/ 213 h 213"/>
                <a:gd name="T22" fmla="*/ 296 w 356"/>
                <a:gd name="T23" fmla="*/ 50 h 213"/>
                <a:gd name="T24" fmla="*/ 296 w 356"/>
                <a:gd name="T25" fmla="*/ 213 h 213"/>
                <a:gd name="T26" fmla="*/ 356 w 356"/>
                <a:gd name="T27" fmla="*/ 213 h 213"/>
                <a:gd name="T28" fmla="*/ 356 w 356"/>
                <a:gd name="T29" fmla="*/ 0 h 213"/>
                <a:gd name="T30" fmla="*/ 296 w 356"/>
                <a:gd name="T31" fmla="*/ 50 h 213"/>
                <a:gd name="T32" fmla="*/ 197 w 356"/>
                <a:gd name="T33" fmla="*/ 116 h 213"/>
                <a:gd name="T34" fmla="*/ 197 w 356"/>
                <a:gd name="T35" fmla="*/ 213 h 213"/>
                <a:gd name="T36" fmla="*/ 256 w 356"/>
                <a:gd name="T37" fmla="*/ 213 h 213"/>
                <a:gd name="T38" fmla="*/ 256 w 356"/>
                <a:gd name="T39" fmla="*/ 85 h 213"/>
                <a:gd name="T40" fmla="*/ 209 w 356"/>
                <a:gd name="T41" fmla="*/ 125 h 213"/>
                <a:gd name="T42" fmla="*/ 197 w 356"/>
                <a:gd name="T43" fmla="*/ 11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6" h="213">
                  <a:moveTo>
                    <a:pt x="100" y="80"/>
                  </a:moveTo>
                  <a:lnTo>
                    <a:pt x="100" y="213"/>
                  </a:lnTo>
                  <a:lnTo>
                    <a:pt x="159" y="213"/>
                  </a:lnTo>
                  <a:lnTo>
                    <a:pt x="159" y="80"/>
                  </a:lnTo>
                  <a:lnTo>
                    <a:pt x="128" y="57"/>
                  </a:lnTo>
                  <a:lnTo>
                    <a:pt x="100" y="80"/>
                  </a:lnTo>
                  <a:close/>
                  <a:moveTo>
                    <a:pt x="0" y="213"/>
                  </a:moveTo>
                  <a:lnTo>
                    <a:pt x="60" y="213"/>
                  </a:lnTo>
                  <a:lnTo>
                    <a:pt x="60" y="113"/>
                  </a:lnTo>
                  <a:lnTo>
                    <a:pt x="0" y="161"/>
                  </a:lnTo>
                  <a:lnTo>
                    <a:pt x="0" y="213"/>
                  </a:lnTo>
                  <a:close/>
                  <a:moveTo>
                    <a:pt x="296" y="50"/>
                  </a:moveTo>
                  <a:lnTo>
                    <a:pt x="296" y="213"/>
                  </a:lnTo>
                  <a:lnTo>
                    <a:pt x="356" y="213"/>
                  </a:lnTo>
                  <a:lnTo>
                    <a:pt x="356" y="0"/>
                  </a:lnTo>
                  <a:lnTo>
                    <a:pt x="296" y="50"/>
                  </a:lnTo>
                  <a:close/>
                  <a:moveTo>
                    <a:pt x="197" y="116"/>
                  </a:moveTo>
                  <a:lnTo>
                    <a:pt x="197" y="213"/>
                  </a:lnTo>
                  <a:lnTo>
                    <a:pt x="256" y="213"/>
                  </a:lnTo>
                  <a:lnTo>
                    <a:pt x="256" y="85"/>
                  </a:lnTo>
                  <a:lnTo>
                    <a:pt x="209" y="125"/>
                  </a:lnTo>
                  <a:lnTo>
                    <a:pt x="197"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cs"/>
              </a:endParaRPr>
            </a:p>
          </p:txBody>
        </p:sp>
        <p:sp>
          <p:nvSpPr>
            <p:cNvPr id="70" name="Freeform 75"/>
            <p:cNvSpPr/>
            <p:nvPr/>
          </p:nvSpPr>
          <p:spPr bwMode="auto">
            <a:xfrm>
              <a:off x="3922713" y="842963"/>
              <a:ext cx="623888" cy="368300"/>
            </a:xfrm>
            <a:custGeom>
              <a:avLst/>
              <a:gdLst>
                <a:gd name="T0" fmla="*/ 393 w 393"/>
                <a:gd name="T1" fmla="*/ 0 h 232"/>
                <a:gd name="T2" fmla="*/ 282 w 393"/>
                <a:gd name="T3" fmla="*/ 0 h 232"/>
                <a:gd name="T4" fmla="*/ 330 w 393"/>
                <a:gd name="T5" fmla="*/ 48 h 232"/>
                <a:gd name="T6" fmla="*/ 209 w 393"/>
                <a:gd name="T7" fmla="*/ 149 h 232"/>
                <a:gd name="T8" fmla="*/ 128 w 393"/>
                <a:gd name="T9" fmla="*/ 81 h 232"/>
                <a:gd name="T10" fmla="*/ 0 w 393"/>
                <a:gd name="T11" fmla="*/ 187 h 232"/>
                <a:gd name="T12" fmla="*/ 0 w 393"/>
                <a:gd name="T13" fmla="*/ 232 h 232"/>
                <a:gd name="T14" fmla="*/ 128 w 393"/>
                <a:gd name="T15" fmla="*/ 126 h 232"/>
                <a:gd name="T16" fmla="*/ 209 w 393"/>
                <a:gd name="T17" fmla="*/ 194 h 232"/>
                <a:gd name="T18" fmla="*/ 353 w 393"/>
                <a:gd name="T19" fmla="*/ 71 h 232"/>
                <a:gd name="T20" fmla="*/ 393 w 393"/>
                <a:gd name="T21" fmla="*/ 112 h 232"/>
                <a:gd name="T22" fmla="*/ 393 w 393"/>
                <a:gd name="T23"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3" h="232">
                  <a:moveTo>
                    <a:pt x="393" y="0"/>
                  </a:moveTo>
                  <a:lnTo>
                    <a:pt x="282" y="0"/>
                  </a:lnTo>
                  <a:lnTo>
                    <a:pt x="330" y="48"/>
                  </a:lnTo>
                  <a:lnTo>
                    <a:pt x="209" y="149"/>
                  </a:lnTo>
                  <a:lnTo>
                    <a:pt x="128" y="81"/>
                  </a:lnTo>
                  <a:lnTo>
                    <a:pt x="0" y="187"/>
                  </a:lnTo>
                  <a:lnTo>
                    <a:pt x="0" y="232"/>
                  </a:lnTo>
                  <a:lnTo>
                    <a:pt x="128" y="126"/>
                  </a:lnTo>
                  <a:lnTo>
                    <a:pt x="209" y="194"/>
                  </a:lnTo>
                  <a:lnTo>
                    <a:pt x="353" y="71"/>
                  </a:lnTo>
                  <a:lnTo>
                    <a:pt x="393" y="112"/>
                  </a:lnTo>
                  <a:lnTo>
                    <a:pt x="39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en Sans" panose="020B0606030504020204"/>
                <a:cs typeface="+mn-cs"/>
              </a:endParaRPr>
            </a:p>
          </p:txBody>
        </p:sp>
      </p:grpSp>
      <p:sp>
        <p:nvSpPr>
          <p:cNvPr id="71" name="KSO_Shape"/>
          <p:cNvSpPr/>
          <p:nvPr/>
        </p:nvSpPr>
        <p:spPr bwMode="auto">
          <a:xfrm>
            <a:off x="9137037" y="1753698"/>
            <a:ext cx="581149" cy="440705"/>
          </a:xfrm>
          <a:custGeom>
            <a:avLst/>
            <a:gdLst>
              <a:gd name="T0" fmla="*/ 104753 w 3040062"/>
              <a:gd name="T1" fmla="*/ 1241540 h 2303463"/>
              <a:gd name="T2" fmla="*/ 251725 w 3040062"/>
              <a:gd name="T3" fmla="*/ 1260899 h 2303463"/>
              <a:gd name="T4" fmla="*/ 265692 w 3040062"/>
              <a:gd name="T5" fmla="*/ 1110467 h 2303463"/>
              <a:gd name="T6" fmla="*/ 844867 w 3040062"/>
              <a:gd name="T7" fmla="*/ 970596 h 2303463"/>
              <a:gd name="T8" fmla="*/ 870584 w 3040062"/>
              <a:gd name="T9" fmla="*/ 987377 h 2303463"/>
              <a:gd name="T10" fmla="*/ 872172 w 3040062"/>
              <a:gd name="T11" fmla="*/ 1402771 h 2303463"/>
              <a:gd name="T12" fmla="*/ 848359 w 3040062"/>
              <a:gd name="T13" fmla="*/ 1421768 h 2303463"/>
              <a:gd name="T14" fmla="*/ 615315 w 3040062"/>
              <a:gd name="T15" fmla="*/ 1415119 h 2303463"/>
              <a:gd name="T16" fmla="*/ 603250 w 3040062"/>
              <a:gd name="T17" fmla="*/ 1002891 h 2303463"/>
              <a:gd name="T18" fmla="*/ 617855 w 3040062"/>
              <a:gd name="T19" fmla="*/ 975662 h 2303463"/>
              <a:gd name="T20" fmla="*/ 1240437 w 3040062"/>
              <a:gd name="T21" fmla="*/ 749300 h 2303463"/>
              <a:gd name="T22" fmla="*/ 1265867 w 3040062"/>
              <a:gd name="T23" fmla="*/ 766421 h 2303463"/>
              <a:gd name="T24" fmla="*/ 1267138 w 3040062"/>
              <a:gd name="T25" fmla="*/ 1402743 h 2303463"/>
              <a:gd name="T26" fmla="*/ 1243616 w 3040062"/>
              <a:gd name="T27" fmla="*/ 1421766 h 2303463"/>
              <a:gd name="T28" fmla="*/ 1010298 w 3040062"/>
              <a:gd name="T29" fmla="*/ 1415108 h 2303463"/>
              <a:gd name="T30" fmla="*/ 998537 w 3040062"/>
              <a:gd name="T31" fmla="*/ 782273 h 2303463"/>
              <a:gd name="T32" fmla="*/ 1012841 w 3040062"/>
              <a:gd name="T33" fmla="*/ 755007 h 2303463"/>
              <a:gd name="T34" fmla="*/ 2175011 w 3040062"/>
              <a:gd name="T35" fmla="*/ 666432 h 2303463"/>
              <a:gd name="T36" fmla="*/ 2235666 w 3040062"/>
              <a:gd name="T37" fmla="*/ 692135 h 2303463"/>
              <a:gd name="T38" fmla="*/ 2277268 w 3040062"/>
              <a:gd name="T39" fmla="*/ 742271 h 2303463"/>
              <a:gd name="T40" fmla="*/ 2290605 w 3040062"/>
              <a:gd name="T41" fmla="*/ 1286150 h 2303463"/>
              <a:gd name="T42" fmla="*/ 2948603 w 3040062"/>
              <a:gd name="T43" fmla="*/ 1365796 h 2303463"/>
              <a:gd name="T44" fmla="*/ 3005765 w 3040062"/>
              <a:gd name="T45" fmla="*/ 1408316 h 2303463"/>
              <a:gd name="T46" fmla="*/ 3036887 w 3040062"/>
              <a:gd name="T47" fmla="*/ 1473366 h 2303463"/>
              <a:gd name="T48" fmla="*/ 3035616 w 3040062"/>
              <a:gd name="T49" fmla="*/ 2191451 h 2303463"/>
              <a:gd name="T50" fmla="*/ 3001319 w 3040062"/>
              <a:gd name="T51" fmla="*/ 2254597 h 2303463"/>
              <a:gd name="T52" fmla="*/ 2941934 w 3040062"/>
              <a:gd name="T53" fmla="*/ 2294578 h 2303463"/>
              <a:gd name="T54" fmla="*/ 2171200 w 3040062"/>
              <a:gd name="T55" fmla="*/ 2303146 h 2303463"/>
              <a:gd name="T56" fmla="*/ 2113403 w 3040062"/>
              <a:gd name="T57" fmla="*/ 2292040 h 2303463"/>
              <a:gd name="T58" fmla="*/ 1552263 w 3040062"/>
              <a:gd name="T59" fmla="*/ 1741815 h 2303463"/>
              <a:gd name="T60" fmla="*/ 1526223 w 3040062"/>
              <a:gd name="T61" fmla="*/ 1686919 h 2303463"/>
              <a:gd name="T62" fmla="*/ 1529081 w 3040062"/>
              <a:gd name="T63" fmla="*/ 1626946 h 2303463"/>
              <a:gd name="T64" fmla="*/ 1560520 w 3040062"/>
              <a:gd name="T65" fmla="*/ 1574272 h 2303463"/>
              <a:gd name="T66" fmla="*/ 1612919 w 3040062"/>
              <a:gd name="T67" fmla="*/ 1542858 h 2303463"/>
              <a:gd name="T68" fmla="*/ 1673891 w 3040062"/>
              <a:gd name="T69" fmla="*/ 1539685 h 2303463"/>
              <a:gd name="T70" fmla="*/ 1728513 w 3040062"/>
              <a:gd name="T71" fmla="*/ 1565705 h 2303463"/>
              <a:gd name="T72" fmla="*/ 2024167 w 3040062"/>
              <a:gd name="T73" fmla="*/ 760992 h 2303463"/>
              <a:gd name="T74" fmla="*/ 2057829 w 3040062"/>
              <a:gd name="T75" fmla="*/ 704828 h 2303463"/>
              <a:gd name="T76" fmla="*/ 2113721 w 3040062"/>
              <a:gd name="T77" fmla="*/ 670875 h 2303463"/>
              <a:gd name="T78" fmla="*/ 1640947 w 3040062"/>
              <a:gd name="T79" fmla="*/ 485773 h 2303463"/>
              <a:gd name="T80" fmla="*/ 1662436 w 3040062"/>
              <a:gd name="T81" fmla="*/ 507334 h 2303463"/>
              <a:gd name="T82" fmla="*/ 1658328 w 3040062"/>
              <a:gd name="T83" fmla="*/ 1408133 h 2303463"/>
              <a:gd name="T84" fmla="*/ 1631151 w 3040062"/>
              <a:gd name="T85" fmla="*/ 1422401 h 2303463"/>
              <a:gd name="T86" fmla="*/ 1401409 w 3040062"/>
              <a:gd name="T87" fmla="*/ 1410669 h 2303463"/>
              <a:gd name="T88" fmla="*/ 1394457 w 3040062"/>
              <a:gd name="T89" fmla="*/ 510505 h 2303463"/>
              <a:gd name="T90" fmla="*/ 1413734 w 3040062"/>
              <a:gd name="T91" fmla="*/ 486725 h 2303463"/>
              <a:gd name="T92" fmla="*/ 2856582 w 3040062"/>
              <a:gd name="T93" fmla="*/ 2539 h 2303463"/>
              <a:gd name="T94" fmla="*/ 2942924 w 3040062"/>
              <a:gd name="T95" fmla="*/ 45384 h 2303463"/>
              <a:gd name="T96" fmla="*/ 3001649 w 3040062"/>
              <a:gd name="T97" fmla="*/ 130121 h 2303463"/>
              <a:gd name="T98" fmla="*/ 3021012 w 3040062"/>
              <a:gd name="T99" fmla="*/ 1276768 h 2303463"/>
              <a:gd name="T100" fmla="*/ 2944193 w 3040062"/>
              <a:gd name="T101" fmla="*/ 1247252 h 2303463"/>
              <a:gd name="T102" fmla="*/ 374889 w 3040062"/>
              <a:gd name="T103" fmla="*/ 1959424 h 2303463"/>
              <a:gd name="T104" fmla="*/ 127291 w 3040062"/>
              <a:gd name="T105" fmla="*/ 2259336 h 2303463"/>
              <a:gd name="T106" fmla="*/ 50472 w 3040062"/>
              <a:gd name="T107" fmla="*/ 2198402 h 2303463"/>
              <a:gd name="T108" fmla="*/ 6349 w 3040062"/>
              <a:gd name="T109" fmla="*/ 2100970 h 2303463"/>
              <a:gd name="T110" fmla="*/ 3809 w 3040062"/>
              <a:gd name="T111" fmla="*/ 183438 h 2303463"/>
              <a:gd name="T112" fmla="*/ 44441 w 3040062"/>
              <a:gd name="T113" fmla="*/ 83468 h 2303463"/>
              <a:gd name="T114" fmla="*/ 118720 w 3040062"/>
              <a:gd name="T115" fmla="*/ 17773 h 230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0062" h="2303463">
                <a:moveTo>
                  <a:pt x="124116" y="1098725"/>
                </a:moveTo>
                <a:lnTo>
                  <a:pt x="120307" y="1099042"/>
                </a:lnTo>
                <a:lnTo>
                  <a:pt x="116498" y="1099994"/>
                </a:lnTo>
                <a:lnTo>
                  <a:pt x="113324" y="1101898"/>
                </a:lnTo>
                <a:lnTo>
                  <a:pt x="110467" y="1104120"/>
                </a:lnTo>
                <a:lnTo>
                  <a:pt x="108245" y="1107294"/>
                </a:lnTo>
                <a:lnTo>
                  <a:pt x="106340" y="1110467"/>
                </a:lnTo>
                <a:lnTo>
                  <a:pt x="105071" y="1114276"/>
                </a:lnTo>
                <a:lnTo>
                  <a:pt x="104753" y="1118084"/>
                </a:lnTo>
                <a:lnTo>
                  <a:pt x="104753" y="1241540"/>
                </a:lnTo>
                <a:lnTo>
                  <a:pt x="105071" y="1245348"/>
                </a:lnTo>
                <a:lnTo>
                  <a:pt x="106340" y="1249157"/>
                </a:lnTo>
                <a:lnTo>
                  <a:pt x="108245" y="1252330"/>
                </a:lnTo>
                <a:lnTo>
                  <a:pt x="110467" y="1255187"/>
                </a:lnTo>
                <a:lnTo>
                  <a:pt x="113324" y="1257726"/>
                </a:lnTo>
                <a:lnTo>
                  <a:pt x="116498" y="1259312"/>
                </a:lnTo>
                <a:lnTo>
                  <a:pt x="120307" y="1260899"/>
                </a:lnTo>
                <a:lnTo>
                  <a:pt x="124116" y="1261217"/>
                </a:lnTo>
                <a:lnTo>
                  <a:pt x="247598" y="1261217"/>
                </a:lnTo>
                <a:lnTo>
                  <a:pt x="251725" y="1260899"/>
                </a:lnTo>
                <a:lnTo>
                  <a:pt x="255216" y="1259312"/>
                </a:lnTo>
                <a:lnTo>
                  <a:pt x="258708" y="1257726"/>
                </a:lnTo>
                <a:lnTo>
                  <a:pt x="261565" y="1255187"/>
                </a:lnTo>
                <a:lnTo>
                  <a:pt x="264105" y="1252330"/>
                </a:lnTo>
                <a:lnTo>
                  <a:pt x="265692" y="1249157"/>
                </a:lnTo>
                <a:lnTo>
                  <a:pt x="266644" y="1245348"/>
                </a:lnTo>
                <a:lnTo>
                  <a:pt x="266961" y="1241540"/>
                </a:lnTo>
                <a:lnTo>
                  <a:pt x="266961" y="1118084"/>
                </a:lnTo>
                <a:lnTo>
                  <a:pt x="266644" y="1114276"/>
                </a:lnTo>
                <a:lnTo>
                  <a:pt x="265692" y="1110467"/>
                </a:lnTo>
                <a:lnTo>
                  <a:pt x="264105" y="1107294"/>
                </a:lnTo>
                <a:lnTo>
                  <a:pt x="261565" y="1104120"/>
                </a:lnTo>
                <a:lnTo>
                  <a:pt x="258708" y="1101898"/>
                </a:lnTo>
                <a:lnTo>
                  <a:pt x="255216" y="1099994"/>
                </a:lnTo>
                <a:lnTo>
                  <a:pt x="251725" y="1099042"/>
                </a:lnTo>
                <a:lnTo>
                  <a:pt x="247598" y="1098725"/>
                </a:lnTo>
                <a:lnTo>
                  <a:pt x="124116" y="1098725"/>
                </a:lnTo>
                <a:close/>
                <a:moveTo>
                  <a:pt x="636270" y="969963"/>
                </a:moveTo>
                <a:lnTo>
                  <a:pt x="841692" y="969963"/>
                </a:lnTo>
                <a:lnTo>
                  <a:pt x="844867" y="970596"/>
                </a:lnTo>
                <a:lnTo>
                  <a:pt x="848359" y="970913"/>
                </a:lnTo>
                <a:lnTo>
                  <a:pt x="851534" y="971546"/>
                </a:lnTo>
                <a:lnTo>
                  <a:pt x="854709" y="972813"/>
                </a:lnTo>
                <a:lnTo>
                  <a:pt x="857567" y="974396"/>
                </a:lnTo>
                <a:lnTo>
                  <a:pt x="860107" y="975662"/>
                </a:lnTo>
                <a:lnTo>
                  <a:pt x="862647" y="977878"/>
                </a:lnTo>
                <a:lnTo>
                  <a:pt x="865187" y="979778"/>
                </a:lnTo>
                <a:lnTo>
                  <a:pt x="867092" y="982311"/>
                </a:lnTo>
                <a:lnTo>
                  <a:pt x="868997" y="984844"/>
                </a:lnTo>
                <a:lnTo>
                  <a:pt x="870584" y="987377"/>
                </a:lnTo>
                <a:lnTo>
                  <a:pt x="872172" y="990226"/>
                </a:lnTo>
                <a:lnTo>
                  <a:pt x="873124" y="993076"/>
                </a:lnTo>
                <a:lnTo>
                  <a:pt x="873760" y="996242"/>
                </a:lnTo>
                <a:lnTo>
                  <a:pt x="874712" y="999725"/>
                </a:lnTo>
                <a:lnTo>
                  <a:pt x="874712" y="1002891"/>
                </a:lnTo>
                <a:lnTo>
                  <a:pt x="874712" y="1389790"/>
                </a:lnTo>
                <a:lnTo>
                  <a:pt x="874712" y="1393273"/>
                </a:lnTo>
                <a:lnTo>
                  <a:pt x="873760" y="1396439"/>
                </a:lnTo>
                <a:lnTo>
                  <a:pt x="873124" y="1399605"/>
                </a:lnTo>
                <a:lnTo>
                  <a:pt x="872172" y="1402771"/>
                </a:lnTo>
                <a:lnTo>
                  <a:pt x="870584" y="1405304"/>
                </a:lnTo>
                <a:lnTo>
                  <a:pt x="868997" y="1408154"/>
                </a:lnTo>
                <a:lnTo>
                  <a:pt x="867092" y="1410686"/>
                </a:lnTo>
                <a:lnTo>
                  <a:pt x="865187" y="1413219"/>
                </a:lnTo>
                <a:lnTo>
                  <a:pt x="862647" y="1415119"/>
                </a:lnTo>
                <a:lnTo>
                  <a:pt x="860107" y="1417019"/>
                </a:lnTo>
                <a:lnTo>
                  <a:pt x="857567" y="1418602"/>
                </a:lnTo>
                <a:lnTo>
                  <a:pt x="854709" y="1420185"/>
                </a:lnTo>
                <a:lnTo>
                  <a:pt x="851534" y="1421135"/>
                </a:lnTo>
                <a:lnTo>
                  <a:pt x="848359" y="1421768"/>
                </a:lnTo>
                <a:lnTo>
                  <a:pt x="844867" y="1422401"/>
                </a:lnTo>
                <a:lnTo>
                  <a:pt x="841692" y="1422401"/>
                </a:lnTo>
                <a:lnTo>
                  <a:pt x="636270" y="1422401"/>
                </a:lnTo>
                <a:lnTo>
                  <a:pt x="632777" y="1422401"/>
                </a:lnTo>
                <a:lnTo>
                  <a:pt x="629920" y="1421768"/>
                </a:lnTo>
                <a:lnTo>
                  <a:pt x="626745" y="1421135"/>
                </a:lnTo>
                <a:lnTo>
                  <a:pt x="623570" y="1420185"/>
                </a:lnTo>
                <a:lnTo>
                  <a:pt x="620713" y="1418602"/>
                </a:lnTo>
                <a:lnTo>
                  <a:pt x="617855" y="1417019"/>
                </a:lnTo>
                <a:lnTo>
                  <a:pt x="615315" y="1415119"/>
                </a:lnTo>
                <a:lnTo>
                  <a:pt x="613093" y="1413219"/>
                </a:lnTo>
                <a:lnTo>
                  <a:pt x="610870" y="1410686"/>
                </a:lnTo>
                <a:lnTo>
                  <a:pt x="608965" y="1408154"/>
                </a:lnTo>
                <a:lnTo>
                  <a:pt x="607378" y="1405304"/>
                </a:lnTo>
                <a:lnTo>
                  <a:pt x="606108" y="1402771"/>
                </a:lnTo>
                <a:lnTo>
                  <a:pt x="605155" y="1399605"/>
                </a:lnTo>
                <a:lnTo>
                  <a:pt x="603885" y="1396439"/>
                </a:lnTo>
                <a:lnTo>
                  <a:pt x="603568" y="1393273"/>
                </a:lnTo>
                <a:lnTo>
                  <a:pt x="603250" y="1389790"/>
                </a:lnTo>
                <a:lnTo>
                  <a:pt x="603250" y="1002891"/>
                </a:lnTo>
                <a:lnTo>
                  <a:pt x="603568" y="999725"/>
                </a:lnTo>
                <a:lnTo>
                  <a:pt x="603885" y="996242"/>
                </a:lnTo>
                <a:lnTo>
                  <a:pt x="605155" y="993076"/>
                </a:lnTo>
                <a:lnTo>
                  <a:pt x="606108" y="990226"/>
                </a:lnTo>
                <a:lnTo>
                  <a:pt x="607378" y="987377"/>
                </a:lnTo>
                <a:lnTo>
                  <a:pt x="608965" y="984844"/>
                </a:lnTo>
                <a:lnTo>
                  <a:pt x="610870" y="982311"/>
                </a:lnTo>
                <a:lnTo>
                  <a:pt x="613093" y="979778"/>
                </a:lnTo>
                <a:lnTo>
                  <a:pt x="615315" y="977878"/>
                </a:lnTo>
                <a:lnTo>
                  <a:pt x="617855" y="975662"/>
                </a:lnTo>
                <a:lnTo>
                  <a:pt x="620713" y="974396"/>
                </a:lnTo>
                <a:lnTo>
                  <a:pt x="623570" y="972813"/>
                </a:lnTo>
                <a:lnTo>
                  <a:pt x="626745" y="971546"/>
                </a:lnTo>
                <a:lnTo>
                  <a:pt x="629920" y="970913"/>
                </a:lnTo>
                <a:lnTo>
                  <a:pt x="632777" y="970596"/>
                </a:lnTo>
                <a:lnTo>
                  <a:pt x="636270" y="969963"/>
                </a:lnTo>
                <a:close/>
                <a:moveTo>
                  <a:pt x="1027781" y="749300"/>
                </a:moveTo>
                <a:lnTo>
                  <a:pt x="1031278" y="749300"/>
                </a:lnTo>
                <a:lnTo>
                  <a:pt x="1236940" y="749300"/>
                </a:lnTo>
                <a:lnTo>
                  <a:pt x="1240437" y="749300"/>
                </a:lnTo>
                <a:lnTo>
                  <a:pt x="1243616" y="750251"/>
                </a:lnTo>
                <a:lnTo>
                  <a:pt x="1246476" y="750885"/>
                </a:lnTo>
                <a:lnTo>
                  <a:pt x="1249655" y="751837"/>
                </a:lnTo>
                <a:lnTo>
                  <a:pt x="1252516" y="753105"/>
                </a:lnTo>
                <a:lnTo>
                  <a:pt x="1255377" y="755007"/>
                </a:lnTo>
                <a:lnTo>
                  <a:pt x="1257920" y="756592"/>
                </a:lnTo>
                <a:lnTo>
                  <a:pt x="1260145" y="758812"/>
                </a:lnTo>
                <a:lnTo>
                  <a:pt x="1262370" y="761348"/>
                </a:lnTo>
                <a:lnTo>
                  <a:pt x="1264595" y="763567"/>
                </a:lnTo>
                <a:lnTo>
                  <a:pt x="1265867" y="766421"/>
                </a:lnTo>
                <a:lnTo>
                  <a:pt x="1267138" y="769274"/>
                </a:lnTo>
                <a:lnTo>
                  <a:pt x="1268410" y="772445"/>
                </a:lnTo>
                <a:lnTo>
                  <a:pt x="1269363" y="775615"/>
                </a:lnTo>
                <a:lnTo>
                  <a:pt x="1269681" y="778786"/>
                </a:lnTo>
                <a:lnTo>
                  <a:pt x="1269999" y="782273"/>
                </a:lnTo>
                <a:lnTo>
                  <a:pt x="1269999" y="1389744"/>
                </a:lnTo>
                <a:lnTo>
                  <a:pt x="1269681" y="1393231"/>
                </a:lnTo>
                <a:lnTo>
                  <a:pt x="1269363" y="1396402"/>
                </a:lnTo>
                <a:lnTo>
                  <a:pt x="1268410" y="1399572"/>
                </a:lnTo>
                <a:lnTo>
                  <a:pt x="1267138" y="1402743"/>
                </a:lnTo>
                <a:lnTo>
                  <a:pt x="1265867" y="1405279"/>
                </a:lnTo>
                <a:lnTo>
                  <a:pt x="1264595" y="1408133"/>
                </a:lnTo>
                <a:lnTo>
                  <a:pt x="1262370" y="1410669"/>
                </a:lnTo>
                <a:lnTo>
                  <a:pt x="1260145" y="1413206"/>
                </a:lnTo>
                <a:lnTo>
                  <a:pt x="1257920" y="1415108"/>
                </a:lnTo>
                <a:lnTo>
                  <a:pt x="1255377" y="1417010"/>
                </a:lnTo>
                <a:lnTo>
                  <a:pt x="1252516" y="1418595"/>
                </a:lnTo>
                <a:lnTo>
                  <a:pt x="1249655" y="1420181"/>
                </a:lnTo>
                <a:lnTo>
                  <a:pt x="1246476" y="1421132"/>
                </a:lnTo>
                <a:lnTo>
                  <a:pt x="1243616" y="1421766"/>
                </a:lnTo>
                <a:lnTo>
                  <a:pt x="1240437" y="1422400"/>
                </a:lnTo>
                <a:lnTo>
                  <a:pt x="1236940" y="1422400"/>
                </a:lnTo>
                <a:lnTo>
                  <a:pt x="1031278" y="1422400"/>
                </a:lnTo>
                <a:lnTo>
                  <a:pt x="1027781" y="1422400"/>
                </a:lnTo>
                <a:lnTo>
                  <a:pt x="1024602" y="1421766"/>
                </a:lnTo>
                <a:lnTo>
                  <a:pt x="1021424" y="1421132"/>
                </a:lnTo>
                <a:lnTo>
                  <a:pt x="1018245" y="1420181"/>
                </a:lnTo>
                <a:lnTo>
                  <a:pt x="1015384" y="1418595"/>
                </a:lnTo>
                <a:lnTo>
                  <a:pt x="1012841" y="1417010"/>
                </a:lnTo>
                <a:lnTo>
                  <a:pt x="1010298" y="1415108"/>
                </a:lnTo>
                <a:lnTo>
                  <a:pt x="1007755" y="1413206"/>
                </a:lnTo>
                <a:lnTo>
                  <a:pt x="1005848" y="1410669"/>
                </a:lnTo>
                <a:lnTo>
                  <a:pt x="1003941" y="1408133"/>
                </a:lnTo>
                <a:lnTo>
                  <a:pt x="1002351" y="1405279"/>
                </a:lnTo>
                <a:lnTo>
                  <a:pt x="1000762" y="1402743"/>
                </a:lnTo>
                <a:lnTo>
                  <a:pt x="999808" y="1399572"/>
                </a:lnTo>
                <a:lnTo>
                  <a:pt x="999173" y="1396402"/>
                </a:lnTo>
                <a:lnTo>
                  <a:pt x="998537" y="1393231"/>
                </a:lnTo>
                <a:lnTo>
                  <a:pt x="998537" y="1389744"/>
                </a:lnTo>
                <a:lnTo>
                  <a:pt x="998537" y="782273"/>
                </a:lnTo>
                <a:lnTo>
                  <a:pt x="998537" y="778786"/>
                </a:lnTo>
                <a:lnTo>
                  <a:pt x="999173" y="775615"/>
                </a:lnTo>
                <a:lnTo>
                  <a:pt x="999808" y="772445"/>
                </a:lnTo>
                <a:lnTo>
                  <a:pt x="1000762" y="769274"/>
                </a:lnTo>
                <a:lnTo>
                  <a:pt x="1002351" y="766421"/>
                </a:lnTo>
                <a:lnTo>
                  <a:pt x="1003941" y="763567"/>
                </a:lnTo>
                <a:lnTo>
                  <a:pt x="1005848" y="761348"/>
                </a:lnTo>
                <a:lnTo>
                  <a:pt x="1007755" y="758812"/>
                </a:lnTo>
                <a:lnTo>
                  <a:pt x="1010298" y="756592"/>
                </a:lnTo>
                <a:lnTo>
                  <a:pt x="1012841" y="755007"/>
                </a:lnTo>
                <a:lnTo>
                  <a:pt x="1015384" y="753105"/>
                </a:lnTo>
                <a:lnTo>
                  <a:pt x="1018245" y="751837"/>
                </a:lnTo>
                <a:lnTo>
                  <a:pt x="1021424" y="750885"/>
                </a:lnTo>
                <a:lnTo>
                  <a:pt x="1024602" y="750251"/>
                </a:lnTo>
                <a:lnTo>
                  <a:pt x="1027781" y="749300"/>
                </a:lnTo>
                <a:close/>
                <a:moveTo>
                  <a:pt x="2147065" y="665163"/>
                </a:moveTo>
                <a:lnTo>
                  <a:pt x="2154052" y="665163"/>
                </a:lnTo>
                <a:lnTo>
                  <a:pt x="2161038" y="665163"/>
                </a:lnTo>
                <a:lnTo>
                  <a:pt x="2168025" y="665798"/>
                </a:lnTo>
                <a:lnTo>
                  <a:pt x="2175011" y="666432"/>
                </a:lnTo>
                <a:lnTo>
                  <a:pt x="2181680" y="667702"/>
                </a:lnTo>
                <a:lnTo>
                  <a:pt x="2188349" y="669288"/>
                </a:lnTo>
                <a:lnTo>
                  <a:pt x="2194700" y="670875"/>
                </a:lnTo>
                <a:lnTo>
                  <a:pt x="2201369" y="673413"/>
                </a:lnTo>
                <a:lnTo>
                  <a:pt x="2207085" y="675952"/>
                </a:lnTo>
                <a:lnTo>
                  <a:pt x="2213437" y="678173"/>
                </a:lnTo>
                <a:lnTo>
                  <a:pt x="2219471" y="681346"/>
                </a:lnTo>
                <a:lnTo>
                  <a:pt x="2224869" y="684519"/>
                </a:lnTo>
                <a:lnTo>
                  <a:pt x="2230585" y="688327"/>
                </a:lnTo>
                <a:lnTo>
                  <a:pt x="2235666" y="692135"/>
                </a:lnTo>
                <a:lnTo>
                  <a:pt x="2241065" y="695943"/>
                </a:lnTo>
                <a:lnTo>
                  <a:pt x="2245829" y="700702"/>
                </a:lnTo>
                <a:lnTo>
                  <a:pt x="2250910" y="704828"/>
                </a:lnTo>
                <a:lnTo>
                  <a:pt x="2255356" y="709587"/>
                </a:lnTo>
                <a:lnTo>
                  <a:pt x="2259484" y="714347"/>
                </a:lnTo>
                <a:lnTo>
                  <a:pt x="2263612" y="719741"/>
                </a:lnTo>
                <a:lnTo>
                  <a:pt x="2267423" y="724819"/>
                </a:lnTo>
                <a:lnTo>
                  <a:pt x="2270916" y="730530"/>
                </a:lnTo>
                <a:lnTo>
                  <a:pt x="2274092" y="736559"/>
                </a:lnTo>
                <a:lnTo>
                  <a:pt x="2277268" y="742271"/>
                </a:lnTo>
                <a:lnTo>
                  <a:pt x="2280126" y="748300"/>
                </a:lnTo>
                <a:lnTo>
                  <a:pt x="2282666" y="754646"/>
                </a:lnTo>
                <a:lnTo>
                  <a:pt x="2284572" y="760992"/>
                </a:lnTo>
                <a:lnTo>
                  <a:pt x="2286477" y="767021"/>
                </a:lnTo>
                <a:lnTo>
                  <a:pt x="2287747" y="773685"/>
                </a:lnTo>
                <a:lnTo>
                  <a:pt x="2289018" y="780349"/>
                </a:lnTo>
                <a:lnTo>
                  <a:pt x="2289970" y="787330"/>
                </a:lnTo>
                <a:lnTo>
                  <a:pt x="2290605" y="794311"/>
                </a:lnTo>
                <a:lnTo>
                  <a:pt x="2290605" y="801292"/>
                </a:lnTo>
                <a:lnTo>
                  <a:pt x="2290605" y="1286150"/>
                </a:lnTo>
                <a:lnTo>
                  <a:pt x="2884137" y="1353738"/>
                </a:lnTo>
                <a:lnTo>
                  <a:pt x="2890488" y="1354055"/>
                </a:lnTo>
                <a:lnTo>
                  <a:pt x="2898110" y="1354372"/>
                </a:lnTo>
                <a:lnTo>
                  <a:pt x="2905732" y="1355007"/>
                </a:lnTo>
                <a:lnTo>
                  <a:pt x="2913353" y="1355642"/>
                </a:lnTo>
                <a:lnTo>
                  <a:pt x="2920657" y="1357228"/>
                </a:lnTo>
                <a:lnTo>
                  <a:pt x="2927644" y="1358815"/>
                </a:lnTo>
                <a:lnTo>
                  <a:pt x="2934948" y="1361036"/>
                </a:lnTo>
                <a:lnTo>
                  <a:pt x="2941934" y="1362940"/>
                </a:lnTo>
                <a:lnTo>
                  <a:pt x="2948603" y="1365796"/>
                </a:lnTo>
                <a:lnTo>
                  <a:pt x="2955272" y="1368969"/>
                </a:lnTo>
                <a:lnTo>
                  <a:pt x="2961941" y="1372142"/>
                </a:lnTo>
                <a:lnTo>
                  <a:pt x="2968292" y="1375633"/>
                </a:lnTo>
                <a:lnTo>
                  <a:pt x="2974008" y="1379758"/>
                </a:lnTo>
                <a:lnTo>
                  <a:pt x="2980042" y="1383883"/>
                </a:lnTo>
                <a:lnTo>
                  <a:pt x="2985758" y="1388008"/>
                </a:lnTo>
                <a:lnTo>
                  <a:pt x="2990839" y="1393085"/>
                </a:lnTo>
                <a:lnTo>
                  <a:pt x="2996238" y="1397845"/>
                </a:lnTo>
                <a:lnTo>
                  <a:pt x="3001319" y="1403239"/>
                </a:lnTo>
                <a:lnTo>
                  <a:pt x="3005765" y="1408316"/>
                </a:lnTo>
                <a:lnTo>
                  <a:pt x="3010529" y="1414345"/>
                </a:lnTo>
                <a:lnTo>
                  <a:pt x="3014657" y="1419739"/>
                </a:lnTo>
                <a:lnTo>
                  <a:pt x="3018468" y="1426086"/>
                </a:lnTo>
                <a:lnTo>
                  <a:pt x="3021961" y="1432432"/>
                </a:lnTo>
                <a:lnTo>
                  <a:pt x="3025454" y="1438778"/>
                </a:lnTo>
                <a:lnTo>
                  <a:pt x="3028312" y="1445125"/>
                </a:lnTo>
                <a:lnTo>
                  <a:pt x="3030853" y="1452106"/>
                </a:lnTo>
                <a:lnTo>
                  <a:pt x="3033393" y="1459087"/>
                </a:lnTo>
                <a:lnTo>
                  <a:pt x="3035616" y="1466067"/>
                </a:lnTo>
                <a:lnTo>
                  <a:pt x="3036887" y="1473366"/>
                </a:lnTo>
                <a:lnTo>
                  <a:pt x="3038474" y="1480664"/>
                </a:lnTo>
                <a:lnTo>
                  <a:pt x="3039427" y="1488280"/>
                </a:lnTo>
                <a:lnTo>
                  <a:pt x="3040062" y="1495895"/>
                </a:lnTo>
                <a:lnTo>
                  <a:pt x="3040062" y="1503511"/>
                </a:lnTo>
                <a:lnTo>
                  <a:pt x="3040062" y="2154008"/>
                </a:lnTo>
                <a:lnTo>
                  <a:pt x="3040062" y="2161623"/>
                </a:lnTo>
                <a:lnTo>
                  <a:pt x="3039427" y="2169556"/>
                </a:lnTo>
                <a:lnTo>
                  <a:pt x="3038474" y="2177172"/>
                </a:lnTo>
                <a:lnTo>
                  <a:pt x="3036887" y="2184470"/>
                </a:lnTo>
                <a:lnTo>
                  <a:pt x="3035616" y="2191451"/>
                </a:lnTo>
                <a:lnTo>
                  <a:pt x="3033393" y="2198749"/>
                </a:lnTo>
                <a:lnTo>
                  <a:pt x="3030853" y="2205730"/>
                </a:lnTo>
                <a:lnTo>
                  <a:pt x="3028312" y="2212394"/>
                </a:lnTo>
                <a:lnTo>
                  <a:pt x="3025454" y="2219057"/>
                </a:lnTo>
                <a:lnTo>
                  <a:pt x="3021961" y="2225404"/>
                </a:lnTo>
                <a:lnTo>
                  <a:pt x="3018468" y="2231433"/>
                </a:lnTo>
                <a:lnTo>
                  <a:pt x="3014657" y="2237779"/>
                </a:lnTo>
                <a:lnTo>
                  <a:pt x="3010529" y="2243808"/>
                </a:lnTo>
                <a:lnTo>
                  <a:pt x="3005765" y="2249202"/>
                </a:lnTo>
                <a:lnTo>
                  <a:pt x="3001319" y="2254597"/>
                </a:lnTo>
                <a:lnTo>
                  <a:pt x="2996238" y="2259674"/>
                </a:lnTo>
                <a:lnTo>
                  <a:pt x="2990839" y="2264433"/>
                </a:lnTo>
                <a:lnTo>
                  <a:pt x="2985758" y="2269510"/>
                </a:lnTo>
                <a:lnTo>
                  <a:pt x="2980042" y="2273953"/>
                </a:lnTo>
                <a:lnTo>
                  <a:pt x="2974008" y="2278078"/>
                </a:lnTo>
                <a:lnTo>
                  <a:pt x="2968292" y="2281886"/>
                </a:lnTo>
                <a:lnTo>
                  <a:pt x="2961941" y="2285376"/>
                </a:lnTo>
                <a:lnTo>
                  <a:pt x="2955272" y="2288867"/>
                </a:lnTo>
                <a:lnTo>
                  <a:pt x="2948603" y="2291723"/>
                </a:lnTo>
                <a:lnTo>
                  <a:pt x="2941934" y="2294578"/>
                </a:lnTo>
                <a:lnTo>
                  <a:pt x="2934948" y="2297117"/>
                </a:lnTo>
                <a:lnTo>
                  <a:pt x="2927644" y="2298703"/>
                </a:lnTo>
                <a:lnTo>
                  <a:pt x="2920657" y="2300607"/>
                </a:lnTo>
                <a:lnTo>
                  <a:pt x="2913353" y="2301877"/>
                </a:lnTo>
                <a:lnTo>
                  <a:pt x="2905732" y="2302829"/>
                </a:lnTo>
                <a:lnTo>
                  <a:pt x="2898110" y="2303146"/>
                </a:lnTo>
                <a:lnTo>
                  <a:pt x="2890488" y="2303463"/>
                </a:lnTo>
                <a:lnTo>
                  <a:pt x="2177552" y="2303463"/>
                </a:lnTo>
                <a:lnTo>
                  <a:pt x="2173423" y="2303146"/>
                </a:lnTo>
                <a:lnTo>
                  <a:pt x="2171200" y="2303146"/>
                </a:lnTo>
                <a:lnTo>
                  <a:pt x="2169613" y="2303146"/>
                </a:lnTo>
                <a:lnTo>
                  <a:pt x="2162944" y="2303146"/>
                </a:lnTo>
                <a:lnTo>
                  <a:pt x="2156275" y="2303146"/>
                </a:lnTo>
                <a:lnTo>
                  <a:pt x="2149924" y="2302511"/>
                </a:lnTo>
                <a:lnTo>
                  <a:pt x="2143572" y="2301559"/>
                </a:lnTo>
                <a:lnTo>
                  <a:pt x="2137538" y="2300607"/>
                </a:lnTo>
                <a:lnTo>
                  <a:pt x="2131187" y="2298703"/>
                </a:lnTo>
                <a:lnTo>
                  <a:pt x="2125153" y="2297117"/>
                </a:lnTo>
                <a:lnTo>
                  <a:pt x="2119437" y="2294896"/>
                </a:lnTo>
                <a:lnTo>
                  <a:pt x="2113403" y="2292040"/>
                </a:lnTo>
                <a:lnTo>
                  <a:pt x="2107370" y="2289501"/>
                </a:lnTo>
                <a:lnTo>
                  <a:pt x="2101971" y="2286645"/>
                </a:lnTo>
                <a:lnTo>
                  <a:pt x="2096572" y="2283155"/>
                </a:lnTo>
                <a:lnTo>
                  <a:pt x="2091491" y="2279665"/>
                </a:lnTo>
                <a:lnTo>
                  <a:pt x="2086093" y="2275222"/>
                </a:lnTo>
                <a:lnTo>
                  <a:pt x="2081329" y="2271097"/>
                </a:lnTo>
                <a:lnTo>
                  <a:pt x="2076883" y="2266972"/>
                </a:lnTo>
                <a:lnTo>
                  <a:pt x="1560520" y="1751334"/>
                </a:lnTo>
                <a:lnTo>
                  <a:pt x="1556074" y="1746574"/>
                </a:lnTo>
                <a:lnTo>
                  <a:pt x="1552263" y="1741815"/>
                </a:lnTo>
                <a:lnTo>
                  <a:pt x="1548135" y="1737055"/>
                </a:lnTo>
                <a:lnTo>
                  <a:pt x="1544642" y="1731661"/>
                </a:lnTo>
                <a:lnTo>
                  <a:pt x="1541466" y="1726583"/>
                </a:lnTo>
                <a:lnTo>
                  <a:pt x="1538291" y="1720872"/>
                </a:lnTo>
                <a:lnTo>
                  <a:pt x="1535432" y="1715477"/>
                </a:lnTo>
                <a:lnTo>
                  <a:pt x="1532892" y="1709766"/>
                </a:lnTo>
                <a:lnTo>
                  <a:pt x="1530987" y="1704054"/>
                </a:lnTo>
                <a:lnTo>
                  <a:pt x="1529081" y="1698342"/>
                </a:lnTo>
                <a:lnTo>
                  <a:pt x="1527493" y="1692631"/>
                </a:lnTo>
                <a:lnTo>
                  <a:pt x="1526223" y="1686919"/>
                </a:lnTo>
                <a:lnTo>
                  <a:pt x="1525270" y="1680890"/>
                </a:lnTo>
                <a:lnTo>
                  <a:pt x="1524635" y="1674544"/>
                </a:lnTo>
                <a:lnTo>
                  <a:pt x="1524000" y="1668515"/>
                </a:lnTo>
                <a:lnTo>
                  <a:pt x="1524000" y="1662803"/>
                </a:lnTo>
                <a:lnTo>
                  <a:pt x="1524000" y="1656774"/>
                </a:lnTo>
                <a:lnTo>
                  <a:pt x="1524635" y="1650428"/>
                </a:lnTo>
                <a:lnTo>
                  <a:pt x="1525270" y="1644716"/>
                </a:lnTo>
                <a:lnTo>
                  <a:pt x="1526223" y="1638687"/>
                </a:lnTo>
                <a:lnTo>
                  <a:pt x="1527493" y="1632658"/>
                </a:lnTo>
                <a:lnTo>
                  <a:pt x="1529081" y="1626946"/>
                </a:lnTo>
                <a:lnTo>
                  <a:pt x="1530987" y="1621235"/>
                </a:lnTo>
                <a:lnTo>
                  <a:pt x="1532892" y="1615523"/>
                </a:lnTo>
                <a:lnTo>
                  <a:pt x="1535432" y="1609811"/>
                </a:lnTo>
                <a:lnTo>
                  <a:pt x="1538291" y="1604417"/>
                </a:lnTo>
                <a:lnTo>
                  <a:pt x="1541466" y="1599023"/>
                </a:lnTo>
                <a:lnTo>
                  <a:pt x="1544642" y="1593628"/>
                </a:lnTo>
                <a:lnTo>
                  <a:pt x="1548135" y="1588551"/>
                </a:lnTo>
                <a:lnTo>
                  <a:pt x="1552263" y="1583474"/>
                </a:lnTo>
                <a:lnTo>
                  <a:pt x="1556074" y="1578714"/>
                </a:lnTo>
                <a:lnTo>
                  <a:pt x="1560520" y="1574272"/>
                </a:lnTo>
                <a:lnTo>
                  <a:pt x="1564966" y="1569830"/>
                </a:lnTo>
                <a:lnTo>
                  <a:pt x="1570047" y="1565705"/>
                </a:lnTo>
                <a:lnTo>
                  <a:pt x="1574811" y="1561897"/>
                </a:lnTo>
                <a:lnTo>
                  <a:pt x="1579574" y="1558406"/>
                </a:lnTo>
                <a:lnTo>
                  <a:pt x="1584973" y="1554916"/>
                </a:lnTo>
                <a:lnTo>
                  <a:pt x="1590054" y="1552060"/>
                </a:lnTo>
                <a:lnTo>
                  <a:pt x="1595770" y="1549521"/>
                </a:lnTo>
                <a:lnTo>
                  <a:pt x="1601486" y="1546666"/>
                </a:lnTo>
                <a:lnTo>
                  <a:pt x="1606885" y="1544444"/>
                </a:lnTo>
                <a:lnTo>
                  <a:pt x="1612919" y="1542858"/>
                </a:lnTo>
                <a:lnTo>
                  <a:pt x="1618635" y="1540954"/>
                </a:lnTo>
                <a:lnTo>
                  <a:pt x="1624669" y="1539685"/>
                </a:lnTo>
                <a:lnTo>
                  <a:pt x="1630702" y="1538733"/>
                </a:lnTo>
                <a:lnTo>
                  <a:pt x="1637054" y="1538098"/>
                </a:lnTo>
                <a:lnTo>
                  <a:pt x="1642770" y="1537463"/>
                </a:lnTo>
                <a:lnTo>
                  <a:pt x="1649121" y="1537146"/>
                </a:lnTo>
                <a:lnTo>
                  <a:pt x="1655473" y="1537463"/>
                </a:lnTo>
                <a:lnTo>
                  <a:pt x="1661824" y="1538098"/>
                </a:lnTo>
                <a:lnTo>
                  <a:pt x="1667858" y="1538733"/>
                </a:lnTo>
                <a:lnTo>
                  <a:pt x="1673891" y="1539685"/>
                </a:lnTo>
                <a:lnTo>
                  <a:pt x="1679925" y="1540954"/>
                </a:lnTo>
                <a:lnTo>
                  <a:pt x="1685641" y="1542858"/>
                </a:lnTo>
                <a:lnTo>
                  <a:pt x="1691675" y="1544444"/>
                </a:lnTo>
                <a:lnTo>
                  <a:pt x="1697391" y="1546666"/>
                </a:lnTo>
                <a:lnTo>
                  <a:pt x="1702790" y="1549521"/>
                </a:lnTo>
                <a:lnTo>
                  <a:pt x="1708506" y="1552060"/>
                </a:lnTo>
                <a:lnTo>
                  <a:pt x="1713587" y="1554916"/>
                </a:lnTo>
                <a:lnTo>
                  <a:pt x="1718986" y="1558406"/>
                </a:lnTo>
                <a:lnTo>
                  <a:pt x="1723749" y="1561897"/>
                </a:lnTo>
                <a:lnTo>
                  <a:pt x="1728513" y="1565705"/>
                </a:lnTo>
                <a:lnTo>
                  <a:pt x="1733594" y="1569830"/>
                </a:lnTo>
                <a:lnTo>
                  <a:pt x="1738040" y="1574272"/>
                </a:lnTo>
                <a:lnTo>
                  <a:pt x="2017816" y="1853827"/>
                </a:lnTo>
                <a:lnTo>
                  <a:pt x="2017816" y="801292"/>
                </a:lnTo>
                <a:lnTo>
                  <a:pt x="2018133" y="794311"/>
                </a:lnTo>
                <a:lnTo>
                  <a:pt x="2018451" y="787330"/>
                </a:lnTo>
                <a:lnTo>
                  <a:pt x="2019404" y="780349"/>
                </a:lnTo>
                <a:lnTo>
                  <a:pt x="2020674" y="773685"/>
                </a:lnTo>
                <a:lnTo>
                  <a:pt x="2021944" y="767021"/>
                </a:lnTo>
                <a:lnTo>
                  <a:pt x="2024167" y="760992"/>
                </a:lnTo>
                <a:lnTo>
                  <a:pt x="2026073" y="754646"/>
                </a:lnTo>
                <a:lnTo>
                  <a:pt x="2028613" y="748300"/>
                </a:lnTo>
                <a:lnTo>
                  <a:pt x="2031471" y="742271"/>
                </a:lnTo>
                <a:lnTo>
                  <a:pt x="2034329" y="736559"/>
                </a:lnTo>
                <a:lnTo>
                  <a:pt x="2037823" y="730530"/>
                </a:lnTo>
                <a:lnTo>
                  <a:pt x="2040998" y="724819"/>
                </a:lnTo>
                <a:lnTo>
                  <a:pt x="2045127" y="719741"/>
                </a:lnTo>
                <a:lnTo>
                  <a:pt x="2048937" y="714347"/>
                </a:lnTo>
                <a:lnTo>
                  <a:pt x="2053383" y="709587"/>
                </a:lnTo>
                <a:lnTo>
                  <a:pt x="2057829" y="704828"/>
                </a:lnTo>
                <a:lnTo>
                  <a:pt x="2062275" y="700702"/>
                </a:lnTo>
                <a:lnTo>
                  <a:pt x="2067674" y="695943"/>
                </a:lnTo>
                <a:lnTo>
                  <a:pt x="2072437" y="692135"/>
                </a:lnTo>
                <a:lnTo>
                  <a:pt x="2078154" y="688327"/>
                </a:lnTo>
                <a:lnTo>
                  <a:pt x="2083552" y="684519"/>
                </a:lnTo>
                <a:lnTo>
                  <a:pt x="2089268" y="681346"/>
                </a:lnTo>
                <a:lnTo>
                  <a:pt x="2095302" y="678173"/>
                </a:lnTo>
                <a:lnTo>
                  <a:pt x="2101018" y="675952"/>
                </a:lnTo>
                <a:lnTo>
                  <a:pt x="2107370" y="673413"/>
                </a:lnTo>
                <a:lnTo>
                  <a:pt x="2113721" y="670875"/>
                </a:lnTo>
                <a:lnTo>
                  <a:pt x="2120390" y="669288"/>
                </a:lnTo>
                <a:lnTo>
                  <a:pt x="2127059" y="667702"/>
                </a:lnTo>
                <a:lnTo>
                  <a:pt x="2133728" y="666432"/>
                </a:lnTo>
                <a:lnTo>
                  <a:pt x="2140079" y="665798"/>
                </a:lnTo>
                <a:lnTo>
                  <a:pt x="2147065" y="665163"/>
                </a:lnTo>
                <a:close/>
                <a:moveTo>
                  <a:pt x="1426690" y="484188"/>
                </a:moveTo>
                <a:lnTo>
                  <a:pt x="1631151" y="484188"/>
                </a:lnTo>
                <a:lnTo>
                  <a:pt x="1634627" y="484505"/>
                </a:lnTo>
                <a:lnTo>
                  <a:pt x="1637787" y="484822"/>
                </a:lnTo>
                <a:lnTo>
                  <a:pt x="1640947" y="485773"/>
                </a:lnTo>
                <a:lnTo>
                  <a:pt x="1644107" y="486725"/>
                </a:lnTo>
                <a:lnTo>
                  <a:pt x="1646635" y="488310"/>
                </a:lnTo>
                <a:lnTo>
                  <a:pt x="1649479" y="489895"/>
                </a:lnTo>
                <a:lnTo>
                  <a:pt x="1652008" y="491798"/>
                </a:lnTo>
                <a:lnTo>
                  <a:pt x="1654536" y="493700"/>
                </a:lnTo>
                <a:lnTo>
                  <a:pt x="1656432" y="496237"/>
                </a:lnTo>
                <a:lnTo>
                  <a:pt x="1658328" y="498773"/>
                </a:lnTo>
                <a:lnTo>
                  <a:pt x="1659908" y="501310"/>
                </a:lnTo>
                <a:lnTo>
                  <a:pt x="1661488" y="504164"/>
                </a:lnTo>
                <a:lnTo>
                  <a:pt x="1662436" y="507334"/>
                </a:lnTo>
                <a:lnTo>
                  <a:pt x="1663068" y="510505"/>
                </a:lnTo>
                <a:lnTo>
                  <a:pt x="1663700" y="513676"/>
                </a:lnTo>
                <a:lnTo>
                  <a:pt x="1663700" y="517164"/>
                </a:lnTo>
                <a:lnTo>
                  <a:pt x="1663700" y="1389743"/>
                </a:lnTo>
                <a:lnTo>
                  <a:pt x="1663700" y="1393231"/>
                </a:lnTo>
                <a:lnTo>
                  <a:pt x="1663068" y="1396401"/>
                </a:lnTo>
                <a:lnTo>
                  <a:pt x="1662436" y="1399572"/>
                </a:lnTo>
                <a:lnTo>
                  <a:pt x="1661488" y="1402743"/>
                </a:lnTo>
                <a:lnTo>
                  <a:pt x="1659908" y="1405279"/>
                </a:lnTo>
                <a:lnTo>
                  <a:pt x="1658328" y="1408133"/>
                </a:lnTo>
                <a:lnTo>
                  <a:pt x="1656432" y="1410669"/>
                </a:lnTo>
                <a:lnTo>
                  <a:pt x="1654536" y="1413206"/>
                </a:lnTo>
                <a:lnTo>
                  <a:pt x="1652008" y="1415108"/>
                </a:lnTo>
                <a:lnTo>
                  <a:pt x="1649479" y="1417011"/>
                </a:lnTo>
                <a:lnTo>
                  <a:pt x="1646635" y="1418596"/>
                </a:lnTo>
                <a:lnTo>
                  <a:pt x="1644107" y="1420182"/>
                </a:lnTo>
                <a:lnTo>
                  <a:pt x="1640947" y="1421133"/>
                </a:lnTo>
                <a:lnTo>
                  <a:pt x="1637787" y="1421767"/>
                </a:lnTo>
                <a:lnTo>
                  <a:pt x="1634627" y="1422401"/>
                </a:lnTo>
                <a:lnTo>
                  <a:pt x="1631151" y="1422401"/>
                </a:lnTo>
                <a:lnTo>
                  <a:pt x="1426690" y="1422401"/>
                </a:lnTo>
                <a:lnTo>
                  <a:pt x="1423214" y="1422401"/>
                </a:lnTo>
                <a:lnTo>
                  <a:pt x="1420054" y="1421767"/>
                </a:lnTo>
                <a:lnTo>
                  <a:pt x="1416894" y="1421133"/>
                </a:lnTo>
                <a:lnTo>
                  <a:pt x="1413734" y="1420182"/>
                </a:lnTo>
                <a:lnTo>
                  <a:pt x="1411206" y="1418596"/>
                </a:lnTo>
                <a:lnTo>
                  <a:pt x="1408362" y="1417011"/>
                </a:lnTo>
                <a:lnTo>
                  <a:pt x="1405834" y="1415108"/>
                </a:lnTo>
                <a:lnTo>
                  <a:pt x="1403622" y="1413206"/>
                </a:lnTo>
                <a:lnTo>
                  <a:pt x="1401409" y="1410669"/>
                </a:lnTo>
                <a:lnTo>
                  <a:pt x="1399513" y="1408133"/>
                </a:lnTo>
                <a:lnTo>
                  <a:pt x="1397933" y="1405279"/>
                </a:lnTo>
                <a:lnTo>
                  <a:pt x="1396669" y="1402743"/>
                </a:lnTo>
                <a:lnTo>
                  <a:pt x="1395405" y="1399572"/>
                </a:lnTo>
                <a:lnTo>
                  <a:pt x="1394457" y="1396401"/>
                </a:lnTo>
                <a:lnTo>
                  <a:pt x="1394141" y="1393231"/>
                </a:lnTo>
                <a:lnTo>
                  <a:pt x="1393825" y="1389743"/>
                </a:lnTo>
                <a:lnTo>
                  <a:pt x="1393825" y="517164"/>
                </a:lnTo>
                <a:lnTo>
                  <a:pt x="1394141" y="513676"/>
                </a:lnTo>
                <a:lnTo>
                  <a:pt x="1394457" y="510505"/>
                </a:lnTo>
                <a:lnTo>
                  <a:pt x="1395405" y="507334"/>
                </a:lnTo>
                <a:lnTo>
                  <a:pt x="1396669" y="504164"/>
                </a:lnTo>
                <a:lnTo>
                  <a:pt x="1397933" y="501310"/>
                </a:lnTo>
                <a:lnTo>
                  <a:pt x="1399513" y="498773"/>
                </a:lnTo>
                <a:lnTo>
                  <a:pt x="1401409" y="496237"/>
                </a:lnTo>
                <a:lnTo>
                  <a:pt x="1403622" y="493700"/>
                </a:lnTo>
                <a:lnTo>
                  <a:pt x="1405834" y="491798"/>
                </a:lnTo>
                <a:lnTo>
                  <a:pt x="1408362" y="489895"/>
                </a:lnTo>
                <a:lnTo>
                  <a:pt x="1411206" y="488310"/>
                </a:lnTo>
                <a:lnTo>
                  <a:pt x="1413734" y="486725"/>
                </a:lnTo>
                <a:lnTo>
                  <a:pt x="1416894" y="485773"/>
                </a:lnTo>
                <a:lnTo>
                  <a:pt x="1420054" y="484822"/>
                </a:lnTo>
                <a:lnTo>
                  <a:pt x="1423214" y="484505"/>
                </a:lnTo>
                <a:lnTo>
                  <a:pt x="1426690" y="484188"/>
                </a:lnTo>
                <a:close/>
                <a:moveTo>
                  <a:pt x="183794" y="0"/>
                </a:moveTo>
                <a:lnTo>
                  <a:pt x="193952" y="0"/>
                </a:lnTo>
                <a:lnTo>
                  <a:pt x="2827060" y="0"/>
                </a:lnTo>
                <a:lnTo>
                  <a:pt x="2837218" y="0"/>
                </a:lnTo>
                <a:lnTo>
                  <a:pt x="2847059" y="952"/>
                </a:lnTo>
                <a:lnTo>
                  <a:pt x="2856582" y="2539"/>
                </a:lnTo>
                <a:lnTo>
                  <a:pt x="2866105" y="4443"/>
                </a:lnTo>
                <a:lnTo>
                  <a:pt x="2875628" y="6982"/>
                </a:lnTo>
                <a:lnTo>
                  <a:pt x="2884516" y="10156"/>
                </a:lnTo>
                <a:lnTo>
                  <a:pt x="2893721" y="13964"/>
                </a:lnTo>
                <a:lnTo>
                  <a:pt x="2902292" y="17773"/>
                </a:lnTo>
                <a:lnTo>
                  <a:pt x="2911180" y="22851"/>
                </a:lnTo>
                <a:lnTo>
                  <a:pt x="2919433" y="27611"/>
                </a:lnTo>
                <a:lnTo>
                  <a:pt x="2927369" y="33324"/>
                </a:lnTo>
                <a:lnTo>
                  <a:pt x="2935623" y="39036"/>
                </a:lnTo>
                <a:lnTo>
                  <a:pt x="2942924" y="45384"/>
                </a:lnTo>
                <a:lnTo>
                  <a:pt x="2950225" y="52366"/>
                </a:lnTo>
                <a:lnTo>
                  <a:pt x="2957525" y="59665"/>
                </a:lnTo>
                <a:lnTo>
                  <a:pt x="2964192" y="67282"/>
                </a:lnTo>
                <a:lnTo>
                  <a:pt x="2970540" y="74899"/>
                </a:lnTo>
                <a:lnTo>
                  <a:pt x="2976571" y="83468"/>
                </a:lnTo>
                <a:lnTo>
                  <a:pt x="2982285" y="92037"/>
                </a:lnTo>
                <a:lnTo>
                  <a:pt x="2987682" y="101240"/>
                </a:lnTo>
                <a:lnTo>
                  <a:pt x="2992761" y="110444"/>
                </a:lnTo>
                <a:lnTo>
                  <a:pt x="2997522" y="119965"/>
                </a:lnTo>
                <a:lnTo>
                  <a:pt x="3001649" y="130121"/>
                </a:lnTo>
                <a:lnTo>
                  <a:pt x="3005458" y="140276"/>
                </a:lnTo>
                <a:lnTo>
                  <a:pt x="3008950" y="150749"/>
                </a:lnTo>
                <a:lnTo>
                  <a:pt x="3012124" y="161540"/>
                </a:lnTo>
                <a:lnTo>
                  <a:pt x="3014663" y="172330"/>
                </a:lnTo>
                <a:lnTo>
                  <a:pt x="3016885" y="183438"/>
                </a:lnTo>
                <a:lnTo>
                  <a:pt x="3018473" y="194546"/>
                </a:lnTo>
                <a:lnTo>
                  <a:pt x="3019742" y="205971"/>
                </a:lnTo>
                <a:lnTo>
                  <a:pt x="3020695" y="218031"/>
                </a:lnTo>
                <a:lnTo>
                  <a:pt x="3021012" y="229774"/>
                </a:lnTo>
                <a:lnTo>
                  <a:pt x="3021012" y="1276768"/>
                </a:lnTo>
                <a:lnTo>
                  <a:pt x="3013711" y="1272642"/>
                </a:lnTo>
                <a:lnTo>
                  <a:pt x="3006410" y="1268833"/>
                </a:lnTo>
                <a:lnTo>
                  <a:pt x="2999109" y="1265342"/>
                </a:lnTo>
                <a:lnTo>
                  <a:pt x="2991808" y="1262169"/>
                </a:lnTo>
                <a:lnTo>
                  <a:pt x="2983872" y="1258995"/>
                </a:lnTo>
                <a:lnTo>
                  <a:pt x="2976254" y="1256139"/>
                </a:lnTo>
                <a:lnTo>
                  <a:pt x="2968318" y="1253282"/>
                </a:lnTo>
                <a:lnTo>
                  <a:pt x="2960382" y="1251061"/>
                </a:lnTo>
                <a:lnTo>
                  <a:pt x="2952129" y="1248839"/>
                </a:lnTo>
                <a:lnTo>
                  <a:pt x="2944193" y="1247252"/>
                </a:lnTo>
                <a:lnTo>
                  <a:pt x="2935940" y="1245348"/>
                </a:lnTo>
                <a:lnTo>
                  <a:pt x="2927369" y="1244079"/>
                </a:lnTo>
                <a:lnTo>
                  <a:pt x="2919116" y="1242809"/>
                </a:lnTo>
                <a:lnTo>
                  <a:pt x="2910863" y="1242175"/>
                </a:lnTo>
                <a:lnTo>
                  <a:pt x="2901975" y="1241540"/>
                </a:lnTo>
                <a:lnTo>
                  <a:pt x="2893404" y="1241540"/>
                </a:lnTo>
                <a:lnTo>
                  <a:pt x="2646123" y="1213294"/>
                </a:lnTo>
                <a:lnTo>
                  <a:pt x="2646123" y="313876"/>
                </a:lnTo>
                <a:lnTo>
                  <a:pt x="374889" y="313876"/>
                </a:lnTo>
                <a:lnTo>
                  <a:pt x="374889" y="1959424"/>
                </a:lnTo>
                <a:lnTo>
                  <a:pt x="1610021" y="1959424"/>
                </a:lnTo>
                <a:lnTo>
                  <a:pt x="1923646" y="2273300"/>
                </a:lnTo>
                <a:lnTo>
                  <a:pt x="193952" y="2273300"/>
                </a:lnTo>
                <a:lnTo>
                  <a:pt x="183794" y="2273300"/>
                </a:lnTo>
                <a:lnTo>
                  <a:pt x="173953" y="2272348"/>
                </a:lnTo>
                <a:lnTo>
                  <a:pt x="164113" y="2270761"/>
                </a:lnTo>
                <a:lnTo>
                  <a:pt x="154908" y="2268857"/>
                </a:lnTo>
                <a:lnTo>
                  <a:pt x="145385" y="2266318"/>
                </a:lnTo>
                <a:lnTo>
                  <a:pt x="136496" y="2263144"/>
                </a:lnTo>
                <a:lnTo>
                  <a:pt x="127291" y="2259336"/>
                </a:lnTo>
                <a:lnTo>
                  <a:pt x="118720" y="2255528"/>
                </a:lnTo>
                <a:lnTo>
                  <a:pt x="109832" y="2250450"/>
                </a:lnTo>
                <a:lnTo>
                  <a:pt x="101579" y="2245689"/>
                </a:lnTo>
                <a:lnTo>
                  <a:pt x="93326" y="2240294"/>
                </a:lnTo>
                <a:lnTo>
                  <a:pt x="85390" y="2234264"/>
                </a:lnTo>
                <a:lnTo>
                  <a:pt x="77771" y="2227917"/>
                </a:lnTo>
                <a:lnTo>
                  <a:pt x="70470" y="2220935"/>
                </a:lnTo>
                <a:lnTo>
                  <a:pt x="63487" y="2213635"/>
                </a:lnTo>
                <a:lnTo>
                  <a:pt x="56821" y="2206018"/>
                </a:lnTo>
                <a:lnTo>
                  <a:pt x="50472" y="2198402"/>
                </a:lnTo>
                <a:lnTo>
                  <a:pt x="44441" y="2189833"/>
                </a:lnTo>
                <a:lnTo>
                  <a:pt x="38727" y="2181264"/>
                </a:lnTo>
                <a:lnTo>
                  <a:pt x="33013" y="2172060"/>
                </a:lnTo>
                <a:lnTo>
                  <a:pt x="28252" y="2162856"/>
                </a:lnTo>
                <a:lnTo>
                  <a:pt x="23490" y="2153335"/>
                </a:lnTo>
                <a:lnTo>
                  <a:pt x="19364" y="2143180"/>
                </a:lnTo>
                <a:lnTo>
                  <a:pt x="15237" y="2133024"/>
                </a:lnTo>
                <a:lnTo>
                  <a:pt x="11745" y="2122551"/>
                </a:lnTo>
                <a:lnTo>
                  <a:pt x="8888" y="2112078"/>
                </a:lnTo>
                <a:lnTo>
                  <a:pt x="6349" y="2100970"/>
                </a:lnTo>
                <a:lnTo>
                  <a:pt x="3809" y="2089862"/>
                </a:lnTo>
                <a:lnTo>
                  <a:pt x="2540" y="2078754"/>
                </a:lnTo>
                <a:lnTo>
                  <a:pt x="952" y="2067329"/>
                </a:lnTo>
                <a:lnTo>
                  <a:pt x="318" y="2055269"/>
                </a:lnTo>
                <a:lnTo>
                  <a:pt x="0" y="2043844"/>
                </a:lnTo>
                <a:lnTo>
                  <a:pt x="0" y="229774"/>
                </a:lnTo>
                <a:lnTo>
                  <a:pt x="318" y="218031"/>
                </a:lnTo>
                <a:lnTo>
                  <a:pt x="952" y="205971"/>
                </a:lnTo>
                <a:lnTo>
                  <a:pt x="2540" y="194546"/>
                </a:lnTo>
                <a:lnTo>
                  <a:pt x="3809" y="183438"/>
                </a:lnTo>
                <a:lnTo>
                  <a:pt x="6349" y="172330"/>
                </a:lnTo>
                <a:lnTo>
                  <a:pt x="8888" y="161540"/>
                </a:lnTo>
                <a:lnTo>
                  <a:pt x="11745" y="150749"/>
                </a:lnTo>
                <a:lnTo>
                  <a:pt x="15237" y="140276"/>
                </a:lnTo>
                <a:lnTo>
                  <a:pt x="19364" y="130121"/>
                </a:lnTo>
                <a:lnTo>
                  <a:pt x="23490" y="119965"/>
                </a:lnTo>
                <a:lnTo>
                  <a:pt x="28252" y="110444"/>
                </a:lnTo>
                <a:lnTo>
                  <a:pt x="33013" y="101240"/>
                </a:lnTo>
                <a:lnTo>
                  <a:pt x="38727" y="92037"/>
                </a:lnTo>
                <a:lnTo>
                  <a:pt x="44441" y="83468"/>
                </a:lnTo>
                <a:lnTo>
                  <a:pt x="50472" y="74899"/>
                </a:lnTo>
                <a:lnTo>
                  <a:pt x="56821" y="67282"/>
                </a:lnTo>
                <a:lnTo>
                  <a:pt x="63487" y="59665"/>
                </a:lnTo>
                <a:lnTo>
                  <a:pt x="70470" y="52366"/>
                </a:lnTo>
                <a:lnTo>
                  <a:pt x="77771" y="45384"/>
                </a:lnTo>
                <a:lnTo>
                  <a:pt x="85390" y="39036"/>
                </a:lnTo>
                <a:lnTo>
                  <a:pt x="93326" y="33324"/>
                </a:lnTo>
                <a:lnTo>
                  <a:pt x="101579" y="27611"/>
                </a:lnTo>
                <a:lnTo>
                  <a:pt x="109832" y="22851"/>
                </a:lnTo>
                <a:lnTo>
                  <a:pt x="118720" y="17773"/>
                </a:lnTo>
                <a:lnTo>
                  <a:pt x="127291" y="13964"/>
                </a:lnTo>
                <a:lnTo>
                  <a:pt x="136496" y="10156"/>
                </a:lnTo>
                <a:lnTo>
                  <a:pt x="145385" y="6982"/>
                </a:lnTo>
                <a:lnTo>
                  <a:pt x="154908" y="4443"/>
                </a:lnTo>
                <a:lnTo>
                  <a:pt x="164113" y="2539"/>
                </a:lnTo>
                <a:lnTo>
                  <a:pt x="173953" y="952"/>
                </a:lnTo>
                <a:lnTo>
                  <a:pt x="183794" y="0"/>
                </a:lnTo>
                <a:close/>
              </a:path>
            </a:pathLst>
          </a:custGeom>
          <a:solidFill>
            <a:srgbClr val="383F4E"/>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heel(1)">
                                      <p:cBhvr>
                                        <p:cTn id="7" dur="1000"/>
                                        <p:tgtEl>
                                          <p:spTgt spid="5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300"/>
                                        <p:tgtEl>
                                          <p:spTgt spid="3"/>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300"/>
                                        <p:tgtEl>
                                          <p:spTgt spid="4"/>
                                        </p:tgtEl>
                                      </p:cBhvr>
                                    </p:animEffect>
                                  </p:childTnLst>
                                </p:cTn>
                              </p:par>
                            </p:childTnLst>
                          </p:cTn>
                        </p:par>
                        <p:par>
                          <p:cTn id="28" fill="hold">
                            <p:stCondLst>
                              <p:cond delay="3500"/>
                            </p:stCondLst>
                            <p:childTnLst>
                              <p:par>
                                <p:cTn id="29" presetID="22" presetClass="entr" presetSubtype="2"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500"/>
                                        <p:tgtEl>
                                          <p:spTgt spid="7"/>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right)">
                                      <p:cBhvr>
                                        <p:cTn id="34" dur="500"/>
                                        <p:tgtEl>
                                          <p:spTgt spid="8"/>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500"/>
                                        <p:tgtEl>
                                          <p:spTgt spid="5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right)">
                                      <p:cBhvr>
                                        <p:cTn id="49" dur="500"/>
                                        <p:tgtEl>
                                          <p:spTgt spid="9"/>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right)">
                                      <p:cBhvr>
                                        <p:cTn id="52" dur="500"/>
                                        <p:tgtEl>
                                          <p:spTgt spid="10"/>
                                        </p:tgtEl>
                                      </p:cBhvr>
                                    </p:animEffect>
                                  </p:childTnLst>
                                </p:cTn>
                              </p:par>
                            </p:childTnLst>
                          </p:cTn>
                        </p:par>
                        <p:par>
                          <p:cTn id="53" fill="hold">
                            <p:stCondLst>
                              <p:cond delay="4000"/>
                            </p:stCondLst>
                            <p:childTnLst>
                              <p:par>
                                <p:cTn id="54" presetID="53" presetClass="entr" presetSubtype="16" fill="hold" grpId="0" nodeType="afterEffect">
                                  <p:stCondLst>
                                    <p:cond delay="0"/>
                                  </p:stCondLst>
                                  <p:childTnLst>
                                    <p:set>
                                      <p:cBhvr>
                                        <p:cTn id="55" dur="1" fill="hold">
                                          <p:stCondLst>
                                            <p:cond delay="0"/>
                                          </p:stCondLst>
                                        </p:cTn>
                                        <p:tgtEl>
                                          <p:spTgt spid="71"/>
                                        </p:tgtEl>
                                        <p:attrNameLst>
                                          <p:attrName>style.visibility</p:attrName>
                                        </p:attrNameLst>
                                      </p:cBhvr>
                                      <p:to>
                                        <p:strVal val="visible"/>
                                      </p:to>
                                    </p:set>
                                    <p:anim calcmode="lin" valueType="num">
                                      <p:cBhvr>
                                        <p:cTn id="56" dur="500" fill="hold"/>
                                        <p:tgtEl>
                                          <p:spTgt spid="71"/>
                                        </p:tgtEl>
                                        <p:attrNameLst>
                                          <p:attrName>ppt_w</p:attrName>
                                        </p:attrNameLst>
                                      </p:cBhvr>
                                      <p:tavLst>
                                        <p:tav tm="0">
                                          <p:val>
                                            <p:fltVal val="0"/>
                                          </p:val>
                                        </p:tav>
                                        <p:tav tm="100000">
                                          <p:val>
                                            <p:strVal val="#ppt_w"/>
                                          </p:val>
                                        </p:tav>
                                      </p:tavLst>
                                    </p:anim>
                                    <p:anim calcmode="lin" valueType="num">
                                      <p:cBhvr>
                                        <p:cTn id="57" dur="500" fill="hold"/>
                                        <p:tgtEl>
                                          <p:spTgt spid="71"/>
                                        </p:tgtEl>
                                        <p:attrNameLst>
                                          <p:attrName>ppt_h</p:attrName>
                                        </p:attrNameLst>
                                      </p:cBhvr>
                                      <p:tavLst>
                                        <p:tav tm="0">
                                          <p:val>
                                            <p:fltVal val="0"/>
                                          </p:val>
                                        </p:tav>
                                        <p:tav tm="100000">
                                          <p:val>
                                            <p:strVal val="#ppt_h"/>
                                          </p:val>
                                        </p:tav>
                                      </p:tavLst>
                                    </p:anim>
                                    <p:animEffect transition="in" filter="fade">
                                      <p:cBhvr>
                                        <p:cTn id="58" dur="500"/>
                                        <p:tgtEl>
                                          <p:spTgt spid="71"/>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anim calcmode="lin" valueType="num">
                                      <p:cBhvr>
                                        <p:cTn id="61" dur="500" fill="hold"/>
                                        <p:tgtEl>
                                          <p:spTgt spid="66"/>
                                        </p:tgtEl>
                                        <p:attrNameLst>
                                          <p:attrName>ppt_w</p:attrName>
                                        </p:attrNameLst>
                                      </p:cBhvr>
                                      <p:tavLst>
                                        <p:tav tm="0">
                                          <p:val>
                                            <p:fltVal val="0"/>
                                          </p:val>
                                        </p:tav>
                                        <p:tav tm="100000">
                                          <p:val>
                                            <p:strVal val="#ppt_w"/>
                                          </p:val>
                                        </p:tav>
                                      </p:tavLst>
                                    </p:anim>
                                    <p:anim calcmode="lin" valueType="num">
                                      <p:cBhvr>
                                        <p:cTn id="62" dur="500" fill="hold"/>
                                        <p:tgtEl>
                                          <p:spTgt spid="66"/>
                                        </p:tgtEl>
                                        <p:attrNameLst>
                                          <p:attrName>ppt_h</p:attrName>
                                        </p:attrNameLst>
                                      </p:cBhvr>
                                      <p:tavLst>
                                        <p:tav tm="0">
                                          <p:val>
                                            <p:fltVal val="0"/>
                                          </p:val>
                                        </p:tav>
                                        <p:tav tm="100000">
                                          <p:val>
                                            <p:strVal val="#ppt_h"/>
                                          </p:val>
                                        </p:tav>
                                      </p:tavLst>
                                    </p:anim>
                                    <p:animEffect transition="in" filter="fade">
                                      <p:cBhvr>
                                        <p:cTn id="63" dur="500"/>
                                        <p:tgtEl>
                                          <p:spTgt spid="66"/>
                                        </p:tgtEl>
                                      </p:cBhvr>
                                    </p:animEffect>
                                  </p:childTnLst>
                                </p:cTn>
                              </p:par>
                              <p:par>
                                <p:cTn id="64" presetID="53" presetClass="entr" presetSubtype="16" fill="hold" nodeType="withEffect">
                                  <p:stCondLst>
                                    <p:cond delay="0"/>
                                  </p:stCondLst>
                                  <p:childTnLst>
                                    <p:set>
                                      <p:cBhvr>
                                        <p:cTn id="65" dur="1" fill="hold">
                                          <p:stCondLst>
                                            <p:cond delay="0"/>
                                          </p:stCondLst>
                                        </p:cTn>
                                        <p:tgtEl>
                                          <p:spTgt spid="68"/>
                                        </p:tgtEl>
                                        <p:attrNameLst>
                                          <p:attrName>style.visibility</p:attrName>
                                        </p:attrNameLst>
                                      </p:cBhvr>
                                      <p:to>
                                        <p:strVal val="visible"/>
                                      </p:to>
                                    </p:set>
                                    <p:anim calcmode="lin" valueType="num">
                                      <p:cBhvr>
                                        <p:cTn id="66" dur="500" fill="hold"/>
                                        <p:tgtEl>
                                          <p:spTgt spid="68"/>
                                        </p:tgtEl>
                                        <p:attrNameLst>
                                          <p:attrName>ppt_w</p:attrName>
                                        </p:attrNameLst>
                                      </p:cBhvr>
                                      <p:tavLst>
                                        <p:tav tm="0">
                                          <p:val>
                                            <p:fltVal val="0"/>
                                          </p:val>
                                        </p:tav>
                                        <p:tav tm="100000">
                                          <p:val>
                                            <p:strVal val="#ppt_w"/>
                                          </p:val>
                                        </p:tav>
                                      </p:tavLst>
                                    </p:anim>
                                    <p:anim calcmode="lin" valueType="num">
                                      <p:cBhvr>
                                        <p:cTn id="67" dur="500" fill="hold"/>
                                        <p:tgtEl>
                                          <p:spTgt spid="68"/>
                                        </p:tgtEl>
                                        <p:attrNameLst>
                                          <p:attrName>ppt_h</p:attrName>
                                        </p:attrNameLst>
                                      </p:cBhvr>
                                      <p:tavLst>
                                        <p:tav tm="0">
                                          <p:val>
                                            <p:fltVal val="0"/>
                                          </p:val>
                                        </p:tav>
                                        <p:tav tm="100000">
                                          <p:val>
                                            <p:strVal val="#ppt_h"/>
                                          </p:val>
                                        </p:tav>
                                      </p:tavLst>
                                    </p:anim>
                                    <p:animEffect transition="in" filter="fade">
                                      <p:cBhvr>
                                        <p:cTn id="68" dur="500"/>
                                        <p:tgtEl>
                                          <p:spTgt spid="68"/>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p:cTn id="71" dur="500" fill="hold"/>
                                        <p:tgtEl>
                                          <p:spTgt spid="67"/>
                                        </p:tgtEl>
                                        <p:attrNameLst>
                                          <p:attrName>ppt_w</p:attrName>
                                        </p:attrNameLst>
                                      </p:cBhvr>
                                      <p:tavLst>
                                        <p:tav tm="0">
                                          <p:val>
                                            <p:fltVal val="0"/>
                                          </p:val>
                                        </p:tav>
                                        <p:tav tm="100000">
                                          <p:val>
                                            <p:strVal val="#ppt_w"/>
                                          </p:val>
                                        </p:tav>
                                      </p:tavLst>
                                    </p:anim>
                                    <p:anim calcmode="lin" valueType="num">
                                      <p:cBhvr>
                                        <p:cTn id="72" dur="500" fill="hold"/>
                                        <p:tgtEl>
                                          <p:spTgt spid="67"/>
                                        </p:tgtEl>
                                        <p:attrNameLst>
                                          <p:attrName>ppt_h</p:attrName>
                                        </p:attrNameLst>
                                      </p:cBhvr>
                                      <p:tavLst>
                                        <p:tav tm="0">
                                          <p:val>
                                            <p:fltVal val="0"/>
                                          </p:val>
                                        </p:tav>
                                        <p:tav tm="100000">
                                          <p:val>
                                            <p:strVal val="#ppt_h"/>
                                          </p:val>
                                        </p:tav>
                                      </p:tavLst>
                                    </p:anim>
                                    <p:animEffect transition="in" filter="fade">
                                      <p:cBhvr>
                                        <p:cTn id="73" dur="500"/>
                                        <p:tgtEl>
                                          <p:spTgt spid="67"/>
                                        </p:tgtEl>
                                      </p:cBhvr>
                                    </p:animEffect>
                                  </p:childTnLst>
                                </p:cTn>
                              </p:par>
                            </p:childTnLst>
                          </p:cTn>
                        </p:par>
                        <p:par>
                          <p:cTn id="74" fill="hold">
                            <p:stCondLst>
                              <p:cond delay="4500"/>
                            </p:stCondLst>
                            <p:childTnLst>
                              <p:par>
                                <p:cTn id="75" presetID="10" presetClass="entr" presetSubtype="0" fill="hold" grpId="0" nodeType="afterEffect">
                                  <p:stCondLst>
                                    <p:cond delay="0"/>
                                  </p:stCondLst>
                                  <p:childTnLst>
                                    <p:set>
                                      <p:cBhvr>
                                        <p:cTn id="76" dur="1" fill="hold">
                                          <p:stCondLst>
                                            <p:cond delay="0"/>
                                          </p:stCondLst>
                                        </p:cTn>
                                        <p:tgtEl>
                                          <p:spTgt spid="58"/>
                                        </p:tgtEl>
                                        <p:attrNameLst>
                                          <p:attrName>style.visibility</p:attrName>
                                        </p:attrNameLst>
                                      </p:cBhvr>
                                      <p:to>
                                        <p:strVal val="visible"/>
                                      </p:to>
                                    </p:set>
                                    <p:animEffect transition="in" filter="fade">
                                      <p:cBhvr>
                                        <p:cTn id="77" dur="500"/>
                                        <p:tgtEl>
                                          <p:spTgt spid="5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9"/>
                                        </p:tgtEl>
                                        <p:attrNameLst>
                                          <p:attrName>style.visibility</p:attrName>
                                        </p:attrNameLst>
                                      </p:cBhvr>
                                      <p:to>
                                        <p:strVal val="visible"/>
                                      </p:to>
                                    </p:set>
                                    <p:animEffect transition="in" filter="fade">
                                      <p:cBhvr>
                                        <p:cTn id="80" dur="500"/>
                                        <p:tgtEl>
                                          <p:spTgt spid="5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0"/>
                                        </p:tgtEl>
                                        <p:attrNameLst>
                                          <p:attrName>style.visibility</p:attrName>
                                        </p:attrNameLst>
                                      </p:cBhvr>
                                      <p:to>
                                        <p:strVal val="visible"/>
                                      </p:to>
                                    </p:set>
                                    <p:animEffect transition="in" filter="fade">
                                      <p:cBhvr>
                                        <p:cTn id="83" dur="500"/>
                                        <p:tgtEl>
                                          <p:spTgt spid="6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1"/>
                                        </p:tgtEl>
                                        <p:attrNameLst>
                                          <p:attrName>style.visibility</p:attrName>
                                        </p:attrNameLst>
                                      </p:cBhvr>
                                      <p:to>
                                        <p:strVal val="visible"/>
                                      </p:to>
                                    </p:set>
                                    <p:animEffect transition="in" filter="fade">
                                      <p:cBhvr>
                                        <p:cTn id="86" dur="500"/>
                                        <p:tgtEl>
                                          <p:spTgt spid="6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animEffect transition="in" filter="fade">
                                      <p:cBhvr>
                                        <p:cTn id="89" dur="500"/>
                                        <p:tgtEl>
                                          <p:spTgt spid="6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animEffect transition="in" filter="fade">
                                      <p:cBhvr>
                                        <p:cTn id="92" dur="500"/>
                                        <p:tgtEl>
                                          <p:spTgt spid="6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4"/>
                                        </p:tgtEl>
                                        <p:attrNameLst>
                                          <p:attrName>style.visibility</p:attrName>
                                        </p:attrNameLst>
                                      </p:cBhvr>
                                      <p:to>
                                        <p:strVal val="visible"/>
                                      </p:to>
                                    </p:set>
                                    <p:animEffect transition="in" filter="fade">
                                      <p:cBhvr>
                                        <p:cTn id="95" dur="500"/>
                                        <p:tgtEl>
                                          <p:spTgt spid="6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5"/>
                                        </p:tgtEl>
                                        <p:attrNameLst>
                                          <p:attrName>style.visibility</p:attrName>
                                        </p:attrNameLst>
                                      </p:cBhvr>
                                      <p:to>
                                        <p:strVal val="visible"/>
                                      </p:to>
                                    </p:set>
                                    <p:animEffect transition="in" filter="fade">
                                      <p:cBhvr>
                                        <p:cTn id="98"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bldLvl="0" animBg="1"/>
      <p:bldP spid="9" grpId="0" bldLvl="0" animBg="1"/>
      <p:bldP spid="10" grpId="0" bldLvl="0" animBg="1"/>
      <p:bldP spid="11" grpId="0" bldLvl="0" animBg="1"/>
      <p:bldP spid="12" grpId="0" bldLvl="0" animBg="1"/>
      <p:bldP spid="7" grpId="0" bldLvl="0" animBg="1"/>
      <p:bldP spid="8" grpId="0" bldLvl="0" animBg="1"/>
      <p:bldP spid="55" grpId="0" bldLvl="0" animBg="1"/>
      <p:bldP spid="56" grpId="0" bldLvl="0" animBg="1"/>
      <p:bldP spid="57" grpId="0" bldLvl="0" animBg="1"/>
      <p:bldP spid="58" grpId="0"/>
      <p:bldP spid="59" grpId="0"/>
      <p:bldP spid="60" grpId="0"/>
      <p:bldP spid="61" grpId="0"/>
      <p:bldP spid="62" grpId="0"/>
      <p:bldP spid="63" grpId="0"/>
      <p:bldP spid="64" grpId="0"/>
      <p:bldP spid="65" grpId="0"/>
      <p:bldP spid="66" grpId="0" bldLvl="0" animBg="1"/>
      <p:bldP spid="67" grpId="0" bldLvl="0" animBg="1"/>
      <p:bldP spid="71"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5431706" y="2979488"/>
            <a:ext cx="1402080" cy="1568450"/>
          </a:xfrm>
          <a:prstGeom prst="rect">
            <a:avLst/>
          </a:prstGeom>
        </p:spPr>
        <p:txBody>
          <a:bodyPr wrap="none">
            <a:spAutoFit/>
          </a:bodyPr>
          <a:lstStyle/>
          <a:p>
            <a:pPr algn="ctr"/>
            <a:r>
              <a:rPr lang="zh-CN" altLang="en-US" sz="4800" b="1" dirty="0">
                <a:solidFill>
                  <a:srgbClr val="383F4E"/>
                </a:solidFill>
                <a:latin typeface="微软雅黑" panose="020B0503020204020204" pitchFamily="34" charset="-122"/>
                <a:ea typeface="微软雅黑" panose="020B0503020204020204" pitchFamily="34" charset="-122"/>
              </a:rPr>
              <a:t>未来</a:t>
            </a:r>
            <a:endParaRPr lang="en-US" altLang="zh-CN" sz="4800" b="1" dirty="0">
              <a:solidFill>
                <a:srgbClr val="383F4E"/>
              </a:solidFill>
              <a:latin typeface="微软雅黑" panose="020B0503020204020204" pitchFamily="34" charset="-122"/>
              <a:ea typeface="微软雅黑" panose="020B0503020204020204" pitchFamily="34" charset="-122"/>
            </a:endParaRPr>
          </a:p>
          <a:p>
            <a:pPr algn="ctr"/>
            <a:r>
              <a:rPr lang="zh-CN" altLang="en-US" sz="4800" b="1" dirty="0">
                <a:solidFill>
                  <a:srgbClr val="383F4E"/>
                </a:solidFill>
                <a:latin typeface="微软雅黑" panose="020B0503020204020204" pitchFamily="34" charset="-122"/>
                <a:ea typeface="微软雅黑" panose="020B0503020204020204" pitchFamily="34" charset="-122"/>
              </a:rPr>
              <a:t>发展</a:t>
            </a:r>
          </a:p>
        </p:txBody>
      </p:sp>
      <p:sp>
        <p:nvSpPr>
          <p:cNvPr id="44" name="矩形 43"/>
          <p:cNvSpPr/>
          <p:nvPr/>
        </p:nvSpPr>
        <p:spPr>
          <a:xfrm>
            <a:off x="481330" y="1361440"/>
            <a:ext cx="1598295" cy="2461260"/>
          </a:xfrm>
          <a:prstGeom prst="rect">
            <a:avLst/>
          </a:prstGeom>
        </p:spPr>
        <p:txBody>
          <a:bodyPr wrap="square">
            <a:spAutoFit/>
          </a:bodyPr>
          <a:lstStyle/>
          <a:p>
            <a:pPr algn="ctr"/>
            <a:r>
              <a:rPr lang="zh-CN" altLang="en-US" sz="2200" dirty="0">
                <a:latin typeface="微软雅黑" panose="020B0503020204020204" pitchFamily="34" charset="-122"/>
                <a:ea typeface="微软雅黑" panose="020B0503020204020204" pitchFamily="34" charset="-122"/>
              </a:rPr>
              <a:t>本公司是一家处于创始阶段及处于高赢利发展阶段以及商品增值研发创新公司</a:t>
            </a:r>
            <a:endParaRPr lang="zh-CN" altLang="en-US" sz="2200" dirty="0"/>
          </a:p>
        </p:txBody>
      </p:sp>
      <p:sp>
        <p:nvSpPr>
          <p:cNvPr id="63" name="文本框 62"/>
          <p:cNvSpPr txBox="1"/>
          <p:nvPr/>
        </p:nvSpPr>
        <p:spPr>
          <a:xfrm>
            <a:off x="12623599" y="12572332"/>
            <a:ext cx="240665" cy="368300"/>
          </a:xfrm>
          <a:prstGeom prst="rect">
            <a:avLst/>
          </a:prstGeom>
          <a:noFill/>
        </p:spPr>
        <p:txBody>
          <a:bodyPr wrap="none" rtlCol="0">
            <a:spAutoFit/>
          </a:bodyPr>
          <a:lstStyle/>
          <a:p>
            <a:r>
              <a:rPr lang="en-US" altLang="zh-CN" dirty="0"/>
              <a:t>.</a:t>
            </a:r>
            <a:endParaRPr lang="zh-CN" altLang="en-US" dirty="0"/>
          </a:p>
        </p:txBody>
      </p:sp>
      <p:sp>
        <p:nvSpPr>
          <p:cNvPr id="67" name="矩形 66"/>
          <p:cNvSpPr/>
          <p:nvPr/>
        </p:nvSpPr>
        <p:spPr>
          <a:xfrm>
            <a:off x="1713251" y="374796"/>
            <a:ext cx="3840480" cy="645160"/>
          </a:xfrm>
          <a:prstGeom prst="rect">
            <a:avLst/>
          </a:prstGeom>
        </p:spPr>
        <p:txBody>
          <a:bodyPr wrap="none">
            <a:spAutoFit/>
          </a:bodyPr>
          <a:lstStyle/>
          <a:p>
            <a:r>
              <a:rPr lang="zh-CN" altLang="en-US" sz="3600" b="1" dirty="0">
                <a:solidFill>
                  <a:srgbClr val="333333"/>
                </a:solidFill>
                <a:latin typeface="微软雅黑" panose="020B0503020204020204" pitchFamily="34" charset="-122"/>
                <a:ea typeface="微软雅黑" panose="020B0503020204020204" pitchFamily="34" charset="-122"/>
              </a:rPr>
              <a:t>企业未来发展策略</a:t>
            </a:r>
            <a:endParaRPr lang="zh-CN" altLang="en-US" sz="3600" b="1" dirty="0"/>
          </a:p>
        </p:txBody>
      </p:sp>
      <p:sp>
        <p:nvSpPr>
          <p:cNvPr id="10" name="矩形 9"/>
          <p:cNvSpPr>
            <a:spLocks noChangeAspect="1"/>
          </p:cNvSpPr>
          <p:nvPr/>
        </p:nvSpPr>
        <p:spPr>
          <a:xfrm rot="2700000">
            <a:off x="2503557" y="2799174"/>
            <a:ext cx="2047613" cy="2046982"/>
          </a:xfrm>
          <a:prstGeom prst="rect">
            <a:avLst/>
          </a:prstGeom>
          <a:blipFill dpi="0" rotWithShape="0">
            <a:blip r:embed="rId3" cstate="print">
              <a:extLst>
                <a:ext uri="{28A0092B-C50C-407E-A947-70E740481C1C}">
                  <a14:useLocalDpi xmlns:a14="http://schemas.microsoft.com/office/drawing/2010/main"/>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11" name="矩形 10"/>
          <p:cNvSpPr>
            <a:spLocks noChangeAspect="1"/>
          </p:cNvSpPr>
          <p:nvPr/>
        </p:nvSpPr>
        <p:spPr>
          <a:xfrm rot="2700000">
            <a:off x="7707957" y="2799174"/>
            <a:ext cx="2047613" cy="2046982"/>
          </a:xfrm>
          <a:prstGeom prst="rect">
            <a:avLst/>
          </a:prstGeom>
          <a:blipFill dpi="0" rotWithShape="0">
            <a:blip r:embed="rId4" cstate="print">
              <a:extLst>
                <a:ext uri="{28A0092B-C50C-407E-A947-70E740481C1C}">
                  <a14:useLocalDpi xmlns:a14="http://schemas.microsoft.com/office/drawing/2010/main"/>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grpSp>
        <p:nvGrpSpPr>
          <p:cNvPr id="12" name="组合 11"/>
          <p:cNvGrpSpPr/>
          <p:nvPr/>
        </p:nvGrpSpPr>
        <p:grpSpPr>
          <a:xfrm>
            <a:off x="4150930" y="1845314"/>
            <a:ext cx="1637586" cy="1638092"/>
            <a:chOff x="3726016" y="2142170"/>
            <a:chExt cx="1638090" cy="1638091"/>
          </a:xfrm>
        </p:grpSpPr>
        <p:sp>
          <p:nvSpPr>
            <p:cNvPr id="2" name="矩形 1"/>
            <p:cNvSpPr>
              <a:spLocks noChangeAspect="1"/>
            </p:cNvSpPr>
            <p:nvPr/>
          </p:nvSpPr>
          <p:spPr>
            <a:xfrm rot="2700000">
              <a:off x="3726015" y="2142170"/>
              <a:ext cx="1638091" cy="1638090"/>
            </a:xfrm>
            <a:prstGeom prst="rect">
              <a:avLst/>
            </a:prstGeom>
            <a:solidFill>
              <a:srgbClr val="383F4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1600">
                <a:solidFill>
                  <a:prstClr val="white"/>
                </a:solidFill>
                <a:latin typeface="Calibri" panose="020F0502020204030204"/>
                <a:ea typeface="宋体" panose="02010600030101010101" pitchFamily="2" charset="-122"/>
              </a:endParaRPr>
            </a:p>
          </p:txBody>
        </p:sp>
        <p:sp>
          <p:nvSpPr>
            <p:cNvPr id="3" name="Freeform 48"/>
            <p:cNvSpPr>
              <a:spLocks noEditPoints="1"/>
            </p:cNvSpPr>
            <p:nvPr/>
          </p:nvSpPr>
          <p:spPr bwMode="auto">
            <a:xfrm>
              <a:off x="4211128" y="2206194"/>
              <a:ext cx="486368" cy="465551"/>
            </a:xfrm>
            <a:custGeom>
              <a:avLst/>
              <a:gdLst>
                <a:gd name="T0" fmla="*/ 419 w 628"/>
                <a:gd name="T1" fmla="*/ 232 h 600"/>
                <a:gd name="T2" fmla="*/ 411 w 628"/>
                <a:gd name="T3" fmla="*/ 249 h 600"/>
                <a:gd name="T4" fmla="*/ 408 w 628"/>
                <a:gd name="T5" fmla="*/ 261 h 600"/>
                <a:gd name="T6" fmla="*/ 409 w 628"/>
                <a:gd name="T7" fmla="*/ 283 h 600"/>
                <a:gd name="T8" fmla="*/ 417 w 628"/>
                <a:gd name="T9" fmla="*/ 304 h 600"/>
                <a:gd name="T10" fmla="*/ 424 w 628"/>
                <a:gd name="T11" fmla="*/ 315 h 600"/>
                <a:gd name="T12" fmla="*/ 441 w 628"/>
                <a:gd name="T13" fmla="*/ 330 h 600"/>
                <a:gd name="T14" fmla="*/ 453 w 628"/>
                <a:gd name="T15" fmla="*/ 335 h 600"/>
                <a:gd name="T16" fmla="*/ 478 w 628"/>
                <a:gd name="T17" fmla="*/ 200 h 600"/>
                <a:gd name="T18" fmla="*/ 449 w 628"/>
                <a:gd name="T19" fmla="*/ 206 h 600"/>
                <a:gd name="T20" fmla="*/ 433 w 628"/>
                <a:gd name="T21" fmla="*/ 216 h 600"/>
                <a:gd name="T22" fmla="*/ 425 w 628"/>
                <a:gd name="T23" fmla="*/ 224 h 600"/>
                <a:gd name="T24" fmla="*/ 384 w 628"/>
                <a:gd name="T25" fmla="*/ 70 h 600"/>
                <a:gd name="T26" fmla="*/ 314 w 628"/>
                <a:gd name="T27" fmla="*/ 140 h 600"/>
                <a:gd name="T28" fmla="*/ 379 w 628"/>
                <a:gd name="T29" fmla="*/ 283 h 600"/>
                <a:gd name="T30" fmla="*/ 379 w 628"/>
                <a:gd name="T31" fmla="*/ 254 h 600"/>
                <a:gd name="T32" fmla="*/ 359 w 628"/>
                <a:gd name="T33" fmla="*/ 154 h 600"/>
                <a:gd name="T34" fmla="*/ 250 w 628"/>
                <a:gd name="T35" fmla="*/ 270 h 600"/>
                <a:gd name="T36" fmla="*/ 314 w 628"/>
                <a:gd name="T37" fmla="*/ 396 h 600"/>
                <a:gd name="T38" fmla="*/ 282 w 628"/>
                <a:gd name="T39" fmla="*/ 400 h 600"/>
                <a:gd name="T40" fmla="*/ 267 w 628"/>
                <a:gd name="T41" fmla="*/ 382 h 600"/>
                <a:gd name="T42" fmla="*/ 257 w 628"/>
                <a:gd name="T43" fmla="*/ 374 h 600"/>
                <a:gd name="T44" fmla="*/ 214 w 628"/>
                <a:gd name="T45" fmla="*/ 356 h 600"/>
                <a:gd name="T46" fmla="*/ 195 w 628"/>
                <a:gd name="T47" fmla="*/ 354 h 600"/>
                <a:gd name="T48" fmla="*/ 0 w 628"/>
                <a:gd name="T49" fmla="*/ 600 h 600"/>
                <a:gd name="T50" fmla="*/ 83 w 628"/>
                <a:gd name="T51" fmla="*/ 454 h 600"/>
                <a:gd name="T52" fmla="*/ 216 w 628"/>
                <a:gd name="T53" fmla="*/ 454 h 600"/>
                <a:gd name="T54" fmla="*/ 301 w 628"/>
                <a:gd name="T55" fmla="*/ 600 h 600"/>
                <a:gd name="T56" fmla="*/ 282 w 628"/>
                <a:gd name="T57" fmla="*/ 400 h 600"/>
                <a:gd name="T58" fmla="*/ 433 w 628"/>
                <a:gd name="T59" fmla="*/ 354 h 600"/>
                <a:gd name="T60" fmla="*/ 413 w 628"/>
                <a:gd name="T61" fmla="*/ 356 h 600"/>
                <a:gd name="T62" fmla="*/ 361 w 628"/>
                <a:gd name="T63" fmla="*/ 382 h 600"/>
                <a:gd name="T64" fmla="*/ 353 w 628"/>
                <a:gd name="T65" fmla="*/ 391 h 600"/>
                <a:gd name="T66" fmla="*/ 389 w 628"/>
                <a:gd name="T67" fmla="*/ 600 h 600"/>
                <a:gd name="T68" fmla="*/ 410 w 628"/>
                <a:gd name="T69" fmla="*/ 600 h 600"/>
                <a:gd name="T70" fmla="*/ 564 w 628"/>
                <a:gd name="T71" fmla="*/ 454 h 600"/>
                <a:gd name="T72" fmla="*/ 628 w 628"/>
                <a:gd name="T73" fmla="*/ 460 h 600"/>
                <a:gd name="T74" fmla="*/ 151 w 628"/>
                <a:gd name="T75" fmla="*/ 340 h 600"/>
                <a:gd name="T76" fmla="*/ 186 w 628"/>
                <a:gd name="T77" fmla="*/ 330 h 600"/>
                <a:gd name="T78" fmla="*/ 196 w 628"/>
                <a:gd name="T79" fmla="*/ 323 h 600"/>
                <a:gd name="T80" fmla="*/ 216 w 628"/>
                <a:gd name="T81" fmla="*/ 295 h 600"/>
                <a:gd name="T82" fmla="*/ 219 w 628"/>
                <a:gd name="T83" fmla="*/ 281 h 600"/>
                <a:gd name="T84" fmla="*/ 219 w 628"/>
                <a:gd name="T85" fmla="*/ 258 h 600"/>
                <a:gd name="T86" fmla="*/ 214 w 628"/>
                <a:gd name="T87" fmla="*/ 241 h 600"/>
                <a:gd name="T88" fmla="*/ 208 w 628"/>
                <a:gd name="T89" fmla="*/ 231 h 600"/>
                <a:gd name="T90" fmla="*/ 195 w 628"/>
                <a:gd name="T91" fmla="*/ 217 h 600"/>
                <a:gd name="T92" fmla="*/ 186 w 628"/>
                <a:gd name="T93" fmla="*/ 210 h 600"/>
                <a:gd name="T94" fmla="*/ 151 w 628"/>
                <a:gd name="T95" fmla="*/ 2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8" h="600">
                  <a:moveTo>
                    <a:pt x="425" y="224"/>
                  </a:moveTo>
                  <a:cubicBezTo>
                    <a:pt x="423" y="226"/>
                    <a:pt x="421" y="229"/>
                    <a:pt x="420" y="231"/>
                  </a:cubicBezTo>
                  <a:cubicBezTo>
                    <a:pt x="419" y="231"/>
                    <a:pt x="419" y="232"/>
                    <a:pt x="419" y="232"/>
                  </a:cubicBezTo>
                  <a:cubicBezTo>
                    <a:pt x="418" y="234"/>
                    <a:pt x="416" y="236"/>
                    <a:pt x="415" y="239"/>
                  </a:cubicBezTo>
                  <a:cubicBezTo>
                    <a:pt x="415" y="240"/>
                    <a:pt x="414" y="240"/>
                    <a:pt x="414" y="241"/>
                  </a:cubicBezTo>
                  <a:cubicBezTo>
                    <a:pt x="413" y="244"/>
                    <a:pt x="412" y="246"/>
                    <a:pt x="411" y="249"/>
                  </a:cubicBezTo>
                  <a:cubicBezTo>
                    <a:pt x="411" y="249"/>
                    <a:pt x="411" y="250"/>
                    <a:pt x="411" y="250"/>
                  </a:cubicBezTo>
                  <a:cubicBezTo>
                    <a:pt x="410" y="253"/>
                    <a:pt x="409" y="255"/>
                    <a:pt x="409" y="258"/>
                  </a:cubicBezTo>
                  <a:cubicBezTo>
                    <a:pt x="409" y="259"/>
                    <a:pt x="409" y="260"/>
                    <a:pt x="408" y="261"/>
                  </a:cubicBezTo>
                  <a:cubicBezTo>
                    <a:pt x="408" y="264"/>
                    <a:pt x="408" y="267"/>
                    <a:pt x="408" y="270"/>
                  </a:cubicBezTo>
                  <a:cubicBezTo>
                    <a:pt x="408" y="274"/>
                    <a:pt x="408" y="278"/>
                    <a:pt x="409" y="281"/>
                  </a:cubicBezTo>
                  <a:cubicBezTo>
                    <a:pt x="409" y="282"/>
                    <a:pt x="409" y="283"/>
                    <a:pt x="409" y="283"/>
                  </a:cubicBezTo>
                  <a:cubicBezTo>
                    <a:pt x="410" y="287"/>
                    <a:pt x="411" y="290"/>
                    <a:pt x="412" y="293"/>
                  </a:cubicBezTo>
                  <a:cubicBezTo>
                    <a:pt x="412" y="294"/>
                    <a:pt x="412" y="294"/>
                    <a:pt x="412" y="295"/>
                  </a:cubicBezTo>
                  <a:cubicBezTo>
                    <a:pt x="414" y="298"/>
                    <a:pt x="415" y="301"/>
                    <a:pt x="417" y="304"/>
                  </a:cubicBezTo>
                  <a:cubicBezTo>
                    <a:pt x="417" y="305"/>
                    <a:pt x="417" y="305"/>
                    <a:pt x="418" y="306"/>
                  </a:cubicBezTo>
                  <a:cubicBezTo>
                    <a:pt x="420" y="309"/>
                    <a:pt x="422" y="312"/>
                    <a:pt x="424" y="315"/>
                  </a:cubicBezTo>
                  <a:cubicBezTo>
                    <a:pt x="424" y="315"/>
                    <a:pt x="424" y="315"/>
                    <a:pt x="424" y="315"/>
                  </a:cubicBezTo>
                  <a:cubicBezTo>
                    <a:pt x="427" y="318"/>
                    <a:pt x="429" y="320"/>
                    <a:pt x="432" y="323"/>
                  </a:cubicBezTo>
                  <a:cubicBezTo>
                    <a:pt x="432" y="323"/>
                    <a:pt x="432" y="323"/>
                    <a:pt x="432" y="323"/>
                  </a:cubicBezTo>
                  <a:cubicBezTo>
                    <a:pt x="435" y="326"/>
                    <a:pt x="438" y="328"/>
                    <a:pt x="441" y="330"/>
                  </a:cubicBezTo>
                  <a:cubicBezTo>
                    <a:pt x="442" y="330"/>
                    <a:pt x="442" y="330"/>
                    <a:pt x="442" y="330"/>
                  </a:cubicBezTo>
                  <a:cubicBezTo>
                    <a:pt x="446" y="332"/>
                    <a:pt x="449" y="334"/>
                    <a:pt x="452" y="335"/>
                  </a:cubicBezTo>
                  <a:cubicBezTo>
                    <a:pt x="453" y="335"/>
                    <a:pt x="453" y="335"/>
                    <a:pt x="453" y="335"/>
                  </a:cubicBezTo>
                  <a:cubicBezTo>
                    <a:pt x="461" y="338"/>
                    <a:pt x="469" y="340"/>
                    <a:pt x="478" y="340"/>
                  </a:cubicBezTo>
                  <a:cubicBezTo>
                    <a:pt x="516" y="340"/>
                    <a:pt x="547" y="309"/>
                    <a:pt x="547" y="270"/>
                  </a:cubicBezTo>
                  <a:cubicBezTo>
                    <a:pt x="547" y="231"/>
                    <a:pt x="516" y="200"/>
                    <a:pt x="478" y="200"/>
                  </a:cubicBezTo>
                  <a:cubicBezTo>
                    <a:pt x="468" y="200"/>
                    <a:pt x="458" y="202"/>
                    <a:pt x="450" y="206"/>
                  </a:cubicBezTo>
                  <a:cubicBezTo>
                    <a:pt x="450" y="206"/>
                    <a:pt x="450" y="206"/>
                    <a:pt x="450" y="206"/>
                  </a:cubicBezTo>
                  <a:cubicBezTo>
                    <a:pt x="449" y="206"/>
                    <a:pt x="449" y="206"/>
                    <a:pt x="449" y="206"/>
                  </a:cubicBezTo>
                  <a:cubicBezTo>
                    <a:pt x="446" y="208"/>
                    <a:pt x="444" y="209"/>
                    <a:pt x="442" y="210"/>
                  </a:cubicBezTo>
                  <a:cubicBezTo>
                    <a:pt x="441" y="210"/>
                    <a:pt x="441" y="211"/>
                    <a:pt x="440" y="211"/>
                  </a:cubicBezTo>
                  <a:cubicBezTo>
                    <a:pt x="438" y="213"/>
                    <a:pt x="435" y="215"/>
                    <a:pt x="433" y="216"/>
                  </a:cubicBezTo>
                  <a:cubicBezTo>
                    <a:pt x="433" y="217"/>
                    <a:pt x="432" y="217"/>
                    <a:pt x="432" y="217"/>
                  </a:cubicBezTo>
                  <a:cubicBezTo>
                    <a:pt x="430" y="219"/>
                    <a:pt x="428" y="221"/>
                    <a:pt x="426" y="223"/>
                  </a:cubicBezTo>
                  <a:cubicBezTo>
                    <a:pt x="426" y="223"/>
                    <a:pt x="425" y="224"/>
                    <a:pt x="425" y="224"/>
                  </a:cubicBezTo>
                  <a:close/>
                  <a:moveTo>
                    <a:pt x="314" y="140"/>
                  </a:moveTo>
                  <a:lnTo>
                    <a:pt x="314" y="140"/>
                  </a:lnTo>
                  <a:cubicBezTo>
                    <a:pt x="353" y="140"/>
                    <a:pt x="384" y="108"/>
                    <a:pt x="384" y="70"/>
                  </a:cubicBezTo>
                  <a:cubicBezTo>
                    <a:pt x="384" y="31"/>
                    <a:pt x="353" y="0"/>
                    <a:pt x="314" y="0"/>
                  </a:cubicBezTo>
                  <a:cubicBezTo>
                    <a:pt x="275" y="0"/>
                    <a:pt x="244" y="31"/>
                    <a:pt x="244" y="70"/>
                  </a:cubicBezTo>
                  <a:cubicBezTo>
                    <a:pt x="244" y="108"/>
                    <a:pt x="275" y="140"/>
                    <a:pt x="314" y="140"/>
                  </a:cubicBezTo>
                  <a:close/>
                  <a:moveTo>
                    <a:pt x="379" y="336"/>
                  </a:moveTo>
                  <a:lnTo>
                    <a:pt x="379" y="336"/>
                  </a:lnTo>
                  <a:lnTo>
                    <a:pt x="379" y="283"/>
                  </a:lnTo>
                  <a:cubicBezTo>
                    <a:pt x="379" y="279"/>
                    <a:pt x="378" y="274"/>
                    <a:pt x="378" y="270"/>
                  </a:cubicBezTo>
                  <a:cubicBezTo>
                    <a:pt x="378" y="266"/>
                    <a:pt x="379" y="262"/>
                    <a:pt x="379" y="257"/>
                  </a:cubicBezTo>
                  <a:lnTo>
                    <a:pt x="379" y="254"/>
                  </a:lnTo>
                  <a:lnTo>
                    <a:pt x="380" y="254"/>
                  </a:lnTo>
                  <a:cubicBezTo>
                    <a:pt x="385" y="223"/>
                    <a:pt x="404" y="197"/>
                    <a:pt x="431" y="183"/>
                  </a:cubicBezTo>
                  <a:cubicBezTo>
                    <a:pt x="412" y="165"/>
                    <a:pt x="387" y="154"/>
                    <a:pt x="359" y="154"/>
                  </a:cubicBezTo>
                  <a:lnTo>
                    <a:pt x="269" y="154"/>
                  </a:lnTo>
                  <a:cubicBezTo>
                    <a:pt x="241" y="154"/>
                    <a:pt x="216" y="165"/>
                    <a:pt x="197" y="183"/>
                  </a:cubicBezTo>
                  <a:cubicBezTo>
                    <a:pt x="228" y="199"/>
                    <a:pt x="250" y="232"/>
                    <a:pt x="250" y="270"/>
                  </a:cubicBezTo>
                  <a:cubicBezTo>
                    <a:pt x="250" y="278"/>
                    <a:pt x="249" y="285"/>
                    <a:pt x="247" y="293"/>
                  </a:cubicBezTo>
                  <a:lnTo>
                    <a:pt x="247" y="335"/>
                  </a:lnTo>
                  <a:cubicBezTo>
                    <a:pt x="276" y="347"/>
                    <a:pt x="299" y="369"/>
                    <a:pt x="314" y="396"/>
                  </a:cubicBezTo>
                  <a:cubicBezTo>
                    <a:pt x="328" y="369"/>
                    <a:pt x="352" y="348"/>
                    <a:pt x="379" y="336"/>
                  </a:cubicBezTo>
                  <a:close/>
                  <a:moveTo>
                    <a:pt x="282" y="400"/>
                  </a:moveTo>
                  <a:lnTo>
                    <a:pt x="282" y="400"/>
                  </a:lnTo>
                  <a:cubicBezTo>
                    <a:pt x="280" y="397"/>
                    <a:pt x="278" y="394"/>
                    <a:pt x="275" y="391"/>
                  </a:cubicBezTo>
                  <a:cubicBezTo>
                    <a:pt x="275" y="390"/>
                    <a:pt x="274" y="390"/>
                    <a:pt x="274" y="390"/>
                  </a:cubicBezTo>
                  <a:cubicBezTo>
                    <a:pt x="272" y="387"/>
                    <a:pt x="270" y="385"/>
                    <a:pt x="267" y="382"/>
                  </a:cubicBezTo>
                  <a:cubicBezTo>
                    <a:pt x="267" y="382"/>
                    <a:pt x="266" y="382"/>
                    <a:pt x="266" y="381"/>
                  </a:cubicBezTo>
                  <a:cubicBezTo>
                    <a:pt x="263" y="379"/>
                    <a:pt x="261" y="377"/>
                    <a:pt x="258" y="375"/>
                  </a:cubicBezTo>
                  <a:cubicBezTo>
                    <a:pt x="257" y="374"/>
                    <a:pt x="257" y="374"/>
                    <a:pt x="257" y="374"/>
                  </a:cubicBezTo>
                  <a:cubicBezTo>
                    <a:pt x="247" y="367"/>
                    <a:pt x="237" y="362"/>
                    <a:pt x="225" y="359"/>
                  </a:cubicBezTo>
                  <a:cubicBezTo>
                    <a:pt x="223" y="358"/>
                    <a:pt x="220" y="357"/>
                    <a:pt x="218" y="357"/>
                  </a:cubicBezTo>
                  <a:cubicBezTo>
                    <a:pt x="217" y="356"/>
                    <a:pt x="215" y="356"/>
                    <a:pt x="214" y="356"/>
                  </a:cubicBezTo>
                  <a:cubicBezTo>
                    <a:pt x="212" y="356"/>
                    <a:pt x="210" y="355"/>
                    <a:pt x="208" y="355"/>
                  </a:cubicBezTo>
                  <a:cubicBezTo>
                    <a:pt x="207" y="355"/>
                    <a:pt x="206" y="355"/>
                    <a:pt x="205" y="355"/>
                  </a:cubicBezTo>
                  <a:cubicBezTo>
                    <a:pt x="202" y="354"/>
                    <a:pt x="199" y="354"/>
                    <a:pt x="195" y="354"/>
                  </a:cubicBezTo>
                  <a:lnTo>
                    <a:pt x="105" y="354"/>
                  </a:lnTo>
                  <a:cubicBezTo>
                    <a:pt x="47" y="354"/>
                    <a:pt x="0" y="401"/>
                    <a:pt x="0" y="460"/>
                  </a:cubicBezTo>
                  <a:lnTo>
                    <a:pt x="0" y="600"/>
                  </a:lnTo>
                  <a:lnTo>
                    <a:pt x="62" y="600"/>
                  </a:lnTo>
                  <a:lnTo>
                    <a:pt x="62" y="454"/>
                  </a:lnTo>
                  <a:lnTo>
                    <a:pt x="83" y="454"/>
                  </a:lnTo>
                  <a:lnTo>
                    <a:pt x="83" y="600"/>
                  </a:lnTo>
                  <a:lnTo>
                    <a:pt x="216" y="600"/>
                  </a:lnTo>
                  <a:lnTo>
                    <a:pt x="216" y="454"/>
                  </a:lnTo>
                  <a:lnTo>
                    <a:pt x="237" y="454"/>
                  </a:lnTo>
                  <a:lnTo>
                    <a:pt x="237" y="600"/>
                  </a:lnTo>
                  <a:lnTo>
                    <a:pt x="301" y="600"/>
                  </a:lnTo>
                  <a:lnTo>
                    <a:pt x="301" y="460"/>
                  </a:lnTo>
                  <a:cubicBezTo>
                    <a:pt x="301" y="437"/>
                    <a:pt x="294" y="417"/>
                    <a:pt x="282" y="400"/>
                  </a:cubicBezTo>
                  <a:cubicBezTo>
                    <a:pt x="282" y="400"/>
                    <a:pt x="282" y="400"/>
                    <a:pt x="282" y="400"/>
                  </a:cubicBezTo>
                  <a:close/>
                  <a:moveTo>
                    <a:pt x="523" y="354"/>
                  </a:moveTo>
                  <a:lnTo>
                    <a:pt x="523" y="354"/>
                  </a:lnTo>
                  <a:lnTo>
                    <a:pt x="433" y="354"/>
                  </a:lnTo>
                  <a:cubicBezTo>
                    <a:pt x="429" y="354"/>
                    <a:pt x="426" y="354"/>
                    <a:pt x="423" y="355"/>
                  </a:cubicBezTo>
                  <a:cubicBezTo>
                    <a:pt x="422" y="355"/>
                    <a:pt x="421" y="355"/>
                    <a:pt x="420" y="355"/>
                  </a:cubicBezTo>
                  <a:cubicBezTo>
                    <a:pt x="418" y="355"/>
                    <a:pt x="415" y="356"/>
                    <a:pt x="413" y="356"/>
                  </a:cubicBezTo>
                  <a:cubicBezTo>
                    <a:pt x="412" y="356"/>
                    <a:pt x="411" y="356"/>
                    <a:pt x="410" y="357"/>
                  </a:cubicBezTo>
                  <a:cubicBezTo>
                    <a:pt x="408" y="357"/>
                    <a:pt x="405" y="358"/>
                    <a:pt x="403" y="358"/>
                  </a:cubicBezTo>
                  <a:cubicBezTo>
                    <a:pt x="387" y="363"/>
                    <a:pt x="373" y="371"/>
                    <a:pt x="361" y="382"/>
                  </a:cubicBezTo>
                  <a:cubicBezTo>
                    <a:pt x="361" y="382"/>
                    <a:pt x="361" y="382"/>
                    <a:pt x="361" y="383"/>
                  </a:cubicBezTo>
                  <a:cubicBezTo>
                    <a:pt x="358" y="385"/>
                    <a:pt x="356" y="388"/>
                    <a:pt x="353" y="390"/>
                  </a:cubicBezTo>
                  <a:cubicBezTo>
                    <a:pt x="353" y="390"/>
                    <a:pt x="353" y="391"/>
                    <a:pt x="353" y="391"/>
                  </a:cubicBezTo>
                  <a:cubicBezTo>
                    <a:pt x="337" y="409"/>
                    <a:pt x="327" y="433"/>
                    <a:pt x="327" y="460"/>
                  </a:cubicBezTo>
                  <a:lnTo>
                    <a:pt x="327" y="600"/>
                  </a:lnTo>
                  <a:lnTo>
                    <a:pt x="389" y="600"/>
                  </a:lnTo>
                  <a:lnTo>
                    <a:pt x="389" y="454"/>
                  </a:lnTo>
                  <a:lnTo>
                    <a:pt x="410" y="454"/>
                  </a:lnTo>
                  <a:lnTo>
                    <a:pt x="410" y="600"/>
                  </a:lnTo>
                  <a:lnTo>
                    <a:pt x="543" y="600"/>
                  </a:lnTo>
                  <a:lnTo>
                    <a:pt x="543" y="454"/>
                  </a:lnTo>
                  <a:lnTo>
                    <a:pt x="564" y="454"/>
                  </a:lnTo>
                  <a:lnTo>
                    <a:pt x="564" y="600"/>
                  </a:lnTo>
                  <a:lnTo>
                    <a:pt x="628" y="600"/>
                  </a:lnTo>
                  <a:lnTo>
                    <a:pt x="628" y="460"/>
                  </a:lnTo>
                  <a:cubicBezTo>
                    <a:pt x="628" y="401"/>
                    <a:pt x="581" y="354"/>
                    <a:pt x="523" y="354"/>
                  </a:cubicBezTo>
                  <a:close/>
                  <a:moveTo>
                    <a:pt x="151" y="340"/>
                  </a:moveTo>
                  <a:lnTo>
                    <a:pt x="151" y="340"/>
                  </a:lnTo>
                  <a:cubicBezTo>
                    <a:pt x="159" y="340"/>
                    <a:pt x="167" y="338"/>
                    <a:pt x="175" y="335"/>
                  </a:cubicBezTo>
                  <a:cubicBezTo>
                    <a:pt x="175" y="335"/>
                    <a:pt x="175" y="335"/>
                    <a:pt x="176" y="335"/>
                  </a:cubicBezTo>
                  <a:cubicBezTo>
                    <a:pt x="179" y="334"/>
                    <a:pt x="183" y="332"/>
                    <a:pt x="186" y="330"/>
                  </a:cubicBezTo>
                  <a:cubicBezTo>
                    <a:pt x="186" y="330"/>
                    <a:pt x="186" y="330"/>
                    <a:pt x="186" y="330"/>
                  </a:cubicBezTo>
                  <a:cubicBezTo>
                    <a:pt x="190" y="328"/>
                    <a:pt x="193" y="326"/>
                    <a:pt x="196" y="323"/>
                  </a:cubicBezTo>
                  <a:cubicBezTo>
                    <a:pt x="196" y="323"/>
                    <a:pt x="196" y="323"/>
                    <a:pt x="196" y="323"/>
                  </a:cubicBezTo>
                  <a:cubicBezTo>
                    <a:pt x="202" y="318"/>
                    <a:pt x="206" y="312"/>
                    <a:pt x="210" y="306"/>
                  </a:cubicBezTo>
                  <a:cubicBezTo>
                    <a:pt x="211" y="305"/>
                    <a:pt x="211" y="305"/>
                    <a:pt x="211" y="304"/>
                  </a:cubicBezTo>
                  <a:cubicBezTo>
                    <a:pt x="213" y="301"/>
                    <a:pt x="214" y="298"/>
                    <a:pt x="216" y="295"/>
                  </a:cubicBezTo>
                  <a:cubicBezTo>
                    <a:pt x="216" y="294"/>
                    <a:pt x="216" y="294"/>
                    <a:pt x="216" y="293"/>
                  </a:cubicBezTo>
                  <a:cubicBezTo>
                    <a:pt x="217" y="290"/>
                    <a:pt x="218" y="287"/>
                    <a:pt x="219" y="283"/>
                  </a:cubicBezTo>
                  <a:cubicBezTo>
                    <a:pt x="219" y="282"/>
                    <a:pt x="219" y="282"/>
                    <a:pt x="219" y="281"/>
                  </a:cubicBezTo>
                  <a:cubicBezTo>
                    <a:pt x="220" y="278"/>
                    <a:pt x="220" y="274"/>
                    <a:pt x="220" y="270"/>
                  </a:cubicBezTo>
                  <a:cubicBezTo>
                    <a:pt x="220" y="267"/>
                    <a:pt x="220" y="264"/>
                    <a:pt x="220" y="261"/>
                  </a:cubicBezTo>
                  <a:cubicBezTo>
                    <a:pt x="219" y="260"/>
                    <a:pt x="219" y="259"/>
                    <a:pt x="219" y="258"/>
                  </a:cubicBezTo>
                  <a:cubicBezTo>
                    <a:pt x="219" y="255"/>
                    <a:pt x="218" y="252"/>
                    <a:pt x="217" y="250"/>
                  </a:cubicBezTo>
                  <a:cubicBezTo>
                    <a:pt x="217" y="249"/>
                    <a:pt x="217" y="249"/>
                    <a:pt x="217" y="249"/>
                  </a:cubicBezTo>
                  <a:cubicBezTo>
                    <a:pt x="216" y="246"/>
                    <a:pt x="215" y="244"/>
                    <a:pt x="214" y="241"/>
                  </a:cubicBezTo>
                  <a:cubicBezTo>
                    <a:pt x="214" y="240"/>
                    <a:pt x="213" y="240"/>
                    <a:pt x="213" y="239"/>
                  </a:cubicBezTo>
                  <a:cubicBezTo>
                    <a:pt x="212" y="236"/>
                    <a:pt x="210" y="234"/>
                    <a:pt x="209" y="231"/>
                  </a:cubicBezTo>
                  <a:lnTo>
                    <a:pt x="208" y="231"/>
                  </a:lnTo>
                  <a:cubicBezTo>
                    <a:pt x="207" y="229"/>
                    <a:pt x="205" y="226"/>
                    <a:pt x="203" y="224"/>
                  </a:cubicBezTo>
                  <a:cubicBezTo>
                    <a:pt x="203" y="224"/>
                    <a:pt x="202" y="223"/>
                    <a:pt x="202" y="223"/>
                  </a:cubicBezTo>
                  <a:cubicBezTo>
                    <a:pt x="200" y="221"/>
                    <a:pt x="198" y="219"/>
                    <a:pt x="195" y="217"/>
                  </a:cubicBezTo>
                  <a:cubicBezTo>
                    <a:pt x="195" y="217"/>
                    <a:pt x="195" y="217"/>
                    <a:pt x="195" y="216"/>
                  </a:cubicBezTo>
                  <a:cubicBezTo>
                    <a:pt x="193" y="215"/>
                    <a:pt x="190" y="213"/>
                    <a:pt x="188" y="211"/>
                  </a:cubicBezTo>
                  <a:cubicBezTo>
                    <a:pt x="187" y="211"/>
                    <a:pt x="187" y="210"/>
                    <a:pt x="186" y="210"/>
                  </a:cubicBezTo>
                  <a:cubicBezTo>
                    <a:pt x="184" y="209"/>
                    <a:pt x="181" y="207"/>
                    <a:pt x="179" y="206"/>
                  </a:cubicBezTo>
                  <a:cubicBezTo>
                    <a:pt x="179" y="206"/>
                    <a:pt x="178" y="206"/>
                    <a:pt x="178" y="206"/>
                  </a:cubicBezTo>
                  <a:cubicBezTo>
                    <a:pt x="170" y="202"/>
                    <a:pt x="160" y="200"/>
                    <a:pt x="151" y="200"/>
                  </a:cubicBezTo>
                  <a:cubicBezTo>
                    <a:pt x="112" y="200"/>
                    <a:pt x="81" y="231"/>
                    <a:pt x="81" y="270"/>
                  </a:cubicBezTo>
                  <a:cubicBezTo>
                    <a:pt x="81" y="309"/>
                    <a:pt x="112" y="340"/>
                    <a:pt x="151" y="340"/>
                  </a:cubicBezTo>
                  <a:close/>
                </a:path>
              </a:pathLst>
            </a:custGeom>
            <a:solidFill>
              <a:srgbClr val="FDFDFD"/>
            </a:solidFill>
            <a:ln>
              <a:noFill/>
            </a:ln>
            <a:effectLst/>
          </p:spPr>
          <p:txBody>
            <a:bodyPr vert="horz" wrap="square" lIns="121882" tIns="60941" rIns="121882" bIns="60941" numCol="1" anchor="t" anchorCtr="0" compatLnSpc="1"/>
            <a:lstStyle/>
            <a:p>
              <a:pPr defTabSz="1218565"/>
              <a:endParaRPr lang="zh-CN" altLang="en-US" sz="1600">
                <a:solidFill>
                  <a:srgbClr val="A5644E"/>
                </a:solidFill>
                <a:latin typeface="Calibri" panose="020F0502020204030204"/>
                <a:ea typeface="宋体" panose="02010600030101010101" pitchFamily="2" charset="-122"/>
              </a:endParaRPr>
            </a:p>
          </p:txBody>
        </p:sp>
        <p:sp>
          <p:nvSpPr>
            <p:cNvPr id="4" name="文本框 3"/>
            <p:cNvSpPr txBox="1"/>
            <p:nvPr/>
          </p:nvSpPr>
          <p:spPr>
            <a:xfrm>
              <a:off x="3985204" y="2937515"/>
              <a:ext cx="1005713" cy="338426"/>
            </a:xfrm>
            <a:prstGeom prst="rect">
              <a:avLst/>
            </a:prstGeom>
            <a:noFill/>
          </p:spPr>
          <p:txBody>
            <a:bodyPr wrap="none" rtlCol="0">
              <a:spAutoFit/>
            </a:bodyPr>
            <a:lstStyle/>
            <a:p>
              <a:pPr defTabSz="1217930">
                <a:defRPr/>
              </a:pPr>
              <a:r>
                <a:rPr lang="zh-CN" altLang="en-US" sz="1600" kern="0" dirty="0">
                  <a:solidFill>
                    <a:prstClr val="white"/>
                  </a:solidFill>
                  <a:latin typeface="微软雅黑" panose="020B0503020204020204" pitchFamily="34" charset="-122"/>
                  <a:ea typeface="微软雅黑" panose="020B0503020204020204" pitchFamily="34" charset="-122"/>
                </a:rPr>
                <a:t>输入标题</a:t>
              </a:r>
            </a:p>
          </p:txBody>
        </p:sp>
      </p:grpSp>
      <p:grpSp>
        <p:nvGrpSpPr>
          <p:cNvPr id="5" name="组合 4"/>
          <p:cNvGrpSpPr/>
          <p:nvPr/>
        </p:nvGrpSpPr>
        <p:grpSpPr>
          <a:xfrm>
            <a:off x="6434755" y="1808166"/>
            <a:ext cx="1668780" cy="1669415"/>
            <a:chOff x="6434224" y="2126612"/>
            <a:chExt cx="1669295" cy="1669414"/>
          </a:xfrm>
        </p:grpSpPr>
        <p:sp>
          <p:nvSpPr>
            <p:cNvPr id="6" name="矩形 5"/>
            <p:cNvSpPr>
              <a:spLocks noChangeAspect="1"/>
            </p:cNvSpPr>
            <p:nvPr/>
          </p:nvSpPr>
          <p:spPr>
            <a:xfrm rot="2700000">
              <a:off x="6434164" y="2126671"/>
              <a:ext cx="1669414" cy="1669295"/>
            </a:xfrm>
            <a:prstGeom prst="rect">
              <a:avLst/>
            </a:prstGeom>
            <a:solidFill>
              <a:srgbClr val="E8432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1600">
                <a:solidFill>
                  <a:prstClr val="white"/>
                </a:solidFill>
                <a:latin typeface="Calibri" panose="020F0502020204030204"/>
                <a:ea typeface="宋体" panose="02010600030101010101" pitchFamily="2" charset="-122"/>
              </a:endParaRPr>
            </a:p>
          </p:txBody>
        </p:sp>
        <p:sp>
          <p:nvSpPr>
            <p:cNvPr id="7" name="Freeform 31"/>
            <p:cNvSpPr>
              <a:spLocks noEditPoints="1"/>
            </p:cNvSpPr>
            <p:nvPr/>
          </p:nvSpPr>
          <p:spPr bwMode="auto">
            <a:xfrm>
              <a:off x="7097338" y="2289672"/>
              <a:ext cx="374711" cy="471228"/>
            </a:xfrm>
            <a:custGeom>
              <a:avLst/>
              <a:gdLst>
                <a:gd name="T0" fmla="*/ 82 w 484"/>
                <a:gd name="T1" fmla="*/ 166 h 606"/>
                <a:gd name="T2" fmla="*/ 82 w 484"/>
                <a:gd name="T3" fmla="*/ 186 h 606"/>
                <a:gd name="T4" fmla="*/ 331 w 484"/>
                <a:gd name="T5" fmla="*/ 193 h 606"/>
                <a:gd name="T6" fmla="*/ 331 w 484"/>
                <a:gd name="T7" fmla="*/ 173 h 606"/>
                <a:gd name="T8" fmla="*/ 387 w 484"/>
                <a:gd name="T9" fmla="*/ 556 h 606"/>
                <a:gd name="T10" fmla="*/ 388 w 484"/>
                <a:gd name="T11" fmla="*/ 564 h 606"/>
                <a:gd name="T12" fmla="*/ 418 w 484"/>
                <a:gd name="T13" fmla="*/ 594 h 606"/>
                <a:gd name="T14" fmla="*/ 474 w 484"/>
                <a:gd name="T15" fmla="*/ 581 h 606"/>
                <a:gd name="T16" fmla="*/ 474 w 484"/>
                <a:gd name="T17" fmla="*/ 531 h 606"/>
                <a:gd name="T18" fmla="*/ 444 w 484"/>
                <a:gd name="T19" fmla="*/ 501 h 606"/>
                <a:gd name="T20" fmla="*/ 418 w 484"/>
                <a:gd name="T21" fmla="*/ 519 h 606"/>
                <a:gd name="T22" fmla="*/ 384 w 484"/>
                <a:gd name="T23" fmla="*/ 553 h 606"/>
                <a:gd name="T24" fmla="*/ 218 w 484"/>
                <a:gd name="T25" fmla="*/ 354 h 606"/>
                <a:gd name="T26" fmla="*/ 229 w 484"/>
                <a:gd name="T27" fmla="*/ 336 h 606"/>
                <a:gd name="T28" fmla="*/ 207 w 484"/>
                <a:gd name="T29" fmla="*/ 320 h 606"/>
                <a:gd name="T30" fmla="*/ 207 w 484"/>
                <a:gd name="T31" fmla="*/ 327 h 606"/>
                <a:gd name="T32" fmla="*/ 246 w 484"/>
                <a:gd name="T33" fmla="*/ 422 h 606"/>
                <a:gd name="T34" fmla="*/ 297 w 484"/>
                <a:gd name="T35" fmla="*/ 364 h 606"/>
                <a:gd name="T36" fmla="*/ 296 w 484"/>
                <a:gd name="T37" fmla="*/ 357 h 606"/>
                <a:gd name="T38" fmla="*/ 224 w 484"/>
                <a:gd name="T39" fmla="*/ 362 h 606"/>
                <a:gd name="T40" fmla="*/ 224 w 484"/>
                <a:gd name="T41" fmla="*/ 368 h 606"/>
                <a:gd name="T42" fmla="*/ 246 w 484"/>
                <a:gd name="T43" fmla="*/ 422 h 606"/>
                <a:gd name="T44" fmla="*/ 429 w 484"/>
                <a:gd name="T45" fmla="*/ 493 h 606"/>
                <a:gd name="T46" fmla="*/ 429 w 484"/>
                <a:gd name="T47" fmla="*/ 487 h 606"/>
                <a:gd name="T48" fmla="*/ 394 w 484"/>
                <a:gd name="T49" fmla="*/ 451 h 606"/>
                <a:gd name="T50" fmla="*/ 256 w 484"/>
                <a:gd name="T51" fmla="*/ 425 h 606"/>
                <a:gd name="T52" fmla="*/ 256 w 484"/>
                <a:gd name="T53" fmla="*/ 432 h 606"/>
                <a:gd name="T54" fmla="*/ 354 w 484"/>
                <a:gd name="T55" fmla="*/ 530 h 606"/>
                <a:gd name="T56" fmla="*/ 395 w 484"/>
                <a:gd name="T57" fmla="*/ 528 h 606"/>
                <a:gd name="T58" fmla="*/ 20 w 484"/>
                <a:gd name="T59" fmla="*/ 150 h 606"/>
                <a:gd name="T60" fmla="*/ 89 w 484"/>
                <a:gd name="T61" fmla="*/ 152 h 606"/>
                <a:gd name="T62" fmla="*/ 141 w 484"/>
                <a:gd name="T63" fmla="*/ 100 h 606"/>
                <a:gd name="T64" fmla="*/ 141 w 484"/>
                <a:gd name="T65" fmla="*/ 93 h 606"/>
                <a:gd name="T66" fmla="*/ 383 w 484"/>
                <a:gd name="T67" fmla="*/ 27 h 606"/>
                <a:gd name="T68" fmla="*/ 394 w 484"/>
                <a:gd name="T69" fmla="*/ 422 h 606"/>
                <a:gd name="T70" fmla="*/ 414 w 484"/>
                <a:gd name="T71" fmla="*/ 449 h 606"/>
                <a:gd name="T72" fmla="*/ 414 w 484"/>
                <a:gd name="T73" fmla="*/ 39 h 606"/>
                <a:gd name="T74" fmla="*/ 383 w 484"/>
                <a:gd name="T75" fmla="*/ 0 h 606"/>
                <a:gd name="T76" fmla="*/ 121 w 484"/>
                <a:gd name="T77" fmla="*/ 2 h 606"/>
                <a:gd name="T78" fmla="*/ 0 w 484"/>
                <a:gd name="T79" fmla="*/ 123 h 606"/>
                <a:gd name="T80" fmla="*/ 0 w 484"/>
                <a:gd name="T81" fmla="*/ 492 h 606"/>
                <a:gd name="T82" fmla="*/ 32 w 484"/>
                <a:gd name="T83" fmla="*/ 530 h 606"/>
                <a:gd name="T84" fmla="*/ 319 w 484"/>
                <a:gd name="T85" fmla="*/ 524 h 606"/>
                <a:gd name="T86" fmla="*/ 305 w 484"/>
                <a:gd name="T87" fmla="*/ 503 h 606"/>
                <a:gd name="T88" fmla="*/ 20 w 484"/>
                <a:gd name="T89" fmla="*/ 492 h 606"/>
                <a:gd name="T90" fmla="*/ 20 w 484"/>
                <a:gd name="T91" fmla="*/ 150 h 606"/>
                <a:gd name="T92" fmla="*/ 156 w 484"/>
                <a:gd name="T93" fmla="*/ 321 h 606"/>
                <a:gd name="T94" fmla="*/ 156 w 484"/>
                <a:gd name="T95" fmla="*/ 301 h 606"/>
                <a:gd name="T96" fmla="*/ 82 w 484"/>
                <a:gd name="T97" fmla="*/ 294 h 606"/>
                <a:gd name="T98" fmla="*/ 82 w 484"/>
                <a:gd name="T99" fmla="*/ 315 h 606"/>
                <a:gd name="T100" fmla="*/ 82 w 484"/>
                <a:gd name="T101" fmla="*/ 272 h 606"/>
                <a:gd name="T102" fmla="*/ 331 w 484"/>
                <a:gd name="T103" fmla="*/ 279 h 606"/>
                <a:gd name="T104" fmla="*/ 331 w 484"/>
                <a:gd name="T105" fmla="*/ 258 h 606"/>
                <a:gd name="T106" fmla="*/ 82 w 484"/>
                <a:gd name="T107" fmla="*/ 252 h 606"/>
                <a:gd name="T108" fmla="*/ 82 w 484"/>
                <a:gd name="T109" fmla="*/ 272 h 606"/>
                <a:gd name="T110" fmla="*/ 82 w 484"/>
                <a:gd name="T111" fmla="*/ 236 h 606"/>
                <a:gd name="T112" fmla="*/ 331 w 484"/>
                <a:gd name="T113" fmla="*/ 229 h 606"/>
                <a:gd name="T114" fmla="*/ 331 w 484"/>
                <a:gd name="T115" fmla="*/ 209 h 606"/>
                <a:gd name="T116" fmla="*/ 82 w 484"/>
                <a:gd name="T117" fmla="*/ 21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4" h="606">
                  <a:moveTo>
                    <a:pt x="331" y="166"/>
                  </a:moveTo>
                  <a:lnTo>
                    <a:pt x="82" y="166"/>
                  </a:lnTo>
                  <a:lnTo>
                    <a:pt x="82" y="173"/>
                  </a:lnTo>
                  <a:lnTo>
                    <a:pt x="82" y="186"/>
                  </a:lnTo>
                  <a:lnTo>
                    <a:pt x="82" y="193"/>
                  </a:lnTo>
                  <a:lnTo>
                    <a:pt x="331" y="193"/>
                  </a:lnTo>
                  <a:lnTo>
                    <a:pt x="331" y="186"/>
                  </a:lnTo>
                  <a:lnTo>
                    <a:pt x="331" y="173"/>
                  </a:lnTo>
                  <a:lnTo>
                    <a:pt x="331" y="166"/>
                  </a:lnTo>
                  <a:close/>
                  <a:moveTo>
                    <a:pt x="387" y="556"/>
                  </a:moveTo>
                  <a:lnTo>
                    <a:pt x="384" y="560"/>
                  </a:lnTo>
                  <a:lnTo>
                    <a:pt x="388" y="564"/>
                  </a:lnTo>
                  <a:lnTo>
                    <a:pt x="408" y="583"/>
                  </a:lnTo>
                  <a:lnTo>
                    <a:pt x="418" y="594"/>
                  </a:lnTo>
                  <a:cubicBezTo>
                    <a:pt x="430" y="606"/>
                    <a:pt x="450" y="606"/>
                    <a:pt x="462" y="594"/>
                  </a:cubicBezTo>
                  <a:lnTo>
                    <a:pt x="474" y="581"/>
                  </a:lnTo>
                  <a:cubicBezTo>
                    <a:pt x="481" y="575"/>
                    <a:pt x="484" y="565"/>
                    <a:pt x="483" y="556"/>
                  </a:cubicBezTo>
                  <a:cubicBezTo>
                    <a:pt x="484" y="547"/>
                    <a:pt x="481" y="538"/>
                    <a:pt x="474" y="531"/>
                  </a:cubicBezTo>
                  <a:lnTo>
                    <a:pt x="462" y="519"/>
                  </a:lnTo>
                  <a:lnTo>
                    <a:pt x="444" y="501"/>
                  </a:lnTo>
                  <a:lnTo>
                    <a:pt x="440" y="497"/>
                  </a:lnTo>
                  <a:lnTo>
                    <a:pt x="418" y="519"/>
                  </a:lnTo>
                  <a:lnTo>
                    <a:pt x="412" y="525"/>
                  </a:lnTo>
                  <a:lnTo>
                    <a:pt x="384" y="553"/>
                  </a:lnTo>
                  <a:lnTo>
                    <a:pt x="387" y="556"/>
                  </a:lnTo>
                  <a:close/>
                  <a:moveTo>
                    <a:pt x="218" y="354"/>
                  </a:moveTo>
                  <a:lnTo>
                    <a:pt x="234" y="338"/>
                  </a:lnTo>
                  <a:lnTo>
                    <a:pt x="229" y="336"/>
                  </a:lnTo>
                  <a:lnTo>
                    <a:pt x="234" y="331"/>
                  </a:lnTo>
                  <a:lnTo>
                    <a:pt x="207" y="320"/>
                  </a:lnTo>
                  <a:lnTo>
                    <a:pt x="211" y="328"/>
                  </a:lnTo>
                  <a:lnTo>
                    <a:pt x="207" y="327"/>
                  </a:lnTo>
                  <a:lnTo>
                    <a:pt x="218" y="354"/>
                  </a:lnTo>
                  <a:close/>
                  <a:moveTo>
                    <a:pt x="246" y="422"/>
                  </a:moveTo>
                  <a:lnTo>
                    <a:pt x="302" y="366"/>
                  </a:lnTo>
                  <a:lnTo>
                    <a:pt x="297" y="364"/>
                  </a:lnTo>
                  <a:lnTo>
                    <a:pt x="302" y="359"/>
                  </a:lnTo>
                  <a:lnTo>
                    <a:pt x="296" y="357"/>
                  </a:lnTo>
                  <a:lnTo>
                    <a:pt x="249" y="337"/>
                  </a:lnTo>
                  <a:lnTo>
                    <a:pt x="224" y="362"/>
                  </a:lnTo>
                  <a:lnTo>
                    <a:pt x="226" y="366"/>
                  </a:lnTo>
                  <a:lnTo>
                    <a:pt x="224" y="368"/>
                  </a:lnTo>
                  <a:lnTo>
                    <a:pt x="243" y="416"/>
                  </a:lnTo>
                  <a:lnTo>
                    <a:pt x="246" y="422"/>
                  </a:lnTo>
                  <a:close/>
                  <a:moveTo>
                    <a:pt x="412" y="511"/>
                  </a:moveTo>
                  <a:lnTo>
                    <a:pt x="429" y="493"/>
                  </a:lnTo>
                  <a:lnTo>
                    <a:pt x="426" y="490"/>
                  </a:lnTo>
                  <a:lnTo>
                    <a:pt x="429" y="487"/>
                  </a:lnTo>
                  <a:lnTo>
                    <a:pt x="414" y="472"/>
                  </a:lnTo>
                  <a:lnTo>
                    <a:pt x="394" y="451"/>
                  </a:lnTo>
                  <a:lnTo>
                    <a:pt x="312" y="369"/>
                  </a:lnTo>
                  <a:lnTo>
                    <a:pt x="256" y="425"/>
                  </a:lnTo>
                  <a:lnTo>
                    <a:pt x="260" y="429"/>
                  </a:lnTo>
                  <a:lnTo>
                    <a:pt x="256" y="432"/>
                  </a:lnTo>
                  <a:lnTo>
                    <a:pt x="334" y="510"/>
                  </a:lnTo>
                  <a:lnTo>
                    <a:pt x="354" y="530"/>
                  </a:lnTo>
                  <a:lnTo>
                    <a:pt x="374" y="549"/>
                  </a:lnTo>
                  <a:lnTo>
                    <a:pt x="395" y="528"/>
                  </a:lnTo>
                  <a:lnTo>
                    <a:pt x="412" y="511"/>
                  </a:lnTo>
                  <a:close/>
                  <a:moveTo>
                    <a:pt x="20" y="150"/>
                  </a:moveTo>
                  <a:lnTo>
                    <a:pt x="89" y="152"/>
                  </a:lnTo>
                  <a:lnTo>
                    <a:pt x="89" y="152"/>
                  </a:lnTo>
                  <a:lnTo>
                    <a:pt x="89" y="152"/>
                  </a:lnTo>
                  <a:cubicBezTo>
                    <a:pt x="118" y="152"/>
                    <a:pt x="141" y="129"/>
                    <a:pt x="141" y="100"/>
                  </a:cubicBezTo>
                  <a:lnTo>
                    <a:pt x="141" y="94"/>
                  </a:lnTo>
                  <a:lnTo>
                    <a:pt x="141" y="93"/>
                  </a:lnTo>
                  <a:lnTo>
                    <a:pt x="141" y="27"/>
                  </a:lnTo>
                  <a:lnTo>
                    <a:pt x="383" y="27"/>
                  </a:lnTo>
                  <a:cubicBezTo>
                    <a:pt x="389" y="27"/>
                    <a:pt x="394" y="32"/>
                    <a:pt x="394" y="38"/>
                  </a:cubicBezTo>
                  <a:lnTo>
                    <a:pt x="394" y="422"/>
                  </a:lnTo>
                  <a:lnTo>
                    <a:pt x="394" y="429"/>
                  </a:lnTo>
                  <a:lnTo>
                    <a:pt x="414" y="449"/>
                  </a:lnTo>
                  <a:lnTo>
                    <a:pt x="414" y="443"/>
                  </a:lnTo>
                  <a:lnTo>
                    <a:pt x="414" y="39"/>
                  </a:lnTo>
                  <a:lnTo>
                    <a:pt x="414" y="32"/>
                  </a:lnTo>
                  <a:cubicBezTo>
                    <a:pt x="414" y="14"/>
                    <a:pt x="400" y="0"/>
                    <a:pt x="383" y="0"/>
                  </a:cubicBezTo>
                  <a:lnTo>
                    <a:pt x="123" y="0"/>
                  </a:lnTo>
                  <a:lnTo>
                    <a:pt x="121" y="2"/>
                  </a:lnTo>
                  <a:lnTo>
                    <a:pt x="1" y="122"/>
                  </a:lnTo>
                  <a:lnTo>
                    <a:pt x="0" y="123"/>
                  </a:lnTo>
                  <a:lnTo>
                    <a:pt x="0" y="130"/>
                  </a:lnTo>
                  <a:lnTo>
                    <a:pt x="0" y="492"/>
                  </a:lnTo>
                  <a:lnTo>
                    <a:pt x="0" y="499"/>
                  </a:lnTo>
                  <a:cubicBezTo>
                    <a:pt x="0" y="516"/>
                    <a:pt x="14" y="530"/>
                    <a:pt x="32" y="530"/>
                  </a:cubicBezTo>
                  <a:lnTo>
                    <a:pt x="326" y="530"/>
                  </a:lnTo>
                  <a:lnTo>
                    <a:pt x="319" y="524"/>
                  </a:lnTo>
                  <a:lnTo>
                    <a:pt x="326" y="524"/>
                  </a:lnTo>
                  <a:lnTo>
                    <a:pt x="305" y="503"/>
                  </a:lnTo>
                  <a:lnTo>
                    <a:pt x="32" y="503"/>
                  </a:lnTo>
                  <a:cubicBezTo>
                    <a:pt x="25" y="503"/>
                    <a:pt x="21" y="498"/>
                    <a:pt x="20" y="492"/>
                  </a:cubicBezTo>
                  <a:lnTo>
                    <a:pt x="20" y="492"/>
                  </a:lnTo>
                  <a:lnTo>
                    <a:pt x="20" y="150"/>
                  </a:lnTo>
                  <a:close/>
                  <a:moveTo>
                    <a:pt x="82" y="321"/>
                  </a:moveTo>
                  <a:lnTo>
                    <a:pt x="156" y="321"/>
                  </a:lnTo>
                  <a:lnTo>
                    <a:pt x="156" y="315"/>
                  </a:lnTo>
                  <a:lnTo>
                    <a:pt x="156" y="301"/>
                  </a:lnTo>
                  <a:lnTo>
                    <a:pt x="156" y="294"/>
                  </a:lnTo>
                  <a:lnTo>
                    <a:pt x="82" y="294"/>
                  </a:lnTo>
                  <a:lnTo>
                    <a:pt x="82" y="301"/>
                  </a:lnTo>
                  <a:lnTo>
                    <a:pt x="82" y="315"/>
                  </a:lnTo>
                  <a:lnTo>
                    <a:pt x="82" y="321"/>
                  </a:lnTo>
                  <a:close/>
                  <a:moveTo>
                    <a:pt x="82" y="272"/>
                  </a:moveTo>
                  <a:lnTo>
                    <a:pt x="82" y="279"/>
                  </a:lnTo>
                  <a:lnTo>
                    <a:pt x="331" y="279"/>
                  </a:lnTo>
                  <a:lnTo>
                    <a:pt x="331" y="272"/>
                  </a:lnTo>
                  <a:lnTo>
                    <a:pt x="331" y="258"/>
                  </a:lnTo>
                  <a:lnTo>
                    <a:pt x="331" y="252"/>
                  </a:lnTo>
                  <a:lnTo>
                    <a:pt x="82" y="252"/>
                  </a:lnTo>
                  <a:lnTo>
                    <a:pt x="82" y="258"/>
                  </a:lnTo>
                  <a:lnTo>
                    <a:pt x="82" y="272"/>
                  </a:lnTo>
                  <a:close/>
                  <a:moveTo>
                    <a:pt x="82" y="229"/>
                  </a:moveTo>
                  <a:lnTo>
                    <a:pt x="82" y="236"/>
                  </a:lnTo>
                  <a:lnTo>
                    <a:pt x="331" y="236"/>
                  </a:lnTo>
                  <a:lnTo>
                    <a:pt x="331" y="229"/>
                  </a:lnTo>
                  <a:lnTo>
                    <a:pt x="331" y="216"/>
                  </a:lnTo>
                  <a:lnTo>
                    <a:pt x="331" y="209"/>
                  </a:lnTo>
                  <a:lnTo>
                    <a:pt x="82" y="209"/>
                  </a:lnTo>
                  <a:lnTo>
                    <a:pt x="82" y="216"/>
                  </a:lnTo>
                  <a:lnTo>
                    <a:pt x="82" y="229"/>
                  </a:lnTo>
                  <a:close/>
                </a:path>
              </a:pathLst>
            </a:custGeom>
            <a:solidFill>
              <a:srgbClr val="FDFDFD"/>
            </a:solidFill>
            <a:ln>
              <a:noFill/>
            </a:ln>
            <a:effectLst/>
          </p:spPr>
          <p:txBody>
            <a:bodyPr vert="horz" wrap="square" lIns="121882" tIns="60941" rIns="121882" bIns="60941" numCol="1" anchor="t" anchorCtr="0" compatLnSpc="1"/>
            <a:lstStyle/>
            <a:p>
              <a:pPr defTabSz="1218565"/>
              <a:endParaRPr lang="zh-CN" altLang="en-US" sz="1600">
                <a:solidFill>
                  <a:srgbClr val="A5644E"/>
                </a:solidFill>
                <a:latin typeface="Calibri" panose="020F0502020204030204"/>
                <a:ea typeface="宋体" panose="02010600030101010101" pitchFamily="2" charset="-122"/>
              </a:endParaRPr>
            </a:p>
          </p:txBody>
        </p:sp>
        <p:sp>
          <p:nvSpPr>
            <p:cNvPr id="8" name="文本框 7"/>
            <p:cNvSpPr txBox="1"/>
            <p:nvPr/>
          </p:nvSpPr>
          <p:spPr>
            <a:xfrm>
              <a:off x="6805239" y="2933400"/>
              <a:ext cx="1005713" cy="338426"/>
            </a:xfrm>
            <a:prstGeom prst="rect">
              <a:avLst/>
            </a:prstGeom>
            <a:noFill/>
          </p:spPr>
          <p:txBody>
            <a:bodyPr wrap="none" rtlCol="0">
              <a:spAutoFit/>
            </a:bodyPr>
            <a:lstStyle/>
            <a:p>
              <a:pPr defTabSz="1217930">
                <a:defRPr/>
              </a:pPr>
              <a:r>
                <a:rPr lang="zh-CN" altLang="en-US" sz="1600" kern="0" dirty="0">
                  <a:solidFill>
                    <a:prstClr val="white"/>
                  </a:solidFill>
                  <a:latin typeface="微软雅黑" panose="020B0503020204020204" pitchFamily="34" charset="-122"/>
                  <a:ea typeface="微软雅黑" panose="020B0503020204020204" pitchFamily="34" charset="-122"/>
                </a:rPr>
                <a:t>输入标题</a:t>
              </a:r>
            </a:p>
          </p:txBody>
        </p:sp>
      </p:grpSp>
      <p:grpSp>
        <p:nvGrpSpPr>
          <p:cNvPr id="9" name="组合 8"/>
          <p:cNvGrpSpPr/>
          <p:nvPr/>
        </p:nvGrpSpPr>
        <p:grpSpPr>
          <a:xfrm>
            <a:off x="4156007" y="4161923"/>
            <a:ext cx="1637585" cy="1638092"/>
            <a:chOff x="4155409" y="4458779"/>
            <a:chExt cx="1638090" cy="1638091"/>
          </a:xfrm>
        </p:grpSpPr>
        <p:sp>
          <p:nvSpPr>
            <p:cNvPr id="25" name="矩形 24"/>
            <p:cNvSpPr>
              <a:spLocks noChangeAspect="1"/>
            </p:cNvSpPr>
            <p:nvPr/>
          </p:nvSpPr>
          <p:spPr>
            <a:xfrm rot="2700000">
              <a:off x="4155408" y="4458780"/>
              <a:ext cx="1638091" cy="1638090"/>
            </a:xfrm>
            <a:prstGeom prst="rect">
              <a:avLst/>
            </a:prstGeom>
            <a:solidFill>
              <a:srgbClr val="E8432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1600">
                <a:solidFill>
                  <a:prstClr val="white"/>
                </a:solidFill>
                <a:latin typeface="Calibri" panose="020F0502020204030204"/>
                <a:ea typeface="宋体" panose="02010600030101010101" pitchFamily="2" charset="-122"/>
              </a:endParaRPr>
            </a:p>
          </p:txBody>
        </p:sp>
        <p:sp>
          <p:nvSpPr>
            <p:cNvPr id="26" name="Freeform 26"/>
            <p:cNvSpPr>
              <a:spLocks noEditPoints="1"/>
            </p:cNvSpPr>
            <p:nvPr/>
          </p:nvSpPr>
          <p:spPr bwMode="auto">
            <a:xfrm>
              <a:off x="4766169" y="4559754"/>
              <a:ext cx="407844" cy="428495"/>
            </a:xfrm>
            <a:custGeom>
              <a:avLst/>
              <a:gdLst>
                <a:gd name="T0" fmla="*/ 139 w 577"/>
                <a:gd name="T1" fmla="*/ 87 h 609"/>
                <a:gd name="T2" fmla="*/ 27 w 577"/>
                <a:gd name="T3" fmla="*/ 87 h 609"/>
                <a:gd name="T4" fmla="*/ 27 w 577"/>
                <a:gd name="T5" fmla="*/ 48 h 609"/>
                <a:gd name="T6" fmla="*/ 139 w 577"/>
                <a:gd name="T7" fmla="*/ 48 h 609"/>
                <a:gd name="T8" fmla="*/ 139 w 577"/>
                <a:gd name="T9" fmla="*/ 87 h 609"/>
                <a:gd name="T10" fmla="*/ 139 w 577"/>
                <a:gd name="T11" fmla="*/ 179 h 609"/>
                <a:gd name="T12" fmla="*/ 27 w 577"/>
                <a:gd name="T13" fmla="*/ 179 h 609"/>
                <a:gd name="T14" fmla="*/ 27 w 577"/>
                <a:gd name="T15" fmla="*/ 140 h 609"/>
                <a:gd name="T16" fmla="*/ 139 w 577"/>
                <a:gd name="T17" fmla="*/ 140 h 609"/>
                <a:gd name="T18" fmla="*/ 139 w 577"/>
                <a:gd name="T19" fmla="*/ 179 h 609"/>
                <a:gd name="T20" fmla="*/ 139 w 577"/>
                <a:gd name="T21" fmla="*/ 271 h 609"/>
                <a:gd name="T22" fmla="*/ 27 w 577"/>
                <a:gd name="T23" fmla="*/ 271 h 609"/>
                <a:gd name="T24" fmla="*/ 27 w 577"/>
                <a:gd name="T25" fmla="*/ 232 h 609"/>
                <a:gd name="T26" fmla="*/ 139 w 577"/>
                <a:gd name="T27" fmla="*/ 232 h 609"/>
                <a:gd name="T28" fmla="*/ 139 w 577"/>
                <a:gd name="T29" fmla="*/ 271 h 609"/>
                <a:gd name="T30" fmla="*/ 0 w 577"/>
                <a:gd name="T31" fmla="*/ 609 h 609"/>
                <a:gd name="T32" fmla="*/ 166 w 577"/>
                <a:gd name="T33" fmla="*/ 609 h 609"/>
                <a:gd name="T34" fmla="*/ 166 w 577"/>
                <a:gd name="T35" fmla="*/ 0 h 609"/>
                <a:gd name="T36" fmla="*/ 0 w 577"/>
                <a:gd name="T37" fmla="*/ 0 h 609"/>
                <a:gd name="T38" fmla="*/ 0 w 577"/>
                <a:gd name="T39" fmla="*/ 609 h 609"/>
                <a:gd name="T40" fmla="*/ 344 w 577"/>
                <a:gd name="T41" fmla="*/ 87 h 609"/>
                <a:gd name="T42" fmla="*/ 232 w 577"/>
                <a:gd name="T43" fmla="*/ 87 h 609"/>
                <a:gd name="T44" fmla="*/ 232 w 577"/>
                <a:gd name="T45" fmla="*/ 48 h 609"/>
                <a:gd name="T46" fmla="*/ 344 w 577"/>
                <a:gd name="T47" fmla="*/ 48 h 609"/>
                <a:gd name="T48" fmla="*/ 344 w 577"/>
                <a:gd name="T49" fmla="*/ 87 h 609"/>
                <a:gd name="T50" fmla="*/ 344 w 577"/>
                <a:gd name="T51" fmla="*/ 179 h 609"/>
                <a:gd name="T52" fmla="*/ 232 w 577"/>
                <a:gd name="T53" fmla="*/ 179 h 609"/>
                <a:gd name="T54" fmla="*/ 232 w 577"/>
                <a:gd name="T55" fmla="*/ 140 h 609"/>
                <a:gd name="T56" fmla="*/ 344 w 577"/>
                <a:gd name="T57" fmla="*/ 140 h 609"/>
                <a:gd name="T58" fmla="*/ 344 w 577"/>
                <a:gd name="T59" fmla="*/ 179 h 609"/>
                <a:gd name="T60" fmla="*/ 344 w 577"/>
                <a:gd name="T61" fmla="*/ 271 h 609"/>
                <a:gd name="T62" fmla="*/ 232 w 577"/>
                <a:gd name="T63" fmla="*/ 271 h 609"/>
                <a:gd name="T64" fmla="*/ 232 w 577"/>
                <a:gd name="T65" fmla="*/ 232 h 609"/>
                <a:gd name="T66" fmla="*/ 344 w 577"/>
                <a:gd name="T67" fmla="*/ 232 h 609"/>
                <a:gd name="T68" fmla="*/ 344 w 577"/>
                <a:gd name="T69" fmla="*/ 271 h 609"/>
                <a:gd name="T70" fmla="*/ 205 w 577"/>
                <a:gd name="T71" fmla="*/ 609 h 609"/>
                <a:gd name="T72" fmla="*/ 371 w 577"/>
                <a:gd name="T73" fmla="*/ 609 h 609"/>
                <a:gd name="T74" fmla="*/ 371 w 577"/>
                <a:gd name="T75" fmla="*/ 0 h 609"/>
                <a:gd name="T76" fmla="*/ 205 w 577"/>
                <a:gd name="T77" fmla="*/ 0 h 609"/>
                <a:gd name="T78" fmla="*/ 205 w 577"/>
                <a:gd name="T79" fmla="*/ 609 h 609"/>
                <a:gd name="T80" fmla="*/ 549 w 577"/>
                <a:gd name="T81" fmla="*/ 87 h 609"/>
                <a:gd name="T82" fmla="*/ 437 w 577"/>
                <a:gd name="T83" fmla="*/ 87 h 609"/>
                <a:gd name="T84" fmla="*/ 437 w 577"/>
                <a:gd name="T85" fmla="*/ 48 h 609"/>
                <a:gd name="T86" fmla="*/ 549 w 577"/>
                <a:gd name="T87" fmla="*/ 48 h 609"/>
                <a:gd name="T88" fmla="*/ 549 w 577"/>
                <a:gd name="T89" fmla="*/ 87 h 609"/>
                <a:gd name="T90" fmla="*/ 549 w 577"/>
                <a:gd name="T91" fmla="*/ 179 h 609"/>
                <a:gd name="T92" fmla="*/ 437 w 577"/>
                <a:gd name="T93" fmla="*/ 179 h 609"/>
                <a:gd name="T94" fmla="*/ 437 w 577"/>
                <a:gd name="T95" fmla="*/ 140 h 609"/>
                <a:gd name="T96" fmla="*/ 549 w 577"/>
                <a:gd name="T97" fmla="*/ 140 h 609"/>
                <a:gd name="T98" fmla="*/ 549 w 577"/>
                <a:gd name="T99" fmla="*/ 179 h 609"/>
                <a:gd name="T100" fmla="*/ 549 w 577"/>
                <a:gd name="T101" fmla="*/ 271 h 609"/>
                <a:gd name="T102" fmla="*/ 437 w 577"/>
                <a:gd name="T103" fmla="*/ 271 h 609"/>
                <a:gd name="T104" fmla="*/ 437 w 577"/>
                <a:gd name="T105" fmla="*/ 232 h 609"/>
                <a:gd name="T106" fmla="*/ 549 w 577"/>
                <a:gd name="T107" fmla="*/ 232 h 609"/>
                <a:gd name="T108" fmla="*/ 549 w 577"/>
                <a:gd name="T109" fmla="*/ 271 h 609"/>
                <a:gd name="T110" fmla="*/ 410 w 577"/>
                <a:gd name="T111" fmla="*/ 609 h 609"/>
                <a:gd name="T112" fmla="*/ 577 w 577"/>
                <a:gd name="T113" fmla="*/ 609 h 609"/>
                <a:gd name="T114" fmla="*/ 577 w 577"/>
                <a:gd name="T115" fmla="*/ 0 h 609"/>
                <a:gd name="T116" fmla="*/ 410 w 577"/>
                <a:gd name="T117" fmla="*/ 0 h 609"/>
                <a:gd name="T118" fmla="*/ 410 w 577"/>
                <a:gd name="T119" fmla="*/ 609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7" h="609">
                  <a:moveTo>
                    <a:pt x="139" y="87"/>
                  </a:moveTo>
                  <a:lnTo>
                    <a:pt x="27" y="87"/>
                  </a:lnTo>
                  <a:lnTo>
                    <a:pt x="27" y="48"/>
                  </a:lnTo>
                  <a:lnTo>
                    <a:pt x="139" y="48"/>
                  </a:lnTo>
                  <a:lnTo>
                    <a:pt x="139" y="87"/>
                  </a:lnTo>
                  <a:close/>
                  <a:moveTo>
                    <a:pt x="139" y="179"/>
                  </a:moveTo>
                  <a:lnTo>
                    <a:pt x="27" y="179"/>
                  </a:lnTo>
                  <a:lnTo>
                    <a:pt x="27" y="140"/>
                  </a:lnTo>
                  <a:lnTo>
                    <a:pt x="139" y="140"/>
                  </a:lnTo>
                  <a:lnTo>
                    <a:pt x="139" y="179"/>
                  </a:lnTo>
                  <a:close/>
                  <a:moveTo>
                    <a:pt x="139" y="271"/>
                  </a:moveTo>
                  <a:lnTo>
                    <a:pt x="27" y="271"/>
                  </a:lnTo>
                  <a:lnTo>
                    <a:pt x="27" y="232"/>
                  </a:lnTo>
                  <a:lnTo>
                    <a:pt x="139" y="232"/>
                  </a:lnTo>
                  <a:lnTo>
                    <a:pt x="139" y="271"/>
                  </a:lnTo>
                  <a:close/>
                  <a:moveTo>
                    <a:pt x="0" y="609"/>
                  </a:moveTo>
                  <a:lnTo>
                    <a:pt x="166" y="609"/>
                  </a:lnTo>
                  <a:lnTo>
                    <a:pt x="166" y="0"/>
                  </a:lnTo>
                  <a:lnTo>
                    <a:pt x="0" y="0"/>
                  </a:lnTo>
                  <a:lnTo>
                    <a:pt x="0" y="609"/>
                  </a:lnTo>
                  <a:close/>
                  <a:moveTo>
                    <a:pt x="344" y="87"/>
                  </a:moveTo>
                  <a:lnTo>
                    <a:pt x="232" y="87"/>
                  </a:lnTo>
                  <a:lnTo>
                    <a:pt x="232" y="48"/>
                  </a:lnTo>
                  <a:lnTo>
                    <a:pt x="344" y="48"/>
                  </a:lnTo>
                  <a:lnTo>
                    <a:pt x="344" y="87"/>
                  </a:lnTo>
                  <a:close/>
                  <a:moveTo>
                    <a:pt x="344" y="179"/>
                  </a:moveTo>
                  <a:lnTo>
                    <a:pt x="232" y="179"/>
                  </a:lnTo>
                  <a:lnTo>
                    <a:pt x="232" y="140"/>
                  </a:lnTo>
                  <a:lnTo>
                    <a:pt x="344" y="140"/>
                  </a:lnTo>
                  <a:lnTo>
                    <a:pt x="344" y="179"/>
                  </a:lnTo>
                  <a:close/>
                  <a:moveTo>
                    <a:pt x="344" y="271"/>
                  </a:moveTo>
                  <a:lnTo>
                    <a:pt x="232" y="271"/>
                  </a:lnTo>
                  <a:lnTo>
                    <a:pt x="232" y="232"/>
                  </a:lnTo>
                  <a:lnTo>
                    <a:pt x="344" y="232"/>
                  </a:lnTo>
                  <a:lnTo>
                    <a:pt x="344" y="271"/>
                  </a:lnTo>
                  <a:close/>
                  <a:moveTo>
                    <a:pt x="205" y="609"/>
                  </a:moveTo>
                  <a:lnTo>
                    <a:pt x="371" y="609"/>
                  </a:lnTo>
                  <a:lnTo>
                    <a:pt x="371" y="0"/>
                  </a:lnTo>
                  <a:lnTo>
                    <a:pt x="205" y="0"/>
                  </a:lnTo>
                  <a:lnTo>
                    <a:pt x="205" y="609"/>
                  </a:lnTo>
                  <a:close/>
                  <a:moveTo>
                    <a:pt x="549" y="87"/>
                  </a:moveTo>
                  <a:lnTo>
                    <a:pt x="437" y="87"/>
                  </a:lnTo>
                  <a:lnTo>
                    <a:pt x="437" y="48"/>
                  </a:lnTo>
                  <a:lnTo>
                    <a:pt x="549" y="48"/>
                  </a:lnTo>
                  <a:lnTo>
                    <a:pt x="549" y="87"/>
                  </a:lnTo>
                  <a:close/>
                  <a:moveTo>
                    <a:pt x="549" y="179"/>
                  </a:moveTo>
                  <a:lnTo>
                    <a:pt x="437" y="179"/>
                  </a:lnTo>
                  <a:lnTo>
                    <a:pt x="437" y="140"/>
                  </a:lnTo>
                  <a:lnTo>
                    <a:pt x="549" y="140"/>
                  </a:lnTo>
                  <a:lnTo>
                    <a:pt x="549" y="179"/>
                  </a:lnTo>
                  <a:close/>
                  <a:moveTo>
                    <a:pt x="549" y="271"/>
                  </a:moveTo>
                  <a:lnTo>
                    <a:pt x="437" y="271"/>
                  </a:lnTo>
                  <a:lnTo>
                    <a:pt x="437" y="232"/>
                  </a:lnTo>
                  <a:lnTo>
                    <a:pt x="549" y="232"/>
                  </a:lnTo>
                  <a:lnTo>
                    <a:pt x="549" y="271"/>
                  </a:lnTo>
                  <a:close/>
                  <a:moveTo>
                    <a:pt x="410" y="609"/>
                  </a:moveTo>
                  <a:lnTo>
                    <a:pt x="577" y="609"/>
                  </a:lnTo>
                  <a:lnTo>
                    <a:pt x="577" y="0"/>
                  </a:lnTo>
                  <a:lnTo>
                    <a:pt x="410" y="0"/>
                  </a:lnTo>
                  <a:lnTo>
                    <a:pt x="410" y="609"/>
                  </a:lnTo>
                  <a:close/>
                </a:path>
              </a:pathLst>
            </a:custGeom>
            <a:solidFill>
              <a:srgbClr val="FDFDFD"/>
            </a:solidFill>
            <a:ln>
              <a:noFill/>
            </a:ln>
            <a:effectLst/>
          </p:spPr>
          <p:txBody>
            <a:bodyPr vert="horz" wrap="square" lIns="121882" tIns="60941" rIns="121882" bIns="60941" numCol="1" anchor="t" anchorCtr="0" compatLnSpc="1"/>
            <a:lstStyle/>
            <a:p>
              <a:pPr defTabSz="1218565"/>
              <a:endParaRPr lang="zh-CN" altLang="en-US" sz="1600">
                <a:solidFill>
                  <a:srgbClr val="A5644E"/>
                </a:solidFill>
                <a:latin typeface="Calibri" panose="020F0502020204030204"/>
                <a:ea typeface="宋体" panose="02010600030101010101" pitchFamily="2" charset="-122"/>
              </a:endParaRPr>
            </a:p>
          </p:txBody>
        </p:sp>
        <p:sp>
          <p:nvSpPr>
            <p:cNvPr id="30" name="文本框 29"/>
            <p:cNvSpPr txBox="1"/>
            <p:nvPr/>
          </p:nvSpPr>
          <p:spPr>
            <a:xfrm>
              <a:off x="4452978" y="5272650"/>
              <a:ext cx="1005713" cy="338426"/>
            </a:xfrm>
            <a:prstGeom prst="rect">
              <a:avLst/>
            </a:prstGeom>
            <a:noFill/>
          </p:spPr>
          <p:txBody>
            <a:bodyPr wrap="none" rtlCol="0">
              <a:spAutoFit/>
            </a:bodyPr>
            <a:lstStyle/>
            <a:p>
              <a:pPr defTabSz="1217930">
                <a:defRPr/>
              </a:pPr>
              <a:r>
                <a:rPr lang="zh-CN" altLang="en-US" sz="1600" kern="0" dirty="0">
                  <a:solidFill>
                    <a:prstClr val="white"/>
                  </a:solidFill>
                  <a:latin typeface="微软雅黑" panose="020B0503020204020204" pitchFamily="34" charset="-122"/>
                  <a:ea typeface="微软雅黑" panose="020B0503020204020204" pitchFamily="34" charset="-122"/>
                </a:rPr>
                <a:t>输入标题</a:t>
              </a:r>
            </a:p>
          </p:txBody>
        </p:sp>
      </p:grpSp>
      <p:grpSp>
        <p:nvGrpSpPr>
          <p:cNvPr id="33" name="组合 32"/>
          <p:cNvGrpSpPr/>
          <p:nvPr/>
        </p:nvGrpSpPr>
        <p:grpSpPr>
          <a:xfrm>
            <a:off x="6471901" y="4161924"/>
            <a:ext cx="1637585" cy="1638092"/>
            <a:chOff x="6472017" y="4458781"/>
            <a:chExt cx="1638090" cy="1638091"/>
          </a:xfrm>
        </p:grpSpPr>
        <p:sp>
          <p:nvSpPr>
            <p:cNvPr id="35" name="矩形 34"/>
            <p:cNvSpPr>
              <a:spLocks noChangeAspect="1"/>
            </p:cNvSpPr>
            <p:nvPr/>
          </p:nvSpPr>
          <p:spPr>
            <a:xfrm rot="2700000">
              <a:off x="6472016" y="4458782"/>
              <a:ext cx="1638091" cy="1638090"/>
            </a:xfrm>
            <a:prstGeom prst="rect">
              <a:avLst/>
            </a:prstGeom>
            <a:solidFill>
              <a:srgbClr val="383F4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1600">
                <a:solidFill>
                  <a:prstClr val="white"/>
                </a:solidFill>
                <a:latin typeface="Calibri" panose="020F0502020204030204"/>
                <a:ea typeface="宋体" panose="02010600030101010101" pitchFamily="2" charset="-122"/>
              </a:endParaRPr>
            </a:p>
          </p:txBody>
        </p:sp>
        <p:sp>
          <p:nvSpPr>
            <p:cNvPr id="37" name="Freeform 16"/>
            <p:cNvSpPr>
              <a:spLocks noEditPoints="1"/>
            </p:cNvSpPr>
            <p:nvPr/>
          </p:nvSpPr>
          <p:spPr bwMode="auto">
            <a:xfrm>
              <a:off x="7009048" y="4598421"/>
              <a:ext cx="551290" cy="439636"/>
            </a:xfrm>
            <a:custGeom>
              <a:avLst/>
              <a:gdLst>
                <a:gd name="T0" fmla="*/ 1238 w 1238"/>
                <a:gd name="T1" fmla="*/ 579 h 986"/>
                <a:gd name="T2" fmla="*/ 424 w 1238"/>
                <a:gd name="T3" fmla="*/ 579 h 986"/>
                <a:gd name="T4" fmla="*/ 443 w 1238"/>
                <a:gd name="T5" fmla="*/ 209 h 986"/>
                <a:gd name="T6" fmla="*/ 357 w 1238"/>
                <a:gd name="T7" fmla="*/ 223 h 986"/>
                <a:gd name="T8" fmla="*/ 329 w 1238"/>
                <a:gd name="T9" fmla="*/ 254 h 986"/>
                <a:gd name="T10" fmla="*/ 441 w 1238"/>
                <a:gd name="T11" fmla="*/ 316 h 986"/>
                <a:gd name="T12" fmla="*/ 311 w 1238"/>
                <a:gd name="T13" fmla="*/ 0 h 986"/>
                <a:gd name="T14" fmla="*/ 311 w 1238"/>
                <a:gd name="T15" fmla="*/ 620 h 986"/>
                <a:gd name="T16" fmla="*/ 367 w 1238"/>
                <a:gd name="T17" fmla="*/ 550 h 986"/>
                <a:gd name="T18" fmla="*/ 329 w 1238"/>
                <a:gd name="T19" fmla="*/ 473 h 986"/>
                <a:gd name="T20" fmla="*/ 295 w 1238"/>
                <a:gd name="T21" fmla="*/ 516 h 986"/>
                <a:gd name="T22" fmla="*/ 168 w 1238"/>
                <a:gd name="T23" fmla="*/ 370 h 986"/>
                <a:gd name="T24" fmla="*/ 295 w 1238"/>
                <a:gd name="T25" fmla="*/ 410 h 986"/>
                <a:gd name="T26" fmla="*/ 229 w 1238"/>
                <a:gd name="T27" fmla="*/ 307 h 986"/>
                <a:gd name="T28" fmla="*/ 295 w 1238"/>
                <a:gd name="T29" fmla="*/ 127 h 986"/>
                <a:gd name="T30" fmla="*/ 329 w 1238"/>
                <a:gd name="T31" fmla="*/ 104 h 986"/>
                <a:gd name="T32" fmla="*/ 443 w 1238"/>
                <a:gd name="T33" fmla="*/ 209 h 986"/>
                <a:gd name="T34" fmla="*/ 295 w 1238"/>
                <a:gd name="T35" fmla="*/ 186 h 986"/>
                <a:gd name="T36" fmla="*/ 295 w 1238"/>
                <a:gd name="T37" fmla="*/ 245 h 986"/>
                <a:gd name="T38" fmla="*/ 329 w 1238"/>
                <a:gd name="T39" fmla="*/ 413 h 986"/>
                <a:gd name="T40" fmla="*/ 357 w 1238"/>
                <a:gd name="T41" fmla="*/ 398 h 986"/>
                <a:gd name="T42" fmla="*/ 359 w 1238"/>
                <a:gd name="T43" fmla="*/ 356 h 986"/>
                <a:gd name="T44" fmla="*/ 329 w 1238"/>
                <a:gd name="T45" fmla="*/ 413 h 986"/>
                <a:gd name="T46" fmla="*/ 854 w 1238"/>
                <a:gd name="T47" fmla="*/ 713 h 986"/>
                <a:gd name="T48" fmla="*/ 904 w 1238"/>
                <a:gd name="T49" fmla="*/ 665 h 986"/>
                <a:gd name="T50" fmla="*/ 854 w 1238"/>
                <a:gd name="T51" fmla="*/ 617 h 986"/>
                <a:gd name="T52" fmla="*/ 810 w 1238"/>
                <a:gd name="T53" fmla="*/ 416 h 986"/>
                <a:gd name="T54" fmla="*/ 784 w 1238"/>
                <a:gd name="T55" fmla="*/ 477 h 986"/>
                <a:gd name="T56" fmla="*/ 810 w 1238"/>
                <a:gd name="T57" fmla="*/ 416 h 986"/>
                <a:gd name="T58" fmla="*/ 1004 w 1238"/>
                <a:gd name="T59" fmla="*/ 447 h 986"/>
                <a:gd name="T60" fmla="*/ 854 w 1238"/>
                <a:gd name="T61" fmla="*/ 418 h 986"/>
                <a:gd name="T62" fmla="*/ 977 w 1238"/>
                <a:gd name="T63" fmla="*/ 557 h 986"/>
                <a:gd name="T64" fmla="*/ 854 w 1238"/>
                <a:gd name="T65" fmla="*/ 792 h 986"/>
                <a:gd name="T66" fmla="*/ 810 w 1238"/>
                <a:gd name="T67" fmla="*/ 849 h 986"/>
                <a:gd name="T68" fmla="*/ 643 w 1238"/>
                <a:gd name="T69" fmla="*/ 658 h 986"/>
                <a:gd name="T70" fmla="*/ 810 w 1238"/>
                <a:gd name="T71" fmla="*/ 710 h 986"/>
                <a:gd name="T72" fmla="*/ 724 w 1238"/>
                <a:gd name="T73" fmla="*/ 575 h 986"/>
                <a:gd name="T74" fmla="*/ 810 w 1238"/>
                <a:gd name="T75" fmla="*/ 339 h 986"/>
                <a:gd name="T76" fmla="*/ 854 w 1238"/>
                <a:gd name="T77" fmla="*/ 309 h 986"/>
                <a:gd name="T78" fmla="*/ 1004 w 1238"/>
                <a:gd name="T79" fmla="*/ 44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38" h="986">
                  <a:moveTo>
                    <a:pt x="831" y="172"/>
                  </a:moveTo>
                  <a:cubicBezTo>
                    <a:pt x="1055" y="172"/>
                    <a:pt x="1238" y="354"/>
                    <a:pt x="1238" y="579"/>
                  </a:cubicBezTo>
                  <a:cubicBezTo>
                    <a:pt x="1238" y="804"/>
                    <a:pt x="1055" y="986"/>
                    <a:pt x="831" y="986"/>
                  </a:cubicBezTo>
                  <a:cubicBezTo>
                    <a:pt x="606" y="986"/>
                    <a:pt x="424" y="804"/>
                    <a:pt x="424" y="579"/>
                  </a:cubicBezTo>
                  <a:cubicBezTo>
                    <a:pt x="424" y="354"/>
                    <a:pt x="606" y="172"/>
                    <a:pt x="831" y="172"/>
                  </a:cubicBezTo>
                  <a:close/>
                  <a:moveTo>
                    <a:pt x="443" y="209"/>
                  </a:moveTo>
                  <a:lnTo>
                    <a:pt x="443" y="209"/>
                  </a:lnTo>
                  <a:lnTo>
                    <a:pt x="357" y="223"/>
                  </a:lnTo>
                  <a:cubicBezTo>
                    <a:pt x="350" y="204"/>
                    <a:pt x="346" y="197"/>
                    <a:pt x="329" y="187"/>
                  </a:cubicBezTo>
                  <a:lnTo>
                    <a:pt x="329" y="254"/>
                  </a:lnTo>
                  <a:cubicBezTo>
                    <a:pt x="375" y="266"/>
                    <a:pt x="406" y="279"/>
                    <a:pt x="422" y="293"/>
                  </a:cubicBezTo>
                  <a:cubicBezTo>
                    <a:pt x="430" y="300"/>
                    <a:pt x="436" y="308"/>
                    <a:pt x="441" y="316"/>
                  </a:cubicBezTo>
                  <a:cubicBezTo>
                    <a:pt x="480" y="260"/>
                    <a:pt x="533" y="215"/>
                    <a:pt x="594" y="185"/>
                  </a:cubicBezTo>
                  <a:cubicBezTo>
                    <a:pt x="546" y="76"/>
                    <a:pt x="437" y="0"/>
                    <a:pt x="311" y="0"/>
                  </a:cubicBezTo>
                  <a:cubicBezTo>
                    <a:pt x="139" y="0"/>
                    <a:pt x="0" y="139"/>
                    <a:pt x="0" y="310"/>
                  </a:cubicBezTo>
                  <a:cubicBezTo>
                    <a:pt x="0" y="481"/>
                    <a:pt x="139" y="620"/>
                    <a:pt x="311" y="620"/>
                  </a:cubicBezTo>
                  <a:cubicBezTo>
                    <a:pt x="331" y="620"/>
                    <a:pt x="352" y="618"/>
                    <a:pt x="372" y="614"/>
                  </a:cubicBezTo>
                  <a:cubicBezTo>
                    <a:pt x="368" y="593"/>
                    <a:pt x="367" y="572"/>
                    <a:pt x="367" y="550"/>
                  </a:cubicBezTo>
                  <a:cubicBezTo>
                    <a:pt x="367" y="521"/>
                    <a:pt x="370" y="493"/>
                    <a:pt x="376" y="465"/>
                  </a:cubicBezTo>
                  <a:cubicBezTo>
                    <a:pt x="361" y="470"/>
                    <a:pt x="345" y="472"/>
                    <a:pt x="329" y="473"/>
                  </a:cubicBezTo>
                  <a:lnTo>
                    <a:pt x="329" y="516"/>
                  </a:lnTo>
                  <a:lnTo>
                    <a:pt x="295" y="516"/>
                  </a:lnTo>
                  <a:lnTo>
                    <a:pt x="295" y="473"/>
                  </a:lnTo>
                  <a:cubicBezTo>
                    <a:pt x="226" y="467"/>
                    <a:pt x="180" y="440"/>
                    <a:pt x="168" y="370"/>
                  </a:cubicBezTo>
                  <a:lnTo>
                    <a:pt x="261" y="359"/>
                  </a:lnTo>
                  <a:cubicBezTo>
                    <a:pt x="265" y="385"/>
                    <a:pt x="271" y="398"/>
                    <a:pt x="295" y="410"/>
                  </a:cubicBezTo>
                  <a:lnTo>
                    <a:pt x="295" y="329"/>
                  </a:lnTo>
                  <a:cubicBezTo>
                    <a:pt x="264" y="320"/>
                    <a:pt x="242" y="313"/>
                    <a:pt x="229" y="307"/>
                  </a:cubicBezTo>
                  <a:cubicBezTo>
                    <a:pt x="173" y="279"/>
                    <a:pt x="166" y="200"/>
                    <a:pt x="210" y="157"/>
                  </a:cubicBezTo>
                  <a:cubicBezTo>
                    <a:pt x="229" y="139"/>
                    <a:pt x="257" y="129"/>
                    <a:pt x="295" y="127"/>
                  </a:cubicBezTo>
                  <a:lnTo>
                    <a:pt x="295" y="104"/>
                  </a:lnTo>
                  <a:lnTo>
                    <a:pt x="329" y="104"/>
                  </a:lnTo>
                  <a:lnTo>
                    <a:pt x="329" y="127"/>
                  </a:lnTo>
                  <a:cubicBezTo>
                    <a:pt x="384" y="130"/>
                    <a:pt x="430" y="151"/>
                    <a:pt x="443" y="209"/>
                  </a:cubicBezTo>
                  <a:close/>
                  <a:moveTo>
                    <a:pt x="295" y="186"/>
                  </a:moveTo>
                  <a:lnTo>
                    <a:pt x="295" y="186"/>
                  </a:lnTo>
                  <a:cubicBezTo>
                    <a:pt x="274" y="193"/>
                    <a:pt x="259" y="212"/>
                    <a:pt x="275" y="233"/>
                  </a:cubicBezTo>
                  <a:cubicBezTo>
                    <a:pt x="279" y="238"/>
                    <a:pt x="285" y="242"/>
                    <a:pt x="295" y="245"/>
                  </a:cubicBezTo>
                  <a:lnTo>
                    <a:pt x="295" y="186"/>
                  </a:lnTo>
                  <a:close/>
                  <a:moveTo>
                    <a:pt x="329" y="413"/>
                  </a:moveTo>
                  <a:lnTo>
                    <a:pt x="329" y="413"/>
                  </a:lnTo>
                  <a:cubicBezTo>
                    <a:pt x="342" y="410"/>
                    <a:pt x="351" y="405"/>
                    <a:pt x="357" y="398"/>
                  </a:cubicBezTo>
                  <a:cubicBezTo>
                    <a:pt x="363" y="392"/>
                    <a:pt x="366" y="384"/>
                    <a:pt x="366" y="376"/>
                  </a:cubicBezTo>
                  <a:cubicBezTo>
                    <a:pt x="366" y="368"/>
                    <a:pt x="364" y="362"/>
                    <a:pt x="359" y="356"/>
                  </a:cubicBezTo>
                  <a:cubicBezTo>
                    <a:pt x="354" y="350"/>
                    <a:pt x="344" y="344"/>
                    <a:pt x="329" y="339"/>
                  </a:cubicBezTo>
                  <a:lnTo>
                    <a:pt x="329" y="413"/>
                  </a:lnTo>
                  <a:close/>
                  <a:moveTo>
                    <a:pt x="854" y="713"/>
                  </a:moveTo>
                  <a:lnTo>
                    <a:pt x="854" y="713"/>
                  </a:lnTo>
                  <a:cubicBezTo>
                    <a:pt x="871" y="710"/>
                    <a:pt x="884" y="703"/>
                    <a:pt x="892" y="695"/>
                  </a:cubicBezTo>
                  <a:cubicBezTo>
                    <a:pt x="900" y="686"/>
                    <a:pt x="904" y="676"/>
                    <a:pt x="904" y="665"/>
                  </a:cubicBezTo>
                  <a:cubicBezTo>
                    <a:pt x="904" y="656"/>
                    <a:pt x="901" y="647"/>
                    <a:pt x="894" y="639"/>
                  </a:cubicBezTo>
                  <a:cubicBezTo>
                    <a:pt x="887" y="631"/>
                    <a:pt x="874" y="624"/>
                    <a:pt x="854" y="617"/>
                  </a:cubicBezTo>
                  <a:lnTo>
                    <a:pt x="854" y="713"/>
                  </a:lnTo>
                  <a:close/>
                  <a:moveTo>
                    <a:pt x="810" y="416"/>
                  </a:moveTo>
                  <a:lnTo>
                    <a:pt x="810" y="416"/>
                  </a:lnTo>
                  <a:cubicBezTo>
                    <a:pt x="783" y="426"/>
                    <a:pt x="763" y="451"/>
                    <a:pt x="784" y="477"/>
                  </a:cubicBezTo>
                  <a:cubicBezTo>
                    <a:pt x="789" y="484"/>
                    <a:pt x="798" y="489"/>
                    <a:pt x="810" y="494"/>
                  </a:cubicBezTo>
                  <a:lnTo>
                    <a:pt x="810" y="416"/>
                  </a:lnTo>
                  <a:close/>
                  <a:moveTo>
                    <a:pt x="1004" y="447"/>
                  </a:moveTo>
                  <a:lnTo>
                    <a:pt x="1004" y="447"/>
                  </a:lnTo>
                  <a:lnTo>
                    <a:pt x="892" y="464"/>
                  </a:lnTo>
                  <a:cubicBezTo>
                    <a:pt x="883" y="440"/>
                    <a:pt x="877" y="430"/>
                    <a:pt x="854" y="418"/>
                  </a:cubicBezTo>
                  <a:lnTo>
                    <a:pt x="854" y="505"/>
                  </a:lnTo>
                  <a:cubicBezTo>
                    <a:pt x="916" y="521"/>
                    <a:pt x="956" y="539"/>
                    <a:pt x="977" y="557"/>
                  </a:cubicBezTo>
                  <a:cubicBezTo>
                    <a:pt x="1043" y="616"/>
                    <a:pt x="1024" y="719"/>
                    <a:pt x="953" y="765"/>
                  </a:cubicBezTo>
                  <a:cubicBezTo>
                    <a:pt x="925" y="783"/>
                    <a:pt x="892" y="791"/>
                    <a:pt x="854" y="792"/>
                  </a:cubicBezTo>
                  <a:lnTo>
                    <a:pt x="854" y="849"/>
                  </a:lnTo>
                  <a:lnTo>
                    <a:pt x="810" y="849"/>
                  </a:lnTo>
                  <a:lnTo>
                    <a:pt x="810" y="792"/>
                  </a:lnTo>
                  <a:cubicBezTo>
                    <a:pt x="720" y="784"/>
                    <a:pt x="660" y="750"/>
                    <a:pt x="643" y="658"/>
                  </a:cubicBezTo>
                  <a:lnTo>
                    <a:pt x="765" y="644"/>
                  </a:lnTo>
                  <a:cubicBezTo>
                    <a:pt x="772" y="677"/>
                    <a:pt x="779" y="695"/>
                    <a:pt x="810" y="710"/>
                  </a:cubicBezTo>
                  <a:lnTo>
                    <a:pt x="810" y="604"/>
                  </a:lnTo>
                  <a:cubicBezTo>
                    <a:pt x="770" y="593"/>
                    <a:pt x="741" y="583"/>
                    <a:pt x="724" y="575"/>
                  </a:cubicBezTo>
                  <a:cubicBezTo>
                    <a:pt x="650" y="539"/>
                    <a:pt x="641" y="434"/>
                    <a:pt x="699" y="379"/>
                  </a:cubicBezTo>
                  <a:cubicBezTo>
                    <a:pt x="724" y="355"/>
                    <a:pt x="761" y="341"/>
                    <a:pt x="810" y="339"/>
                  </a:cubicBezTo>
                  <a:lnTo>
                    <a:pt x="810" y="309"/>
                  </a:lnTo>
                  <a:lnTo>
                    <a:pt x="854" y="309"/>
                  </a:lnTo>
                  <a:lnTo>
                    <a:pt x="854" y="339"/>
                  </a:lnTo>
                  <a:cubicBezTo>
                    <a:pt x="927" y="343"/>
                    <a:pt x="987" y="370"/>
                    <a:pt x="1004" y="447"/>
                  </a:cubicBezTo>
                  <a:close/>
                </a:path>
              </a:pathLst>
            </a:custGeom>
            <a:solidFill>
              <a:srgbClr val="FDFDFD"/>
            </a:solidFill>
            <a:ln>
              <a:noFill/>
            </a:ln>
            <a:effectLst/>
          </p:spPr>
          <p:txBody>
            <a:bodyPr vert="horz" wrap="square" lIns="121882" tIns="60941" rIns="121882" bIns="60941" numCol="1" anchor="t" anchorCtr="0" compatLnSpc="1"/>
            <a:lstStyle/>
            <a:p>
              <a:pPr defTabSz="1218565"/>
              <a:endParaRPr lang="zh-CN" altLang="en-US" sz="1600">
                <a:solidFill>
                  <a:srgbClr val="A5644E"/>
                </a:solidFill>
                <a:latin typeface="Calibri" panose="020F0502020204030204"/>
                <a:ea typeface="宋体" panose="02010600030101010101" pitchFamily="2" charset="-122"/>
              </a:endParaRPr>
            </a:p>
          </p:txBody>
        </p:sp>
        <p:sp>
          <p:nvSpPr>
            <p:cNvPr id="38" name="文本框 37"/>
            <p:cNvSpPr txBox="1"/>
            <p:nvPr/>
          </p:nvSpPr>
          <p:spPr>
            <a:xfrm>
              <a:off x="6768074" y="5274885"/>
              <a:ext cx="1005713" cy="338426"/>
            </a:xfrm>
            <a:prstGeom prst="rect">
              <a:avLst/>
            </a:prstGeom>
            <a:noFill/>
          </p:spPr>
          <p:txBody>
            <a:bodyPr wrap="none" rtlCol="0">
              <a:spAutoFit/>
            </a:bodyPr>
            <a:lstStyle/>
            <a:p>
              <a:pPr defTabSz="1217930">
                <a:defRPr/>
              </a:pPr>
              <a:r>
                <a:rPr lang="zh-CN" altLang="en-US" sz="1600" kern="0" dirty="0">
                  <a:solidFill>
                    <a:prstClr val="white"/>
                  </a:solidFill>
                  <a:latin typeface="微软雅黑" panose="020B0503020204020204" pitchFamily="34" charset="-122"/>
                  <a:ea typeface="微软雅黑" panose="020B0503020204020204" pitchFamily="34" charset="-122"/>
                </a:rPr>
                <a:t>输入标题</a:t>
              </a:r>
            </a:p>
          </p:txBody>
        </p:sp>
      </p:grpSp>
      <p:sp>
        <p:nvSpPr>
          <p:cNvPr id="40" name="矩形 39"/>
          <p:cNvSpPr>
            <a:spLocks noChangeAspect="1"/>
          </p:cNvSpPr>
          <p:nvPr/>
        </p:nvSpPr>
        <p:spPr>
          <a:xfrm rot="2700000">
            <a:off x="1457007" y="4328417"/>
            <a:ext cx="1638092" cy="1637586"/>
          </a:xfrm>
          <a:prstGeom prst="rect">
            <a:avLst/>
          </a:prstGeom>
          <a:noFill/>
          <a:ln w="41275">
            <a:solidFill>
              <a:srgbClr val="383F4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1600">
              <a:solidFill>
                <a:prstClr val="white"/>
              </a:solidFill>
              <a:latin typeface="Calibri" panose="020F0502020204030204"/>
              <a:ea typeface="宋体" panose="02010600030101010101" pitchFamily="2" charset="-122"/>
            </a:endParaRPr>
          </a:p>
        </p:txBody>
      </p:sp>
      <p:sp>
        <p:nvSpPr>
          <p:cNvPr id="41" name="矩形 40"/>
          <p:cNvSpPr>
            <a:spLocks noChangeAspect="1"/>
          </p:cNvSpPr>
          <p:nvPr/>
        </p:nvSpPr>
        <p:spPr>
          <a:xfrm rot="2700000">
            <a:off x="9259552" y="4291333"/>
            <a:ext cx="1669415" cy="1668780"/>
          </a:xfrm>
          <a:prstGeom prst="rect">
            <a:avLst/>
          </a:prstGeom>
          <a:noFill/>
          <a:ln w="38100">
            <a:solidFill>
              <a:srgbClr val="E8432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1600">
              <a:solidFill>
                <a:prstClr val="white"/>
              </a:solidFill>
              <a:latin typeface="Calibri" panose="020F0502020204030204"/>
              <a:ea typeface="宋体" panose="02010600030101010101" pitchFamily="2" charset="-122"/>
            </a:endParaRPr>
          </a:p>
        </p:txBody>
      </p:sp>
      <p:sp>
        <p:nvSpPr>
          <p:cNvPr id="43" name="矩形 42"/>
          <p:cNvSpPr/>
          <p:nvPr/>
        </p:nvSpPr>
        <p:spPr>
          <a:xfrm>
            <a:off x="1118235" y="4975860"/>
            <a:ext cx="1974850" cy="645160"/>
          </a:xfrm>
          <a:prstGeom prst="rect">
            <a:avLst/>
          </a:prstGeom>
        </p:spPr>
        <p:txBody>
          <a:bodyPr wrap="square">
            <a:spAutoFit/>
          </a:bodyPr>
          <a:lstStyle/>
          <a:p>
            <a:pPr algn="r"/>
            <a:r>
              <a:rPr lang="zh-CN" altLang="en-US" sz="1200" dirty="0">
                <a:latin typeface="微软雅黑" panose="020B0503020204020204" pitchFamily="34" charset="-122"/>
                <a:ea typeface="微软雅黑" panose="020B0503020204020204" pitchFamily="34" charset="-122"/>
              </a:rPr>
              <a:t>本公司是一家处于创始阶段处于高赢利发展阶段商品增值转卖</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的公司</a:t>
            </a:r>
            <a:endParaRPr lang="zh-CN" altLang="en-US" sz="1200" dirty="0"/>
          </a:p>
        </p:txBody>
      </p:sp>
      <p:sp>
        <p:nvSpPr>
          <p:cNvPr id="68" name="矩形 67"/>
          <p:cNvSpPr/>
          <p:nvPr/>
        </p:nvSpPr>
        <p:spPr>
          <a:xfrm>
            <a:off x="1713416" y="4607336"/>
            <a:ext cx="1097280" cy="368300"/>
          </a:xfrm>
          <a:prstGeom prst="rect">
            <a:avLst/>
          </a:prstGeom>
        </p:spPr>
        <p:txBody>
          <a:bodyPr wrap="none">
            <a:spAutoFit/>
          </a:bodyPr>
          <a:lstStyle/>
          <a:p>
            <a:pPr algn="r"/>
            <a:r>
              <a:rPr lang="zh-CN" altLang="en-US" dirty="0">
                <a:latin typeface="微软雅黑" panose="020B0503020204020204" pitchFamily="34" charset="-122"/>
                <a:ea typeface="微软雅黑" panose="020B0503020204020204" pitchFamily="34" charset="-122"/>
              </a:rPr>
              <a:t>发展方向</a:t>
            </a:r>
            <a:endParaRPr lang="zh-CN" altLang="en-US" dirty="0"/>
          </a:p>
        </p:txBody>
      </p:sp>
      <p:sp>
        <p:nvSpPr>
          <p:cNvPr id="69" name="矩形 68"/>
          <p:cNvSpPr/>
          <p:nvPr/>
        </p:nvSpPr>
        <p:spPr>
          <a:xfrm>
            <a:off x="9043035" y="4824730"/>
            <a:ext cx="1974850" cy="645160"/>
          </a:xfrm>
          <a:prstGeom prst="rect">
            <a:avLst/>
          </a:prstGeom>
        </p:spPr>
        <p:txBody>
          <a:bodyPr wrap="square">
            <a:spAutoFit/>
          </a:bodyPr>
          <a:lstStyle/>
          <a:p>
            <a:pPr algn="r"/>
            <a:r>
              <a:rPr lang="zh-CN" altLang="en-US" sz="1200" dirty="0">
                <a:latin typeface="微软雅黑" panose="020B0503020204020204" pitchFamily="34" charset="-122"/>
                <a:ea typeface="微软雅黑" panose="020B0503020204020204" pitchFamily="34" charset="-122"/>
              </a:rPr>
              <a:t>本公司是一家处于创始阶段处于高赢利发展阶段商品增值转卖</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的公司</a:t>
            </a:r>
            <a:endParaRPr lang="zh-CN" altLang="en-US" sz="1200" dirty="0"/>
          </a:p>
        </p:txBody>
      </p:sp>
      <p:sp>
        <p:nvSpPr>
          <p:cNvPr id="70" name="矩形 69"/>
          <p:cNvSpPr/>
          <p:nvPr/>
        </p:nvSpPr>
        <p:spPr>
          <a:xfrm>
            <a:off x="9638216" y="4456206"/>
            <a:ext cx="1097280" cy="368300"/>
          </a:xfrm>
          <a:prstGeom prst="rect">
            <a:avLst/>
          </a:prstGeom>
        </p:spPr>
        <p:txBody>
          <a:bodyPr wrap="none">
            <a:spAutoFit/>
          </a:bodyPr>
          <a:lstStyle/>
          <a:p>
            <a:pPr algn="r"/>
            <a:r>
              <a:rPr lang="zh-CN" altLang="en-US" dirty="0">
                <a:latin typeface="微软雅黑" panose="020B0503020204020204" pitchFamily="34" charset="-122"/>
                <a:ea typeface="微软雅黑" panose="020B0503020204020204" pitchFamily="34" charset="-122"/>
              </a:rPr>
              <a:t>发展方向</a:t>
            </a:r>
            <a:endParaRPr lang="zh-CN" altLang="en-US"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ppt_w</p:attrName>
                                        </p:attrNameLst>
                                      </p:cBhvr>
                                      <p:tavLst>
                                        <p:tav tm="0">
                                          <p:val>
                                            <p:fltVal val="0"/>
                                          </p:val>
                                        </p:tav>
                                        <p:tav tm="100000">
                                          <p:val>
                                            <p:strVal val="#ppt_w"/>
                                          </p:val>
                                        </p:tav>
                                      </p:tavLst>
                                    </p:anim>
                                    <p:anim calcmode="lin" valueType="num">
                                      <p:cBhvr>
                                        <p:cTn id="8" dur="1000" fill="hold"/>
                                        <p:tgtEl>
                                          <p:spTgt spid="21"/>
                                        </p:tgtEl>
                                        <p:attrNameLst>
                                          <p:attrName>ppt_h</p:attrName>
                                        </p:attrNameLst>
                                      </p:cBhvr>
                                      <p:tavLst>
                                        <p:tav tm="0">
                                          <p:val>
                                            <p:fltVal val="0"/>
                                          </p:val>
                                        </p:tav>
                                        <p:tav tm="100000">
                                          <p:val>
                                            <p:strVal val="#ppt_h"/>
                                          </p:val>
                                        </p:tav>
                                      </p:tavLst>
                                    </p:anim>
                                    <p:anim calcmode="lin" valueType="num">
                                      <p:cBhvr>
                                        <p:cTn id="9" dur="1000" fill="hold"/>
                                        <p:tgtEl>
                                          <p:spTgt spid="21"/>
                                        </p:tgtEl>
                                        <p:attrNameLst>
                                          <p:attrName>style.rotation</p:attrName>
                                        </p:attrNameLst>
                                      </p:cBhvr>
                                      <p:tavLst>
                                        <p:tav tm="0">
                                          <p:val>
                                            <p:fltVal val="90"/>
                                          </p:val>
                                        </p:tav>
                                        <p:tav tm="100000">
                                          <p:val>
                                            <p:fltVal val="0"/>
                                          </p:val>
                                        </p:tav>
                                      </p:tavLst>
                                    </p:anim>
                                    <p:animEffect transition="in" filter="fade">
                                      <p:cBhvr>
                                        <p:cTn id="10" dur="10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2000"/>
                                  </p:stCondLst>
                                  <p:childTnLst>
                                    <p:animEffect transition="out" filter="fade">
                                      <p:cBhvr>
                                        <p:cTn id="19" dur="500"/>
                                        <p:tgtEl>
                                          <p:spTgt spid="63"/>
                                        </p:tgtEl>
                                      </p:cBhvr>
                                    </p:animEffect>
                                    <p:set>
                                      <p:cBhvr>
                                        <p:cTn id="20" dur="1" fill="hold">
                                          <p:stCondLst>
                                            <p:cond delay="499"/>
                                          </p:stCondLst>
                                        </p:cTn>
                                        <p:tgtEl>
                                          <p:spTgt spid="63"/>
                                        </p:tgtEl>
                                        <p:attrNameLst>
                                          <p:attrName>style.visibility</p:attrName>
                                        </p:attrNameLst>
                                      </p:cBhvr>
                                      <p:to>
                                        <p:strVal val="hidden"/>
                                      </p:to>
                                    </p:set>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53" presetClass="entr" presetSubtype="16"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16"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animEffect transition="in" filter="fade">
                                      <p:cBhvr>
                                        <p:cTn id="39" dur="500"/>
                                        <p:tgtEl>
                                          <p:spTgt spid="5"/>
                                        </p:tgtEl>
                                      </p:cBhvr>
                                    </p:animEffect>
                                  </p:childTnLst>
                                </p:cTn>
                              </p:par>
                              <p:par>
                                <p:cTn id="40" presetID="53" presetClass="entr" presetSubtype="16" fill="hold"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500" fill="hold"/>
                                        <p:tgtEl>
                                          <p:spTgt spid="33"/>
                                        </p:tgtEl>
                                        <p:attrNameLst>
                                          <p:attrName>ppt_w</p:attrName>
                                        </p:attrNameLst>
                                      </p:cBhvr>
                                      <p:tavLst>
                                        <p:tav tm="0">
                                          <p:val>
                                            <p:fltVal val="0"/>
                                          </p:val>
                                        </p:tav>
                                        <p:tav tm="100000">
                                          <p:val>
                                            <p:strVal val="#ppt_w"/>
                                          </p:val>
                                        </p:tav>
                                      </p:tavLst>
                                    </p:anim>
                                    <p:anim calcmode="lin" valueType="num">
                                      <p:cBhvr>
                                        <p:cTn id="43" dur="500" fill="hold"/>
                                        <p:tgtEl>
                                          <p:spTgt spid="33"/>
                                        </p:tgtEl>
                                        <p:attrNameLst>
                                          <p:attrName>ppt_h</p:attrName>
                                        </p:attrNameLst>
                                      </p:cBhvr>
                                      <p:tavLst>
                                        <p:tav tm="0">
                                          <p:val>
                                            <p:fltVal val="0"/>
                                          </p:val>
                                        </p:tav>
                                        <p:tav tm="100000">
                                          <p:val>
                                            <p:strVal val="#ppt_h"/>
                                          </p:val>
                                        </p:tav>
                                      </p:tavLst>
                                    </p:anim>
                                    <p:animEffect transition="in" filter="fade">
                                      <p:cBhvr>
                                        <p:cTn id="44" dur="500"/>
                                        <p:tgtEl>
                                          <p:spTgt spid="33"/>
                                        </p:tgtEl>
                                      </p:cBhvr>
                                    </p:animEffect>
                                  </p:childTnLst>
                                </p:cTn>
                              </p:par>
                              <p:par>
                                <p:cTn id="45" presetID="53" presetClass="entr" presetSubtype="16"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500" fill="hold"/>
                                        <p:tgtEl>
                                          <p:spTgt spid="9"/>
                                        </p:tgtEl>
                                        <p:attrNameLst>
                                          <p:attrName>ppt_w</p:attrName>
                                        </p:attrNameLst>
                                      </p:cBhvr>
                                      <p:tavLst>
                                        <p:tav tm="0">
                                          <p:val>
                                            <p:fltVal val="0"/>
                                          </p:val>
                                        </p:tav>
                                        <p:tav tm="100000">
                                          <p:val>
                                            <p:strVal val="#ppt_w"/>
                                          </p:val>
                                        </p:tav>
                                      </p:tavLst>
                                    </p:anim>
                                    <p:anim calcmode="lin" valueType="num">
                                      <p:cBhvr>
                                        <p:cTn id="48" dur="500" fill="hold"/>
                                        <p:tgtEl>
                                          <p:spTgt spid="9"/>
                                        </p:tgtEl>
                                        <p:attrNameLst>
                                          <p:attrName>ppt_h</p:attrName>
                                        </p:attrNameLst>
                                      </p:cBhvr>
                                      <p:tavLst>
                                        <p:tav tm="0">
                                          <p:val>
                                            <p:fltVal val="0"/>
                                          </p:val>
                                        </p:tav>
                                        <p:tav tm="100000">
                                          <p:val>
                                            <p:strVal val="#ppt_h"/>
                                          </p:val>
                                        </p:tav>
                                      </p:tavLst>
                                    </p:anim>
                                    <p:animEffect transition="in" filter="fade">
                                      <p:cBhvr>
                                        <p:cTn id="49" dur="500"/>
                                        <p:tgtEl>
                                          <p:spTgt spid="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randombar(horizontal)">
                                      <p:cBhvr>
                                        <p:cTn id="52" dur="500"/>
                                        <p:tgtEl>
                                          <p:spTgt spid="43"/>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68"/>
                                        </p:tgtEl>
                                        <p:attrNameLst>
                                          <p:attrName>style.visibility</p:attrName>
                                        </p:attrNameLst>
                                      </p:cBhvr>
                                      <p:to>
                                        <p:strVal val="visible"/>
                                      </p:to>
                                    </p:set>
                                    <p:animEffect transition="in" filter="randombar(horizontal)">
                                      <p:cBhvr>
                                        <p:cTn id="55" dur="500"/>
                                        <p:tgtEl>
                                          <p:spTgt spid="6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randombar(horizontal)">
                                      <p:cBhvr>
                                        <p:cTn id="58" dur="500"/>
                                        <p:tgtEl>
                                          <p:spTgt spid="69"/>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70"/>
                                        </p:tgtEl>
                                        <p:attrNameLst>
                                          <p:attrName>style.visibility</p:attrName>
                                        </p:attrNameLst>
                                      </p:cBhvr>
                                      <p:to>
                                        <p:strVal val="visible"/>
                                      </p:to>
                                    </p:set>
                                    <p:animEffect transition="in" filter="randombar(horizontal)">
                                      <p:cBhvr>
                                        <p:cTn id="61"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4" grpId="0"/>
      <p:bldP spid="63" grpId="0"/>
      <p:bldP spid="10" grpId="0" bldLvl="0" animBg="1"/>
      <p:bldP spid="11" grpId="0" bldLvl="0" animBg="1"/>
      <p:bldP spid="43" grpId="0"/>
      <p:bldP spid="68" grpId="0"/>
      <p:bldP spid="69" grpId="0"/>
      <p:bldP spid="7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5"/>
          <p:cNvSpPr/>
          <p:nvPr/>
        </p:nvSpPr>
        <p:spPr bwMode="auto">
          <a:xfrm flipH="1">
            <a:off x="1285875" y="3620135"/>
            <a:ext cx="6694170" cy="483235"/>
          </a:xfrm>
          <a:custGeom>
            <a:avLst/>
            <a:gdLst>
              <a:gd name="connsiteX0" fmla="*/ 1213 w 10542"/>
              <a:gd name="connsiteY0" fmla="*/ 0 h 761"/>
              <a:gd name="connsiteX1" fmla="*/ 0 w 10542"/>
              <a:gd name="connsiteY1" fmla="*/ 753 h 761"/>
              <a:gd name="connsiteX2" fmla="*/ 10542 w 10542"/>
              <a:gd name="connsiteY2" fmla="*/ 761 h 761"/>
              <a:gd name="connsiteX3" fmla="*/ 10140 w 10542"/>
              <a:gd name="connsiteY3" fmla="*/ 54 h 761"/>
              <a:gd name="connsiteX4" fmla="*/ 1213 w 10542"/>
              <a:gd name="connsiteY4" fmla="*/ 0 h 761"/>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0542" h="761">
                <a:moveTo>
                  <a:pt x="1213" y="0"/>
                </a:moveTo>
                <a:lnTo>
                  <a:pt x="0" y="753"/>
                </a:lnTo>
                <a:lnTo>
                  <a:pt x="10542" y="761"/>
                </a:lnTo>
                <a:lnTo>
                  <a:pt x="10140" y="54"/>
                </a:lnTo>
                <a:lnTo>
                  <a:pt x="1213" y="0"/>
                </a:lnTo>
                <a:close/>
              </a:path>
            </a:pathLst>
          </a:custGeom>
          <a:solidFill>
            <a:srgbClr val="E8432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5" name="Freeform 5"/>
          <p:cNvSpPr/>
          <p:nvPr/>
        </p:nvSpPr>
        <p:spPr bwMode="auto">
          <a:xfrm>
            <a:off x="6795381" y="3505079"/>
            <a:ext cx="2686968" cy="1038880"/>
          </a:xfrm>
          <a:custGeom>
            <a:avLst/>
            <a:gdLst>
              <a:gd name="T0" fmla="*/ 155 w 1401"/>
              <a:gd name="T1" fmla="*/ 0 h 441"/>
              <a:gd name="T2" fmla="*/ 0 w 1401"/>
              <a:gd name="T3" fmla="*/ 441 h 441"/>
              <a:gd name="T4" fmla="*/ 1230 w 1401"/>
              <a:gd name="T5" fmla="*/ 441 h 441"/>
              <a:gd name="T6" fmla="*/ 1401 w 1401"/>
              <a:gd name="T7" fmla="*/ 0 h 441"/>
              <a:gd name="T8" fmla="*/ 155 w 1401"/>
              <a:gd name="T9" fmla="*/ 0 h 441"/>
            </a:gdLst>
            <a:ahLst/>
            <a:cxnLst>
              <a:cxn ang="0">
                <a:pos x="T0" y="T1"/>
              </a:cxn>
              <a:cxn ang="0">
                <a:pos x="T2" y="T3"/>
              </a:cxn>
              <a:cxn ang="0">
                <a:pos x="T4" y="T5"/>
              </a:cxn>
              <a:cxn ang="0">
                <a:pos x="T6" y="T7"/>
              </a:cxn>
              <a:cxn ang="0">
                <a:pos x="T8" y="T9"/>
              </a:cxn>
            </a:cxnLst>
            <a:rect l="0" t="0" r="r" b="b"/>
            <a:pathLst>
              <a:path w="1401" h="441">
                <a:moveTo>
                  <a:pt x="155" y="0"/>
                </a:moveTo>
                <a:lnTo>
                  <a:pt x="0" y="441"/>
                </a:lnTo>
                <a:lnTo>
                  <a:pt x="1230" y="441"/>
                </a:lnTo>
                <a:lnTo>
                  <a:pt x="1401" y="0"/>
                </a:lnTo>
                <a:lnTo>
                  <a:pt x="155" y="0"/>
                </a:lnTo>
                <a:close/>
              </a:path>
            </a:pathLst>
          </a:custGeom>
          <a:solidFill>
            <a:srgbClr val="383F4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7" name="Freeform 6"/>
          <p:cNvSpPr/>
          <p:nvPr/>
        </p:nvSpPr>
        <p:spPr bwMode="auto">
          <a:xfrm>
            <a:off x="7842222" y="1327576"/>
            <a:ext cx="2734045" cy="762384"/>
          </a:xfrm>
          <a:custGeom>
            <a:avLst/>
            <a:gdLst>
              <a:gd name="T0" fmla="*/ 171 w 1806"/>
              <a:gd name="T1" fmla="*/ 0 h 410"/>
              <a:gd name="T2" fmla="*/ 0 w 1806"/>
              <a:gd name="T3" fmla="*/ 410 h 410"/>
              <a:gd name="T4" fmla="*/ 1650 w 1806"/>
              <a:gd name="T5" fmla="*/ 410 h 410"/>
              <a:gd name="T6" fmla="*/ 1806 w 1806"/>
              <a:gd name="T7" fmla="*/ 0 h 410"/>
              <a:gd name="T8" fmla="*/ 171 w 1806"/>
              <a:gd name="T9" fmla="*/ 0 h 410"/>
            </a:gdLst>
            <a:ahLst/>
            <a:cxnLst>
              <a:cxn ang="0">
                <a:pos x="T0" y="T1"/>
              </a:cxn>
              <a:cxn ang="0">
                <a:pos x="T2" y="T3"/>
              </a:cxn>
              <a:cxn ang="0">
                <a:pos x="T4" y="T5"/>
              </a:cxn>
              <a:cxn ang="0">
                <a:pos x="T6" y="T7"/>
              </a:cxn>
              <a:cxn ang="0">
                <a:pos x="T8" y="T9"/>
              </a:cxn>
            </a:cxnLst>
            <a:rect l="0" t="0" r="r" b="b"/>
            <a:pathLst>
              <a:path w="1806" h="410">
                <a:moveTo>
                  <a:pt x="171" y="0"/>
                </a:moveTo>
                <a:lnTo>
                  <a:pt x="0" y="410"/>
                </a:lnTo>
                <a:lnTo>
                  <a:pt x="1650" y="410"/>
                </a:lnTo>
                <a:lnTo>
                  <a:pt x="1806" y="0"/>
                </a:lnTo>
                <a:lnTo>
                  <a:pt x="171" y="0"/>
                </a:lnTo>
                <a:close/>
              </a:path>
            </a:pathLst>
          </a:custGeom>
          <a:solidFill>
            <a:srgbClr val="E8432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0" name="Freeform 7"/>
          <p:cNvSpPr/>
          <p:nvPr/>
        </p:nvSpPr>
        <p:spPr bwMode="auto">
          <a:xfrm>
            <a:off x="7420836" y="1666623"/>
            <a:ext cx="5850884" cy="3152649"/>
          </a:xfrm>
          <a:custGeom>
            <a:avLst/>
            <a:gdLst>
              <a:gd name="T0" fmla="*/ 436 w 2585"/>
              <a:gd name="T1" fmla="*/ 0 h 1134"/>
              <a:gd name="T2" fmla="*/ 0 w 2585"/>
              <a:gd name="T3" fmla="*/ 1134 h 1134"/>
              <a:gd name="T4" fmla="*/ 2149 w 2585"/>
              <a:gd name="T5" fmla="*/ 1134 h 1134"/>
              <a:gd name="T6" fmla="*/ 2585 w 2585"/>
              <a:gd name="T7" fmla="*/ 0 h 1134"/>
              <a:gd name="T8" fmla="*/ 436 w 2585"/>
              <a:gd name="T9" fmla="*/ 0 h 1134"/>
            </a:gdLst>
            <a:ahLst/>
            <a:cxnLst>
              <a:cxn ang="0">
                <a:pos x="T0" y="T1"/>
              </a:cxn>
              <a:cxn ang="0">
                <a:pos x="T2" y="T3"/>
              </a:cxn>
              <a:cxn ang="0">
                <a:pos x="T4" y="T5"/>
              </a:cxn>
              <a:cxn ang="0">
                <a:pos x="T6" y="T7"/>
              </a:cxn>
              <a:cxn ang="0">
                <a:pos x="T8" y="T9"/>
              </a:cxn>
            </a:cxnLst>
            <a:rect l="0" t="0" r="r" b="b"/>
            <a:pathLst>
              <a:path w="2585" h="1134">
                <a:moveTo>
                  <a:pt x="436" y="0"/>
                </a:moveTo>
                <a:lnTo>
                  <a:pt x="0" y="1134"/>
                </a:lnTo>
                <a:lnTo>
                  <a:pt x="2149" y="1134"/>
                </a:lnTo>
                <a:lnTo>
                  <a:pt x="2585" y="0"/>
                </a:lnTo>
                <a:lnTo>
                  <a:pt x="436" y="0"/>
                </a:lnTo>
                <a:close/>
              </a:path>
            </a:pathLst>
          </a:custGeom>
          <a:blipFill dpi="0" rotWithShape="1">
            <a:blip r:embed="rId3">
              <a:extLst>
                <a:ext uri="{28A0092B-C50C-407E-A947-70E740481C1C}">
                  <a14:useLocalDpi xmlns:a14="http://schemas.microsoft.com/office/drawing/2010/main"/>
                </a:ext>
              </a:extLst>
            </a:blip>
            <a:srcRect/>
            <a:stretch>
              <a:fillRect/>
            </a:stretch>
          </a:blip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2" name="Freeform 8"/>
          <p:cNvSpPr/>
          <p:nvPr/>
        </p:nvSpPr>
        <p:spPr bwMode="auto">
          <a:xfrm>
            <a:off x="7736163" y="4373963"/>
            <a:ext cx="3220596" cy="1265697"/>
          </a:xfrm>
          <a:custGeom>
            <a:avLst/>
            <a:gdLst>
              <a:gd name="T0" fmla="*/ 233 w 1869"/>
              <a:gd name="T1" fmla="*/ 0 h 598"/>
              <a:gd name="T2" fmla="*/ 0 w 1869"/>
              <a:gd name="T3" fmla="*/ 598 h 598"/>
              <a:gd name="T4" fmla="*/ 1635 w 1869"/>
              <a:gd name="T5" fmla="*/ 598 h 598"/>
              <a:gd name="T6" fmla="*/ 1869 w 1869"/>
              <a:gd name="T7" fmla="*/ 0 h 598"/>
              <a:gd name="T8" fmla="*/ 233 w 1869"/>
              <a:gd name="T9" fmla="*/ 0 h 598"/>
            </a:gdLst>
            <a:ahLst/>
            <a:cxnLst>
              <a:cxn ang="0">
                <a:pos x="T0" y="T1"/>
              </a:cxn>
              <a:cxn ang="0">
                <a:pos x="T2" y="T3"/>
              </a:cxn>
              <a:cxn ang="0">
                <a:pos x="T4" y="T5"/>
              </a:cxn>
              <a:cxn ang="0">
                <a:pos x="T6" y="T7"/>
              </a:cxn>
              <a:cxn ang="0">
                <a:pos x="T8" y="T9"/>
              </a:cxn>
            </a:cxnLst>
            <a:rect l="0" t="0" r="r" b="b"/>
            <a:pathLst>
              <a:path w="1869" h="598">
                <a:moveTo>
                  <a:pt x="233" y="0"/>
                </a:moveTo>
                <a:lnTo>
                  <a:pt x="0" y="598"/>
                </a:lnTo>
                <a:lnTo>
                  <a:pt x="1635" y="598"/>
                </a:lnTo>
                <a:lnTo>
                  <a:pt x="1869" y="0"/>
                </a:lnTo>
                <a:lnTo>
                  <a:pt x="233" y="0"/>
                </a:lnTo>
                <a:close/>
              </a:path>
            </a:pathLst>
          </a:custGeom>
          <a:solidFill>
            <a:srgbClr val="E8432E"/>
          </a:solidFill>
          <a:ln>
            <a:noFill/>
          </a:ln>
        </p:spPr>
        <p:txBody>
          <a:bodyPr vert="horz" wrap="square" lIns="121904" tIns="60952" rIns="121904" bIns="60952" numCol="1" anchor="t" anchorCtr="0" compatLnSpc="1"/>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1" name="矩形 259"/>
          <p:cNvSpPr>
            <a:spLocks noChangeArrowheads="1"/>
          </p:cNvSpPr>
          <p:nvPr/>
        </p:nvSpPr>
        <p:spPr bwMode="auto">
          <a:xfrm>
            <a:off x="1745880" y="3305017"/>
            <a:ext cx="5803312" cy="6320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1218565"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665"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sym typeface="Calibri" panose="020F0502020204030204" pitchFamily="34" charset="0"/>
              </a:rPr>
              <a:t>BUSINESS FINANCING PPT</a:t>
            </a:r>
          </a:p>
          <a:p>
            <a:pPr marL="0" marR="0" lvl="0" indent="0" algn="l" defTabSz="1218565"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12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Arial" panose="020B0604020202020204" pitchFamily="34" charset="0"/>
                <a:sym typeface="Calibri" panose="020F0502020204030204" pitchFamily="34" charset="0"/>
              </a:rPr>
              <a:t>工作计划 工作报告 销售培训 年终总结</a:t>
            </a:r>
          </a:p>
        </p:txBody>
      </p:sp>
      <p:sp>
        <p:nvSpPr>
          <p:cNvPr id="13" name="矩形 259"/>
          <p:cNvSpPr>
            <a:spLocks noChangeArrowheads="1"/>
          </p:cNvSpPr>
          <p:nvPr/>
        </p:nvSpPr>
        <p:spPr bwMode="auto">
          <a:xfrm>
            <a:off x="1745880" y="2402060"/>
            <a:ext cx="6915312" cy="9028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1218565"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5865" b="1"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sym typeface="Calibri" panose="020F0502020204030204" pitchFamily="34" charset="0"/>
              </a:rPr>
              <a:t>谢谢您的观看！</a:t>
            </a:r>
            <a:endParaRPr kumimoji="0" lang="en-US" altLang="zh-CN" sz="5865" b="1"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sym typeface="Calibri" panose="020F0502020204030204" pitchFamily="34" charset="0"/>
            </a:endParaRPr>
          </a:p>
        </p:txBody>
      </p:sp>
      <p:sp>
        <p:nvSpPr>
          <p:cNvPr id="3" name="文本框 2"/>
          <p:cNvSpPr txBox="1"/>
          <p:nvPr/>
        </p:nvSpPr>
        <p:spPr>
          <a:xfrm>
            <a:off x="8377052" y="4819941"/>
            <a:ext cx="1939315" cy="307779"/>
          </a:xfrm>
          <a:prstGeom prst="roundRect">
            <a:avLst>
              <a:gd name="adj" fmla="val 50000"/>
            </a:avLst>
          </a:prstGeom>
          <a:noFill/>
          <a:ln w="28575" cmpd="sng">
            <a:solidFill>
              <a:srgbClr val="383F4E"/>
            </a:solidFill>
            <a:prstDash val="solid"/>
          </a:ln>
        </p:spPr>
        <p:txBody>
          <a:bodyPr wrap="none" rtlCol="0" anchor="ctr">
            <a:noAutofit/>
          </a:bodyPr>
          <a:lstStyle/>
          <a:p>
            <a:pPr algn="ctr"/>
            <a:r>
              <a:rPr lang="zh-CN" altLang="en-US" dirty="0">
                <a:solidFill>
                  <a:schemeClr val="tx2"/>
                </a:solidFill>
                <a:latin typeface="微软雅黑" panose="020B0503020204020204" pitchFamily="34" charset="-122"/>
                <a:ea typeface="微软雅黑" panose="020B0503020204020204" pitchFamily="34" charset="-122"/>
              </a:rPr>
              <a:t>汇报人： 财务部</a:t>
            </a: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250" fill="hold"/>
                                        <p:tgtEl>
                                          <p:spTgt spid="15"/>
                                        </p:tgtEl>
                                        <p:attrNameLst>
                                          <p:attrName>ppt_x</p:attrName>
                                        </p:attrNameLst>
                                      </p:cBhvr>
                                      <p:tavLst>
                                        <p:tav tm="0">
                                          <p:val>
                                            <p:strVal val="0-#ppt_w/2"/>
                                          </p:val>
                                        </p:tav>
                                        <p:tav tm="100000">
                                          <p:val>
                                            <p:strVal val="#ppt_x"/>
                                          </p:val>
                                        </p:tav>
                                      </p:tavLst>
                                    </p:anim>
                                    <p:anim calcmode="lin" valueType="num">
                                      <p:cBhvr additive="base">
                                        <p:cTn id="8" dur="125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2" presetClass="entr" presetSubtype="8" accel="40000"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1250" fill="hold"/>
                                        <p:tgtEl>
                                          <p:spTgt spid="17"/>
                                        </p:tgtEl>
                                        <p:attrNameLst>
                                          <p:attrName>ppt_x</p:attrName>
                                        </p:attrNameLst>
                                      </p:cBhvr>
                                      <p:tavLst>
                                        <p:tav tm="0">
                                          <p:val>
                                            <p:strVal val="0-#ppt_w/2"/>
                                          </p:val>
                                        </p:tav>
                                        <p:tav tm="100000">
                                          <p:val>
                                            <p:strVal val="#ppt_x"/>
                                          </p:val>
                                        </p:tav>
                                      </p:tavLst>
                                    </p:anim>
                                    <p:anim calcmode="lin" valueType="num">
                                      <p:cBhvr additive="base">
                                        <p:cTn id="13" dur="1250" fill="hold"/>
                                        <p:tgtEl>
                                          <p:spTgt spid="17"/>
                                        </p:tgtEl>
                                        <p:attrNameLst>
                                          <p:attrName>ppt_y</p:attrName>
                                        </p:attrNameLst>
                                      </p:cBhvr>
                                      <p:tavLst>
                                        <p:tav tm="0">
                                          <p:val>
                                            <p:strVal val="#ppt_y"/>
                                          </p:val>
                                        </p:tav>
                                        <p:tav tm="100000">
                                          <p:val>
                                            <p:strVal val="#ppt_y"/>
                                          </p:val>
                                        </p:tav>
                                      </p:tavLst>
                                    </p:anim>
                                  </p:childTnLst>
                                </p:cTn>
                              </p:par>
                            </p:childTnLst>
                          </p:cTn>
                        </p:par>
                        <p:par>
                          <p:cTn id="14" fill="hold">
                            <p:stCondLst>
                              <p:cond delay="3000"/>
                            </p:stCondLst>
                            <p:childTnLst>
                              <p:par>
                                <p:cTn id="15" presetID="2" presetClass="entr" presetSubtype="8" accel="4000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1250" fill="hold"/>
                                        <p:tgtEl>
                                          <p:spTgt spid="20"/>
                                        </p:tgtEl>
                                        <p:attrNameLst>
                                          <p:attrName>ppt_x</p:attrName>
                                        </p:attrNameLst>
                                      </p:cBhvr>
                                      <p:tavLst>
                                        <p:tav tm="0">
                                          <p:val>
                                            <p:strVal val="0-#ppt_w/2"/>
                                          </p:val>
                                        </p:tav>
                                        <p:tav tm="100000">
                                          <p:val>
                                            <p:strVal val="#ppt_x"/>
                                          </p:val>
                                        </p:tav>
                                      </p:tavLst>
                                    </p:anim>
                                    <p:anim calcmode="lin" valueType="num">
                                      <p:cBhvr additive="base">
                                        <p:cTn id="18" dur="1250" fill="hold"/>
                                        <p:tgtEl>
                                          <p:spTgt spid="20"/>
                                        </p:tgtEl>
                                        <p:attrNameLst>
                                          <p:attrName>ppt_y</p:attrName>
                                        </p:attrNameLst>
                                      </p:cBhvr>
                                      <p:tavLst>
                                        <p:tav tm="0">
                                          <p:val>
                                            <p:strVal val="#ppt_y"/>
                                          </p:val>
                                        </p:tav>
                                        <p:tav tm="100000">
                                          <p:val>
                                            <p:strVal val="#ppt_y"/>
                                          </p:val>
                                        </p:tav>
                                      </p:tavLst>
                                    </p:anim>
                                  </p:childTnLst>
                                </p:cTn>
                              </p:par>
                            </p:childTnLst>
                          </p:cTn>
                        </p:par>
                        <p:par>
                          <p:cTn id="19" fill="hold">
                            <p:stCondLst>
                              <p:cond delay="4500"/>
                            </p:stCondLst>
                            <p:childTnLst>
                              <p:par>
                                <p:cTn id="20" presetID="2" presetClass="entr" presetSubtype="8" accel="40000"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1250" fill="hold"/>
                                        <p:tgtEl>
                                          <p:spTgt spid="22"/>
                                        </p:tgtEl>
                                        <p:attrNameLst>
                                          <p:attrName>ppt_x</p:attrName>
                                        </p:attrNameLst>
                                      </p:cBhvr>
                                      <p:tavLst>
                                        <p:tav tm="0">
                                          <p:val>
                                            <p:strVal val="0-#ppt_w/2"/>
                                          </p:val>
                                        </p:tav>
                                        <p:tav tm="100000">
                                          <p:val>
                                            <p:strVal val="#ppt_x"/>
                                          </p:val>
                                        </p:tav>
                                      </p:tavLst>
                                    </p:anim>
                                    <p:anim calcmode="lin" valueType="num">
                                      <p:cBhvr additive="base">
                                        <p:cTn id="23" dur="1250" fill="hold"/>
                                        <p:tgtEl>
                                          <p:spTgt spid="22"/>
                                        </p:tgtEl>
                                        <p:attrNameLst>
                                          <p:attrName>ppt_y</p:attrName>
                                        </p:attrNameLst>
                                      </p:cBhvr>
                                      <p:tavLst>
                                        <p:tav tm="0">
                                          <p:val>
                                            <p:strVal val="#ppt_y"/>
                                          </p:val>
                                        </p:tav>
                                        <p:tav tm="100000">
                                          <p:val>
                                            <p:strVal val="#ppt_y"/>
                                          </p:val>
                                        </p:tav>
                                      </p:tavLst>
                                    </p:anim>
                                  </p:childTnLst>
                                </p:cTn>
                              </p:par>
                            </p:childTnLst>
                          </p:cTn>
                        </p:par>
                        <p:par>
                          <p:cTn id="24" fill="hold">
                            <p:stCondLst>
                              <p:cond delay="60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3"/>
                                        </p:tgtEl>
                                        <p:attrNameLst>
                                          <p:attrName>ppt_y</p:attrName>
                                        </p:attrNameLst>
                                      </p:cBhvr>
                                      <p:tavLst>
                                        <p:tav tm="0">
                                          <p:val>
                                            <p:strVal val="#ppt_y"/>
                                          </p:val>
                                        </p:tav>
                                        <p:tav tm="100000">
                                          <p:val>
                                            <p:strVal val="#ppt_y"/>
                                          </p:val>
                                        </p:tav>
                                      </p:tavLst>
                                    </p:anim>
                                    <p:anim calcmode="lin" valueType="num">
                                      <p:cBhvr>
                                        <p:cTn id="2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3"/>
                                        </p:tgtEl>
                                      </p:cBhvr>
                                    </p:animEffect>
                                  </p:childTnLst>
                                </p:cTn>
                              </p:par>
                            </p:childTnLst>
                          </p:cTn>
                        </p:par>
                        <p:par>
                          <p:cTn id="32" fill="hold">
                            <p:stCondLst>
                              <p:cond delay="5800"/>
                            </p:stCondLst>
                            <p:childTnLst>
                              <p:par>
                                <p:cTn id="33" presetID="26" presetClass="emph" presetSubtype="0" fill="hold" grpId="1" nodeType="afterEffect">
                                  <p:stCondLst>
                                    <p:cond delay="0"/>
                                  </p:stCondLst>
                                  <p:iterate type="lt">
                                    <p:tmPct val="0"/>
                                  </p:iterate>
                                  <p:childTnLst>
                                    <p:animEffect transition="out" filter="fade">
                                      <p:cBhvr>
                                        <p:cTn id="34" dur="500" tmFilter="0, 0; .2, .5; .8, .5; 1, 0"/>
                                        <p:tgtEl>
                                          <p:spTgt spid="13"/>
                                        </p:tgtEl>
                                      </p:cBhvr>
                                    </p:animEffect>
                                    <p:animScale>
                                      <p:cBhvr>
                                        <p:cTn id="35" dur="250" autoRev="1" fill="hold"/>
                                        <p:tgtEl>
                                          <p:spTgt spid="13"/>
                                        </p:tgtEl>
                                      </p:cBhvr>
                                      <p:by x="105000" y="105000"/>
                                    </p:animScale>
                                  </p:childTnLst>
                                </p:cTn>
                              </p:par>
                            </p:childTnLst>
                          </p:cTn>
                        </p:par>
                        <p:par>
                          <p:cTn id="36" fill="hold">
                            <p:stCondLst>
                              <p:cond delay="630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11"/>
                                        </p:tgtEl>
                                        <p:attrNameLst>
                                          <p:attrName>ppt_y</p:attrName>
                                        </p:attrNameLst>
                                      </p:cBhvr>
                                      <p:tavLst>
                                        <p:tav tm="0">
                                          <p:val>
                                            <p:strVal val="#ppt_y"/>
                                          </p:val>
                                        </p:tav>
                                        <p:tav tm="100000">
                                          <p:val>
                                            <p:strVal val="#ppt_y"/>
                                          </p:val>
                                        </p:tav>
                                      </p:tavLst>
                                    </p:anim>
                                    <p:anim calcmode="lin" valueType="num">
                                      <p:cBhvr>
                                        <p:cTn id="41"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11"/>
                                        </p:tgtEl>
                                      </p:cBhvr>
                                    </p:animEffect>
                                  </p:childTnLst>
                                </p:cTn>
                              </p:par>
                            </p:childTnLst>
                          </p:cTn>
                        </p:par>
                        <p:par>
                          <p:cTn id="44" fill="hold">
                            <p:stCondLst>
                              <p:cond delay="8800"/>
                            </p:stCondLst>
                            <p:childTnLst>
                              <p:par>
                                <p:cTn id="45" presetID="26" presetClass="emph" presetSubtype="0" fill="hold" grpId="1" nodeType="afterEffect">
                                  <p:stCondLst>
                                    <p:cond delay="0"/>
                                  </p:stCondLst>
                                  <p:iterate type="lt">
                                    <p:tmPct val="0"/>
                                  </p:iterate>
                                  <p:childTnLst>
                                    <p:animEffect transition="out" filter="fade">
                                      <p:cBhvr>
                                        <p:cTn id="46" dur="500" tmFilter="0, 0; .2, .5; .8, .5; 1, 0"/>
                                        <p:tgtEl>
                                          <p:spTgt spid="11"/>
                                        </p:tgtEl>
                                      </p:cBhvr>
                                    </p:animEffect>
                                    <p:animScale>
                                      <p:cBhvr>
                                        <p:cTn id="47" dur="250" autoRev="1" fill="hold"/>
                                        <p:tgtEl>
                                          <p:spTgt spid="11"/>
                                        </p:tgtEl>
                                      </p:cBhvr>
                                      <p:by x="105000" y="105000"/>
                                    </p:animScale>
                                  </p:childTnLst>
                                </p:cTn>
                              </p:par>
                            </p:childTnLst>
                          </p:cTn>
                        </p:par>
                        <p:par>
                          <p:cTn id="48" fill="hold">
                            <p:stCondLst>
                              <p:cond delay="9300"/>
                            </p:stCondLst>
                            <p:childTnLst>
                              <p:par>
                                <p:cTn id="49" presetID="2" presetClass="entr" presetSubtype="8" accel="40000"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1250" fill="hold"/>
                                        <p:tgtEl>
                                          <p:spTgt spid="23"/>
                                        </p:tgtEl>
                                        <p:attrNameLst>
                                          <p:attrName>ppt_x</p:attrName>
                                        </p:attrNameLst>
                                      </p:cBhvr>
                                      <p:tavLst>
                                        <p:tav tm="0">
                                          <p:val>
                                            <p:strVal val="0-#ppt_w/2"/>
                                          </p:val>
                                        </p:tav>
                                        <p:tav tm="100000">
                                          <p:val>
                                            <p:strVal val="#ppt_x"/>
                                          </p:val>
                                        </p:tav>
                                      </p:tavLst>
                                    </p:anim>
                                    <p:anim calcmode="lin" valueType="num">
                                      <p:cBhvr additive="base">
                                        <p:cTn id="52" dur="1250" fill="hold"/>
                                        <p:tgtEl>
                                          <p:spTgt spid="23"/>
                                        </p:tgtEl>
                                        <p:attrNameLst>
                                          <p:attrName>ppt_y</p:attrName>
                                        </p:attrNameLst>
                                      </p:cBhvr>
                                      <p:tavLst>
                                        <p:tav tm="0">
                                          <p:val>
                                            <p:strVal val="#ppt_y"/>
                                          </p:val>
                                        </p:tav>
                                        <p:tav tm="100000">
                                          <p:val>
                                            <p:strVal val="#ppt_y"/>
                                          </p:val>
                                        </p:tav>
                                      </p:tavLst>
                                    </p:anim>
                                  </p:childTnLst>
                                </p:cTn>
                              </p:par>
                              <p:par>
                                <p:cTn id="53" presetID="53" presetClass="entr" presetSubtype="16" fill="hold" grpId="0" nodeType="with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p:cTn id="55" dur="500" fill="hold"/>
                                        <p:tgtEl>
                                          <p:spTgt spid="3"/>
                                        </p:tgtEl>
                                        <p:attrNameLst>
                                          <p:attrName>ppt_w</p:attrName>
                                        </p:attrNameLst>
                                      </p:cBhvr>
                                      <p:tavLst>
                                        <p:tav tm="0">
                                          <p:val>
                                            <p:fltVal val="0"/>
                                          </p:val>
                                        </p:tav>
                                        <p:tav tm="100000">
                                          <p:val>
                                            <p:strVal val="#ppt_w"/>
                                          </p:val>
                                        </p:tav>
                                      </p:tavLst>
                                    </p:anim>
                                    <p:anim calcmode="lin" valueType="num">
                                      <p:cBhvr>
                                        <p:cTn id="56" dur="500" fill="hold"/>
                                        <p:tgtEl>
                                          <p:spTgt spid="3"/>
                                        </p:tgtEl>
                                        <p:attrNameLst>
                                          <p:attrName>ppt_h</p:attrName>
                                        </p:attrNameLst>
                                      </p:cBhvr>
                                      <p:tavLst>
                                        <p:tav tm="0">
                                          <p:val>
                                            <p:fltVal val="0"/>
                                          </p:val>
                                        </p:tav>
                                        <p:tav tm="100000">
                                          <p:val>
                                            <p:strVal val="#ppt_h"/>
                                          </p:val>
                                        </p:tav>
                                      </p:tavLst>
                                    </p:anim>
                                    <p:animEffect transition="in" filter="fade">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15" grpId="0" bldLvl="0" animBg="1"/>
      <p:bldP spid="17" grpId="0" bldLvl="0" animBg="1"/>
      <p:bldP spid="20" grpId="0" bldLvl="0" animBg="1"/>
      <p:bldP spid="22" grpId="0" bldLvl="0" animBg="1"/>
      <p:bldP spid="11" grpId="0" bldLvl="0" animBg="1"/>
      <p:bldP spid="11" grpId="1" bldLvl="0" animBg="1"/>
      <p:bldP spid="13" grpId="0" bldLvl="0" animBg="1"/>
      <p:bldP spid="13" grpId="1" bldLvl="0" animBg="1"/>
      <p:bldP spid="3"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544C8D07-DED7-434B-92C0-D26357B3FA1E"/>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Co9h0wjsu+g8i8AAFJTAAAXAAAAdW5pdmVyc2FsL3VuaXZlcnNhbC5wbmftfAlUU9faKLX12lpaq4KCIFQBIYLQgIARSFoRkXk2IggtAXFgkCBDGJJOoiIQIQFEhhQZlEFSQBOCATqREAJERcYwqCGJDAFJSCBkegnaaoe71v/euv9b719P1mLBPmd/4/7Gs/c5V7w9nT/auGOjmpraRy5HD/uqqb2Xoaa2bub9fymvfP5BqI7yzzvxvs6H1Br6dKeVg/civ/D4Qk2tEf2h9Kv1yvEH548Gxqupffyr6vcdauztcDU1X67L4S/8k0N447HoaG76Njm5uv3r9q9dEet8r3zidQ23awr8rcn+m58EG+WrFe69/bjKdbfTx3cPP/F31Rz4svLRwcu319e5fjB8xXur9XvU8gMKl+uTCzdKmG1t0lJh6Ug8J3nyHMp8umIkVTaZemoycjBhcEJQVgeAyBfReOTKr/ohsicbIC2itoX0TUoOv76YXWZc6tWKA8VqOhYF3lFXXvsprvLdHSTzDORShX7+h+uUV87bT3/bcLVcsayQh5LUVD/UfM/nDhOHVIo4j3j0QRtXMqlAgraqMLJcjZfKzv5rbdYtrYOO4q3wDoWkI7SPtZKmeEdNLdlXwzHyKPD8yKuRnhtw6SEauRQNXiYxQI1tl4x91KU/60t/tktj6UyaFDp8e9++3SLt6YdDdJSYHmrOhdw1XpQxZpf6cfILIIv+2BtDtET9ZUEBrIhaOFJDBYXrLAwua6upPdG1Lwh7fgs5c6sBKeei5Hcw93ASEu5+ykzNrYYAevOCi8a7iiWcvH92ncX6o+3IGT9ca5mo2xSPpXfogBeveNkTMCJ7AjNqti5UNiNscrbI4N/Ijg4skBQhZ87ZzoLnYbir5ThxEY4EJsQp2jsfOOpaKNXnqhcEvOtA6v6Aw5DPMUIKPxZcSPGq1Rrdpg+46Evp6Z/wIO6Lj2ERmN2WAFotwqsbszeDvzq2zZQE6S5ErEY7XHho6Vp+dgKg4ajEVpX6Y5gJ/BnI85nvJ7IlL8WSsCkXw2gM5rDl121x9UgpSx91LmWquxJoscyV5dS9D7czvqYv7nJuKKQhraJLlnLOwMb90LxyclCn93xkSgza9ApSNoSSpZzIbHen83YJqK1FtgW9Q8EIKw4bVDykAzWKKNXwYZ2tQkyQ+w70tfGi0Nb9kYJEuISIkhAnRz1Fig6lKSCpLHpTYGSUbdnhOFFlZjmZQFj/IHm8p19wYwdEgSjNGjqeA6SzE8CEQjxrWCDr5rMk2AhqYhi5oJYXnmJEz5Yx4Plh93gtPC3LWAOqr0xXaQ+6vd+R883gefmYX+Isy+AR5ls4j0wElCtjyaZunoNNMTFotmWs+QUKnLQTNkkq3drVGEXApHPlBzLmYjU+v6XLPC7aZV8TZoKrwnBPHQ201Js1cYH74hCIOcBR3x/Cke2n5NcLmeIbCIWwQz40KyGVCrmm5y1joyLnDPotLagYBGykUTbW3ptIacyJOCUgwO3Q1tRioZ8ofLKoMILju0vQNJc8VlQoyxZveuqi6ThCle7oHZKSI1NCIEUFTIRDlpCvGzkOtCD6GWazdjJ7BVghhUCVNZYupvQs/zDa51EbZsIsC2WOUIYTRbjoJNhRApDy3XABTOkwzsLjV8tL3NmVpvyOpQoTLWMM6B0dSlMRbmtTyffZmHu7jOMDY8oKJIBSeGpUfA+dz3rvM6YO3WmQGWM6W5YStWlayVEQIISSDwZAOHl7Ol043MOpXbQlE48mpGcPdTmtS+qOG6InUjfYR+ooJS2NgxCbpdEEK/1zERODaXYhKdNVxO4yd30qlhmvrVlx7cYthxivJq3u2cTgcgxePMJYigZYbizpai2yieFa7y+gy6Ks8Dhx5C58p7s+8zLQ059Jcsk5F6QeMWpyMQPrPSKKpl7zMY8Q8xifKa0516EriAZfdyB052eeUvg6Yr4Y9I6+MYb1m6VxZPxDqyn58dj7kwixmRX+fhukJCWKybP3VPrODXrunegzVt2F7sVV/jSphisgtmncZzg8pYAWYMsU+q6LWt4ciGp3UBrceIRdkIBAQDvMOsdErg4PpqV23RVr6f+CMcvwvZ01dLadI+5ZWhTgcEKsCcs6b8g7JnIimZcVfWQ+0k6Qn5ib4Ew7SLccSIzJSyDgWe5McCiM9FVZoaQIxxxZOG5LzYMx7urOEqKUcfHAzQ2SrPKSL7MVNQzaqYKiD/PH9Gaz8LDRlrxPfX/LStjN1O0nSEq91hGNr4FI4yGga2KQ2I49TGna9FT3anlc5wOyexlG4xDpUWSUaT9f1ieKt4t4aILOqMcgkgAZ862ldxBBTCrSD4jlxUL8TKDq0S9XYwdRcPCodp6kCJyJEc/c6BKUsqlwlugzgg7iThaXlCJjcw0FdbyxcElrTlSqRMZYwZwh7nSE67KOxwcH7qFC8BuUcfvwpmPqbEPTfqqilVsZD/6i2Esjfp0Nbn9O3UcUG4pLqOdw09wwlAD03EIlF2eWRxkImsdaIJ7fe4GU0W5XCQyIPfTpbBbXIsK7Qd3VJ2+dkYASuT47otm9gAEP3CPgWy/H+qlnm6I9R/oGpclcZpwfUAPwDYVxPseAPXxcVG4/HWYCWRCD9C9GVqPDTAScoSMxkeP2C4HmRCp5OCYpypgxLV2lD40xBCejuXsCgHfHRS04WI+ombfosFOyk3ogxxadrssYpmjpK30nZ65RwxEUqGMc0VwSxZ76jGiFInsYcJqMBPAtNpxe45sgAOMD5nVbzxeUFFjIIENOkUahQmzgh0AEDJsKxCm9h63MCIiYIzRfGmsipNwKHGrc2W0STSGP6QnC7Im5uyPcvR5aioJ4MHlZ9i+RGp5Ja5IRlbaGZvUuIYJIOMvTc0Qmg/XCsF0hOGeDbxzTrzpajR76PAaNU5AHKecOUgsRFSvaHF71dZrMp57XJico/UXYmlNM2JkK60ojj4iO76EzmEp5DtRSfdUXkx2uhH0tYEuUyfonzE1lOs38hs75r4xUebvFO3OXKiV/WPVfGi6IWRA5y1SVuc3RYe8r/zw5BMhYG2L/U8NtizN1+JC2RYoOdFIuIuIPH7bcFu7eNeydrU0sV/Fx/KftHSuddfrSJxvQnhucDst3a+tYHvGHOTsD31NT+/FriEIAQV3YaLKb3xeedZuSk6PC/uU7u3efrG2sqFjD8PXlo4Vn556brNH7dPejqh12B1Wifr3+8uULNW9B/t8AOTfVaztJTnl6cXsD+MU3m4JTJyUTScKJ5fbl+qnrlEX28fgeeNYf664GUlR+iVidvkW35JSwr+c7Uo9aJ15QVUhqH14TMJoZ4KBtFqZdjfTV17ThchCVmD1+LEeGJa88u4qOoYEq/+CyS3xrb/Ax+FClxsEIB0TLm4SirhYMjBlVaLTOpvB/fBNdkVtBoJw/ZIon80/XJFng20SjwkZ/qhaxN3jjuBLLyptYeiJoc2O+O2Fje5i+zwmzNIzLmwwTPtPu2zcAPFJYq9Ham8Kf8s3eubPzE6XrrpuS+uXviYupyQGK4H4ADTj4TQ5qXDEHiEqKthF4jY0g3Jv0/KtcSoJqYVl7T/47IOZY9b8DAhH3XTzUZzww/NBHXVmFmX3eBwk4s4VbMKMFmzKv8u4S/1lxHs9Ukhkm/TsgFtbXZCrtH2RaBP9fvwwsSxeNwFOc/5FRA1CVbp7gzZXxCrjxG6nqIEWLdA5kyMW8tlcurnb/lXi3hCwg15x9rcTrtVmXoGofGapWk2JD3Hfpn5moHav+N4RaACf/DaHGwjb40X9ku4Lu8e9YiPbNd/zz8o9s2/PrhxbkF6evJEEs2lfCEFlxzCj6rj8bgtJaM+fzSH/hkRHcVP+8QfuvtMqQq9NJ2H11XY24POxfqCHkYi79UcR6UGIg5E3OY9vFnAE/L4eAbRZcM2oJrFDo94eawrOVvs0piuxex9FlH88/RH3Nwyebp1+r8/Dh1tc8b841f43/cKXb/zCQqUX2bKhidUAVTD4uvGY7mSZYbeScywdCSDz4myrlr/ClAkZo27KyZb90qyxlZubeUEjq3ccII6r0QN4hbvpC6uTA2vp2MzGytCfv6re0l3KnqvnG/VahfaavWdELPQLcb3zRZWMudg/3OjXwF3vJXDPUCyJbqkiN9epu3B6atrgqmtB0zCwXuL82AmphrZZrCFLMnp0mnTWJtXX7Iu9MIDIYhMGTIOGkXKxJYGQPs2CvgBzcaMXQZ+4QNE/mjjHisiPy2lhdSL4WhRxtacEsHnJp6iVpMWOSJjjJDUf4x/nXKVIf8+we9D6KAIC2fZNNX3f/Tu/uLHevM5tJKXvgRj6Z13xu2y+PxQ8xtQTOP2PqzpcprWUWwZqpAFpUucxHKqs5npldHu8IoTDCEoV1ZCULrNe7JemOJM1zZ8loEGiw3s4YuiWi2GCEanIebgYrbWT06NOQygrQWEBhDsCDWVpWKHu5/ccI8puKz4OHaexrxmqy9h0DHG7qSet0zywAosKxO10K9NnuedMjntURzPjpPN4psQ85i6VNaxqZPMpBX6DmigGRorwtZrNZWbAS/YW0tHif/Molber+sjoEkoBLaBrnwVzg9cwzcMVru0GkuQBydxt0/mbW79xo1Z0DgpWa2Vb+QLtrGOqXMTVTpGHAjK76tGiot0l8I1xu8lWesuHy4MBIvXFZvAmsz3vZdYlwskCeF+de8dvoKXd6OzwVXGY/2IhMsB8QmC57vbmkPuFzVXvN4RDos571Ryv9tbXXuxX0aoJG+oYHE9u6yIYCKs9QwLl5ClwwfyDGT91IEERt6lOaW5w7a4Wo3d+Ej+t8dMzVqPMBxu1NtFiNkwAfze0ACIHtMgHWBHxOYDtvzA122N/QUjRZnT/FO87KLO3piAbeTdKlRV8tn0sNtsbimVmw7gEnJksfDaA19sS6uTV55uwK9QNHT44eu2PwZ8b9rpbX23bI9oZy+YYCiuYBl4kJ6403sNYkHDtPwyAQOabP1KalMMNMnB6ZBMcczJkidHpbTnxro7/cRe7VsMuVOQ/SpYbL8fbxYsyhKF0UIVcMCwLkc7hH9EJfhzj79kpskVvhXkBQbYTvqcpPrmB3CvLtAo2hP2eJ4xdz+YYRtOuF7CONmPBQgSwqyfycb2t4UVzAg4m48DaxPKSpLSop1drPUr9ftEJkfFWgE+ETHjKoTUPCS4oKqSGaPm8u+//wOPYW5P8CSLuMFws5KNy6GRH5Zi8EDU0XzjhDVh9W+H2+ObfjKCUja/Mf2J65ha4+GkjqkIw73/p2927oEOwQJeNsT8tHKpRqP130Vc1SCzb5Dw9/OtQuZVuEps8GTbauiogd6R4TZfryF5diHWwRZXKqYkWfLUjejlNIuXjkLBE5O1OhL3s+AFHdmZEtoBRfsRc/QvQg5gbif4l7WRDl3nScL1tQpjkovn31rLgkESxqROev765aebIBkizT9Wd8RP3hZesI7VgdcLa+VJLn110evMs/36jQBLopgLF51m9NJZ92ZoxZIIpHVB0mXzy+ei9Ucq/pU1I4TjYXSedm3nvZoX6KNkbYhQilfSFpi51NWqQLiKBAYVqjzR95W6lYX7HuJmfF19OSZGX/0s3NSvgd1EJMrp4B5Ug1G2o/eWrM33Z/BgE7+apwZrnJselCXWqVQrOJufIrRPornwTz+P1mr0esseTBJbB/wS7p+lhju20v6Xn2DnXIhXXQEAT7RAwDIei1xd/qEI2eQ1dLDZnT4oMEHxofBmGm92jT0VEL6LG7wRGxqFSETDg0uaiLWy3v75DSO9Jk2+pCVy6GtgwsrXQ5g+EOFk1jHoK9RbjoY4IMBI7JY8vJHfe7Iz+LxtkNVr3U5UlM3UFVN3ZyrfIo5palzj/cAgEEW/Le1V/5qQIAoSWmtPcxh7v5DIhCKuSltQFg4tw4yMWekuKCujlerIW4X8jkHqhyCfj+wpFvRBct0spLwLG2xMlkVvbsdHyTwocjnV+Qz1fUJFhCmCP04UjXH/DpPKVkciekwBYluAM76AS+ekYibdzzUhfzedhDAA9f9aoD2kd89mdeZ25zDERGsWpulbWWLc81M9qt90F5U+equbMeNKmW9nJ8MGnm9FQ1myI/BRr0E8zU4dt5oD4cDO96rS+tcyB4nTIFBWvv56d2LKcOrffKenZKwy0Q2aPD7BoC7hMYuND2VzMoAV9UfL+jvxk9dX9SNt/WoNsdCexl7Jxds3mzJwQXF6uNPxSGIsUPH+MMl60c2J5wZtjpvpaU00FdlZW0JaVaivQNWMgeqOX43TFWnzSxCXsm4B24TjwQmxdpl67hWKHmCthfcEVjP+BsXnQgxtKYNoRYNcloQiNWo8zRnGkEOTBWso1wvysSmM3NeWWk55lZdRePiJt7W54Zd/5E0nBkXadw14/fDRaREnA9Skt67gw5se1TInDjD3EJfcnFg8HqvdAPA6AzWaYIsKCIQY5OgapXRXXzRkzS+IN3fQ5km161VIChG3vhRiNSq+4bL6NQS/SRL/zyD9KC5w7fm/Pox1wyyaDku8NQtvugpFh+YpNULKxdabnjo1b1ievmrYAITpjJkdroMX+1hE7v/Lkks8K857vAMBO4+gBj7zmfVyoLbNRyXavgmBWGtQU6VPv7KlQScrYZZ50JVGqIuD+MMckQNWiNmuPq8jh5Jv0E+niA670Zbn6Cye/Sh0VIvulzmUcz9Heg8sBERrnWDlz2/oljif1wtN3abpdCmhKQMjYYrMaWm4RSguiWDtBPsv0v9gxTjMGLV4geC5nl4pkf7phhhASm+5n8KEXmKMC3NgCCr3d8GV7vh2NNxfSv4uGQfu4vkVjziutHKfAAmsBbWVIQHu5bbmne5zl/Nkg9+9GpcHd9nAH22WnpmdUuZmve4ra7QId5P3V2XHYPcyfUms09GyLXAAwQIHX1Tq+QG0b83GL5fPoWrt08nm+9bJVu/s2Rh1tJDpP4idoBTcf8ekyWxIApoR3oO0vqHhalwydNI5XFTFYdPA/owO5Js/YZLO7YPsCVX+h84KFNX+AttF8cfiFmoNqlRREfvYwqY9aIuuFgftaWCImoKTxoprKkxrXcEHUMzCz6MMMQVb6335Tl9RCtouMiSu2H54sZY7gbwTV+mnpEa7DXaXkUDvt5xeURJIcRvMMIEF3LWJ+JdRqhEPZ382GS/Ma0HFhwzf68pudx+YcWG9Hp9a9Jd/3KidtmVMhx1F/1FlvRd7yq4C71slY+5bgVmFJqcUF9uFeV9osR5AsrYiHDvhYZA0L9joAbKqejAgv0lsArP28qgBBLIK9C8FPMpugG100x3GacLErcTEe8DO+fl7mDpU83FVZtcIg1DsK8wh2eBzEKzdcb69OXP9UvgHSUWLzCQpvKtp0w+VCJ5uL2EBMUEhT6ijCGDpFEKurNHJ6nL1Xo7/vTne3tLy42LT1JJJdG7fv9cVeUgBeLkqzy0Kr8BIoZy/j90ZctewNk5ecBVbqBv35U1lSoeoZpQf3veKr2Y6Eq10InVweJDRPKOFunEEMUxuc/Q0RzrcuGVkP+gPopRD6kWA2FTor7khqQL77Tt7+xe7ezawgTkc291/4mwmCfT3dTvZZP4P+gnuqjfiX4yNqCbj9rkbkrl35ZdePJIZ4T0BCuvebmwbfbTDIOmxusMf/hve2d17oiDqss/3y56KbWFpAiTSGZ7Ehh50MbkKp9xX04yRi3oX2pysLhxE30K3TsOE3HUMno0AQ/Zo+E4XK3y4ePkjMUpNUVKgQpHItn5MsHOlah6IKxPyDAnd4br0NWvoO0gEG9V855egusoTZkHdoHF3KMQp1yrpEp/NZuhlC1jMT8MjGIEeBYtPzIzcLhRkr87xItAzJ81di/XfD0DIm/uRoTDFrKx6exW69vAblSZqern0Wa57QOlbxBEcw1hKpHY6YFkbip762NWxpl7thg4WeczjR4MSIQWQ/hsMMPVD1OTCXh0jvkq7Ns0eFjdAEDgjqZ2AfdGI3BLTKDrStV69LinUpa0HQE7eodKvYM9tNlTyVqWAeCO3uPNiRe7tGh54TfB430XonbiNNwAn3QJ1O2gPT8Qy4FNAJFDoccPuaBbI8VWKUVs9+QJU9slUFY77OxuKcYIjCmo4k49lkcL+ih70xWXZqvfEp+HMLsQx7ZjA3XYdVW9egQMXFGF7tq15bxfGwqKRaIzSImVv1G07RjZf4gnindZYwXfBDVXYxAep53BmKFXGImO7E6wAWBTeDW5Ta1FRdsD9wlFvcyhBNBtCPv2BXeDPidnVvbHAEnOabfHKEwyXkl9TnEtF6O6bfwZ8VnQKSdsR5u8N1kh119fNtS6SkZ1jve9/MEY/pubgnZhjJ72zVEv8L+htvDva9sStULllyu7hrZY1zDMkyUEPAlv3EO2170DZgKn2i5YcL2GcRhEIGnDJm0u43jPFp8TtxER1emdidjJVDfZTN2yJvjVFDMja14pXjQPS3XDzDP9sQuuF7ZysrExTl5gyGnS+opwTsiRuohDfCuoXq7TBzJcAdtAFLhvqPqwfAEYf8OZrEXNr5+wIYrbEormG5o/wThS2OEh7hVqI02Qz9ey9bmj0M892XA+aDucnHlhdSLD9IO2W3/zGVQX+D7oNJsB3RXxIhYcDHPZzQroYkXt6WEWXHNFa5bsX8HzYbY39Qmvt6cHY0whH9MY5xB2lySmnGtLTv+xaqGH33lUPCzQMPd3NzgcZtCR0F+cvwbrim06i4vdi1/w/VIWSaveNJw3F24eS0YXhy9GnZ0yvLmK0381/ybvLaJo4wfeuNbcw324BfJg8uvWxYR/1dlKJrRmVyhCAfe+wnI/nP8+Z+xSfGArSr6BjpkRIVoBqcQoJDCTYqnEPKqsvN438wczyZXC0b7zpFft23D9Fl8B1IoX+5QzChz+78+3vs3vdC8kE32ue/lGOGFba97ubaWE++bO4bMpr5mK7XG89NvYKNvIHdL4L+v2/9mFK/FUFfcUNMWcecHlkthzD/P1QJ83C7ujYV748Q9kd0LdlTCm4F9Zgqo4Uit1mp1/zNNPUfghajMcvrdt5PfTn47+T86WZmOwWKaV0gdJ1oVUyYnnlYVhqScm0gU9+Gl3Xhsf2xeuuyRheyRkFcsSiqkWpEVsgXUufuCVdTCgqztHHOaG2bxxyOeLy0GaDCTjBze47Dn/Tj5kpDRGwmRjMDlx/IsI2025t8vsM/1V6K0PD3HrZaxG8dEi+qCg/Ha+xcWsDzw3Tejj78xulzrIMEvs1zBV5bdAzj5NC4E1Rb9tHHZyma7KamJM4SSDeHd8uOs+0yOwSH0iKLK0aQCmrSHnkhZivaxqo7EFYEXInvod3t0qJbVmwJtmTuZZW3Kage69rCncCQmKSRmYgLzD8pKdAXub1ga2aaXmkf65IoPwVB84wzAf3eEm2v+QhrXbkjSFfQz3K6/SWFIZ0guY4EVP7oirDtORpvhps6JIBtLjlJYNE2fkdBBfeYOdGrXKmycpNbNM8NFhxcBHWanhpsYwH3EukfT5bzXCWCu6iBCvfNB4zjXKoPzSwUmq+5chs9dJeVne7SdXDLzNQAwnYCiu/mWkVFJ2KOkk8qiTCRuRvm+yKJifjllZ0GRfYX8mMMUyClLul55eJiMhyzD/oNGjQPVA/phPW65eYci3PWhU5VztCXS59qzUWwejHQiMviD/a7Xa7Vu3OqUJtf2UI/dsZosIzpUc5H5jX3/qKq+zgdmAt+VLPjp+njV2aFnJut95qGd3pkV4vjLHKpVwXTPbA8xdm9GTEqa1+hfUoW3+k4myyzDl9KzHJkKgcEmCAdc4jCWp8cYzG5f0VSiZWbhV+SAc1gHhE5gg003r1ZrR2yADlSz6vAOKgR86zQ5YR8VCMafLoig5LuQHAYZ8lqGVvdiFotODje/9Y/ySzQcSSmRyFRo5vXihssj931P9dBX48V5zwwv9hwt0HHyyCwWy6+xtF0+sMqxYJZCYk+b4aZhIxr2MHGUrURL2a8ercHwqt67gUNrfFFUJhYs6f6a7C5YdDjzz+51fOjvMheHPbf8h6UHZJj3v538dvLbyf/dk48Cf4uT5XfwoX8rQpV1soz9geF5M8SdhTdQsTE4aThiywe6bn+uiFXPtU9av7ehcCj5TzdOylVHo2egSDa0e6vrl9Gq5x0T/z0Nwk8A8bJCPhl/fnf8G9dc4l70xiIx3632RIIFz+328TGvQ6HfTa2DNp3Xol4fePC8EvZ8WMOxyeOPcv2AUWY5zE+dZvNHcn+CVWZ2D6Ah8y2i/28R8bBhz9dOiVy1aE8Wqo6BpPLuDen1kkAWHVL+gBXDPl74zaa0J6PxDIfl0333C3WXT+bAQsChsSljiDTTW39Yc8kWpWOW+qo7CB/7DXU+MMWT4SfVx6vfV52ow9Ox9VtJpTefj7vnsMyN+shpruVrx1FENqpdN/3xE1Z/4aqh07s7NxKXLnrYhqs0PQS/6FNAGwLFAzB5EdgjTNO4pgkPAWUJwQTUUQ6yRF1kXEuNVjeSoulToXaj0AtoE5sUZUHvY1DT5gR8bskf/nfeVVXgTDK0XL+AF9fFwDu9C+hB3QSXory6a5YQp54064fXCy33ClS7Um0B81Oi62URIclPL84m+PaEo4rKeOETR0W5CU3o+tCdqRtLlHVoHrPiiTade27eODBmzkKyQ8l31Zge9XoCBVj2pvf6KOui9MxyDX3AIQJ00d+lyGojFmsUGKthCijk8PcYuSvlq8eIDQAFTR3YfYIlHw2jQFuJjraTRwEtxcA2/wQglkMkRbT5HAno9E6YcxHdG58kz5Gq/6L/E+rZeSybKu/84CuYdUZs127c2MQOpx6TLzn+/c190oTwMQYyLDwKVYz9HHCBoulU8fWNQn0JngAUFU6T2hLmXwekW4eV1c4tDUeAK4VZF4MxC01/sJQsGSD8qOT8eu5Yn8gyHRl0ortEnFkOYiEb3nPdZe2bf5AZXqQbKQJZQHJMGV9wGNoSpp5k71+QJu3LoARV+TZVLmlRyLVPtKt6W/h7XGqsuqt4QY84CFb0SVJpZRQNTOiPv8gwSY/Zm0FBUg4GduzNaLpDmqPBWYsxV8sNqQdda+0ppMs30EAqcV9uH/AfLCgHuzvIJbMwLrUYawBw8r1xeCNGHH26Qr2bzAt67Ps4S8gxRXKmRyZWgst5wJ5lv7FwCSxIIDrSVCo+3oysZl+n8MUHc4ChVBtihJ9rPS+xz+EvVMD64H1U9/+It84HqWd39Nzr9ehnS/9yyxOQweloTejnSTXNA63+7sDVjyLLGrRO2P5NBQ+UXpt0cjWr7rsj71zoX5q6uD2kpUyPYS/IIhaVIv5qnnitmRjVxu8Q0VkbK1lInZQ0xNIRfzExhwvAJVWYWPPz0EskkzyB25/lT93S6T1xyGa746IQj5KltJeE/oWQ43ZHi/aVZwPNDHBqup1qw1nTMbLsL056Fuif3nXB2sHpQb8XJF1W3g/43hJlnjkl9f2bbvjvPBJn/YAFCyLXj+93oIXucQNiTS9Pkf+uxanhv9hi5q6Rv8gHyAgv/jMr1Vp50X+WoDjsKOEtoreI/jcQ+arHBSumIbJbzpNncnGVb0/yvwV5C/IW5C3IW5C3IG9B3oL8jwJ5oTqO9bAGd7nLDgO8+QcweXWmDgpZfYjWK12XeVnqZGnzxgukm0NXHxU2tEvGF8AHNTU2k1r1tlra+MMo0Sb/4RdgXw/buKpXHjVV1wrXmk+18+VrjZradtf/k6Hn3ox24Z3Yk7K+BWnfAF4+gw9JX/lVvz1FIZlEJcKDQe26kTnEFF3V5MMCRGpCHzlTFyWdRcnwCxdicBHNfcc7RkV74dJNI9FjJK3VZoikee3UsMkmUTA7OX5sgKXsXr82EHdD2+GE7XFjzn08wXAt1Z5uWSfcRsxdmI7WU5wcV0I+vgUO0HtCosdB0dx2sGzaK1S13yllKKQDhR1SdpK7QjapkNWhkUsVQ2D5IroDBt7EzYeGIGZJijEueJmAECwb0XsFp8Rl2ez2xexYcvTEdSRzYdYDYoCG6Y/DVd+3SNTnpvcqYIsH5LkHhbWfU99R+ymXffMydVHCJq0OU8HHwPOBBTWDDt+mxeovX7RIMs84Fj0OVwpBQpd8qXjsJXsspCVao2ZrbpWlUO9iXYvKtuxGciKRnNXZRJDekTKJxiFEH2qei5y/Azdh01dCflN9zmPi+ExEW1pva2BMD53h1F3Qo0PkJpgOMLpYw9QJOKJ+BIkssEKFLMQhnpt+1MxjqufkvKvUGR31CVgy18xeuOzs6yAKvNeXO5UqPaCwWunr9E7wrrutx6iB7y7dupTWeyXxXo9Z1aGER2WmhzmYxahZGyZLziczjNwaCly0sUwm39Doy3YoqdQyNo1xpHF/AZ3xa8u3Zk70tASGl2LJq5D96Hw/o6tG0gXTIi4X0GF6EMamAHWHK6YfxcYH/MBSWl4XXJgsvP/0oT86/did+P3iEChappFZvjWbODZG6HJp/Aw3NvmbpqOXZ7sxc+HkRmza+LZEkkMDxwVhlVmkYQYr0oJsApwkQBVT8ollUTUu1285lykG8Qp01j+058WldtXBMuYqRpd74pSW5i+eK5pZ/sWgVk9Rf4J7mi+Rs1bJuzofOGRjls5OmEHDe6BR/r5Hsup8k5MHlmM0HJl5hkQi2zWLfamx96y4IZk0HTnVLmnhwccXx52FKWnvD7RHDhzcVD66rMS3y1/yL7UnyXzCTQNUw4NjQt2e2oQck1hAndISARnzZ0oqoYJTzK2CwO6ve6AbHQIHlufHzTJqeZfCnotq0xm1CXqH7i0ol8ND3Dsp7YWLmbdFH6n9tKgr/rXAdCD+s7pBUK3URT4Davnwd46vETeM33V3LU8juAlHLO3ryTujzFkchlb30mJi43UI7HQBmxrUGJYm96rOjv4oFQe8u2wFn0wfSyQl3dda/c0YHCekoqRUqOrlYVrE0TXqjrdFDnWDNXCcr0lt+rtq580sOqRw8f0nuQGMX5VCdsmfo+W30/RiZk+aZhBIPLJEaS/p49VartPx/bh3vEY+Ay8lDZf9KPiMb3/rU+3J4jSLI2LMM6PJQo2kCrKOk097zrqIEGNm0YeFWKDgIBN+alCWVdKElgZPsI9P3Al7XogSF+LbRffwDin3FIYdkvsdQebMGhVP02MXzFysHdZURQAJQdcDVPo+oLeKHy+rmyFdD5jVDUT+a14AvaLpuIzFzMX9ko7hMZMzFrc13YlJtQcjGgTH7mg5PbheaHmqhx5wELYqfdpfsX8HvXfyvs+z8JT2+XxzcTu0n/U4Pby4Iqq1t3Eu3285oE3P4N1hnVjy4vN8ZEL6/daw51Y4cY+Q7D4puYRfW/g9I145RjWcyf2veBPPJ3WknrwRQJ84di9WTS2HBUbdACs2k/LrVqjSEv0eAd9OjJeN4ttYSY8RRYHIJH3m7YbvGQRLi1Ci4OBAPFAp69Rxvhb3DEtLcAAOQRssmxbhuBZELhfYNO7OAFHIfYMARud5HEPHV/2dTQ0pDhSTkDz17wcsc4nXe8W/bG/3LtijNE0mOzbvHVBnT5d97Jh+qOmasRogogxAGW276/14Ompfw7oi6f4d704MemizjyKN2wFiGZnpiRxiSBdThaLl0cWGb3xax5yEaUpbPmgQD8LEYxGjafImDw5X16gIhfZywWZxYRap3MPEuBnuR4CMrzdA2/T6CehK9ZoC7ZjuxCf1IofiwvFReiJJfK5KpS5jbQXGEmIr3iB4DL89aqumNivBQMQY/nLH/aNHAjcDvuecqdC6geJ6XrFqWNG/6GkZG3lOSuWmWXsOevDvz5PnogMYtPoTt6zyqLbV4/7q2eL8Rk+9JCRav3OYoKbDWJiIT8qURvkzaHqdn7x4UjvEatlo8u5CyCJwhyhXvV47qk4RqLRxpjmESb8emn7HX1IWMBtlge9V2Ew1UmqU/qpyu1U9auguN0LVby2ZxsS6MBPkwjJyIWXVxC2vDQ4LdrIq/Lzi+1H5x2lBA/GWyuXq0UaLsWEmFMGBgknwpUXvTm+kTS03HB32fvL5gdk4Q8WP/oJL4jsBtAnF3jWC6qnagjp8/tnJ5rOlrvLNDvc0Ms9OqqnV41fHFxrypDGl3+4+8hSjuN4jJbUcbdzMjKAk1vZEdLV0n5bG2GViLrVatp+4hZlq5AzzV/j6D201HZlR9FKfDCOB5tHmS3szbqZ4ikwyEqWq7UF8Weo8aVb/cmB1RMi9j194KhmqPMuILIKAf4uuPGG+ZrQZbVnigSHXtRAQHaFeWw1Vef+P7TNJHfdbAazvMM5xQNdSw4suDVIcynhnv9/5Hk7dN0fKsfhA22mwZ5iXsERlIi45qfbz9n3FmeXiOIoIcp9LvBYht4/1VpcpXgULL6MqL+RxHHJ1ui50tSq0ddVYMYUj91rIn1mEyLI7Fm0bCn0++QKf4pATteFhcRbKPe8s8m8aY3ZBysQbTqVqPvSAaqrCwJfpqrPm9EnF/O4ivNYONvWzzKuL+qQKwxG5vOwCm9Ly7Z4Oeg4xN1oBHzrpv2Y/mCwqcOLeNQktOYYiQ7R1Sxu1aVKx66/JSP0kIBaXPQMaqdAaXeHYdiCERPngZKs5iv9dCmZyJXuyJWQP/VTp2aCfvPzxVODtiQtn2IMtY/tD68Q+vNRjd6zmIu6PSe/5qv7v11acN4wHYfGkjpPglyotDEmpkcoWzPPafMOC1DtXStMkUFqMX0wPVG9cpPtkz0uLMmTF9UClhkmADIp+Hq0pfhdBxhhTLiy/2cfBOFXDUYe0+/mCtLTDr+CLfLPihNrodyA+bXrcDrK1AuZHOxddeZZ5aU1X3SuT13IREy2Q9mNrKx0DQ/bx0W7zaNSPtew6VYhX71it6zgh/zg5iBYC8NF0ZEV/SVMautTzRnR0tjAsGIAdE51817amDB14z9O4CI0AbxjZ5iiA6fpKp8S0+M2k0gQKa0K+YdlRw1FcdLsMnRN2mt9tig/ucIoyR8aw8LJ7HYnCWHlvB2mVoRBDmq9Prt6ZbEXSP7Wlq0HbQuZvKgOYtONftvmOiOxsvkHoMviHhpeRVfs2FVkntvVAv1z2G/Ry0EDTQPs7agcyYtNng4xRyfGV14ZNT8P1rkXwJVx7ByfnavTkZLxkjyAF4EpZ8rlRUpsCPjVwsFR3SCTuCuq2TA/mYcQsYFREkb0xqU3GmGssLWFmnWGJ22JdbKYid0G2Dgge+qh78Msfid3LSUtX0uIVv6JWNg3BU+0U+tLvUOeFKp+yuLqhLzQg40XiwCzbvHYIFv6ZLtstb5sDvvErsm2SIZ541s5xzZnK1Bu06+sQvyeu+d2MXpsB+JoIOcqwBwGgNtm3vsxe4/qyh/r5jM5o8rnOB/fLU+ybO8S2Co4wYF38NKY6NsgwfJTsbj60WocS4tthoEFvzV3kk8IU0tUZ4YEp1IeU1PxY1+6KODGnbE1bl7xVBhgfxLRUejlBFWmpfLsOgR174VvnYw6blDMMJKrqGLyJWKV1w1742C/WNO3m3i1h98dUL7uQgnME0Dco0PNBgGAuscCIhHMzjU2tOfNGuUDKLnYtrzzRvkZEMNfMKOjYpBfwsgLai7o495h47aPM8ithzy0DnN6PfbXk4O/fYFPwyVq1YY8SRaIS8QydEx4voWdMQ8WuYt2xi2GnfdvyzXDsxn1bLKNDKEG0wWO/M2e8iPYXKT2Pc0D1paI0irsw9enmADRKKfzhteplZcEVuJ+GK8WD01YnZfdRy8euXGMyxeIX09KRVVLUlzsDNv/CDMAX3u9KDakbmmJdKF4eOPix6jNOLtIyxMe1VLCy+LpBFUvkpVfLjRch45ue2ihS5WIGSr5qmBwkvSBfDVXMQhXPQqVXmy48IctUr5ZO+nz7IhEliVXw+EL49k3pZ84RStOVkQykQmy+cLoG6WyfmVbtKWyJDKw+sWzCd2jQW66ZD1a/M/r5BMFDomRzIUT2zEIeFqgW0BQ1WENYL71IXhbukud22yzw20+sdRkOS6hD7cyY+BjUlOktvWeQbxaUCFYcEwuN59e+FBj5UfpzR/29V394aotkKWMrrSnw1ug2Zdtlf0aM/sWgwJHoQIScBRVQlz5RfJDGDTPRm0G16v8CUKSW3TTG2WKJD6ZmCRqrzorn+ic7OvcIsIeUsCXF+X3MWFYDV1QoX1l4Vhn23Je89MgNuvapP0WWzKzfEn9ig3Lil5r//JUnYdkCSiFhq77wqJZjWvogVfU1yAIr1Zu7BxouHFoQL6JRwX2qVvJJi+qLjjMKdN3LhtW59YepVi1X+YJC1sH+VnVJ1/ngD7nEzPIp1cvHA5uQL76DG6muD+b3GY8zQqdmZhTvnjwz6bzfIDJZdd3FyfNww6Evv/1fUEsDBBQAAgAIACo9h0yAI88WSwAAAGoAAAAbAAAAdW5pdmVyc2FsL3VuaXZlcnNhbC5wbmcueG1ss7GvyM1RKEstKs7Mz7NVMtQzULK34+WyKShKLctMLVeoAIoBBSFASaHSVsnECMEtz0wpybBVsjA1Q4hlpGamZ5TYKpkhKdQHGgkAUEsBAgAAFAACAAgARJRXRyO0Tvv7AgAAsAgAABQAAAAAAAAAAQAAAAAAAAAAAHVuaXZlcnNhbC9wbGF5ZXIueG1sUEsBAgAAFAACAAgAKj2HTCOy76DyLwAAUlMAABcAAAAAAAAAAAAAAAAALQMAAHVuaXZlcnNhbC91bml2ZXJzYWwucG5nUEsBAgAAFAACAAgAKj2HTIAjzxZLAAAAagAAABsAAAAAAAAAAQAAAAAAVDMAAHVuaXZlcnNhbC91bml2ZXJzYWwucG5nLnhtbFBLBQYAAAAAAwADANAAAADYMwAAAAA="/>
  <p:tag name="ISPRING_PRESENTATION_TITLE" val="财务预算及经营分析报告"/>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HCjPHDM03ES.yJ0dh2foX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V_cloc_Bhkmvd5AhUY4V8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i0u3OqKCc0G0JUg1fEQPd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7Y4RSlT52EmOWa3eV1Q2q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7eMY1bFFukyg5GDwBvEAT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2pQTkIBIIUOSk0ELrt_02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9q.w4tnaUak82fJfQVpa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jnkTDnp.kqr9rY.Lsg23A"/>
</p:tagLst>
</file>

<file path=ppt/tags/tag22.xml><?xml version="1.0" encoding="utf-8"?>
<p:tagLst xmlns:a="http://schemas.openxmlformats.org/drawingml/2006/main" xmlns:r="http://schemas.openxmlformats.org/officeDocument/2006/relationships" xmlns:p="http://schemas.openxmlformats.org/presentationml/2006/main">
  <p:tag name="PA" val="v3.0.1"/>
</p:tagLst>
</file>

<file path=ppt/tags/tag23.xml><?xml version="1.0" encoding="utf-8"?>
<p:tagLst xmlns:a="http://schemas.openxmlformats.org/drawingml/2006/main" xmlns:r="http://schemas.openxmlformats.org/officeDocument/2006/relationships" xmlns:p="http://schemas.openxmlformats.org/presentationml/2006/main">
  <p:tag name="PA" val="v3.0.1"/>
</p:tagLst>
</file>

<file path=ppt/tags/tag24.xml><?xml version="1.0" encoding="utf-8"?>
<p:tagLst xmlns:a="http://schemas.openxmlformats.org/drawingml/2006/main" xmlns:r="http://schemas.openxmlformats.org/officeDocument/2006/relationships" xmlns:p="http://schemas.openxmlformats.org/presentationml/2006/main">
  <p:tag name="PA" val="v3.0.1"/>
</p:tagLst>
</file>

<file path=ppt/tags/tag25.xml><?xml version="1.0" encoding="utf-8"?>
<p:tagLst xmlns:a="http://schemas.openxmlformats.org/drawingml/2006/main" xmlns:r="http://schemas.openxmlformats.org/officeDocument/2006/relationships" xmlns:p="http://schemas.openxmlformats.org/presentationml/2006/main">
  <p:tag name="PA" val="v3.0.1"/>
</p:tagLst>
</file>

<file path=ppt/tags/tag26.xml><?xml version="1.0" encoding="utf-8"?>
<p:tagLst xmlns:a="http://schemas.openxmlformats.org/drawingml/2006/main" xmlns:r="http://schemas.openxmlformats.org/officeDocument/2006/relationships" xmlns:p="http://schemas.openxmlformats.org/presentationml/2006/main">
  <p:tag name="PA" val="v3.0.1"/>
</p:tagLst>
</file>

<file path=ppt/tags/tag27.xml><?xml version="1.0" encoding="utf-8"?>
<p:tagLst xmlns:a="http://schemas.openxmlformats.org/drawingml/2006/main" xmlns:r="http://schemas.openxmlformats.org/officeDocument/2006/relationships" xmlns:p="http://schemas.openxmlformats.org/presentationml/2006/main">
  <p:tag name="PA" val="v3.0.1"/>
</p:tagLst>
</file>

<file path=ppt/tags/tag28.xml><?xml version="1.0" encoding="utf-8"?>
<p:tagLst xmlns:a="http://schemas.openxmlformats.org/drawingml/2006/main" xmlns:r="http://schemas.openxmlformats.org/officeDocument/2006/relationships" xmlns:p="http://schemas.openxmlformats.org/presentationml/2006/main">
  <p:tag name="PA" val="v3.0.1"/>
</p:tagLst>
</file>

<file path=ppt/tags/tag29.xml><?xml version="1.0" encoding="utf-8"?>
<p:tagLst xmlns:a="http://schemas.openxmlformats.org/drawingml/2006/main" xmlns:r="http://schemas.openxmlformats.org/officeDocument/2006/relationships" xmlns:p="http://schemas.openxmlformats.org/presentationml/2006/main">
  <p:tag name="PA" val="v3.0.1"/>
</p:tagLst>
</file>

<file path=ppt/tags/tag30.xml><?xml version="1.0" encoding="utf-8"?>
<p:tagLst xmlns:a="http://schemas.openxmlformats.org/drawingml/2006/main" xmlns:r="http://schemas.openxmlformats.org/officeDocument/2006/relationships" xmlns:p="http://schemas.openxmlformats.org/presentationml/2006/main">
  <p:tag name="PA" val="v3.0.1"/>
</p:tagLst>
</file>

<file path=ppt/tags/tag31.xml><?xml version="1.0" encoding="utf-8"?>
<p:tagLst xmlns:a="http://schemas.openxmlformats.org/drawingml/2006/main" xmlns:r="http://schemas.openxmlformats.org/officeDocument/2006/relationships" xmlns:p="http://schemas.openxmlformats.org/presentationml/2006/main">
  <p:tag name="PA" val="v3.0.1"/>
</p:tagLst>
</file>

<file path=ppt/tags/tag32.xml><?xml version="1.0" encoding="utf-8"?>
<p:tagLst xmlns:a="http://schemas.openxmlformats.org/drawingml/2006/main" xmlns:r="http://schemas.openxmlformats.org/officeDocument/2006/relationships" xmlns:p="http://schemas.openxmlformats.org/presentationml/2006/main">
  <p:tag name="PA" val="v3.0.1"/>
</p:tagLst>
</file>

<file path=ppt/tags/tag33.xml><?xml version="1.0" encoding="utf-8"?>
<p:tagLst xmlns:a="http://schemas.openxmlformats.org/drawingml/2006/main" xmlns:r="http://schemas.openxmlformats.org/officeDocument/2006/relationships" xmlns:p="http://schemas.openxmlformats.org/presentationml/2006/main">
  <p:tag name="PA" val="v3.0.1"/>
</p:tagLst>
</file>

<file path=ppt/tags/tag34.xml><?xml version="1.0" encoding="utf-8"?>
<p:tagLst xmlns:a="http://schemas.openxmlformats.org/drawingml/2006/main" xmlns:r="http://schemas.openxmlformats.org/officeDocument/2006/relationships" xmlns:p="http://schemas.openxmlformats.org/presentationml/2006/main">
  <p:tag name="PA" val="v3.0.1"/>
</p:tagLst>
</file>

<file path=ppt/tags/tag35.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5307</Words>
  <Application>Microsoft Macintosh PowerPoint</Application>
  <PresentationFormat>宽屏</PresentationFormat>
  <Paragraphs>1319</Paragraphs>
  <Slides>47</Slides>
  <Notes>47</Notes>
  <HiddenSlides>0</HiddenSlides>
  <MMClips>1</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47</vt:i4>
      </vt:variant>
    </vt:vector>
  </HeadingPairs>
  <TitlesOfParts>
    <vt:vector size="64" baseType="lpstr">
      <vt:lpstr>Agency FB</vt:lpstr>
      <vt:lpstr>Arial Unicode MS</vt:lpstr>
      <vt:lpstr>Calibri</vt:lpstr>
      <vt:lpstr>Calibri Light</vt:lpstr>
      <vt:lpstr>Exotc350 DmBd BT</vt:lpstr>
      <vt:lpstr>Impact</vt:lpstr>
      <vt:lpstr>Open Sans</vt:lpstr>
      <vt:lpstr>Times New Roman</vt:lpstr>
      <vt:lpstr>Wingdings</vt:lpstr>
      <vt:lpstr>方正大黑_GBK</vt:lpstr>
      <vt:lpstr>方正正大黑简体</vt:lpstr>
      <vt:lpstr>华文黑体</vt:lpstr>
      <vt:lpstr>经典特宋简</vt:lpstr>
      <vt:lpstr>宋体</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用户</cp:lastModifiedBy>
  <cp:revision>3</cp:revision>
  <dcterms:created xsi:type="dcterms:W3CDTF">2019-05-14T02:22:58Z</dcterms:created>
  <dcterms:modified xsi:type="dcterms:W3CDTF">2020-03-13T12:08:03Z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